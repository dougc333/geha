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9144000"/>
  <p:embeddedFontLst>
    <p:embeddedFont>
      <p:font typeface="Helvetica Neue"/>
      <p:regular r:id="rId14"/>
      <p:bold r:id="rId15"/>
      <p:italic r:id="rId16"/>
      <p:boldItalic r:id="rId17"/>
    </p:embeddedFont>
    <p:embeddedFont>
      <p:font typeface="Roboto Mono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Mono-italic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schemas.openxmlformats.org/officeDocument/2006/relationships/font" Target="fonts/RobotoMono-bold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HelveticaNeue-bold.fntdata"/><Relationship Id="rId14" Type="http://schemas.openxmlformats.org/officeDocument/2006/relationships/font" Target="fonts/HelveticaNeue-regular.fntdata"/><Relationship Id="rId17" Type="http://schemas.openxmlformats.org/officeDocument/2006/relationships/font" Target="fonts/HelveticaNeue-boldItalic.fntdata"/><Relationship Id="rId16" Type="http://schemas.openxmlformats.org/officeDocument/2006/relationships/font" Target="fonts/HelveticaNeue-italic.fntdata"/><Relationship Id="rId5" Type="http://schemas.openxmlformats.org/officeDocument/2006/relationships/slide" Target="slides/slide1.xml"/><Relationship Id="rId19" Type="http://schemas.openxmlformats.org/officeDocument/2006/relationships/font" Target="fonts/RobotoMono-bold.fntdata"/><Relationship Id="rId6" Type="http://schemas.openxmlformats.org/officeDocument/2006/relationships/slide" Target="slides/slide2.xml"/><Relationship Id="rId18" Type="http://schemas.openxmlformats.org/officeDocument/2006/relationships/font" Target="fonts/RobotoMono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g40a2150d97e_0_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" name="Google Shape;13;g40a2150d97e_0_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g40a2150d97e_0_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" name="Google Shape;1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RAG Search Strategies figure from the local GEHA reliability workspace.</a:t>
            </a:r>
            <a:endParaRPr/>
          </a:p>
        </p:txBody>
      </p:sp>
      <p:sp>
        <p:nvSpPr>
          <p:cNvPr id="20" name="Google Shape;2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g40a06605cfe_1_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" name="Google Shape;25;g40a06605cfe_1_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26" name="Google Shape;26;g40a06605cfe_1_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" name="Google Shape;3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Source: geha_cloud_reliability/downloads/coverage-policies/geha-coverage-policy-bendamustine.pdf, page 1. The red boxes illustrate retrieval boundaries and do not alter the source document.</a:t>
            </a:r>
            <a:endParaRPr/>
          </a:p>
        </p:txBody>
      </p:sp>
      <p:sp>
        <p:nvSpPr>
          <p:cNvPr id="32" name="Google Shape;3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40a06605cfe_1_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40a06605cfe_1_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g40a06605cfe_1_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" name="Google Shape;64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create a slide with </a:t>
            </a:r>
            <a:endParaRPr/>
          </a:p>
        </p:txBody>
      </p:sp>
      <p:sp>
        <p:nvSpPr>
          <p:cNvPr id="65" name="Google Shape;65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9" name="Google Shape;89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Illustrative explanation of the 384-dimensional embeddings used by BAAI/bge-small-en-v1.5 in the table RAG. The embedded image shows the abbreviated vector [0.081, -0.224, 0.517, ...]; the three coordinates and cosine scores are examples, not values from a production query. The monochrome ball is a three-dimensional metaphor for a 384-dimensional space. For a high-dimensional unit ball, most volume lies close to the boundary, represented by the thin red shell; the center contains comparatively little volume.</a:t>
            </a:r>
            <a:endParaRPr/>
          </a:p>
        </p:txBody>
      </p:sp>
      <p:sp>
        <p:nvSpPr>
          <p:cNvPr id="90" name="Google Shape;90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fbb2167691_0_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fbb2167691_0_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Why is this </a:t>
            </a:r>
            <a:r>
              <a:rPr lang="en-US"/>
              <a:t>important</a:t>
            </a:r>
            <a:r>
              <a:rPr lang="en-US"/>
              <a:t>? </a:t>
            </a:r>
            <a:r>
              <a:rPr lang="en-US"/>
              <a:t>Desire to match this processing to the LLM we are using. Google </a:t>
            </a:r>
            <a:endParaRPr/>
          </a:p>
        </p:txBody>
      </p:sp>
      <p:sp>
        <p:nvSpPr>
          <p:cNvPr id="138" name="Google Shape;138;g3fbb2167691_0_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emmaTokenizerEmbeddingSlide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emmaTokenizerEmbeddingSlide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gemmaTokenizerEmbeddingSlide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/>
        </p:nvSpPr>
        <p:spPr>
          <a:xfrm>
            <a:off x="981300" y="771825"/>
            <a:ext cx="62736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GEHA demos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MCP Servers – workflow not REST or RPC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Why RAG doesn’t work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	Data Quality – OCR, langgraph automation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		Dashboard existing data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		Automated table correction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	Context, Tables break RAG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	Blending Results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LLMs - Running Open source models/weights in Runpod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7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5775" y="529"/>
            <a:ext cx="11220450" cy="68569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5" title="naive_rag_row_chunks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377381"/>
            <a:ext cx="12191999" cy="41032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7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533400" y="361950"/>
            <a:ext cx="111252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524"/>
              </a:buClr>
              <a:buSzPts val="3000"/>
              <a:buFont typeface="Helvetica Neue"/>
              <a:buNone/>
            </a:pPr>
            <a:r>
              <a:rPr b="1" lang="en-US" sz="3000">
                <a:solidFill>
                  <a:srgbClr val="18252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Structural context and context expansion</a:t>
            </a:r>
            <a:endParaRPr/>
          </a:p>
        </p:txBody>
      </p:sp>
      <p:sp>
        <p:nvSpPr>
          <p:cNvPr id="35" name="Google Shape;35;p6"/>
          <p:cNvSpPr/>
          <p:nvPr/>
        </p:nvSpPr>
        <p:spPr>
          <a:xfrm>
            <a:off x="533400" y="87630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36463"/>
              </a:buClr>
              <a:buSzPts val="1500"/>
              <a:buFont typeface="Helvetica Neue"/>
              <a:buNone/>
            </a:pPr>
            <a:r>
              <a:rPr b="0" lang="en-US" sz="1500">
                <a:solidFill>
                  <a:srgbClr val="53646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same policy page produces different retrieval boundaries</a:t>
            </a:r>
            <a:endParaRPr/>
          </a:p>
        </p:txBody>
      </p:sp>
      <p:sp>
        <p:nvSpPr>
          <p:cNvPr id="36" name="Google Shape;36;p6"/>
          <p:cNvSpPr/>
          <p:nvPr/>
        </p:nvSpPr>
        <p:spPr>
          <a:xfrm>
            <a:off x="533400" y="1333500"/>
            <a:ext cx="538162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765E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1E76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STRUCTURAL CONTEXT</a:t>
            </a:r>
            <a:endParaRPr/>
          </a:p>
        </p:txBody>
      </p:sp>
      <p:sp>
        <p:nvSpPr>
          <p:cNvPr id="37" name="Google Shape;37;p6"/>
          <p:cNvSpPr/>
          <p:nvPr/>
        </p:nvSpPr>
        <p:spPr>
          <a:xfrm>
            <a:off x="6276975" y="1333500"/>
            <a:ext cx="538162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4DA6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654DA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CONTEXT EXPANSION</a:t>
            </a:r>
            <a:endParaRPr/>
          </a:p>
        </p:txBody>
      </p:sp>
      <p:sp>
        <p:nvSpPr>
          <p:cNvPr id="38" name="Google Shape;38;p6"/>
          <p:cNvSpPr/>
          <p:nvPr/>
        </p:nvSpPr>
        <p:spPr>
          <a:xfrm>
            <a:off x="476250" y="1619250"/>
            <a:ext cx="5495925" cy="203835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1DBD9"/>
            </a:solidFill>
            <a:prstDash val="solid"/>
            <a:round/>
            <a:headEnd len="sm" w="sm" type="none"/>
            <a:tailEnd len="sm" w="sm" type="none"/>
          </a:ln>
          <a:effectLst>
            <a:outerShdw blurRad="180975" dir="4443276" dist="69343">
              <a:srgbClr val="000000">
                <a:alpha val="1411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6"/>
          <p:cNvSpPr/>
          <p:nvPr/>
        </p:nvSpPr>
        <p:spPr>
          <a:xfrm>
            <a:off x="6219825" y="1619250"/>
            <a:ext cx="5495925" cy="203835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1DBD9"/>
            </a:solidFill>
            <a:prstDash val="solid"/>
            <a:round/>
            <a:headEnd len="sm" w="sm" type="none"/>
            <a:tailEnd len="sm" w="sm" type="none"/>
          </a:ln>
          <a:effectLst>
            <a:outerShdw blurRad="180975" dir="4443276" dist="69343">
              <a:srgbClr val="000000">
                <a:alpha val="1411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0" name="Google Shape;4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3400" y="1677421"/>
            <a:ext cx="5381625" cy="19220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76975" y="1677421"/>
            <a:ext cx="5381625" cy="19220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6"/>
          <p:cNvSpPr/>
          <p:nvPr/>
        </p:nvSpPr>
        <p:spPr>
          <a:xfrm>
            <a:off x="609600" y="2085975"/>
            <a:ext cx="5305425" cy="1381125"/>
          </a:xfrm>
          <a:prstGeom prst="rect">
            <a:avLst/>
          </a:prstGeom>
          <a:noFill/>
          <a:ln cap="flat" cmpd="sng" w="38100">
            <a:solidFill>
              <a:srgbClr val="D930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6"/>
          <p:cNvSpPr/>
          <p:nvPr/>
        </p:nvSpPr>
        <p:spPr>
          <a:xfrm>
            <a:off x="6696075" y="2257425"/>
            <a:ext cx="4505325" cy="1314450"/>
          </a:xfrm>
          <a:prstGeom prst="rect">
            <a:avLst/>
          </a:prstGeom>
          <a:noFill/>
          <a:ln cap="flat" cmpd="sng" w="38100">
            <a:solidFill>
              <a:srgbClr val="D930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6"/>
          <p:cNvSpPr/>
          <p:nvPr/>
        </p:nvSpPr>
        <p:spPr>
          <a:xfrm>
            <a:off x="533400" y="3924300"/>
            <a:ext cx="538162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524"/>
              </a:buClr>
              <a:buSzPts val="1950"/>
              <a:buFont typeface="Helvetica Neue"/>
              <a:buNone/>
            </a:pPr>
            <a:r>
              <a:rPr b="1" lang="en-US" sz="1950">
                <a:solidFill>
                  <a:srgbClr val="18252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Whole table returned</a:t>
            </a:r>
            <a:endParaRPr/>
          </a:p>
        </p:txBody>
      </p:sp>
      <p:sp>
        <p:nvSpPr>
          <p:cNvPr id="45" name="Google Shape;45;p6"/>
          <p:cNvSpPr/>
          <p:nvPr/>
        </p:nvSpPr>
        <p:spPr>
          <a:xfrm>
            <a:off x="533400" y="4324350"/>
            <a:ext cx="5095875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5856"/>
              </a:buClr>
              <a:buSzPts val="1425"/>
              <a:buFont typeface="Helvetica Neue"/>
              <a:buNone/>
            </a:pPr>
            <a:r>
              <a:rPr b="0" lang="en-US" sz="1425">
                <a:solidFill>
                  <a:srgbClr val="46585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Table-aware parsing keeps the header and all rows in one retrieval unit. The relationships among preference, drug, code, and description remain intact.</a:t>
            </a:r>
            <a:endParaRPr/>
          </a:p>
        </p:txBody>
      </p:sp>
      <p:sp>
        <p:nvSpPr>
          <p:cNvPr id="46" name="Google Shape;46;p6"/>
          <p:cNvSpPr/>
          <p:nvPr/>
        </p:nvSpPr>
        <p:spPr>
          <a:xfrm>
            <a:off x="6276975" y="3924300"/>
            <a:ext cx="538162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524"/>
              </a:buClr>
              <a:buSzPts val="1950"/>
              <a:buFont typeface="Helvetica Neue"/>
              <a:buNone/>
            </a:pPr>
            <a:r>
              <a:rPr b="1" lang="en-US" sz="1950">
                <a:solidFill>
                  <a:srgbClr val="18252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Parent section returned</a:t>
            </a:r>
            <a:endParaRPr/>
          </a:p>
        </p:txBody>
      </p:sp>
      <p:sp>
        <p:nvSpPr>
          <p:cNvPr id="47" name="Google Shape;47;p6"/>
          <p:cNvSpPr/>
          <p:nvPr/>
        </p:nvSpPr>
        <p:spPr>
          <a:xfrm>
            <a:off x="6276975" y="4324350"/>
            <a:ext cx="5095875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5856"/>
              </a:buClr>
              <a:buSzPts val="1425"/>
              <a:buFont typeface="Helvetica Neue"/>
              <a:buNone/>
            </a:pPr>
            <a:r>
              <a:rPr b="0" lang="en-US" sz="1425">
                <a:solidFill>
                  <a:srgbClr val="46585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Parent-child retrieval can match a small passage about NCCN or FDA guidance, then return the full Universal Approval Criteria section as context.</a:t>
            </a:r>
            <a:endParaRPr/>
          </a:p>
        </p:txBody>
      </p:sp>
      <p:cxnSp>
        <p:nvCxnSpPr>
          <p:cNvPr id="48" name="Google Shape;48;p6"/>
          <p:cNvCxnSpPr/>
          <p:nvPr/>
        </p:nvCxnSpPr>
        <p:spPr>
          <a:xfrm>
            <a:off x="533400" y="6238875"/>
            <a:ext cx="11125200" cy="0"/>
          </a:xfrm>
          <a:prstGeom prst="straightConnector1">
            <a:avLst/>
          </a:prstGeom>
          <a:noFill/>
          <a:ln cap="flat" cmpd="sng" w="9525">
            <a:solidFill>
              <a:srgbClr val="CED8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" name="Google Shape;49;p6"/>
          <p:cNvSpPr/>
          <p:nvPr/>
        </p:nvSpPr>
        <p:spPr>
          <a:xfrm>
            <a:off x="533400" y="6343650"/>
            <a:ext cx="1112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2716F"/>
              </a:buClr>
              <a:buSzPts val="1050"/>
              <a:buFont typeface="Helvetica Neue"/>
              <a:buNone/>
            </a:pPr>
            <a:r>
              <a:rPr b="0" lang="en-US" sz="1050">
                <a:solidFill>
                  <a:srgbClr val="62716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Source: GEHA Coverage Policy: Bendamustine, page 1</a:t>
            </a:r>
            <a:endParaRPr/>
          </a:p>
        </p:txBody>
      </p:sp>
      <p:sp>
        <p:nvSpPr>
          <p:cNvPr id="50" name="Google Shape;50;p6"/>
          <p:cNvSpPr txBox="1"/>
          <p:nvPr/>
        </p:nvSpPr>
        <p:spPr>
          <a:xfrm>
            <a:off x="637225" y="5196825"/>
            <a:ext cx="5409300" cy="31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/>
              <a:t>Ambiguity risk</a:t>
            </a:r>
            <a:endParaRPr b="1"/>
          </a:p>
        </p:txBody>
      </p:sp>
      <p:sp>
        <p:nvSpPr>
          <p:cNvPr id="51" name="Google Shape;51;p6"/>
          <p:cNvSpPr txBox="1"/>
          <p:nvPr/>
        </p:nvSpPr>
        <p:spPr>
          <a:xfrm>
            <a:off x="637225" y="5565000"/>
            <a:ext cx="5381700" cy="67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Duplicate or similar tables can repeat the same Treanda - Preferred rows for another condition. Without table-level context, retrieval may return the wrong result. This failure is unlikely to appear in the current small dataset.</a:t>
            </a:r>
            <a:endParaRPr sz="1200"/>
          </a:p>
        </p:txBody>
      </p:sp>
      <p:sp>
        <p:nvSpPr>
          <p:cNvPr id="52" name="Google Shape;52;p6"/>
          <p:cNvSpPr txBox="1"/>
          <p:nvPr/>
        </p:nvSpPr>
        <p:spPr>
          <a:xfrm>
            <a:off x="6386275" y="5451700"/>
            <a:ext cx="5324400" cy="31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/>
              <a:t>Lesson</a:t>
            </a:r>
            <a:endParaRPr b="1"/>
          </a:p>
        </p:txBody>
      </p:sp>
      <p:sp>
        <p:nvSpPr>
          <p:cNvPr id="53" name="Google Shape;53;p6"/>
          <p:cNvSpPr txBox="1"/>
          <p:nvPr/>
        </p:nvSpPr>
        <p:spPr>
          <a:xfrm>
            <a:off x="6386275" y="5819875"/>
            <a:ext cx="5305500" cy="67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Returning the parent adds useful context, but every added passage consumes tokens and reduces the remaining context-window budget.</a:t>
            </a:r>
            <a:endParaRPr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9375" y="152400"/>
            <a:ext cx="8258525" cy="6553199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7"/>
          <p:cNvSpPr txBox="1"/>
          <p:nvPr/>
        </p:nvSpPr>
        <p:spPr>
          <a:xfrm>
            <a:off x="8464100" y="576325"/>
            <a:ext cx="3029700" cy="24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/>
              <a:t>An error rate of 1.8–7% can remain invisible in prototypes and surface only at production scale.</a:t>
            </a:r>
            <a:endParaRPr b="1"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/>
              <a:t>These failures are difficult to simulate before launch.</a:t>
            </a:r>
            <a:endParaRPr b="1"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/>
          </a:p>
        </p:txBody>
      </p:sp>
      <p:pic>
        <p:nvPicPr>
          <p:cNvPr id="61" name="Google Shape;61;p7" title="context_window_error_risk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64100" y="4059350"/>
            <a:ext cx="3251202" cy="2438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7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8"/>
          <p:cNvSpPr/>
          <p:nvPr/>
        </p:nvSpPr>
        <p:spPr>
          <a:xfrm>
            <a:off x="533400" y="333375"/>
            <a:ext cx="1112520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8252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Intrinsic and extrinsic hallucinations</a:t>
            </a:r>
            <a:endParaRPr/>
          </a:p>
        </p:txBody>
      </p:sp>
      <p:sp>
        <p:nvSpPr>
          <p:cNvPr id="68" name="Google Shape;68;p8"/>
          <p:cNvSpPr/>
          <p:nvPr/>
        </p:nvSpPr>
        <p:spPr>
          <a:xfrm>
            <a:off x="533400" y="838200"/>
            <a:ext cx="11125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3646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Both are grounding failures, but they fail in different ways</a:t>
            </a:r>
            <a:endParaRPr/>
          </a:p>
        </p:txBody>
      </p:sp>
      <p:sp>
        <p:nvSpPr>
          <p:cNvPr id="69" name="Google Shape;69;p8"/>
          <p:cNvSpPr/>
          <p:nvPr/>
        </p:nvSpPr>
        <p:spPr>
          <a:xfrm>
            <a:off x="704850" y="1371600"/>
            <a:ext cx="47625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25">
                <a:solidFill>
                  <a:srgbClr val="C6282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Intrinsic hallucination</a:t>
            </a:r>
            <a:endParaRPr/>
          </a:p>
        </p:txBody>
      </p:sp>
      <p:sp>
        <p:nvSpPr>
          <p:cNvPr id="70" name="Google Shape;70;p8"/>
          <p:cNvSpPr/>
          <p:nvPr/>
        </p:nvSpPr>
        <p:spPr>
          <a:xfrm>
            <a:off x="6724650" y="1371600"/>
            <a:ext cx="47625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25">
                <a:solidFill>
                  <a:srgbClr val="C9780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Extrinsic hallucination</a:t>
            </a:r>
            <a:endParaRPr/>
          </a:p>
        </p:txBody>
      </p:sp>
      <p:pic>
        <p:nvPicPr>
          <p:cNvPr id="71" name="Google Shape;7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38500" y="1714500"/>
            <a:ext cx="5715000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8"/>
          <p:cNvSpPr/>
          <p:nvPr/>
        </p:nvSpPr>
        <p:spPr>
          <a:xfrm>
            <a:off x="704850" y="4524375"/>
            <a:ext cx="48577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2431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Contradicts the retrieved evidence</a:t>
            </a:r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704850" y="4857750"/>
            <a:ext cx="47625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53646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answer changes a fact that appears in the source.</a:t>
            </a:r>
            <a:endParaRPr/>
          </a:p>
        </p:txBody>
      </p:sp>
      <p:sp>
        <p:nvSpPr>
          <p:cNvPr id="74" name="Google Shape;74;p8"/>
          <p:cNvSpPr/>
          <p:nvPr/>
        </p:nvSpPr>
        <p:spPr>
          <a:xfrm>
            <a:off x="704850" y="5305425"/>
            <a:ext cx="8572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E76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/>
          </a:p>
        </p:txBody>
      </p:sp>
      <p:sp>
        <p:nvSpPr>
          <p:cNvPr id="75" name="Google Shape;75;p8"/>
          <p:cNvSpPr/>
          <p:nvPr/>
        </p:nvSpPr>
        <p:spPr>
          <a:xfrm>
            <a:off x="1571625" y="5305425"/>
            <a:ext cx="38576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75">
                <a:solidFill>
                  <a:srgbClr val="2431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Coverage requires prior authorization.</a:t>
            </a:r>
            <a:endParaRPr/>
          </a:p>
        </p:txBody>
      </p:sp>
      <p:sp>
        <p:nvSpPr>
          <p:cNvPr id="76" name="Google Shape;76;p8"/>
          <p:cNvSpPr/>
          <p:nvPr/>
        </p:nvSpPr>
        <p:spPr>
          <a:xfrm>
            <a:off x="704850" y="5610225"/>
            <a:ext cx="8572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C6282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Answer</a:t>
            </a:r>
            <a:endParaRPr/>
          </a:p>
        </p:txBody>
      </p:sp>
      <p:sp>
        <p:nvSpPr>
          <p:cNvPr id="77" name="Google Shape;77;p8"/>
          <p:cNvSpPr/>
          <p:nvPr/>
        </p:nvSpPr>
        <p:spPr>
          <a:xfrm>
            <a:off x="1571625" y="5610225"/>
            <a:ext cx="38576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C6282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No prior authorization is required.</a:t>
            </a:r>
            <a:endParaRPr/>
          </a:p>
        </p:txBody>
      </p:sp>
      <p:sp>
        <p:nvSpPr>
          <p:cNvPr id="78" name="Google Shape;78;p8"/>
          <p:cNvSpPr/>
          <p:nvPr/>
        </p:nvSpPr>
        <p:spPr>
          <a:xfrm>
            <a:off x="6724650" y="4524375"/>
            <a:ext cx="47625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2431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Adds a claim absent from the evidence</a:t>
            </a:r>
            <a:endParaRPr/>
          </a:p>
        </p:txBody>
      </p:sp>
      <p:sp>
        <p:nvSpPr>
          <p:cNvPr id="79" name="Google Shape;79;p8"/>
          <p:cNvSpPr/>
          <p:nvPr/>
        </p:nvSpPr>
        <p:spPr>
          <a:xfrm>
            <a:off x="6724650" y="4857750"/>
            <a:ext cx="47625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53646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answer introduces a fact the source never establishes.</a:t>
            </a:r>
            <a:endParaRPr/>
          </a:p>
        </p:txBody>
      </p:sp>
      <p:sp>
        <p:nvSpPr>
          <p:cNvPr id="80" name="Google Shape;80;p8"/>
          <p:cNvSpPr/>
          <p:nvPr/>
        </p:nvSpPr>
        <p:spPr>
          <a:xfrm>
            <a:off x="6724650" y="5305425"/>
            <a:ext cx="8572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E76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/>
          </a:p>
        </p:txBody>
      </p:sp>
      <p:sp>
        <p:nvSpPr>
          <p:cNvPr id="81" name="Google Shape;81;p8"/>
          <p:cNvSpPr/>
          <p:nvPr/>
        </p:nvSpPr>
        <p:spPr>
          <a:xfrm>
            <a:off x="7591425" y="5305425"/>
            <a:ext cx="38576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75">
                <a:solidFill>
                  <a:srgbClr val="2431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policy lists covered drug codes.</a:t>
            </a:r>
            <a:endParaRPr/>
          </a:p>
        </p:txBody>
      </p:sp>
      <p:sp>
        <p:nvSpPr>
          <p:cNvPr id="82" name="Google Shape;82;p8"/>
          <p:cNvSpPr/>
          <p:nvPr/>
        </p:nvSpPr>
        <p:spPr>
          <a:xfrm>
            <a:off x="6724650" y="5610225"/>
            <a:ext cx="8572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C9780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Answer</a:t>
            </a:r>
            <a:endParaRPr/>
          </a:p>
        </p:txBody>
      </p:sp>
      <p:sp>
        <p:nvSpPr>
          <p:cNvPr id="83" name="Google Shape;83;p8"/>
          <p:cNvSpPr/>
          <p:nvPr/>
        </p:nvSpPr>
        <p:spPr>
          <a:xfrm>
            <a:off x="7591425" y="5610225"/>
            <a:ext cx="38576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C9780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policy guarantees same-day approval.</a:t>
            </a:r>
            <a:endParaRPr/>
          </a:p>
        </p:txBody>
      </p:sp>
      <p:cxnSp>
        <p:nvCxnSpPr>
          <p:cNvPr id="84" name="Google Shape;84;p8"/>
          <p:cNvCxnSpPr/>
          <p:nvPr/>
        </p:nvCxnSpPr>
        <p:spPr>
          <a:xfrm>
            <a:off x="533400" y="6181725"/>
            <a:ext cx="11125200" cy="0"/>
          </a:xfrm>
          <a:prstGeom prst="straightConnector1">
            <a:avLst/>
          </a:prstGeom>
          <a:noFill/>
          <a:ln cap="flat" cmpd="sng" w="9525">
            <a:solidFill>
              <a:srgbClr val="D2DCD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" name="Google Shape;85;p8"/>
          <p:cNvSpPr/>
          <p:nvPr/>
        </p:nvSpPr>
        <p:spPr>
          <a:xfrm>
            <a:off x="533400" y="6362700"/>
            <a:ext cx="111252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46585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Evaluation question: Does the answer contradict the context, or does it go beyond the context?</a:t>
            </a:r>
            <a:endParaRPr/>
          </a:p>
        </p:txBody>
      </p:sp>
      <p:pic>
        <p:nvPicPr>
          <p:cNvPr id="86" name="Google Shape;86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400" y="8079525"/>
            <a:ext cx="2933701" cy="18945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7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9"/>
          <p:cNvSpPr/>
          <p:nvPr/>
        </p:nvSpPr>
        <p:spPr>
          <a:xfrm>
            <a:off x="533400" y="333375"/>
            <a:ext cx="1112520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524"/>
              </a:buClr>
              <a:buSzPts val="3000"/>
              <a:buFont typeface="Helvetica Neue"/>
              <a:buNone/>
            </a:pPr>
            <a:r>
              <a:rPr b="1" lang="en-US" sz="3000">
                <a:solidFill>
                  <a:srgbClr val="18252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Cosine similarity in 384-dimensional space</a:t>
            </a:r>
            <a:endParaRPr/>
          </a:p>
        </p:txBody>
      </p:sp>
      <p:sp>
        <p:nvSpPr>
          <p:cNvPr id="93" name="Google Shape;93;p9"/>
          <p:cNvSpPr/>
          <p:nvPr/>
        </p:nvSpPr>
        <p:spPr>
          <a:xfrm>
            <a:off x="533400" y="838200"/>
            <a:ext cx="11125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36463"/>
              </a:buClr>
              <a:buSzPts val="1500"/>
              <a:buFont typeface="Helvetica Neue"/>
              <a:buNone/>
            </a:pPr>
            <a:r>
              <a:rPr b="0" lang="en-US" sz="1500">
                <a:solidFill>
                  <a:srgbClr val="53646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embedding model maps a query and every chunk to 384 floating-point coordinates</a:t>
            </a:r>
            <a:endParaRPr/>
          </a:p>
        </p:txBody>
      </p:sp>
      <p:sp>
        <p:nvSpPr>
          <p:cNvPr id="94" name="Google Shape;94;p9"/>
          <p:cNvSpPr/>
          <p:nvPr/>
        </p:nvSpPr>
        <p:spPr>
          <a:xfrm>
            <a:off x="533400" y="1381125"/>
            <a:ext cx="27622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6D98"/>
              </a:buClr>
              <a:buSzPts val="1800"/>
              <a:buFont typeface="Helvetica Neue"/>
              <a:buNone/>
            </a:pPr>
            <a:r>
              <a:rPr b="1" lang="en-US" sz="1800">
                <a:solidFill>
                  <a:srgbClr val="176D9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  Query embedding</a:t>
            </a:r>
            <a:endParaRPr/>
          </a:p>
        </p:txBody>
      </p:sp>
      <p:sp>
        <p:nvSpPr>
          <p:cNvPr id="95" name="Google Shape;95;p9"/>
          <p:cNvSpPr/>
          <p:nvPr/>
        </p:nvSpPr>
        <p:spPr>
          <a:xfrm>
            <a:off x="533400" y="1809750"/>
            <a:ext cx="285750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30"/>
              </a:buClr>
              <a:buSzPts val="1650"/>
              <a:buFont typeface="Helvetica Neue"/>
              <a:buNone/>
            </a:pPr>
            <a:r>
              <a:rPr b="1" lang="en-US" sz="1650">
                <a:solidFill>
                  <a:srgbClr val="2431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“Which policy covers thrombocytopenia?”</a:t>
            </a:r>
            <a:endParaRPr/>
          </a:p>
        </p:txBody>
      </p:sp>
      <p:sp>
        <p:nvSpPr>
          <p:cNvPr id="96" name="Google Shape;96;p9"/>
          <p:cNvSpPr/>
          <p:nvPr/>
        </p:nvSpPr>
        <p:spPr>
          <a:xfrm>
            <a:off x="533400" y="2600325"/>
            <a:ext cx="2952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4CB2"/>
              </a:buClr>
              <a:buSzPts val="1500"/>
              <a:buFont typeface="Helvetica Neue"/>
              <a:buNone/>
            </a:pPr>
            <a:r>
              <a:rPr b="1" lang="en-US" sz="1500">
                <a:solidFill>
                  <a:srgbClr val="5B4CB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Vector length = 384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4CB2"/>
              </a:buClr>
              <a:buSzPts val="1500"/>
              <a:buFont typeface="Helvetica Neue"/>
              <a:buNone/>
            </a:pPr>
            <a:r>
              <a:rPr b="1" lang="en-US" sz="1500">
                <a:solidFill>
                  <a:srgbClr val="5B4CB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One coordinate per dimension</a:t>
            </a: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533400" y="3429000"/>
            <a:ext cx="2857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2716F"/>
              </a:buClr>
              <a:buSzPts val="1275"/>
              <a:buFont typeface="Helvetica Neue"/>
              <a:buNone/>
            </a:pPr>
            <a:r>
              <a:rPr b="0" lang="en-US" sz="1275">
                <a:solidFill>
                  <a:srgbClr val="62716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image shows three values.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2716F"/>
              </a:buClr>
              <a:buSzPts val="1275"/>
              <a:buFont typeface="Helvetica Neue"/>
              <a:buNone/>
            </a:pPr>
            <a:r>
              <a:rPr b="0" lang="en-US" sz="1275">
                <a:solidFill>
                  <a:srgbClr val="62716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ellipsis represents the remaining 381.</a:t>
            </a: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3857625" y="1381125"/>
            <a:ext cx="37147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765E"/>
              </a:buClr>
              <a:buSzPts val="1800"/>
              <a:buFont typeface="Helvetica Neue"/>
              <a:buNone/>
            </a:pPr>
            <a:r>
              <a:rPr b="1" lang="en-US" sz="1800">
                <a:solidFill>
                  <a:srgbClr val="1E76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  Embedding space</a:t>
            </a:r>
            <a:endParaRPr/>
          </a:p>
        </p:txBody>
      </p:sp>
      <p:pic>
        <p:nvPicPr>
          <p:cNvPr id="99" name="Google Shape;9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67125" y="1714500"/>
            <a:ext cx="4095750" cy="40957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0" name="Google Shape;100;p9"/>
          <p:cNvCxnSpPr/>
          <p:nvPr/>
        </p:nvCxnSpPr>
        <p:spPr>
          <a:xfrm>
            <a:off x="5048250" y="3476625"/>
            <a:ext cx="666750" cy="619125"/>
          </a:xfrm>
          <a:prstGeom prst="straightConnector1">
            <a:avLst/>
          </a:prstGeom>
          <a:noFill/>
          <a:ln cap="flat" cmpd="sng" w="38100">
            <a:solidFill>
              <a:srgbClr val="D33A8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1" name="Google Shape;101;p9"/>
          <p:cNvCxnSpPr/>
          <p:nvPr/>
        </p:nvCxnSpPr>
        <p:spPr>
          <a:xfrm>
            <a:off x="4810125" y="3333750"/>
            <a:ext cx="904875" cy="762000"/>
          </a:xfrm>
          <a:prstGeom prst="straightConnector1">
            <a:avLst/>
          </a:prstGeom>
          <a:noFill/>
          <a:ln cap="flat" cmpd="sng" w="28575">
            <a:solidFill>
              <a:srgbClr val="1D9A6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2" name="Google Shape;102;p9"/>
          <p:cNvCxnSpPr/>
          <p:nvPr/>
        </p:nvCxnSpPr>
        <p:spPr>
          <a:xfrm>
            <a:off x="5715000" y="2476500"/>
            <a:ext cx="0" cy="1619250"/>
          </a:xfrm>
          <a:prstGeom prst="straightConnector1">
            <a:avLst/>
          </a:prstGeom>
          <a:noFill/>
          <a:ln cap="flat" cmpd="sng" w="28575">
            <a:solidFill>
              <a:srgbClr val="257EB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3" name="Google Shape;103;p9"/>
          <p:cNvCxnSpPr/>
          <p:nvPr/>
        </p:nvCxnSpPr>
        <p:spPr>
          <a:xfrm>
            <a:off x="5715000" y="4095750"/>
            <a:ext cx="1143000" cy="857250"/>
          </a:xfrm>
          <a:prstGeom prst="straightConnector1">
            <a:avLst/>
          </a:prstGeom>
          <a:noFill/>
          <a:ln cap="flat" cmpd="sng" w="28575">
            <a:solidFill>
              <a:srgbClr val="C9780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" name="Google Shape;104;p9"/>
          <p:cNvSpPr/>
          <p:nvPr/>
        </p:nvSpPr>
        <p:spPr>
          <a:xfrm>
            <a:off x="5657850" y="4038600"/>
            <a:ext cx="114300" cy="114300"/>
          </a:xfrm>
          <a:prstGeom prst="ellipse">
            <a:avLst/>
          </a:prstGeom>
          <a:solidFill>
            <a:srgbClr val="263837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9"/>
          <p:cNvSpPr/>
          <p:nvPr/>
        </p:nvSpPr>
        <p:spPr>
          <a:xfrm>
            <a:off x="4972050" y="3400425"/>
            <a:ext cx="152400" cy="152400"/>
          </a:xfrm>
          <a:prstGeom prst="ellipse">
            <a:avLst/>
          </a:prstGeom>
          <a:solidFill>
            <a:srgbClr val="D33A89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80975" dir="4443276" dist="69343">
              <a:srgbClr val="000000">
                <a:alpha val="1411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9"/>
          <p:cNvSpPr/>
          <p:nvPr/>
        </p:nvSpPr>
        <p:spPr>
          <a:xfrm>
            <a:off x="5162550" y="3238500"/>
            <a:ext cx="90487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33A89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D33A8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query q</a:t>
            </a:r>
            <a:endParaRPr/>
          </a:p>
        </p:txBody>
      </p:sp>
      <p:sp>
        <p:nvSpPr>
          <p:cNvPr id="107" name="Google Shape;107;p9"/>
          <p:cNvSpPr/>
          <p:nvPr/>
        </p:nvSpPr>
        <p:spPr>
          <a:xfrm>
            <a:off x="4733925" y="3257550"/>
            <a:ext cx="152400" cy="152400"/>
          </a:xfrm>
          <a:prstGeom prst="ellipse">
            <a:avLst/>
          </a:prstGeom>
          <a:solidFill>
            <a:srgbClr val="1D9A6C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80975" dir="4443276" dist="69343">
              <a:srgbClr val="000000">
                <a:alpha val="1411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9"/>
          <p:cNvSpPr/>
          <p:nvPr/>
        </p:nvSpPr>
        <p:spPr>
          <a:xfrm>
            <a:off x="3933825" y="3352800"/>
            <a:ext cx="90487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9A6C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1D9A6C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chunk A</a:t>
            </a:r>
            <a:endParaRPr/>
          </a:p>
        </p:txBody>
      </p:sp>
      <p:sp>
        <p:nvSpPr>
          <p:cNvPr id="109" name="Google Shape;109;p9"/>
          <p:cNvSpPr/>
          <p:nvPr/>
        </p:nvSpPr>
        <p:spPr>
          <a:xfrm>
            <a:off x="5638800" y="2400300"/>
            <a:ext cx="152400" cy="152400"/>
          </a:xfrm>
          <a:prstGeom prst="ellipse">
            <a:avLst/>
          </a:prstGeom>
          <a:solidFill>
            <a:srgbClr val="257EB4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80975" dir="4443276" dist="69343">
              <a:srgbClr val="000000">
                <a:alpha val="1411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9"/>
          <p:cNvSpPr/>
          <p:nvPr/>
        </p:nvSpPr>
        <p:spPr>
          <a:xfrm>
            <a:off x="5829300" y="2362200"/>
            <a:ext cx="90487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7EB4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257E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chunk B</a:t>
            </a:r>
            <a:endParaRPr/>
          </a:p>
        </p:txBody>
      </p:sp>
      <p:sp>
        <p:nvSpPr>
          <p:cNvPr id="111" name="Google Shape;111;p9"/>
          <p:cNvSpPr/>
          <p:nvPr/>
        </p:nvSpPr>
        <p:spPr>
          <a:xfrm>
            <a:off x="6781800" y="4876800"/>
            <a:ext cx="152400" cy="152400"/>
          </a:xfrm>
          <a:prstGeom prst="ellipse">
            <a:avLst/>
          </a:prstGeom>
          <a:solidFill>
            <a:srgbClr val="C9780E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80975" dir="4443276" dist="69343">
              <a:srgbClr val="000000">
                <a:alpha val="1411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9"/>
          <p:cNvSpPr/>
          <p:nvPr/>
        </p:nvSpPr>
        <p:spPr>
          <a:xfrm>
            <a:off x="6972300" y="4876800"/>
            <a:ext cx="90487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780E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C9780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chunk C</a:t>
            </a:r>
            <a:endParaRPr/>
          </a:p>
        </p:txBody>
      </p:sp>
      <p:sp>
        <p:nvSpPr>
          <p:cNvPr id="113" name="Google Shape;113;p9"/>
          <p:cNvSpPr/>
          <p:nvPr/>
        </p:nvSpPr>
        <p:spPr>
          <a:xfrm>
            <a:off x="3857625" y="5781675"/>
            <a:ext cx="37147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2828"/>
              </a:buClr>
              <a:buSzPts val="1125"/>
              <a:buFont typeface="Helvetica Neue"/>
              <a:buNone/>
            </a:pPr>
            <a:r>
              <a:rPr b="1" lang="en-US" sz="1125">
                <a:solidFill>
                  <a:srgbClr val="C6282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Thin red shell: most probability mass</a:t>
            </a:r>
            <a:endParaRPr/>
          </a:p>
        </p:txBody>
      </p:sp>
      <p:sp>
        <p:nvSpPr>
          <p:cNvPr id="114" name="Google Shape;114;p9"/>
          <p:cNvSpPr/>
          <p:nvPr/>
        </p:nvSpPr>
        <p:spPr>
          <a:xfrm>
            <a:off x="3857625" y="6010275"/>
            <a:ext cx="37147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2716F"/>
              </a:buClr>
              <a:buSzPts val="1050"/>
              <a:buFont typeface="Helvetica Neue"/>
              <a:buNone/>
            </a:pPr>
            <a:r>
              <a:rPr b="0" lang="en-US" sz="1050">
                <a:solidFill>
                  <a:srgbClr val="62716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Pale center: very little probability mass</a:t>
            </a:r>
            <a:endParaRPr/>
          </a:p>
        </p:txBody>
      </p:sp>
      <p:sp>
        <p:nvSpPr>
          <p:cNvPr id="115" name="Google Shape;115;p9"/>
          <p:cNvSpPr/>
          <p:nvPr/>
        </p:nvSpPr>
        <p:spPr>
          <a:xfrm>
            <a:off x="8143875" y="1381125"/>
            <a:ext cx="3476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66008"/>
              </a:buClr>
              <a:buSzPts val="1800"/>
              <a:buFont typeface="Helvetica Neue"/>
              <a:buNone/>
            </a:pPr>
            <a:r>
              <a:rPr b="1" lang="en-US" sz="1800">
                <a:solidFill>
                  <a:srgbClr val="A6600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  Compare direction</a:t>
            </a:r>
            <a:endParaRPr/>
          </a:p>
        </p:txBody>
      </p:sp>
      <p:sp>
        <p:nvSpPr>
          <p:cNvPr id="116" name="Google Shape;116;p9"/>
          <p:cNvSpPr/>
          <p:nvPr/>
        </p:nvSpPr>
        <p:spPr>
          <a:xfrm>
            <a:off x="8143875" y="1905000"/>
            <a:ext cx="3476625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30"/>
              </a:buClr>
              <a:buSzPts val="1650"/>
              <a:buFont typeface="Helvetica Neue"/>
              <a:buNone/>
            </a:pPr>
            <a:r>
              <a:rPr b="1" lang="en-US" sz="1650">
                <a:solidFill>
                  <a:srgbClr val="2431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cos(q, c) = (q · c) / (‖q‖ × ‖c‖)</a:t>
            </a:r>
            <a:endParaRPr/>
          </a:p>
        </p:txBody>
      </p:sp>
      <p:sp>
        <p:nvSpPr>
          <p:cNvPr id="117" name="Google Shape;117;p9"/>
          <p:cNvSpPr/>
          <p:nvPr/>
        </p:nvSpPr>
        <p:spPr>
          <a:xfrm>
            <a:off x="8143875" y="2390775"/>
            <a:ext cx="32385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5856"/>
              </a:buClr>
              <a:buSzPts val="1200"/>
              <a:buFont typeface="Helvetica Neue"/>
              <a:buNone/>
            </a:pPr>
            <a:r>
              <a:rPr b="0" lang="en-US" sz="1200">
                <a:solidFill>
                  <a:srgbClr val="46585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dot product ÷ vector lengths</a:t>
            </a:r>
            <a:endParaRPr/>
          </a:p>
        </p:txBody>
      </p:sp>
      <p:sp>
        <p:nvSpPr>
          <p:cNvPr id="118" name="Google Shape;118;p9"/>
          <p:cNvSpPr/>
          <p:nvPr/>
        </p:nvSpPr>
        <p:spPr>
          <a:xfrm>
            <a:off x="8143875" y="2876550"/>
            <a:ext cx="32385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2716F"/>
              </a:buClr>
              <a:buSzPts val="1125"/>
              <a:buFont typeface="Helvetica Neue"/>
              <a:buNone/>
            </a:pPr>
            <a:r>
              <a:rPr b="0" lang="en-US" sz="1125">
                <a:solidFill>
                  <a:srgbClr val="62716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Illustrative normalized vectors</a:t>
            </a:r>
            <a:endParaRPr/>
          </a:p>
        </p:txBody>
      </p:sp>
      <p:sp>
        <p:nvSpPr>
          <p:cNvPr id="119" name="Google Shape;119;p9"/>
          <p:cNvSpPr/>
          <p:nvPr/>
        </p:nvSpPr>
        <p:spPr>
          <a:xfrm>
            <a:off x="8143875" y="3324225"/>
            <a:ext cx="142875" cy="142875"/>
          </a:xfrm>
          <a:prstGeom prst="ellipse">
            <a:avLst/>
          </a:prstGeom>
          <a:solidFill>
            <a:srgbClr val="1D9A6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9"/>
          <p:cNvSpPr/>
          <p:nvPr/>
        </p:nvSpPr>
        <p:spPr>
          <a:xfrm>
            <a:off x="8382000" y="3286125"/>
            <a:ext cx="238125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30"/>
              </a:buClr>
              <a:buSzPts val="1275"/>
              <a:buFont typeface="Helvetica Neue"/>
              <a:buNone/>
            </a:pPr>
            <a:r>
              <a:rPr b="1" lang="en-US" sz="1275">
                <a:solidFill>
                  <a:srgbClr val="2431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Chunk A  Universal criteria</a:t>
            </a:r>
            <a:endParaRPr/>
          </a:p>
        </p:txBody>
      </p:sp>
      <p:sp>
        <p:nvSpPr>
          <p:cNvPr id="121" name="Google Shape;121;p9"/>
          <p:cNvSpPr/>
          <p:nvPr/>
        </p:nvSpPr>
        <p:spPr>
          <a:xfrm>
            <a:off x="10858500" y="3257550"/>
            <a:ext cx="6667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9A6C"/>
              </a:buClr>
              <a:buSzPts val="1800"/>
              <a:buFont typeface="Helvetica Neue"/>
              <a:buNone/>
            </a:pPr>
            <a:r>
              <a:rPr b="1" lang="en-US" sz="1800">
                <a:solidFill>
                  <a:srgbClr val="1D9A6C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0.92</a:t>
            </a:r>
            <a:endParaRPr/>
          </a:p>
        </p:txBody>
      </p:sp>
      <p:sp>
        <p:nvSpPr>
          <p:cNvPr id="122" name="Google Shape;122;p9"/>
          <p:cNvSpPr/>
          <p:nvPr/>
        </p:nvSpPr>
        <p:spPr>
          <a:xfrm>
            <a:off x="8382000" y="3552825"/>
            <a:ext cx="2333625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2716F"/>
              </a:buClr>
              <a:buSzPts val="1125"/>
              <a:buFont typeface="Helvetica Neue"/>
              <a:buNone/>
            </a:pPr>
            <a:r>
              <a:rPr b="0" lang="en-US" sz="1125">
                <a:solidFill>
                  <a:srgbClr val="62716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closest direction</a:t>
            </a:r>
            <a:endParaRPr/>
          </a:p>
        </p:txBody>
      </p:sp>
      <p:sp>
        <p:nvSpPr>
          <p:cNvPr id="123" name="Google Shape;123;p9"/>
          <p:cNvSpPr/>
          <p:nvPr/>
        </p:nvSpPr>
        <p:spPr>
          <a:xfrm>
            <a:off x="8143875" y="4086225"/>
            <a:ext cx="142875" cy="142875"/>
          </a:xfrm>
          <a:prstGeom prst="ellipse">
            <a:avLst/>
          </a:prstGeom>
          <a:solidFill>
            <a:srgbClr val="257EB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9"/>
          <p:cNvSpPr/>
          <p:nvPr/>
        </p:nvSpPr>
        <p:spPr>
          <a:xfrm>
            <a:off x="8382000" y="4048125"/>
            <a:ext cx="238125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30"/>
              </a:buClr>
              <a:buSzPts val="1275"/>
              <a:buFont typeface="Helvetica Neue"/>
              <a:buNone/>
            </a:pPr>
            <a:r>
              <a:rPr b="1" lang="en-US" sz="1275">
                <a:solidFill>
                  <a:srgbClr val="2431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Chunk B  Billing codes</a:t>
            </a:r>
            <a:endParaRPr/>
          </a:p>
        </p:txBody>
      </p:sp>
      <p:sp>
        <p:nvSpPr>
          <p:cNvPr id="125" name="Google Shape;125;p9"/>
          <p:cNvSpPr/>
          <p:nvPr/>
        </p:nvSpPr>
        <p:spPr>
          <a:xfrm>
            <a:off x="10858500" y="4019550"/>
            <a:ext cx="6667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7EB4"/>
              </a:buClr>
              <a:buSzPts val="1800"/>
              <a:buFont typeface="Helvetica Neue"/>
              <a:buNone/>
            </a:pPr>
            <a:r>
              <a:rPr b="1" lang="en-US" sz="1800">
                <a:solidFill>
                  <a:srgbClr val="257E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0.41</a:t>
            </a:r>
            <a:endParaRPr/>
          </a:p>
        </p:txBody>
      </p:sp>
      <p:sp>
        <p:nvSpPr>
          <p:cNvPr id="126" name="Google Shape;126;p9"/>
          <p:cNvSpPr/>
          <p:nvPr/>
        </p:nvSpPr>
        <p:spPr>
          <a:xfrm>
            <a:off x="8382000" y="4314825"/>
            <a:ext cx="2333625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2716F"/>
              </a:buClr>
              <a:buSzPts val="1125"/>
              <a:buFont typeface="Helvetica Neue"/>
              <a:buNone/>
            </a:pPr>
            <a:r>
              <a:rPr b="0" lang="en-US" sz="1125">
                <a:solidFill>
                  <a:srgbClr val="62716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partial relation</a:t>
            </a:r>
            <a:endParaRPr/>
          </a:p>
        </p:txBody>
      </p:sp>
      <p:sp>
        <p:nvSpPr>
          <p:cNvPr id="127" name="Google Shape;127;p9"/>
          <p:cNvSpPr/>
          <p:nvPr/>
        </p:nvSpPr>
        <p:spPr>
          <a:xfrm>
            <a:off x="8143875" y="4848225"/>
            <a:ext cx="142875" cy="142875"/>
          </a:xfrm>
          <a:prstGeom prst="ellipse">
            <a:avLst/>
          </a:prstGeom>
          <a:solidFill>
            <a:srgbClr val="C9780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9"/>
          <p:cNvSpPr/>
          <p:nvPr/>
        </p:nvSpPr>
        <p:spPr>
          <a:xfrm>
            <a:off x="8382000" y="4810125"/>
            <a:ext cx="238125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30"/>
              </a:buClr>
              <a:buSzPts val="1275"/>
              <a:buFont typeface="Helvetica Neue"/>
              <a:buNone/>
            </a:pPr>
            <a:r>
              <a:rPr b="1" lang="en-US" sz="1275">
                <a:solidFill>
                  <a:srgbClr val="2431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Chunk C  Revision history</a:t>
            </a:r>
            <a:endParaRPr/>
          </a:p>
        </p:txBody>
      </p:sp>
      <p:sp>
        <p:nvSpPr>
          <p:cNvPr id="129" name="Google Shape;129;p9"/>
          <p:cNvSpPr/>
          <p:nvPr/>
        </p:nvSpPr>
        <p:spPr>
          <a:xfrm>
            <a:off x="10858500" y="4781550"/>
            <a:ext cx="6667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780E"/>
              </a:buClr>
              <a:buSzPts val="1800"/>
              <a:buFont typeface="Helvetica Neue"/>
              <a:buNone/>
            </a:pPr>
            <a:r>
              <a:rPr b="1" lang="en-US" sz="1800">
                <a:solidFill>
                  <a:srgbClr val="C9780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0.08</a:t>
            </a:r>
            <a:endParaRPr/>
          </a:p>
        </p:txBody>
      </p:sp>
      <p:sp>
        <p:nvSpPr>
          <p:cNvPr id="130" name="Google Shape;130;p9"/>
          <p:cNvSpPr/>
          <p:nvPr/>
        </p:nvSpPr>
        <p:spPr>
          <a:xfrm>
            <a:off x="8382000" y="5076825"/>
            <a:ext cx="2333625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2716F"/>
              </a:buClr>
              <a:buSzPts val="1125"/>
              <a:buFont typeface="Helvetica Neue"/>
              <a:buNone/>
            </a:pPr>
            <a:r>
              <a:rPr b="0" lang="en-US" sz="1125">
                <a:solidFill>
                  <a:srgbClr val="62716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weak relation</a:t>
            </a:r>
            <a:endParaRPr/>
          </a:p>
        </p:txBody>
      </p:sp>
      <p:cxnSp>
        <p:nvCxnSpPr>
          <p:cNvPr id="131" name="Google Shape;131;p9"/>
          <p:cNvCxnSpPr/>
          <p:nvPr/>
        </p:nvCxnSpPr>
        <p:spPr>
          <a:xfrm>
            <a:off x="8143875" y="5572125"/>
            <a:ext cx="3381375" cy="0"/>
          </a:xfrm>
          <a:prstGeom prst="straightConnector1">
            <a:avLst/>
          </a:prstGeom>
          <a:noFill/>
          <a:ln cap="flat" cmpd="sng" w="9525">
            <a:solidFill>
              <a:srgbClr val="D2DCD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2" name="Google Shape;132;p9"/>
          <p:cNvSpPr/>
          <p:nvPr/>
        </p:nvSpPr>
        <p:spPr>
          <a:xfrm>
            <a:off x="8143875" y="5715000"/>
            <a:ext cx="21907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524"/>
              </a:buClr>
              <a:buSzPts val="1500"/>
              <a:buFont typeface="Helvetica Neue"/>
              <a:buNone/>
            </a:pPr>
            <a:r>
              <a:rPr b="1" lang="en-US" sz="1500">
                <a:solidFill>
                  <a:srgbClr val="18252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Highest cosine score</a:t>
            </a:r>
            <a:endParaRPr/>
          </a:p>
        </p:txBody>
      </p:sp>
      <p:sp>
        <p:nvSpPr>
          <p:cNvPr id="133" name="Google Shape;133;p9"/>
          <p:cNvSpPr/>
          <p:nvPr/>
        </p:nvSpPr>
        <p:spPr>
          <a:xfrm>
            <a:off x="8143875" y="6038850"/>
            <a:ext cx="34290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5856"/>
              </a:buClr>
              <a:buSzPts val="1350"/>
              <a:buFont typeface="Helvetica Neue"/>
              <a:buNone/>
            </a:pPr>
            <a:r>
              <a:rPr b="0" lang="en-US" sz="1350">
                <a:solidFill>
                  <a:srgbClr val="46585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Chunk A becomes the top retrieval match</a:t>
            </a:r>
            <a:endParaRPr/>
          </a:p>
        </p:txBody>
      </p:sp>
      <p:sp>
        <p:nvSpPr>
          <p:cNvPr id="134" name="Google Shape;134;p9"/>
          <p:cNvSpPr/>
          <p:nvPr/>
        </p:nvSpPr>
        <p:spPr>
          <a:xfrm>
            <a:off x="533400" y="6477000"/>
            <a:ext cx="1112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2716F"/>
              </a:buClr>
              <a:buSzPts val="1050"/>
              <a:buFont typeface="Helvetica Neue"/>
              <a:buNone/>
            </a:pPr>
            <a:r>
              <a:rPr b="0" lang="en-US" sz="1050">
                <a:solidFill>
                  <a:srgbClr val="62716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Cosine similarity ranges from -1 to 1. Higher values indicate more aligned vector directions.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0" title="tokenizer_to_embeddin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650132" cy="6553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1"/>
          <p:cNvSpPr txBox="1"/>
          <p:nvPr/>
        </p:nvSpPr>
        <p:spPr>
          <a:xfrm>
            <a:off x="508000" y="279400"/>
            <a:ext cx="8763000" cy="4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14171F"/>
                </a:solidFill>
              </a:rPr>
              <a:t>Match the tokenizer to the embedding checkpoint</a:t>
            </a:r>
            <a:endParaRPr b="1" sz="2400">
              <a:solidFill>
                <a:srgbClr val="14171F"/>
              </a:solidFill>
            </a:endParaRPr>
          </a:p>
        </p:txBody>
      </p:sp>
      <p:sp>
        <p:nvSpPr>
          <p:cNvPr id="147" name="Google Shape;147;p11"/>
          <p:cNvSpPr txBox="1"/>
          <p:nvPr/>
        </p:nvSpPr>
        <p:spPr>
          <a:xfrm>
            <a:off x="508000" y="762000"/>
            <a:ext cx="9906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75E6E"/>
                </a:solidFill>
              </a:rPr>
              <a:t>One model ID must govern subword segmentation, pooling, projection, and vector size.</a:t>
            </a:r>
            <a:endParaRPr sz="1200">
              <a:solidFill>
                <a:srgbClr val="575E6E"/>
              </a:solidFill>
            </a:endParaRPr>
          </a:p>
        </p:txBody>
      </p:sp>
      <p:sp>
        <p:nvSpPr>
          <p:cNvPr id="148" name="Google Shape;148;p11"/>
          <p:cNvSpPr/>
          <p:nvPr/>
        </p:nvSpPr>
        <p:spPr>
          <a:xfrm>
            <a:off x="9588500" y="266700"/>
            <a:ext cx="2095500" cy="381000"/>
          </a:xfrm>
          <a:prstGeom prst="roundRect">
            <a:avLst>
              <a:gd fmla="val 16667" name="adj"/>
            </a:avLst>
          </a:prstGeom>
          <a:solidFill>
            <a:srgbClr val="F0EBFC"/>
          </a:solidFill>
          <a:ln cap="flat" cmpd="sng" w="12700">
            <a:solidFill>
              <a:srgbClr val="7854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1"/>
          <p:cNvSpPr txBox="1"/>
          <p:nvPr/>
        </p:nvSpPr>
        <p:spPr>
          <a:xfrm>
            <a:off x="9690100" y="355600"/>
            <a:ext cx="18924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4A2E80"/>
                </a:solidFill>
              </a:rPr>
              <a:t>EmbeddingGemma · 768D</a:t>
            </a:r>
            <a:endParaRPr b="1" sz="1100">
              <a:solidFill>
                <a:srgbClr val="4A2E80"/>
              </a:solidFill>
            </a:endParaRPr>
          </a:p>
        </p:txBody>
      </p:sp>
      <p:sp>
        <p:nvSpPr>
          <p:cNvPr id="150" name="Google Shape;150;p11"/>
          <p:cNvSpPr/>
          <p:nvPr/>
        </p:nvSpPr>
        <p:spPr>
          <a:xfrm>
            <a:off x="508000" y="1244600"/>
            <a:ext cx="5397600" cy="3098700"/>
          </a:xfrm>
          <a:prstGeom prst="roundRect">
            <a:avLst>
              <a:gd fmla="val 16667" name="adj"/>
            </a:avLst>
          </a:prstGeom>
          <a:solidFill>
            <a:srgbClr val="F9FAFC"/>
          </a:solidFill>
          <a:ln cap="flat" cmpd="sng" w="12700">
            <a:solidFill>
              <a:srgbClr val="BDC7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1"/>
          <p:cNvSpPr/>
          <p:nvPr/>
        </p:nvSpPr>
        <p:spPr>
          <a:xfrm>
            <a:off x="508000" y="1244600"/>
            <a:ext cx="5397600" cy="431700"/>
          </a:xfrm>
          <a:prstGeom prst="rect">
            <a:avLst/>
          </a:prstGeom>
          <a:solidFill>
            <a:srgbClr val="E5F0FC"/>
          </a:solidFill>
          <a:ln cap="flat" cmpd="sng" w="12700">
            <a:solidFill>
              <a:srgbClr val="6E99D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1"/>
          <p:cNvSpPr txBox="1"/>
          <p:nvPr/>
        </p:nvSpPr>
        <p:spPr>
          <a:xfrm>
            <a:off x="685800" y="1358900"/>
            <a:ext cx="495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A4075"/>
                </a:solidFill>
              </a:rPr>
              <a:t>1  Pair AutoTokenizer with the exact checkpoint</a:t>
            </a:r>
            <a:endParaRPr b="1">
              <a:solidFill>
                <a:srgbClr val="1A4075"/>
              </a:solidFill>
            </a:endParaRPr>
          </a:p>
        </p:txBody>
      </p:sp>
      <p:sp>
        <p:nvSpPr>
          <p:cNvPr id="153" name="Google Shape;153;p11"/>
          <p:cNvSpPr txBox="1"/>
          <p:nvPr/>
        </p:nvSpPr>
        <p:spPr>
          <a:xfrm>
            <a:off x="723900" y="1841500"/>
            <a:ext cx="4978500" cy="19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MODEL_ID = "google/embeddinggemma-300m"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from transformers import AutoTokenizer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tokenizer = AutoTokenizer.from_pretrained(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    MODEL_ID,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    use_fast=True,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ids = tokenizer(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    "Preferred: Treanda J9033",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    truncation=True,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    max_length=2048,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)["input_ids"]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54" name="Google Shape;154;p11"/>
          <p:cNvSpPr txBox="1"/>
          <p:nvPr/>
        </p:nvSpPr>
        <p:spPr>
          <a:xfrm>
            <a:off x="723900" y="3924300"/>
            <a:ext cx="49785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E5C94"/>
                </a:solidFill>
              </a:rPr>
              <a:t>Vocabulary + SentencePiece rules come from MODEL_ID.</a:t>
            </a:r>
            <a:endParaRPr b="1" sz="1150">
              <a:solidFill>
                <a:srgbClr val="2E5C94"/>
              </a:solidFill>
            </a:endParaRPr>
          </a:p>
        </p:txBody>
      </p:sp>
      <p:sp>
        <p:nvSpPr>
          <p:cNvPr id="155" name="Google Shape;155;p11"/>
          <p:cNvSpPr/>
          <p:nvPr/>
        </p:nvSpPr>
        <p:spPr>
          <a:xfrm>
            <a:off x="6286500" y="1244600"/>
            <a:ext cx="5397600" cy="3098700"/>
          </a:xfrm>
          <a:prstGeom prst="roundRect">
            <a:avLst>
              <a:gd fmla="val 16667" name="adj"/>
            </a:avLst>
          </a:prstGeom>
          <a:solidFill>
            <a:srgbClr val="FAFBF9"/>
          </a:solidFill>
          <a:ln cap="flat" cmpd="sng" w="12700">
            <a:solidFill>
              <a:srgbClr val="BAD4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1"/>
          <p:cNvSpPr/>
          <p:nvPr/>
        </p:nvSpPr>
        <p:spPr>
          <a:xfrm>
            <a:off x="6286500" y="1244600"/>
            <a:ext cx="5397600" cy="431700"/>
          </a:xfrm>
          <a:prstGeom prst="rect">
            <a:avLst/>
          </a:prstGeom>
          <a:solidFill>
            <a:srgbClr val="E5F7E8"/>
          </a:solidFill>
          <a:ln cap="flat" cmpd="sng" w="12700">
            <a:solidFill>
              <a:srgbClr val="5EA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1"/>
          <p:cNvSpPr txBox="1"/>
          <p:nvPr/>
        </p:nvSpPr>
        <p:spPr>
          <a:xfrm>
            <a:off x="6464300" y="1358900"/>
            <a:ext cx="495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A612E"/>
                </a:solidFill>
              </a:rPr>
              <a:t>2  Load the complete embedding pipeline</a:t>
            </a:r>
            <a:endParaRPr b="1">
              <a:solidFill>
                <a:srgbClr val="1A612E"/>
              </a:solidFill>
            </a:endParaRPr>
          </a:p>
        </p:txBody>
      </p:sp>
      <p:sp>
        <p:nvSpPr>
          <p:cNvPr id="158" name="Google Shape;158;p11"/>
          <p:cNvSpPr txBox="1"/>
          <p:nvPr/>
        </p:nvSpPr>
        <p:spPr>
          <a:xfrm>
            <a:off x="6502400" y="1841500"/>
            <a:ext cx="4978500" cy="19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from sentence_transformers import SentenceTransformer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embedder = SentenceTransformer(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    MODEL_ID,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    truncate_dim=768,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q = embedder.encode_query(question)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docs = embedder.encode_document(chunks)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scores = embedder.similarity(q, docs)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F242E"/>
                </a:solidFill>
                <a:latin typeface="Roboto Mono"/>
                <a:ea typeface="Roboto Mono"/>
                <a:cs typeface="Roboto Mono"/>
                <a:sym typeface="Roboto Mono"/>
              </a:rPr>
              <a:t>print(q.shape)               # (768,)</a:t>
            </a:r>
            <a:endParaRPr sz="950">
              <a:solidFill>
                <a:srgbClr val="1F242E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59" name="Google Shape;159;p11"/>
          <p:cNvSpPr txBox="1"/>
          <p:nvPr/>
        </p:nvSpPr>
        <p:spPr>
          <a:xfrm>
            <a:off x="6502400" y="3924300"/>
            <a:ext cx="49785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96E38"/>
                </a:solidFill>
              </a:rPr>
              <a:t>Includes mean pooling → dense layers → L2 normalization.</a:t>
            </a:r>
            <a:endParaRPr b="1" sz="1150">
              <a:solidFill>
                <a:srgbClr val="296E38"/>
              </a:solidFill>
            </a:endParaRPr>
          </a:p>
        </p:txBody>
      </p:sp>
      <p:sp>
        <p:nvSpPr>
          <p:cNvPr id="160" name="Google Shape;160;p11"/>
          <p:cNvSpPr txBox="1"/>
          <p:nvPr/>
        </p:nvSpPr>
        <p:spPr>
          <a:xfrm>
            <a:off x="508000" y="4533900"/>
            <a:ext cx="27939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E7A"/>
                </a:solidFill>
              </a:rPr>
              <a:t>ONE MATCHED PIPELINE</a:t>
            </a:r>
            <a:endParaRPr b="1" sz="1000">
              <a:solidFill>
                <a:srgbClr val="545E7A"/>
              </a:solidFill>
            </a:endParaRPr>
          </a:p>
        </p:txBody>
      </p:sp>
      <p:sp>
        <p:nvSpPr>
          <p:cNvPr id="161" name="Google Shape;161;p11"/>
          <p:cNvSpPr/>
          <p:nvPr/>
        </p:nvSpPr>
        <p:spPr>
          <a:xfrm>
            <a:off x="508000" y="4787900"/>
            <a:ext cx="1841400" cy="673200"/>
          </a:xfrm>
          <a:prstGeom prst="roundRect">
            <a:avLst>
              <a:gd fmla="val 16667" name="adj"/>
            </a:avLst>
          </a:prstGeom>
          <a:solidFill>
            <a:srgbClr val="F0EBFC"/>
          </a:solidFill>
          <a:ln cap="flat" cmpd="sng" w="12700">
            <a:solidFill>
              <a:srgbClr val="9EA8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1"/>
          <p:cNvSpPr txBox="1"/>
          <p:nvPr/>
        </p:nvSpPr>
        <p:spPr>
          <a:xfrm>
            <a:off x="596900" y="4940300"/>
            <a:ext cx="16638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12936"/>
                </a:solidFill>
              </a:rPr>
              <a:t>same MODEL_ID</a:t>
            </a:r>
            <a:endParaRPr b="1" sz="1150">
              <a:solidFill>
                <a:srgbClr val="212936"/>
              </a:solidFill>
            </a:endParaRPr>
          </a:p>
        </p:txBody>
      </p:sp>
      <p:sp>
        <p:nvSpPr>
          <p:cNvPr id="163" name="Google Shape;163;p11"/>
          <p:cNvSpPr txBox="1"/>
          <p:nvPr/>
        </p:nvSpPr>
        <p:spPr>
          <a:xfrm>
            <a:off x="2400300" y="4940300"/>
            <a:ext cx="2793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5E6B85"/>
                </a:solidFill>
              </a:rPr>
              <a:t>→</a:t>
            </a:r>
            <a:endParaRPr b="1" sz="2200">
              <a:solidFill>
                <a:srgbClr val="5E6B85"/>
              </a:solidFill>
            </a:endParaRPr>
          </a:p>
        </p:txBody>
      </p:sp>
      <p:sp>
        <p:nvSpPr>
          <p:cNvPr id="164" name="Google Shape;164;p11"/>
          <p:cNvSpPr/>
          <p:nvPr/>
        </p:nvSpPr>
        <p:spPr>
          <a:xfrm>
            <a:off x="2755900" y="4787900"/>
            <a:ext cx="1841400" cy="673200"/>
          </a:xfrm>
          <a:prstGeom prst="roundRect">
            <a:avLst>
              <a:gd fmla="val 16667" name="adj"/>
            </a:avLst>
          </a:prstGeom>
          <a:solidFill>
            <a:srgbClr val="E8F2FF"/>
          </a:solidFill>
          <a:ln cap="flat" cmpd="sng" w="12700">
            <a:solidFill>
              <a:srgbClr val="9EA8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"/>
          <p:cNvSpPr txBox="1"/>
          <p:nvPr/>
        </p:nvSpPr>
        <p:spPr>
          <a:xfrm>
            <a:off x="2844800" y="4940300"/>
            <a:ext cx="16638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12936"/>
                </a:solidFill>
              </a:rPr>
              <a:t>subword tokenizer</a:t>
            </a:r>
            <a:endParaRPr b="1" sz="1150">
              <a:solidFill>
                <a:srgbClr val="212936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12936"/>
                </a:solidFill>
              </a:rPr>
              <a:t>integer token IDs</a:t>
            </a:r>
            <a:endParaRPr b="1" sz="1150">
              <a:solidFill>
                <a:srgbClr val="212936"/>
              </a:solidFill>
            </a:endParaRPr>
          </a:p>
        </p:txBody>
      </p:sp>
      <p:sp>
        <p:nvSpPr>
          <p:cNvPr id="166" name="Google Shape;166;p11"/>
          <p:cNvSpPr txBox="1"/>
          <p:nvPr/>
        </p:nvSpPr>
        <p:spPr>
          <a:xfrm>
            <a:off x="4648200" y="4940300"/>
            <a:ext cx="2793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5E6B85"/>
                </a:solidFill>
              </a:rPr>
              <a:t>→</a:t>
            </a:r>
            <a:endParaRPr b="1" sz="2200">
              <a:solidFill>
                <a:srgbClr val="5E6B85"/>
              </a:solidFill>
            </a:endParaRPr>
          </a:p>
        </p:txBody>
      </p:sp>
      <p:sp>
        <p:nvSpPr>
          <p:cNvPr id="167" name="Google Shape;167;p11"/>
          <p:cNvSpPr/>
          <p:nvPr/>
        </p:nvSpPr>
        <p:spPr>
          <a:xfrm>
            <a:off x="5003800" y="4787900"/>
            <a:ext cx="1841400" cy="673200"/>
          </a:xfrm>
          <a:prstGeom prst="roundRect">
            <a:avLst>
              <a:gd fmla="val 16667" name="adj"/>
            </a:avLst>
          </a:prstGeom>
          <a:solidFill>
            <a:srgbClr val="EBF5FF"/>
          </a:solidFill>
          <a:ln cap="flat" cmpd="sng" w="12700">
            <a:solidFill>
              <a:srgbClr val="9EA8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"/>
          <p:cNvSpPr txBox="1"/>
          <p:nvPr/>
        </p:nvSpPr>
        <p:spPr>
          <a:xfrm>
            <a:off x="5092700" y="4940300"/>
            <a:ext cx="16638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12936"/>
                </a:solidFill>
              </a:rPr>
              <a:t>Gemma 3 encoder</a:t>
            </a:r>
            <a:endParaRPr b="1" sz="1150">
              <a:solidFill>
                <a:srgbClr val="212936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12936"/>
                </a:solidFill>
              </a:rPr>
              <a:t>token vectors</a:t>
            </a:r>
            <a:endParaRPr b="1" sz="1150">
              <a:solidFill>
                <a:srgbClr val="212936"/>
              </a:solidFill>
            </a:endParaRPr>
          </a:p>
        </p:txBody>
      </p:sp>
      <p:sp>
        <p:nvSpPr>
          <p:cNvPr id="169" name="Google Shape;169;p11"/>
          <p:cNvSpPr txBox="1"/>
          <p:nvPr/>
        </p:nvSpPr>
        <p:spPr>
          <a:xfrm>
            <a:off x="6896100" y="4940300"/>
            <a:ext cx="2793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5E6B85"/>
                </a:solidFill>
              </a:rPr>
              <a:t>→</a:t>
            </a:r>
            <a:endParaRPr b="1" sz="2200">
              <a:solidFill>
                <a:srgbClr val="5E6B85"/>
              </a:solidFill>
            </a:endParaRPr>
          </a:p>
        </p:txBody>
      </p:sp>
      <p:sp>
        <p:nvSpPr>
          <p:cNvPr id="170" name="Google Shape;170;p11"/>
          <p:cNvSpPr/>
          <p:nvPr/>
        </p:nvSpPr>
        <p:spPr>
          <a:xfrm>
            <a:off x="7251700" y="4787900"/>
            <a:ext cx="1841400" cy="673200"/>
          </a:xfrm>
          <a:prstGeom prst="roundRect">
            <a:avLst>
              <a:gd fmla="val 16667" name="adj"/>
            </a:avLst>
          </a:prstGeom>
          <a:solidFill>
            <a:srgbClr val="E8FAED"/>
          </a:solidFill>
          <a:ln cap="flat" cmpd="sng" w="12700">
            <a:solidFill>
              <a:srgbClr val="9EA8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1"/>
          <p:cNvSpPr txBox="1"/>
          <p:nvPr/>
        </p:nvSpPr>
        <p:spPr>
          <a:xfrm>
            <a:off x="7340600" y="4940300"/>
            <a:ext cx="16638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12936"/>
                </a:solidFill>
              </a:rPr>
              <a:t>mean pool + dense</a:t>
            </a:r>
            <a:endParaRPr b="1" sz="1150">
              <a:solidFill>
                <a:srgbClr val="212936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12936"/>
                </a:solidFill>
              </a:rPr>
              <a:t>projection</a:t>
            </a:r>
            <a:endParaRPr b="1" sz="1150">
              <a:solidFill>
                <a:srgbClr val="212936"/>
              </a:solidFill>
            </a:endParaRPr>
          </a:p>
        </p:txBody>
      </p:sp>
      <p:sp>
        <p:nvSpPr>
          <p:cNvPr id="172" name="Google Shape;172;p11"/>
          <p:cNvSpPr txBox="1"/>
          <p:nvPr/>
        </p:nvSpPr>
        <p:spPr>
          <a:xfrm>
            <a:off x="9144000" y="4940300"/>
            <a:ext cx="2793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5E6B85"/>
                </a:solidFill>
              </a:rPr>
              <a:t>→</a:t>
            </a:r>
            <a:endParaRPr b="1" sz="2200">
              <a:solidFill>
                <a:srgbClr val="5E6B85"/>
              </a:solidFill>
            </a:endParaRPr>
          </a:p>
        </p:txBody>
      </p:sp>
      <p:sp>
        <p:nvSpPr>
          <p:cNvPr id="173" name="Google Shape;173;p11"/>
          <p:cNvSpPr/>
          <p:nvPr/>
        </p:nvSpPr>
        <p:spPr>
          <a:xfrm>
            <a:off x="9499600" y="4787900"/>
            <a:ext cx="1841400" cy="673200"/>
          </a:xfrm>
          <a:prstGeom prst="roundRect">
            <a:avLst>
              <a:gd fmla="val 16667" name="adj"/>
            </a:avLst>
          </a:prstGeom>
          <a:solidFill>
            <a:srgbClr val="E3F7E8"/>
          </a:solidFill>
          <a:ln cap="flat" cmpd="sng" w="12700">
            <a:solidFill>
              <a:srgbClr val="9EA8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1"/>
          <p:cNvSpPr txBox="1"/>
          <p:nvPr/>
        </p:nvSpPr>
        <p:spPr>
          <a:xfrm>
            <a:off x="9588500" y="4940300"/>
            <a:ext cx="16638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12936"/>
                </a:solidFill>
              </a:rPr>
              <a:t>L2-normalized</a:t>
            </a:r>
            <a:endParaRPr b="1" sz="1150">
              <a:solidFill>
                <a:srgbClr val="212936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12936"/>
                </a:solidFill>
              </a:rPr>
              <a:t>768-D vector</a:t>
            </a:r>
            <a:endParaRPr b="1" sz="1150">
              <a:solidFill>
                <a:srgbClr val="212936"/>
              </a:solidFill>
            </a:endParaRPr>
          </a:p>
        </p:txBody>
      </p:sp>
      <p:sp>
        <p:nvSpPr>
          <p:cNvPr id="175" name="Google Shape;175;p11"/>
          <p:cNvSpPr/>
          <p:nvPr/>
        </p:nvSpPr>
        <p:spPr>
          <a:xfrm>
            <a:off x="508000" y="5676900"/>
            <a:ext cx="11175900" cy="609600"/>
          </a:xfrm>
          <a:prstGeom prst="roundRect">
            <a:avLst>
              <a:gd fmla="val 16667" name="adj"/>
            </a:avLst>
          </a:prstGeom>
          <a:solidFill>
            <a:srgbClr val="FFF2F2"/>
          </a:solidFill>
          <a:ln cap="flat" cmpd="sng" w="12700">
            <a:solidFill>
              <a:srgbClr val="DB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1"/>
          <p:cNvSpPr txBox="1"/>
          <p:nvPr/>
        </p:nvSpPr>
        <p:spPr>
          <a:xfrm>
            <a:off x="698500" y="5803900"/>
            <a:ext cx="107949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8C1212"/>
                </a:solidFill>
              </a:rPr>
              <a:t>Do not mix checkpoint IDs. AutoModel alone omits EmbeddingGemma’s pooling/projection head; use SentenceTransformer for retrieval embeddings.</a:t>
            </a:r>
            <a:endParaRPr b="1" sz="1200">
              <a:solidFill>
                <a:srgbClr val="8C1212"/>
              </a:solidFill>
            </a:endParaRPr>
          </a:p>
        </p:txBody>
      </p:sp>
      <p:sp>
        <p:nvSpPr>
          <p:cNvPr id="177" name="Google Shape;177;p11"/>
          <p:cNvSpPr txBox="1"/>
          <p:nvPr/>
        </p:nvSpPr>
        <p:spPr>
          <a:xfrm>
            <a:off x="508000" y="6477000"/>
            <a:ext cx="11175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rgbClr val="6B707A"/>
                </a:solidFill>
              </a:rPr>
              <a:t>Source: Google DeepMind — google/embeddinggemma-300m · 2,048-token context · 768 dimensions (MRL: 512 / 256 / 128)</a:t>
            </a:r>
            <a:endParaRPr sz="850">
              <a:solidFill>
                <a:srgbClr val="6B707A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