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 id="2147483658" r:id="rId5"/>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Lst>
  <p:sldSz cy="6858000" cx="12192000"/>
  <p:notesSz cx="6858000" cy="9144000"/>
  <p:embeddedFontLst>
    <p:embeddedFont>
      <p:font typeface="IBM Plex Sans"/>
      <p:regular r:id="rId114"/>
      <p:bold r:id="rId115"/>
      <p:italic r:id="rId116"/>
      <p:boldItalic r:id="rId117"/>
    </p:embeddedFont>
    <p:embeddedFont>
      <p:font typeface="Helvetica Neue"/>
      <p:regular r:id="rId118"/>
      <p:bold r:id="rId119"/>
      <p:italic r:id="rId120"/>
      <p:boldItalic r:id="rId121"/>
    </p:embeddedFont>
    <p:embeddedFont>
      <p:font typeface="Roboto Mono"/>
      <p:regular r:id="rId122"/>
      <p:bold r:id="rId123"/>
      <p:italic r:id="rId124"/>
      <p:boldItalic r:id="rId125"/>
    </p:embeddedFont>
    <p:embeddedFont>
      <p:font typeface="JetBrains Mono"/>
      <p:regular r:id="rId126"/>
      <p:bold r:id="rId127"/>
      <p:italic r:id="rId128"/>
      <p:boldItalic r:id="rId1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EE02795-A6B7-4247-B71C-ED7A564BFD40}">
  <a:tblStyle styleId="{EEE02795-A6B7-4247-B71C-ED7A564BFD4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9" Type="http://schemas.openxmlformats.org/officeDocument/2006/relationships/slide" Target="slides/slide102.xml"/><Relationship Id="rId108" Type="http://schemas.openxmlformats.org/officeDocument/2006/relationships/slide" Target="slides/slide101.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29" Type="http://schemas.openxmlformats.org/officeDocument/2006/relationships/font" Target="fonts/JetBrainsMono-boldItalic.fntdata"/><Relationship Id="rId128" Type="http://schemas.openxmlformats.org/officeDocument/2006/relationships/font" Target="fonts/JetBrainsMono-italic.fntdata"/><Relationship Id="rId127" Type="http://schemas.openxmlformats.org/officeDocument/2006/relationships/font" Target="fonts/JetBrainsMono-bold.fntdata"/><Relationship Id="rId126" Type="http://schemas.openxmlformats.org/officeDocument/2006/relationships/font" Target="fonts/JetBrainsMono-regular.fntdata"/><Relationship Id="rId26" Type="http://schemas.openxmlformats.org/officeDocument/2006/relationships/slide" Target="slides/slide19.xml"/><Relationship Id="rId121" Type="http://schemas.openxmlformats.org/officeDocument/2006/relationships/font" Target="fonts/HelveticaNeue-boldItalic.fntdata"/><Relationship Id="rId25" Type="http://schemas.openxmlformats.org/officeDocument/2006/relationships/slide" Target="slides/slide18.xml"/><Relationship Id="rId120" Type="http://schemas.openxmlformats.org/officeDocument/2006/relationships/font" Target="fonts/HelveticaNeue-italic.fntdata"/><Relationship Id="rId28" Type="http://schemas.openxmlformats.org/officeDocument/2006/relationships/slide" Target="slides/slide21.xml"/><Relationship Id="rId27" Type="http://schemas.openxmlformats.org/officeDocument/2006/relationships/slide" Target="slides/slide20.xml"/><Relationship Id="rId125" Type="http://schemas.openxmlformats.org/officeDocument/2006/relationships/font" Target="fonts/RobotoMono-boldItalic.fntdata"/><Relationship Id="rId29" Type="http://schemas.openxmlformats.org/officeDocument/2006/relationships/slide" Target="slides/slide22.xml"/><Relationship Id="rId124" Type="http://schemas.openxmlformats.org/officeDocument/2006/relationships/font" Target="fonts/RobotoMono-italic.fntdata"/><Relationship Id="rId123" Type="http://schemas.openxmlformats.org/officeDocument/2006/relationships/font" Target="fonts/RobotoMono-bold.fntdata"/><Relationship Id="rId122" Type="http://schemas.openxmlformats.org/officeDocument/2006/relationships/font" Target="fonts/RobotoMono-regular.fntdata"/><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HelveticaNeue-regular.fntdata"/><Relationship Id="rId117" Type="http://schemas.openxmlformats.org/officeDocument/2006/relationships/font" Target="fonts/IBMPlexSans-boldItalic.fntdata"/><Relationship Id="rId116" Type="http://schemas.openxmlformats.org/officeDocument/2006/relationships/font" Target="fonts/IBMPlexSans-italic.fntdata"/><Relationship Id="rId115" Type="http://schemas.openxmlformats.org/officeDocument/2006/relationships/font" Target="fonts/IBMPlexSans-bold.fntdata"/><Relationship Id="rId119" Type="http://schemas.openxmlformats.org/officeDocument/2006/relationships/font" Target="fonts/HelveticaNeue-bold.fntdata"/><Relationship Id="rId15" Type="http://schemas.openxmlformats.org/officeDocument/2006/relationships/slide" Target="slides/slide8.xml"/><Relationship Id="rId110" Type="http://schemas.openxmlformats.org/officeDocument/2006/relationships/slide" Target="slides/slide103.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IBMPlexSans-regular.fntdata"/><Relationship Id="rId18" Type="http://schemas.openxmlformats.org/officeDocument/2006/relationships/slide" Target="slides/slide11.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4.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40a2150d97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7" name="Google Shape;37;g40a2150d97e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g40a2150d97e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h6c4a01c0b0da4fd9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3" name="Google Shape;43;h6c4a01c0b0da4fd9_0_3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h6c4a01c0b0da4fd9_0_3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50f07ca78e628d79_0_1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9" name="Google Shape;49;h50f07ca78e628d79_0_11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50f07ca78e628d79_0_11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h1495330980e2190c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0" name="Google Shape;60;h1495330980e2190c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h1495330980e2190c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h1495330980e2190c_0_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7" name="Google Shape;67;h1495330980e2190c_0_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 name="Google Shape;68;h1495330980e2190c_0_4: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95330980e2190c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75" name="Google Shape;75;h1495330980e2190c_0_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h1495330980e2190c_0_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50f07ca78e628d79_0_1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3" name="Google Shape;83;h50f07ca78e628d79_0_11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h50f07ca78e628d79_0_11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h1495330980e2190c_0_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9" name="Google Shape;89;h1495330980e2190c_0_2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h1495330980e2190c_0_2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1495330980e2190c_0_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5" name="Google Shape;95;h1495330980e2190c_0_3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h1495330980e2190c_0_3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h1495330980e2190c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h1495330980e2190c_0_3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h1495330980e2190c_0_3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h6b5a55dc0c9d1379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h6b5a55dc0c9d1379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h6b5a55dc0c9d1379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h50f07ca78e628d79_0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h50f07ca78e628d79_0_10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h50f07ca78e628d79_0_10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50f07ca78e628d79_0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h50f07ca78e628d79_0_10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h50f07ca78e628d79_0_10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50f07ca78e628d79_0_1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h50f07ca78e628d79_0_11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h50f07ca78e628d79_0_11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1495330980e2190c_0_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h1495330980e2190c_0_3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h1495330980e2190c_0_3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1495330980e2190c_0_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h1495330980e2190c_0_4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h1495330980e2190c_0_4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h1495330980e2190c_0_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h1495330980e2190c_0_4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h1495330980e2190c_0_4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h1495330980e2190c_0_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h1495330980e2190c_0_5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h1495330980e2190c_0_5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h1495330980e2190c_0_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h1495330980e2190c_0_5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h1495330980e2190c_0_5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h1495330980e2190c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h1495330980e2190c_0_8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h1495330980e2190c_0_8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1495330980e2190c_0_6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h1495330980e2190c_0_6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h1495330980e2190c_0_6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h1495330980e2190c_0_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h1495330980e2190c_0_7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h1495330980e2190c_0_7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1495330980e2190c_0_7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h1495330980e2190c_0_7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h1495330980e2190c_0_7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1495330980e2190c_0_8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h1495330980e2190c_0_8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h1495330980e2190c_0_8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h1495330980e2190c_0_1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h1495330980e2190c_0_11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h1495330980e2190c_0_11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h1495330980e2190c_0_1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h1495330980e2190c_0_1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 name="Google Shape;200;h1495330980e2190c_0_11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h1495330980e2190c_0_1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h1495330980e2190c_0_1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h1495330980e2190c_0_12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1495330980e2190c_0_1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1495330980e2190c_0_1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h1495330980e2190c_0_12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h1495330980e2190c_0_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h1495330980e2190c_0_12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h1495330980e2190c_0_12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h1495330980e2190c_0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h1495330980e2190c_0_5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h1495330980e2190c_0_5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h1495330980e2190c_0_6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h1495330980e2190c_0_6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h1495330980e2190c_0_6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h1a0f22e23371ef5e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h1a0f22e23371ef5e_0_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h1a0f22e23371ef5e_0_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h1a0f22e23371ef5e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h1a0f22e23371ef5e_0_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h1a0f22e23371ef5e_0_2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1a0f22e23371ef5e_0_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h1a0f22e23371ef5e_0_1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h1a0f22e23371ef5e_0_1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1a0f22e23371ef5e_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h1a0f22e23371ef5e_0_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h1a0f22e23371ef5e_0_1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h6b5a55dc0c9d1379_0_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h6b5a55dc0c9d1379_0_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h6b5a55dc0c9d1379_0_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h1a0f22e23371ef5e_0_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h1a0f22e23371ef5e_0_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h1a0f22e23371ef5e_0_2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1a0f22e23371ef5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1a0f22e23371ef5e_0_2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h1a0f22e23371ef5e_0_2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1a0f22e23371ef5e_0_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h1a0f22e23371ef5e_0_3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h1a0f22e23371ef5e_0_3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50f07ca78e628d79_0_9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h50f07ca78e628d79_0_9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h50f07ca78e628d79_0_9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1a0f22e23371ef5e_0_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h1a0f22e23371ef5e_0_3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h1a0f22e23371ef5e_0_3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h50f07ca78e628d79_0_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h50f07ca78e628d79_0_1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h50f07ca78e628d79_0_1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h50f07ca78e628d79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h50f07ca78e628d79_0_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h50f07ca78e628d79_0_2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h50f07ca78e628d79_0_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h50f07ca78e628d79_0_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7" name="Google Shape;337;h50f07ca78e628d79_0_2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h25e527129d971bef_12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6" name="Google Shape;346;h25e527129d971bef_12_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7" name="Google Shape;347;h25e527129d971bef_12_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h25e527129d971bef_12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h25e527129d971bef_12_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2" name="Google Shape;382;h25e527129d971bef_12_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h6b5a55dc0c9d1379_0_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h6b5a55dc0c9d1379_0_1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h6b5a55dc0c9d1379_0_12: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h6b5a55dc0c9d1379_0_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h6b5a55dc0c9d1379_0_3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h6b5a55dc0c9d1379_0_3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h6b5a55dc0c9d1379_0_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h6b5a55dc0c9d1379_0_5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h6b5a55dc0c9d1379_0_5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h6b5a55dc0c9d1379_0_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h6b5a55dc0c9d1379_0_5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6" name="Google Shape;436;h6b5a55dc0c9d1379_0_5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h6b5a55dc0c9d1379_0_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h6b5a55dc0c9d1379_0_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h6b5a55dc0c9d1379_0_4: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h6b5a55dc0c9d1379_0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h6b5a55dc0c9d1379_0_1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h6b5a55dc0c9d1379_0_1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h6b5a55dc0c9d1379_0_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h6b5a55dc0c9d1379_0_3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h6b5a55dc0c9d1379_0_3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h6b5a55dc0c9d1379_0_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h6b5a55dc0c9d1379_0_3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h6b5a55dc0c9d1379_0_34: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6b5a55dc0c9d1379_0_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h6b5a55dc0c9d1379_0_5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h6b5a55dc0c9d1379_0_5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h6c4a01c0b0da4fd9_0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h6c4a01c0b0da4fd9_0_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4" name="Google Shape;474;h6c4a01c0b0da4fd9_0_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6c4a01c0b0da4fd9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h6c4a01c0b0da4fd9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0" name="Google Shape;480;h6c4a01c0b0da4fd9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h6c4a01c0b0da4fd9_0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h6c4a01c0b0da4fd9_0_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h6c4a01c0b0da4fd9_0_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6c4a01c0b0da4fd9_0_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h6c4a01c0b0da4fd9_0_1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h6c4a01c0b0da4fd9_0_1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6c4a01c0b0da4fd9_0_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h6c4a01c0b0da4fd9_0_1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h6c4a01c0b0da4fd9_0_1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6c4a01c0b0da4fd9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h6c4a01c0b0da4fd9_0_2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h6c4a01c0b0da4fd9_0_2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h6c4a01c0b0da4fd9_0_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h6c4a01c0b0da4fd9_0_2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h6c4a01c0b0da4fd9_0_2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h6c4a01c0b0da4fd9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h6c4a01c0b0da4fd9_0_2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9" name="Google Shape;519;h6c4a01c0b0da4fd9_0_2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h6c4a01c0b0da4fd9_0_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h6c4a01c0b0da4fd9_0_4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5" name="Google Shape;525;h6c4a01c0b0da4fd9_0_4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h6c4a01c0b0da4fd9_0_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h6c4a01c0b0da4fd9_0_5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h6c4a01c0b0da4fd9_0_52: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h6c4a01c0b0da4fd9_0_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h6c4a01c0b0da4fd9_0_5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h6c4a01c0b0da4fd9_0_5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h6c4a01c0b0da4fd9_0_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42" name="Google Shape;542;h6c4a01c0b0da4fd9_0_6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3" name="Google Shape;543;h6c4a01c0b0da4fd9_0_6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h6c4a01c0b0da4fd9_0_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h6c4a01c0b0da4fd9_0_64: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9" name="Google Shape;549;h6c4a01c0b0da4fd9_0_64: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h6c4a01c0b0da4fd9_0_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h6c4a01c0b0da4fd9_0_6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6" name="Google Shape;556;h6c4a01c0b0da4fd9_0_6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h6c4a01c0b0da4fd9_0_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h6c4a01c0b0da4fd9_0_7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h6c4a01c0b0da4fd9_0_72: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h6c4a01c0b0da4fd9_0_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h6c4a01c0b0da4fd9_0_8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h6c4a01c0b0da4fd9_0_8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h6c4a01c0b0da4fd9_0_9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h6c4a01c0b0da4fd9_0_9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h6c4a01c0b0da4fd9_0_9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h6c4a01c0b0da4fd9_0_9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h6c4a01c0b0da4fd9_0_9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4" name="Google Shape;584;h6c4a01c0b0da4fd9_0_9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h6c4a01c0b0da4fd9_0_9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h6c4a01c0b0da4fd9_0_9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h6c4a01c0b0da4fd9_0_9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h6c4a01c0b0da4fd9_0_10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h6c4a01c0b0da4fd9_0_103: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h6c4a01c0b0da4fd9_0_103: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h6c4a01c0b0da4fd9_0_10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h6c4a01c0b0da4fd9_0_107: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h6c4a01c0b0da4fd9_0_107: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h6c4a01c0b0da4fd9_0_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h6c4a01c0b0da4fd9_0_7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h6c4a01c0b0da4fd9_0_7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h1495330980e2190c_0_1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h1495330980e2190c_0_17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h1495330980e2190c_0_17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h1495330980e2190c_0_1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h1495330980e2190c_0_14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1" name="Google Shape;621;h1495330980e2190c_0_142: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h1495330980e2190c_0_1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h1495330980e2190c_0_14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7" name="Google Shape;627;h1495330980e2190c_0_14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h1495330980e2190c_0_1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h1495330980e2190c_0_15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h1495330980e2190c_0_15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h1495330980e2190c_0_15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h1495330980e2190c_0_158: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h1495330980e2190c_0_158: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h1495330980e2190c_0_16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h1495330980e2190c_0_162: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8" name="Google Shape;648;h1495330980e2190c_0_162: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h513d259a48f78777_15_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3" name="Google Shape;653;h513d259a48f78777_15_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deck covers the generator half of RAG finetuning: what we train, on what data, the Mac attempt and the Colab A100 run, what improved on an unseen document, and the answer to whether it is overfit.</a:t>
            </a:r>
            <a:endParaRPr/>
          </a:p>
        </p:txBody>
      </p:sp>
      <p:sp>
        <p:nvSpPr>
          <p:cNvPr id="654" name="Google Shape;654;h513d259a48f78777_15_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h513d259a48f78777_15_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2" name="Google Shape;662;h513d259a48f78777_15_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retriever work changed which chunks reach the model. This work changes the model that writes the answer. The two are independent: the retriever result came from an earlier experiment in the finetuning folder; the generator number is the Colab A100 run, scored on the same held-out plan brochure.</a:t>
            </a:r>
            <a:endParaRPr/>
          </a:p>
        </p:txBody>
      </p:sp>
      <p:sp>
        <p:nvSpPr>
          <p:cNvPr id="663" name="Google Shape;663;h513d259a48f78777_15_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h513d259a48f78777_15_3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h513d259a48f78777_15_3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steps, each a script in finetuning_LLM_LORA. The base and tuned models are evaluated in the same process with the adapter switched off and on, so prompts and decoding are identical.</a:t>
            </a:r>
            <a:endParaRPr/>
          </a:p>
        </p:txBody>
      </p:sp>
      <p:sp>
        <p:nvSpPr>
          <p:cNvPr id="680" name="Google Shape;680;h513d259a48f78777_15_3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h513d259a48f78777_15_5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h513d259a48f78777_15_5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Each of the 78 training questions produces a direct example and a chain-of-thought example: 156 in total. The rationale is extractive, not written by a model, which is cheaper but imperfect: in this very example the extracted evidence lines miss the line with the phone number, because that line shares few words with the answer. Worth improving with an LLM-written rationale later.</a:t>
            </a:r>
            <a:endParaRPr/>
          </a:p>
        </p:txBody>
      </p:sp>
      <p:sp>
        <p:nvSpPr>
          <p:cNvPr id="708" name="Google Shape;708;h513d259a48f78777_15_5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h513d259a48f78777_15_7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4" name="Google Shape;724;h513d259a48f78777_15_7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Train and validation come from the same guide but different sections, so validation loss tells us about unseen text in a familiar document. The test set is the plan brochure, a document the model never trains on, so it measures transfer. split_stats.py fails the run if any of the five checks fails.</a:t>
            </a:r>
            <a:endParaRPr/>
          </a:p>
        </p:txBody>
      </p:sp>
      <p:sp>
        <p:nvSpPr>
          <p:cNvPr id="725" name="Google Shape;725;h513d259a48f78777_15_7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h513d259a48f78777_15_9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4" name="Google Shape;744;h513d259a48f78777_15_9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LoRA freezes the base model and learns low-rank updates on every attention and MLP projection. Only 18.5 million weights train, which is why the saved adapter is 74 MB. With only 156 examples, an epoch is just 20 optimizer steps, which matters for the question of how many epochs to run.</a:t>
            </a:r>
            <a:endParaRPr/>
          </a:p>
        </p:txBody>
      </p:sp>
      <p:sp>
        <p:nvSpPr>
          <p:cNvPr id="745" name="Google Shape;745;h513d259a48f78777_15_9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h513d259a48f78777_15_1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4" name="Google Shape;764;h513d259a48f78777_15_1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Epoch 1 took 56 minutes, about 21 seconds per training example. Epoch 2 ran for three and a half hours without finishing because of battery throttling, a 12-minute hibernation and heavy swapping. That is why the full run moves to a Colab GPU.</a:t>
            </a:r>
            <a:endParaRPr/>
          </a:p>
        </p:txBody>
      </p:sp>
      <p:sp>
        <p:nvSpPr>
          <p:cNvPr id="765" name="Google Shape;765;h513d259a48f78777_15_1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h513d259a48f78777_15_1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7" name="Google Shape;787;h513d259a48f78777_15_1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code, same data, same hyperparameters. The A100 trains in bf16 and has far more compute and memory bandwidth, so a full epoch took 71 seconds including validation, against 56 minutes on the Mac. The eval is now the slow part, because it generates 164 answers one token at a time with batch size 1.</a:t>
            </a:r>
            <a:endParaRPr/>
          </a:p>
        </p:txBody>
      </p:sp>
      <p:sp>
        <p:nvSpPr>
          <p:cNvPr id="788" name="Google Shape;788;h513d259a48f78777_15_1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h513d259a48f78777_15_15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4" name="Google Shape;804;h513d259a48f78777_15_15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Validation loss is checked every 10 steps. It falls for the first 20 steps, an epoch, and then rises for the remaining 40 while training loss keeps dropping. That is the textbook overfitting pattern. The trainer saves only the lowest-validation checkpoint, so the adapter that was evaluated is the epoch-1 one.</a:t>
            </a:r>
            <a:endParaRPr/>
          </a:p>
        </p:txBody>
      </p:sp>
      <p:sp>
        <p:nvSpPr>
          <p:cNvPr id="805" name="Google Shape;805;h513d259a48f78777_15_15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h513d259a48f78777_15_18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h513d259a48f78777_15_18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Yes, it overfits if you keep training: after epoch 1, validation loss rises every pass while training loss heads towards 0.1. But the run only keeps the lowest-validation adapter, so the model we use is the epoch-1 one, and on a document it never saw it still beats the base model. For the next run, train 1 epoch or turn on early stopping with patience 2 to save the wasted compute.</a:t>
            </a:r>
            <a:endParaRPr/>
          </a:p>
        </p:txBody>
      </p:sp>
      <p:sp>
        <p:nvSpPr>
          <p:cNvPr id="838" name="Google Shape;838;h513d259a48f78777_15_18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h513d259a48f78777_15_20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6" name="Google Shape;856;h513d259a48f78777_15_20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models saw identical prompts: the gold passage plus two distractors. Answer F1 rose about 0.06 in both formats, and the tuned model was better on 27 of 41 direct questions and 29 of 41 chain-of-thought ones. Citation precision rose 0.12. Quote grounding did not change, and the base model already followed the evidence format. Two cautions: the confidence intervals nearly reach zero with 41 questions and one seed, and the tuned answers are 26 words longer, closer to the 107-word references, which by itself lifts token F1.</a:t>
            </a:r>
            <a:endParaRPr/>
          </a:p>
        </p:txBody>
      </p:sp>
      <p:sp>
        <p:nvSpPr>
          <p:cNvPr id="857" name="Google Shape;857;h513d259a48f78777_15_20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h513d259a48f78777_15_2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8" name="Google Shape;868;h513d259a48f78777_15_2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Produced by plot_metrics.py from train_log.jsonl and generator_comparison.json. Top row: loss, the generalization gap, which crosses zero just before epoch 1 and keeps rising, and the learning-rate schedule. Bottom row: gradient norm staying under the clip, wall clock at about 3.4 seconds per step on the A100, and the base-versus-tuned eval.</a:t>
            </a:r>
            <a:endParaRPr/>
          </a:p>
        </p:txBody>
      </p:sp>
      <p:sp>
        <p:nvSpPr>
          <p:cNvPr id="869" name="Google Shape;869;h513d259a48f78777_15_2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h513d259a48f78777_15_21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h513d259a48f78777_15_21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Four points. One epoch is the right length for this dataset; anything more memorizes. The improvement on an unseen document is genuine but small and comes from a single seed. Repeat the run over several seeds before relying on it. And grade answers for correctness, not just word overlap, since part of the F1 gain comes from longer answers.</a:t>
            </a:r>
            <a:endParaRPr/>
          </a:p>
        </p:txBody>
      </p:sp>
      <p:sp>
        <p:nvSpPr>
          <p:cNvPr id="876" name="Google Shape;876;h513d259a48f78777_15_21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h1495330980e2190c_0_16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h1495330980e2190c_0_16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5" name="Google Shape;895;h1495330980e2190c_0_16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h6c4a01c0b0da4fd9_0_1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h6c4a01c0b0da4fd9_0_11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h6c4a01c0b0da4fd9_0_11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5" name="Shape 905"/>
        <p:cNvGrpSpPr/>
        <p:nvPr/>
      </p:nvGrpSpPr>
      <p:grpSpPr>
        <a:xfrm>
          <a:off x="0" y="0"/>
          <a:ext cx="0" cy="0"/>
          <a:chOff x="0" y="0"/>
          <a:chExt cx="0" cy="0"/>
        </a:xfrm>
      </p:grpSpPr>
      <p:sp>
        <p:nvSpPr>
          <p:cNvPr id="906" name="Google Shape;906;g40a06605cfe_1_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07" name="Google Shape;907;g40a06605cfe_1_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p:txBody>
      </p:sp>
      <p:sp>
        <p:nvSpPr>
          <p:cNvPr id="908" name="Google Shape;908;g40a06605cfe_1_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3" name="Google Shape;91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Source: geha_cloud_reliability/downloads/coverage-policies/geha-coverage-policy-bendamustine.pdf, page 1. The red boxes illustrate retrieval boundaries and do not alter the source document.</a:t>
            </a:r>
            <a:endParaRPr/>
          </a:p>
        </p:txBody>
      </p:sp>
      <p:sp>
        <p:nvSpPr>
          <p:cNvPr id="914" name="Google Shape;91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40a06605cfe_1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40a06605cfe_1_1: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g40a06605cfe_1_1: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6" name="Google Shape;94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create a slide with </a:t>
            </a:r>
            <a:endParaRPr/>
          </a:p>
        </p:txBody>
      </p:sp>
      <p:sp>
        <p:nvSpPr>
          <p:cNvPr id="947" name="Google Shape;94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1" name="Google Shape;97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RAG Search Strategies figure from the local GEHA reliability workspace.</a:t>
            </a:r>
            <a:endParaRPr/>
          </a:p>
        </p:txBody>
      </p:sp>
      <p:sp>
        <p:nvSpPr>
          <p:cNvPr id="972" name="Google Shape;97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7" name="Google Shape;977;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Illustrative explanation of the 384-dimensional embeddings used by BAAI/bge-small-en-v1.5 in the table RAG. The embedded image shows the abbreviated vector [0.081, -0.224, 0.517, ...]; the three coordinates and cosine scores are examples, not values from a production query. The monochrome ball is a three-dimensional metaphor for a 384-dimensional space. For a high-dimensional unit ball, most volume lies close to the boundary, represented by the thin red shell; the center contains comparatively little volume.</a:t>
            </a:r>
            <a:endParaRPr/>
          </a:p>
        </p:txBody>
      </p:sp>
      <p:sp>
        <p:nvSpPr>
          <p:cNvPr id="978" name="Google Shape;978;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fbb2167691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025" name="Google Shape;1025;g3fbb2167691_0_0: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Why is this </a:t>
            </a:r>
            <a:r>
              <a:rPr lang="en-US"/>
              <a:t>important</a:t>
            </a:r>
            <a:r>
              <a:rPr lang="en-US"/>
              <a:t>? </a:t>
            </a:r>
            <a:r>
              <a:rPr lang="en-US"/>
              <a:t>Desire to match this processing to the LLM we are using. Google </a:t>
            </a:r>
            <a:endParaRPr/>
          </a:p>
        </p:txBody>
      </p:sp>
      <p:sp>
        <p:nvSpPr>
          <p:cNvPr id="1026" name="Google Shape;1026;g3fbb2167691_0_0: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gemmaTokenizerEmbeddingSlide: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031" name="Google Shape;1031;gemmaTokenizerEmbeddingSlide: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2" name="Google Shape;1032;gemmaTokenizerEmbeddingSlide: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5"/>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5" name="Google Shape;15;p5"/>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6" name="Shape 16"/>
        <p:cNvGrpSpPr/>
        <p:nvPr/>
      </p:nvGrpSpPr>
      <p:grpSpPr>
        <a:xfrm>
          <a:off x="0" y="0"/>
          <a:ext cx="0" cy="0"/>
          <a:chOff x="0" y="0"/>
          <a:chExt cx="0" cy="0"/>
        </a:xfrm>
      </p:grpSpPr>
      <p:sp>
        <p:nvSpPr>
          <p:cNvPr id="17" name="Google Shape;17;p6"/>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8" name="Shape 18"/>
        <p:cNvGrpSpPr/>
        <p:nvPr/>
      </p:nvGrpSpPr>
      <p:grpSpPr>
        <a:xfrm>
          <a:off x="0" y="0"/>
          <a:ext cx="0" cy="0"/>
          <a:chOff x="0" y="0"/>
          <a:chExt cx="0" cy="0"/>
        </a:xfrm>
      </p:grpSpPr>
      <p:sp>
        <p:nvSpPr>
          <p:cNvPr id="19" name="Google Shape;19;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0" name="Google Shape;20;p7"/>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21" name="Shape 21"/>
        <p:cNvGrpSpPr/>
        <p:nvPr/>
      </p:nvGrpSpPr>
      <p:grpSpPr>
        <a:xfrm>
          <a:off x="0" y="0"/>
          <a:ext cx="0" cy="0"/>
          <a:chOff x="0" y="0"/>
          <a:chExt cx="0" cy="0"/>
        </a:xfrm>
      </p:grpSpPr>
      <p:sp>
        <p:nvSpPr>
          <p:cNvPr id="22" name="Google Shape;22;p8"/>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3" name="Google Shape;23;p8"/>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8"/>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5" name="Shape 25"/>
        <p:cNvGrpSpPr/>
        <p:nvPr/>
      </p:nvGrpSpPr>
      <p:grpSpPr>
        <a:xfrm>
          <a:off x="0" y="0"/>
          <a:ext cx="0" cy="0"/>
          <a:chOff x="0" y="0"/>
          <a:chExt cx="0" cy="0"/>
        </a:xfrm>
      </p:grpSpPr>
      <p:sp>
        <p:nvSpPr>
          <p:cNvPr id="26" name="Google Shape;26;p9"/>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7" name="Google Shape;27;p9"/>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6F5F0"/>
        </a:solidFill>
      </p:bgPr>
    </p:bg>
    <p:spTree>
      <p:nvGrpSpPr>
        <p:cNvPr id="31" name="Shape 31"/>
        <p:cNvGrpSpPr/>
        <p:nvPr/>
      </p:nvGrpSpPr>
      <p:grpSpPr>
        <a:xfrm>
          <a:off x="0" y="0"/>
          <a:ext cx="0" cy="0"/>
          <a:chOff x="0" y="0"/>
          <a:chExt cx="0" cy="0"/>
        </a:xfrm>
      </p:grpSpPr>
      <p:sp>
        <p:nvSpPr>
          <p:cNvPr id="32" name="Google Shape;32;p11"/>
          <p:cNvSpPr txBox="1"/>
          <p:nvPr>
            <p:ph type="title"/>
          </p:nvPr>
        </p:nvSpPr>
        <p:spPr>
          <a:xfrm>
            <a:off x="812800" y="812800"/>
            <a:ext cx="10566400" cy="44703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6202E"/>
              </a:buClr>
              <a:buSzPts val="3200"/>
              <a:buFont typeface="IBM Plex Sans"/>
              <a:buNone/>
              <a:defRPr sz="3200">
                <a:solidFill>
                  <a:srgbClr val="16202E"/>
                </a:solidFill>
                <a:latin typeface="IBM Plex Sans"/>
                <a:ea typeface="IBM Plex Sans"/>
                <a:cs typeface="IBM Plex Sans"/>
                <a:sym typeface="IBM Plex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1"/>
          <p:cNvSpPr txBox="1"/>
          <p:nvPr>
            <p:ph idx="1" type="body"/>
          </p:nvPr>
        </p:nvSpPr>
        <p:spPr>
          <a:xfrm>
            <a:off x="812800" y="1564630"/>
            <a:ext cx="10566400" cy="4480570"/>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6202E"/>
              </a:buClr>
              <a:buSzPts val="1600"/>
              <a:buNone/>
              <a:defRPr sz="1600">
                <a:solidFill>
                  <a:srgbClr val="16202E"/>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4" name="Shape 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28" name="Shape 28"/>
        <p:cNvGrpSpPr/>
        <p:nvPr/>
      </p:nvGrpSpPr>
      <p:grpSpPr>
        <a:xfrm>
          <a:off x="0" y="0"/>
          <a:ext cx="0" cy="0"/>
          <a:chOff x="0" y="0"/>
          <a:chExt cx="0" cy="0"/>
        </a:xfrm>
      </p:grpSpPr>
      <p:sp>
        <p:nvSpPr>
          <p:cNvPr id="29" name="Google Shape;29;p10"/>
          <p:cNvSpPr txBox="1"/>
          <p:nvPr>
            <p:ph type="title"/>
          </p:nvPr>
        </p:nvSpPr>
        <p:spPr>
          <a:xfrm>
            <a:off x="812800" y="812800"/>
            <a:ext cx="10566400" cy="44703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6202E"/>
              </a:buClr>
              <a:buSzPts val="3200"/>
              <a:buFont typeface="IBM Plex Sans"/>
              <a:buNone/>
              <a:defRPr b="0" i="0" sz="3200" u="none" cap="none" strike="noStrike">
                <a:solidFill>
                  <a:srgbClr val="16202E"/>
                </a:solidFill>
                <a:latin typeface="IBM Plex Sans"/>
                <a:ea typeface="IBM Plex Sans"/>
                <a:cs typeface="IBM Plex Sans"/>
                <a:sym typeface="IBM Plex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10"/>
          <p:cNvSpPr txBox="1"/>
          <p:nvPr>
            <p:ph idx="1" type="body"/>
          </p:nvPr>
        </p:nvSpPr>
        <p:spPr>
          <a:xfrm>
            <a:off x="812800" y="1564630"/>
            <a:ext cx="10566400" cy="4480570"/>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6202E"/>
              </a:buClr>
              <a:buSzPts val="1600"/>
              <a:buFont typeface="Arial"/>
              <a:buNone/>
              <a:defRPr b="0" i="0" sz="1600" u="none" cap="none" strike="noStrike">
                <a:solidFill>
                  <a:srgbClr val="16202E"/>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55" r:id="rId1"/>
    <p:sldLayoutId id="214748365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9.png"/><Relationship Id="rId4" Type="http://schemas.openxmlformats.org/officeDocument/2006/relationships/image" Target="../media/image48.png"/><Relationship Id="rId5" Type="http://schemas.openxmlformats.org/officeDocument/2006/relationships/image" Target="../media/image28.png"/><Relationship Id="rId6" Type="http://schemas.openxmlformats.org/officeDocument/2006/relationships/image" Target="../media/image3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0.png"/><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3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50.png"/><Relationship Id="rId4"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5.png"/><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33.png"/><Relationship Id="rId4" Type="http://schemas.openxmlformats.org/officeDocument/2006/relationships/image" Target="../media/image39.png"/><Relationship Id="rId5"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8.png"/><Relationship Id="rId4" Type="http://schemas.openxmlformats.org/officeDocument/2006/relationships/hyperlink" Target="http://skills.md" TargetMode="External"/><Relationship Id="rId5" Type="http://schemas.openxmlformats.org/officeDocument/2006/relationships/hyperlink" Target="http://user.md" TargetMode="External"/><Relationship Id="rId6" Type="http://schemas.openxmlformats.org/officeDocument/2006/relationships/hyperlink" Target="http://xx.m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5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7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8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6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6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4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8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73.png"/><Relationship Id="rId4" Type="http://schemas.openxmlformats.org/officeDocument/2006/relationships/image" Target="../media/image5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5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8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6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6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7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77.png"/><Relationship Id="rId4" Type="http://schemas.openxmlformats.org/officeDocument/2006/relationships/image" Target="../media/image6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6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7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5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5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66.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6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6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9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82.png"/><Relationship Id="rId4" Type="http://schemas.openxmlformats.org/officeDocument/2006/relationships/image" Target="../media/image1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96.gif"/></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09.gif"/></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0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6.xml"/><Relationship Id="rId3" Type="http://schemas.openxmlformats.org/officeDocument/2006/relationships/image" Target="../media/image78.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8.xml"/><Relationship Id="rId3" Type="http://schemas.openxmlformats.org/officeDocument/2006/relationships/image" Target="../media/image7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0.xml"/><Relationship Id="rId3" Type="http://schemas.openxmlformats.org/officeDocument/2006/relationships/image" Target="../media/image88.png"/><Relationship Id="rId4" Type="http://schemas.openxmlformats.org/officeDocument/2006/relationships/image" Target="../media/image89.png"/><Relationship Id="rId5" Type="http://schemas.openxmlformats.org/officeDocument/2006/relationships/image" Target="../media/image92.png"/><Relationship Id="rId6" Type="http://schemas.openxmlformats.org/officeDocument/2006/relationships/image" Target="../media/image86.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5.xml"/><Relationship Id="rId3" Type="http://schemas.openxmlformats.org/officeDocument/2006/relationships/image" Target="../media/image9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03.png"/><Relationship Id="rId4" Type="http://schemas.openxmlformats.org/officeDocument/2006/relationships/image" Target="../media/image107.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0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95.png"/><Relationship Id="rId4" Type="http://schemas.openxmlformats.org/officeDocument/2006/relationships/image" Target="../media/image9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99.png"/><Relationship Id="rId4" Type="http://schemas.openxmlformats.org/officeDocument/2006/relationships/image" Target="../media/image102.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98.png"/><Relationship Id="rId4" Type="http://schemas.openxmlformats.org/officeDocument/2006/relationships/image" Target="../media/image99.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9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00.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06.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sp>
        <p:nvSpPr>
          <p:cNvPr id="40" name="Google Shape;40;p13"/>
          <p:cNvSpPr txBox="1"/>
          <p:nvPr/>
        </p:nvSpPr>
        <p:spPr>
          <a:xfrm>
            <a:off x="981300" y="771825"/>
            <a:ext cx="9407100" cy="537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t>Agentic Programming and RAG: </a:t>
            </a:r>
            <a:r>
              <a:rPr lang="en-US"/>
              <a:t>	</a:t>
            </a:r>
            <a:endParaRPr/>
          </a:p>
          <a:p>
            <a:pPr indent="0" lvl="0" marL="0" rtl="0" algn="l">
              <a:spcBef>
                <a:spcPts val="0"/>
              </a:spcBef>
              <a:spcAft>
                <a:spcPts val="0"/>
              </a:spcAft>
              <a:buNone/>
            </a:pPr>
            <a:r>
              <a:rPr lang="en-US"/>
              <a:t>	</a:t>
            </a:r>
            <a:r>
              <a:rPr b="1" lang="en-US" sz="2000">
                <a:solidFill>
                  <a:schemeClr val="dk1"/>
                </a:solidFill>
              </a:rPr>
              <a:t>&gt;&gt;&gt;</a:t>
            </a:r>
            <a:r>
              <a:rPr b="1" lang="en-US" sz="2000"/>
              <a:t>50% of  RAG deployments don’t work. How to make sure that doesnt happen to you. </a:t>
            </a:r>
            <a:endParaRPr b="1" sz="2000"/>
          </a:p>
          <a:p>
            <a:pPr indent="0" lvl="0" marL="0" rtl="0" algn="l">
              <a:spcBef>
                <a:spcPts val="0"/>
              </a:spcBef>
              <a:spcAft>
                <a:spcPts val="0"/>
              </a:spcAft>
              <a:buNone/>
            </a:pPr>
            <a:r>
              <a:rPr b="1" lang="en-US"/>
              <a:t>Poor RAG Design</a:t>
            </a:r>
            <a:endParaRPr b="1"/>
          </a:p>
          <a:p>
            <a:pPr indent="-317500" lvl="0" marL="457200" rtl="0" algn="l">
              <a:spcBef>
                <a:spcPts val="0"/>
              </a:spcBef>
              <a:spcAft>
                <a:spcPts val="0"/>
              </a:spcAft>
              <a:buSzPts val="1400"/>
              <a:buAutoNum type="arabicParenR"/>
            </a:pPr>
            <a:r>
              <a:rPr lang="en-US"/>
              <a:t>Throw </a:t>
            </a:r>
            <a:r>
              <a:rPr lang="en-US"/>
              <a:t>everything</a:t>
            </a:r>
            <a:r>
              <a:rPr lang="en-US"/>
              <a:t> into 1 massive vector db and DB and inverted index. Works in prototype, Always fails in production. </a:t>
            </a:r>
            <a:endParaRPr/>
          </a:p>
          <a:p>
            <a:pPr indent="-317500" lvl="0" marL="457200" rtl="0" algn="l">
              <a:spcBef>
                <a:spcPts val="0"/>
              </a:spcBef>
              <a:spcAft>
                <a:spcPts val="0"/>
              </a:spcAft>
              <a:buSzPts val="1400"/>
              <a:buAutoNum type="arabicParenR"/>
            </a:pPr>
            <a:r>
              <a:rPr lang="en-US"/>
              <a:t>Document chunks don’t match vector search. Most policies are not based on vector similarity or </a:t>
            </a:r>
            <a:r>
              <a:rPr lang="en-US"/>
              <a:t>keyword</a:t>
            </a:r>
            <a:r>
              <a:rPr lang="en-US"/>
              <a:t> search. Dental insurance enrollment policy will never work with standard RAG. (DEMO)</a:t>
            </a:r>
            <a:endParaRPr/>
          </a:p>
          <a:p>
            <a:pPr indent="-317500" lvl="0" marL="457200" rtl="0" algn="l">
              <a:spcBef>
                <a:spcPts val="0"/>
              </a:spcBef>
              <a:spcAft>
                <a:spcPts val="0"/>
              </a:spcAft>
              <a:buSzPts val="1400"/>
              <a:buAutoNum type="arabicParenR"/>
            </a:pPr>
            <a:r>
              <a:rPr lang="en-US"/>
              <a:t>Rerankers get </a:t>
            </a:r>
            <a:r>
              <a:rPr lang="en-US"/>
              <a:t>overwhelmed. 10-20 max before being sent to the LLM. Adds latency and the relevant chunk never makes it to the LLM</a:t>
            </a:r>
            <a:endParaRPr/>
          </a:p>
          <a:p>
            <a:pPr indent="-317500" lvl="0" marL="457200" rtl="0" algn="l">
              <a:spcBef>
                <a:spcPts val="0"/>
              </a:spcBef>
              <a:spcAft>
                <a:spcPts val="0"/>
              </a:spcAft>
              <a:buSzPts val="1400"/>
              <a:buAutoNum type="arabicParenR"/>
            </a:pPr>
            <a:r>
              <a:rPr lang="en-US"/>
              <a:t>Images; incorrect parsing from legacy OCR adds noise </a:t>
            </a:r>
            <a:endParaRPr/>
          </a:p>
          <a:p>
            <a:pPr indent="-317500" lvl="0" marL="457200" rtl="0" algn="l">
              <a:spcBef>
                <a:spcPts val="0"/>
              </a:spcBef>
              <a:spcAft>
                <a:spcPts val="0"/>
              </a:spcAft>
              <a:buSzPts val="1400"/>
              <a:buAutoNum type="arabicParenR"/>
            </a:pPr>
            <a:r>
              <a:rPr lang="en-US"/>
              <a:t>Parsing errors typically near figures or tables pollute the index. TOC, Index pages, fragments of rows. Entries with no context. Most common solution is a hierarchical context. Tradeoff context length for bigger search result to get @top1</a:t>
            </a:r>
            <a:endParaRPr/>
          </a:p>
          <a:p>
            <a:pPr indent="-317500" lvl="0" marL="457200" rtl="0" algn="l">
              <a:spcBef>
                <a:spcPts val="0"/>
              </a:spcBef>
              <a:spcAft>
                <a:spcPts val="0"/>
              </a:spcAft>
              <a:buSzPts val="1400"/>
              <a:buAutoNum type="arabicParenR"/>
            </a:pPr>
            <a:r>
              <a:rPr lang="en-US"/>
              <a:t>7% intrinsic failure rates for LLMs, will not see failures in production, Production failures cause MGMT to pull plug on funding project. </a:t>
            </a:r>
            <a:endParaRPr/>
          </a:p>
          <a:p>
            <a:pPr indent="0" lvl="0" marL="0" rtl="0" algn="l">
              <a:spcBef>
                <a:spcPts val="0"/>
              </a:spcBef>
              <a:spcAft>
                <a:spcPts val="0"/>
              </a:spcAft>
              <a:buNone/>
            </a:pPr>
            <a:r>
              <a:rPr b="1" lang="en-US"/>
              <a:t>Poor Data Quality</a:t>
            </a:r>
            <a:endParaRPr b="1"/>
          </a:p>
          <a:p>
            <a:pPr indent="-317500" lvl="0" marL="457200" rtl="0" algn="l">
              <a:spcBef>
                <a:spcPts val="0"/>
              </a:spcBef>
              <a:spcAft>
                <a:spcPts val="0"/>
              </a:spcAft>
              <a:buSzPts val="1400"/>
              <a:buAutoNum type="arabicParenR"/>
            </a:pPr>
            <a:r>
              <a:rPr lang="en-US"/>
              <a:t>Mix of images and text extracted pdfs. Missing data, PDFs look ok but internal database doesnt reflect status of documents. Images and tables cause cascading legacy OCR Failures. </a:t>
            </a:r>
            <a:endParaRPr/>
          </a:p>
          <a:p>
            <a:pPr indent="-317500" lvl="0" marL="457200" rtl="0" algn="l">
              <a:spcBef>
                <a:spcPts val="0"/>
              </a:spcBef>
              <a:spcAft>
                <a:spcPts val="0"/>
              </a:spcAft>
              <a:buSzPts val="1400"/>
              <a:buAutoNum type="arabicParenR"/>
            </a:pPr>
            <a:r>
              <a:rPr lang="en-US"/>
              <a:t>Improper context attributed to figures, tables. Use LLM to add context, low cost if caching setup correctly</a:t>
            </a:r>
            <a:endParaRPr/>
          </a:p>
          <a:p>
            <a:pPr indent="-317500" lvl="0" marL="457200" rtl="0" algn="l">
              <a:spcBef>
                <a:spcPts val="0"/>
              </a:spcBef>
              <a:spcAft>
                <a:spcPts val="0"/>
              </a:spcAft>
              <a:buSzPts val="1400"/>
              <a:buAutoNum type="arabicParenR"/>
            </a:pPr>
            <a:r>
              <a:rPr lang="en-US"/>
              <a:t>Improper filtering of noise. TOC and Indexes in search indexes pollute index. </a:t>
            </a:r>
            <a:endParaRPr/>
          </a:p>
          <a:p>
            <a:pPr indent="-317500" lvl="0" marL="457200" rtl="0" algn="l">
              <a:spcBef>
                <a:spcPts val="0"/>
              </a:spcBef>
              <a:spcAft>
                <a:spcPts val="0"/>
              </a:spcAft>
              <a:buSzPts val="1400"/>
              <a:buAutoNum type="arabicParenR"/>
            </a:pPr>
            <a:r>
              <a:rPr lang="en-US"/>
              <a:t>LLM routers fail because of hallucinations. Not repeatable, can’t debug. Poor system reliability. Deterministic routers brittle.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4"/>
          <p:cNvSpPr txBox="1"/>
          <p:nvPr/>
        </p:nvSpPr>
        <p:spPr>
          <a:xfrm>
            <a:off x="3088800" y="2106000"/>
            <a:ext cx="62208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US"/>
              <a:t>Demo </a:t>
            </a:r>
            <a:endParaRPr/>
          </a:p>
          <a:p>
            <a:pPr indent="-317500" lvl="0" marL="457200" rtl="0" algn="l">
              <a:spcBef>
                <a:spcPts val="0"/>
              </a:spcBef>
              <a:spcAft>
                <a:spcPts val="0"/>
              </a:spcAft>
              <a:buSzPts val="1400"/>
              <a:buAutoNum type="arabicParenR"/>
            </a:pPr>
            <a:r>
              <a:rPr lang="en-US"/>
              <a:t>Data Extraction and chunking, claude demo</a:t>
            </a:r>
            <a:endParaRPr/>
          </a:p>
          <a:p>
            <a:pPr indent="-317500" lvl="0" marL="457200" rtl="0" algn="l">
              <a:spcBef>
                <a:spcPts val="0"/>
              </a:spcBef>
              <a:spcAft>
                <a:spcPts val="0"/>
              </a:spcAft>
              <a:buSzPts val="1400"/>
              <a:buAutoNum type="arabicParenR"/>
            </a:pPr>
            <a:r>
              <a:rPr lang="en-US"/>
              <a:t>Figure/table/extraction</a:t>
            </a:r>
            <a:endParaRPr/>
          </a:p>
          <a:p>
            <a:pPr indent="-317500" lvl="0" marL="457200" rtl="0" algn="l">
              <a:spcBef>
                <a:spcPts val="0"/>
              </a:spcBef>
              <a:spcAft>
                <a:spcPts val="0"/>
              </a:spcAft>
              <a:buSzPts val="1400"/>
              <a:buAutoNum type="arabicParenR"/>
            </a:pPr>
            <a:r>
              <a:rPr lang="en-US"/>
              <a:t>how to measure retrieval errors, </a:t>
            </a:r>
            <a:r>
              <a:rPr lang="en-US"/>
              <a:t>context</a:t>
            </a:r>
            <a:r>
              <a:rPr lang="en-US"/>
              <a:t> </a:t>
            </a:r>
            <a:r>
              <a:rPr lang="en-US"/>
              <a:t>assembly</a:t>
            </a:r>
            <a:r>
              <a:rPr lang="en-US"/>
              <a:t> errors, answer complerteness errors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i="1" lang="en-US" sz="1600">
                <a:solidFill>
                  <a:schemeClr val="dk1"/>
                </a:solidFill>
              </a:rPr>
              <a:t>Initial hybrid retrieval: </a:t>
            </a:r>
            <a:r>
              <a:rPr b="1" i="1" lang="en-US" sz="1600">
                <a:solidFill>
                  <a:schemeClr val="dk1"/>
                </a:solidFill>
              </a:rPr>
              <a:t>top 150 chunks</a:t>
            </a:r>
            <a:endParaRPr b="1" i="1" sz="1600">
              <a:solidFill>
                <a:schemeClr val="dk1"/>
              </a:solidFill>
            </a:endParaRPr>
          </a:p>
          <a:p>
            <a:pPr indent="0" lvl="0" marL="0" rtl="0" algn="l">
              <a:spcBef>
                <a:spcPts val="0"/>
              </a:spcBef>
              <a:spcAft>
                <a:spcPts val="0"/>
              </a:spcAft>
              <a:buClr>
                <a:schemeClr val="dk1"/>
              </a:buClr>
              <a:buSzPts val="1100"/>
              <a:buFont typeface="Arial"/>
              <a:buNone/>
            </a:pPr>
            <a:r>
              <a:rPr i="1" lang="en-US" sz="1600">
                <a:solidFill>
                  <a:schemeClr val="dk1"/>
                </a:solidFill>
              </a:rPr>
              <a:t>Reranker scores those 150 chunks with the query</a:t>
            </a:r>
            <a:endParaRPr i="1" sz="1600">
              <a:solidFill>
                <a:schemeClr val="dk1"/>
              </a:solidFill>
            </a:endParaRPr>
          </a:p>
          <a:p>
            <a:pPr indent="0" lvl="0" marL="0" rtl="0" algn="l">
              <a:spcBef>
                <a:spcPts val="0"/>
              </a:spcBef>
              <a:spcAft>
                <a:spcPts val="0"/>
              </a:spcAft>
              <a:buClr>
                <a:schemeClr val="dk1"/>
              </a:buClr>
              <a:buSzPts val="1100"/>
              <a:buFont typeface="Arial"/>
              <a:buNone/>
            </a:pPr>
            <a:r>
              <a:rPr i="1" lang="en-US" sz="1600">
                <a:solidFill>
                  <a:schemeClr val="dk1"/>
                </a:solidFill>
              </a:rPr>
              <a:t>Retain </a:t>
            </a:r>
            <a:r>
              <a:rPr b="1" i="1" lang="en-US" sz="1600">
                <a:solidFill>
                  <a:schemeClr val="dk1"/>
                </a:solidFill>
              </a:rPr>
              <a:t>top 20 chunks</a:t>
            </a:r>
            <a:endParaRPr b="1" i="1" sz="1600">
              <a:solidFill>
                <a:schemeClr val="dk1"/>
              </a:solidFill>
            </a:endParaRPr>
          </a:p>
          <a:p>
            <a:pPr indent="0" lvl="0" marL="0" rtl="0" algn="l">
              <a:spcBef>
                <a:spcPts val="0"/>
              </a:spcBef>
              <a:spcAft>
                <a:spcPts val="0"/>
              </a:spcAft>
              <a:buClr>
                <a:schemeClr val="dk1"/>
              </a:buClr>
              <a:buSzPts val="1100"/>
              <a:buFont typeface="Arial"/>
              <a:buNone/>
            </a:pPr>
            <a:r>
              <a:rPr i="1" lang="en-US" sz="1600">
                <a:solidFill>
                  <a:schemeClr val="dk1"/>
                </a:solidFill>
              </a:rPr>
              <a:t>Pass those 20 chunks to the LLM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15"/>
          <p:cNvSpPr txBox="1"/>
          <p:nvPr/>
        </p:nvSpPr>
        <p:spPr>
          <a:xfrm>
            <a:off x="1714500" y="671425"/>
            <a:ext cx="6906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Bad Extraction</a:t>
            </a:r>
            <a:endParaRPr b="1" sz="2500"/>
          </a:p>
        </p:txBody>
      </p:sp>
      <p:pic>
        <p:nvPicPr>
          <p:cNvPr id="53" name="Google Shape;53;p15" title="Screenshot 2026-10-19 at 7.08.05 PM.png"/>
          <p:cNvPicPr preferRelativeResize="0"/>
          <p:nvPr/>
        </p:nvPicPr>
        <p:blipFill>
          <a:blip r:embed="rId3">
            <a:alphaModFix/>
          </a:blip>
          <a:stretch>
            <a:fillRect/>
          </a:stretch>
        </p:blipFill>
        <p:spPr>
          <a:xfrm>
            <a:off x="152400" y="1408825"/>
            <a:ext cx="8396129" cy="5296777"/>
          </a:xfrm>
          <a:prstGeom prst="rect">
            <a:avLst/>
          </a:prstGeom>
          <a:noFill/>
          <a:ln>
            <a:noFill/>
          </a:ln>
        </p:spPr>
      </p:pic>
      <p:pic>
        <p:nvPicPr>
          <p:cNvPr id="54" name="Google Shape;54;p15"/>
          <p:cNvPicPr preferRelativeResize="0"/>
          <p:nvPr/>
        </p:nvPicPr>
        <p:blipFill>
          <a:blip r:embed="rId4">
            <a:alphaModFix/>
          </a:blip>
          <a:stretch>
            <a:fillRect/>
          </a:stretch>
        </p:blipFill>
        <p:spPr>
          <a:xfrm>
            <a:off x="8880800" y="1123550"/>
            <a:ext cx="1485900" cy="1543050"/>
          </a:xfrm>
          <a:prstGeom prst="rect">
            <a:avLst/>
          </a:prstGeom>
          <a:noFill/>
          <a:ln>
            <a:noFill/>
          </a:ln>
        </p:spPr>
      </p:pic>
      <p:sp>
        <p:nvSpPr>
          <p:cNvPr id="55" name="Google Shape;55;p15"/>
          <p:cNvSpPr txBox="1"/>
          <p:nvPr/>
        </p:nvSpPr>
        <p:spPr>
          <a:xfrm>
            <a:off x="8932175" y="2985375"/>
            <a:ext cx="28296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t>Should be converted to table, </a:t>
            </a:r>
            <a:r>
              <a:rPr b="1" lang="en-US" sz="1800"/>
              <a:t>gibberish</a:t>
            </a:r>
            <a:r>
              <a:rPr b="1" lang="en-US" sz="1800"/>
              <a:t>, </a:t>
            </a:r>
            <a:r>
              <a:rPr b="1" lang="en-US" sz="1800"/>
              <a:t>random</a:t>
            </a:r>
            <a:r>
              <a:rPr b="1" lang="en-US" sz="1800"/>
              <a:t> string</a:t>
            </a:r>
            <a:endParaRPr b="1" sz="1800"/>
          </a:p>
        </p:txBody>
      </p:sp>
      <p:sp>
        <p:nvSpPr>
          <p:cNvPr id="56" name="Google Shape;56;p15"/>
          <p:cNvSpPr txBox="1"/>
          <p:nvPr/>
        </p:nvSpPr>
        <p:spPr>
          <a:xfrm>
            <a:off x="8752475" y="4256300"/>
            <a:ext cx="3009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unstructured, used by langchain</a:t>
            </a:r>
            <a:endParaRPr/>
          </a:p>
        </p:txBody>
      </p:sp>
      <p:sp>
        <p:nvSpPr>
          <p:cNvPr id="57" name="Google Shape;57;p15"/>
          <p:cNvSpPr txBox="1"/>
          <p:nvPr/>
        </p:nvSpPr>
        <p:spPr>
          <a:xfrm>
            <a:off x="8880800" y="4963650"/>
            <a:ext cx="2553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at scale pollutes bm25 and vector db</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p16"/>
          <p:cNvPicPr preferRelativeResize="0"/>
          <p:nvPr/>
        </p:nvPicPr>
        <p:blipFill>
          <a:blip r:embed="rId3">
            <a:alphaModFix/>
          </a:blip>
          <a:stretch>
            <a:fillRect/>
          </a:stretch>
        </p:blipFill>
        <p:spPr>
          <a:xfrm>
            <a:off x="152400" y="1051600"/>
            <a:ext cx="11887201" cy="5525691"/>
          </a:xfrm>
          <a:prstGeom prst="rect">
            <a:avLst/>
          </a:prstGeom>
          <a:noFill/>
          <a:ln>
            <a:noFill/>
          </a:ln>
        </p:spPr>
      </p:pic>
      <p:sp>
        <p:nvSpPr>
          <p:cNvPr id="64" name="Google Shape;64;p16"/>
          <p:cNvSpPr txBox="1"/>
          <p:nvPr/>
        </p:nvSpPr>
        <p:spPr>
          <a:xfrm>
            <a:off x="2889475" y="0"/>
            <a:ext cx="6906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What it should look like, llamaparse, reducio, our demo code</a:t>
            </a:r>
            <a:endParaRPr b="1"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17" title="Screenshot 2026-10-19 at 6.51.59 PM.png"/>
          <p:cNvPicPr preferRelativeResize="0"/>
          <p:nvPr/>
        </p:nvPicPr>
        <p:blipFill>
          <a:blip r:embed="rId3">
            <a:alphaModFix/>
          </a:blip>
          <a:stretch>
            <a:fillRect/>
          </a:stretch>
        </p:blipFill>
        <p:spPr>
          <a:xfrm>
            <a:off x="0" y="851650"/>
            <a:ext cx="9451377" cy="6006352"/>
          </a:xfrm>
          <a:prstGeom prst="rect">
            <a:avLst/>
          </a:prstGeom>
          <a:noFill/>
          <a:ln>
            <a:noFill/>
          </a:ln>
        </p:spPr>
      </p:pic>
      <p:sp>
        <p:nvSpPr>
          <p:cNvPr id="71" name="Google Shape;71;p17"/>
          <p:cNvSpPr txBox="1"/>
          <p:nvPr/>
        </p:nvSpPr>
        <p:spPr>
          <a:xfrm>
            <a:off x="1949825" y="156875"/>
            <a:ext cx="8538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Langchain parse error </a:t>
            </a:r>
            <a:endParaRPr b="1" sz="2500"/>
          </a:p>
        </p:txBody>
      </p:sp>
      <p:sp>
        <p:nvSpPr>
          <p:cNvPr id="72" name="Google Shape;72;p17"/>
          <p:cNvSpPr txBox="1"/>
          <p:nvPr/>
        </p:nvSpPr>
        <p:spPr>
          <a:xfrm>
            <a:off x="9681875" y="2868700"/>
            <a:ext cx="19947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t>Single string no table</a:t>
            </a:r>
            <a:endParaRPr b="1"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8" title="Screenshot 2026-10-17 at 5.02.20 PM.png"/>
          <p:cNvPicPr preferRelativeResize="0"/>
          <p:nvPr/>
        </p:nvPicPr>
        <p:blipFill>
          <a:blip r:embed="rId3">
            <a:alphaModFix/>
          </a:blip>
          <a:stretch>
            <a:fillRect/>
          </a:stretch>
        </p:blipFill>
        <p:spPr>
          <a:xfrm>
            <a:off x="152400" y="1053350"/>
            <a:ext cx="8898750" cy="5652251"/>
          </a:xfrm>
          <a:prstGeom prst="rect">
            <a:avLst/>
          </a:prstGeom>
          <a:noFill/>
          <a:ln>
            <a:noFill/>
          </a:ln>
        </p:spPr>
      </p:pic>
      <p:sp>
        <p:nvSpPr>
          <p:cNvPr id="79" name="Google Shape;79;p18"/>
          <p:cNvSpPr txBox="1"/>
          <p:nvPr/>
        </p:nvSpPr>
        <p:spPr>
          <a:xfrm>
            <a:off x="3966875" y="336175"/>
            <a:ext cx="82701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Correct, llamaparse, reductio, our code</a:t>
            </a:r>
            <a:endParaRPr b="1" sz="2500"/>
          </a:p>
        </p:txBody>
      </p:sp>
      <p:sp>
        <p:nvSpPr>
          <p:cNvPr id="80" name="Google Shape;80;p18"/>
          <p:cNvSpPr txBox="1"/>
          <p:nvPr/>
        </p:nvSpPr>
        <p:spPr>
          <a:xfrm>
            <a:off x="9211225" y="2935950"/>
            <a:ext cx="25773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500">
                <a:solidFill>
                  <a:schemeClr val="dk1"/>
                </a:solidFill>
              </a:rPr>
              <a:t>Correct, table matches bar chart,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p19"/>
          <p:cNvPicPr preferRelativeResize="0"/>
          <p:nvPr/>
        </p:nvPicPr>
        <p:blipFill>
          <a:blip r:embed="rId3">
            <a:alphaModFix/>
          </a:blip>
          <a:stretch>
            <a:fillRect/>
          </a:stretch>
        </p:blipFill>
        <p:spPr>
          <a:xfrm>
            <a:off x="152400" y="152400"/>
            <a:ext cx="11887202" cy="55642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20"/>
          <p:cNvPicPr preferRelativeResize="0"/>
          <p:nvPr/>
        </p:nvPicPr>
        <p:blipFill>
          <a:blip r:embed="rId3">
            <a:alphaModFix/>
          </a:blip>
          <a:stretch>
            <a:fillRect/>
          </a:stretch>
        </p:blipFill>
        <p:spPr>
          <a:xfrm>
            <a:off x="152400" y="152400"/>
            <a:ext cx="10609941" cy="65531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21"/>
          <p:cNvPicPr preferRelativeResize="0"/>
          <p:nvPr/>
        </p:nvPicPr>
        <p:blipFill>
          <a:blip r:embed="rId3">
            <a:alphaModFix/>
          </a:blip>
          <a:stretch>
            <a:fillRect/>
          </a:stretch>
        </p:blipFill>
        <p:spPr>
          <a:xfrm>
            <a:off x="152400" y="152400"/>
            <a:ext cx="11887199" cy="632739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2"/>
          <p:cNvPicPr preferRelativeResize="0"/>
          <p:nvPr/>
        </p:nvPicPr>
        <p:blipFill>
          <a:blip r:embed="rId3">
            <a:alphaModFix/>
          </a:blip>
          <a:stretch>
            <a:fillRect/>
          </a:stretch>
        </p:blipFill>
        <p:spPr>
          <a:xfrm>
            <a:off x="152400" y="152400"/>
            <a:ext cx="10612468" cy="6553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3"/>
          <p:cNvSpPr txBox="1"/>
          <p:nvPr/>
        </p:nvSpPr>
        <p:spPr>
          <a:xfrm>
            <a:off x="300600" y="222700"/>
            <a:ext cx="6412800" cy="4563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 Review of RAG architectures</a:t>
            </a:r>
            <a:endParaRPr/>
          </a:p>
          <a:p>
            <a:pPr indent="0" lvl="0" marL="0" rtl="0" algn="l">
              <a:spcBef>
                <a:spcPts val="0"/>
              </a:spcBef>
              <a:spcAft>
                <a:spcPts val="0"/>
              </a:spcAft>
              <a:buClr>
                <a:schemeClr val="dk1"/>
              </a:buClr>
              <a:buSzPts val="1100"/>
              <a:buFont typeface="Arial"/>
              <a:buNone/>
            </a:pPr>
            <a:r>
              <a:rPr lang="en-US">
                <a:solidFill>
                  <a:schemeClr val="dk1"/>
                </a:solidFill>
              </a:rPr>
              <a:t>Structured search: tables where rows should be filtered. Do the filtering in the db and let the tool present a single result like tavily search. </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For unstructured data, doesnt support </a:t>
            </a:r>
            <a:r>
              <a:rPr lang="en-US"/>
              <a:t>keywords</a:t>
            </a:r>
            <a:r>
              <a:rPr lang="en-US"/>
              <a:t> like a drug code: add BM25</a:t>
            </a:r>
            <a:endParaRPr/>
          </a:p>
          <a:p>
            <a:pPr indent="0" lvl="0" marL="0" rtl="0" algn="l">
              <a:spcBef>
                <a:spcPts val="0"/>
              </a:spcBef>
              <a:spcAft>
                <a:spcPts val="0"/>
              </a:spcAft>
              <a:buNone/>
            </a:pPr>
            <a:r>
              <a:rPr lang="en-US"/>
              <a:t>If short query creates too many chunks which are irrelevant the short query has been padded with nose. Try HyDe. </a:t>
            </a:r>
            <a:endParaRPr/>
          </a:p>
          <a:p>
            <a:pPr indent="0" lvl="0" marL="0" rtl="0" algn="l">
              <a:lnSpc>
                <a:spcPct val="115000"/>
              </a:lnSpc>
              <a:spcBef>
                <a:spcPts val="1200"/>
              </a:spcBef>
              <a:spcAft>
                <a:spcPts val="0"/>
              </a:spcAft>
              <a:buNone/>
            </a:pPr>
            <a:r>
              <a:rPr lang="en-US"/>
              <a:t>underspecified query, </a:t>
            </a:r>
            <a:endParaRPr/>
          </a:p>
          <a:p>
            <a:pPr indent="0" lvl="0" marL="0" rtl="0" algn="l">
              <a:lnSpc>
                <a:spcPct val="115000"/>
              </a:lnSpc>
              <a:spcBef>
                <a:spcPts val="1200"/>
              </a:spcBef>
              <a:spcAft>
                <a:spcPts val="0"/>
              </a:spcAft>
              <a:buNone/>
            </a:pPr>
            <a:r>
              <a:rPr lang="en-US"/>
              <a:t>a query–document wording gap: </a:t>
            </a:r>
            <a:endParaRPr/>
          </a:p>
          <a:p>
            <a:pPr indent="0" lvl="0" marL="0" rtl="0" algn="l">
              <a:lnSpc>
                <a:spcPct val="115000"/>
              </a:lnSpc>
              <a:spcBef>
                <a:spcPts val="1200"/>
              </a:spcBef>
              <a:spcAft>
                <a:spcPts val="0"/>
              </a:spcAft>
              <a:buNone/>
            </a:pPr>
            <a:r>
              <a:rPr lang="en-US"/>
              <a:t>the wrong retrieval method: </a:t>
            </a:r>
            <a:endParaRPr/>
          </a:p>
          <a:p>
            <a:pPr indent="0" lvl="0" marL="0" rtl="0" algn="l">
              <a:lnSpc>
                <a:spcPct val="115000"/>
              </a:lnSpc>
              <a:spcBef>
                <a:spcPts val="1200"/>
              </a:spcBef>
              <a:spcAft>
                <a:spcPts val="0"/>
              </a:spcAft>
              <a:buClr>
                <a:schemeClr val="dk1"/>
              </a:buClr>
              <a:buSzPts val="1100"/>
              <a:buFont typeface="Arial"/>
              <a:buNone/>
            </a:pPr>
            <a:r>
              <a:rPr lang="en-US"/>
              <a:t>genuinely missing corpus evidence. HyDE only addresses some of those cases.</a:t>
            </a:r>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4"/>
          <p:cNvPicPr preferRelativeResize="0"/>
          <p:nvPr/>
        </p:nvPicPr>
        <p:blipFill>
          <a:blip r:embed="rId3">
            <a:alphaModFix/>
          </a:blip>
          <a:stretch>
            <a:fillRect/>
          </a:stretch>
        </p:blipFill>
        <p:spPr>
          <a:xfrm>
            <a:off x="152400" y="152400"/>
            <a:ext cx="11887201" cy="5943601"/>
          </a:xfrm>
          <a:prstGeom prst="rect">
            <a:avLst/>
          </a:prstGeom>
          <a:noFill/>
          <a:ln>
            <a:noFill/>
          </a:ln>
        </p:spPr>
      </p:pic>
      <p:sp>
        <p:nvSpPr>
          <p:cNvPr id="117" name="Google Shape;117;p24"/>
          <p:cNvSpPr txBox="1"/>
          <p:nvPr/>
        </p:nvSpPr>
        <p:spPr>
          <a:xfrm>
            <a:off x="979793" y="110230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“What help is available if I need an expensive dental procedure and want to minimize my out-of-pocket costs?”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25"/>
          <p:cNvPicPr preferRelativeResize="0"/>
          <p:nvPr/>
        </p:nvPicPr>
        <p:blipFill>
          <a:blip r:embed="rId3">
            <a:alphaModFix/>
          </a:blip>
          <a:stretch>
            <a:fillRect/>
          </a:stretch>
        </p:blipFill>
        <p:spPr>
          <a:xfrm>
            <a:off x="152400" y="152400"/>
            <a:ext cx="11887199" cy="6327392"/>
          </a:xfrm>
          <a:prstGeom prst="rect">
            <a:avLst/>
          </a:prstGeom>
          <a:noFill/>
          <a:ln>
            <a:noFill/>
          </a:ln>
        </p:spPr>
      </p:pic>
      <p:sp>
        <p:nvSpPr>
          <p:cNvPr id="124" name="Google Shape;124;p25"/>
          <p:cNvSpPr txBox="1"/>
          <p:nvPr/>
        </p:nvSpPr>
        <p:spPr>
          <a:xfrm>
            <a:off x="489900" y="3863575"/>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1600">
                <a:solidFill>
                  <a:schemeClr val="dk1"/>
                </a:solidFill>
              </a:rPr>
              <a:t>Initial hybrid retrieval: </a:t>
            </a:r>
            <a:r>
              <a:rPr b="1" i="1" lang="en-US" sz="1600">
                <a:solidFill>
                  <a:schemeClr val="dk1"/>
                </a:solidFill>
              </a:rPr>
              <a:t>top 150 chunks</a:t>
            </a:r>
            <a:endParaRPr b="1" i="1" sz="1600">
              <a:solidFill>
                <a:schemeClr val="dk1"/>
              </a:solidFill>
            </a:endParaRPr>
          </a:p>
          <a:p>
            <a:pPr indent="0" lvl="0" marL="0" rtl="0" algn="l">
              <a:spcBef>
                <a:spcPts val="0"/>
              </a:spcBef>
              <a:spcAft>
                <a:spcPts val="0"/>
              </a:spcAft>
              <a:buNone/>
            </a:pPr>
            <a:r>
              <a:rPr i="1" lang="en-US" sz="1600">
                <a:solidFill>
                  <a:schemeClr val="dk1"/>
                </a:solidFill>
              </a:rPr>
              <a:t>Reranker scores those 150 chunks with the query</a:t>
            </a:r>
            <a:endParaRPr i="1" sz="1600">
              <a:solidFill>
                <a:schemeClr val="dk1"/>
              </a:solidFill>
            </a:endParaRPr>
          </a:p>
          <a:p>
            <a:pPr indent="0" lvl="0" marL="0" rtl="0" algn="l">
              <a:spcBef>
                <a:spcPts val="0"/>
              </a:spcBef>
              <a:spcAft>
                <a:spcPts val="0"/>
              </a:spcAft>
              <a:buNone/>
            </a:pPr>
            <a:r>
              <a:rPr i="1" lang="en-US" sz="1600">
                <a:solidFill>
                  <a:schemeClr val="dk1"/>
                </a:solidFill>
              </a:rPr>
              <a:t>Retain </a:t>
            </a:r>
            <a:r>
              <a:rPr b="1" i="1" lang="en-US" sz="1600">
                <a:solidFill>
                  <a:schemeClr val="dk1"/>
                </a:solidFill>
              </a:rPr>
              <a:t>top 20 chunks</a:t>
            </a:r>
            <a:endParaRPr b="1" i="1" sz="1600">
              <a:solidFill>
                <a:schemeClr val="dk1"/>
              </a:solidFill>
            </a:endParaRPr>
          </a:p>
          <a:p>
            <a:pPr indent="0" lvl="0" marL="0" rtl="0" algn="l">
              <a:spcBef>
                <a:spcPts val="0"/>
              </a:spcBef>
              <a:spcAft>
                <a:spcPts val="0"/>
              </a:spcAft>
              <a:buNone/>
            </a:pPr>
            <a:r>
              <a:rPr i="1" lang="en-US" sz="1600">
                <a:solidFill>
                  <a:schemeClr val="dk1"/>
                </a:solidFill>
              </a:rPr>
              <a:t>Pass those 20 chunks to the LLM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id="130" name="Google Shape;130;p26"/>
          <p:cNvPicPr preferRelativeResize="0"/>
          <p:nvPr/>
        </p:nvPicPr>
        <p:blipFill>
          <a:blip r:embed="rId3">
            <a:alphaModFix/>
          </a:blip>
          <a:stretch>
            <a:fillRect/>
          </a:stretch>
        </p:blipFill>
        <p:spPr>
          <a:xfrm>
            <a:off x="152400" y="152400"/>
            <a:ext cx="11887200" cy="609219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7"/>
          <p:cNvPicPr preferRelativeResize="0"/>
          <p:nvPr/>
        </p:nvPicPr>
        <p:blipFill>
          <a:blip r:embed="rId3">
            <a:alphaModFix/>
          </a:blip>
          <a:stretch>
            <a:fillRect/>
          </a:stretch>
        </p:blipFill>
        <p:spPr>
          <a:xfrm>
            <a:off x="152400" y="152400"/>
            <a:ext cx="11887201" cy="269899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8"/>
          <p:cNvPicPr preferRelativeResize="0"/>
          <p:nvPr/>
        </p:nvPicPr>
        <p:blipFill>
          <a:blip r:embed="rId3">
            <a:alphaModFix/>
          </a:blip>
          <a:stretch>
            <a:fillRect/>
          </a:stretch>
        </p:blipFill>
        <p:spPr>
          <a:xfrm>
            <a:off x="152400" y="152400"/>
            <a:ext cx="10922000" cy="65532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9"/>
          <p:cNvPicPr preferRelativeResize="0"/>
          <p:nvPr/>
        </p:nvPicPr>
        <p:blipFill>
          <a:blip r:embed="rId3">
            <a:alphaModFix/>
          </a:blip>
          <a:stretch>
            <a:fillRect/>
          </a:stretch>
        </p:blipFill>
        <p:spPr>
          <a:xfrm>
            <a:off x="152400" y="152400"/>
            <a:ext cx="11887200" cy="54413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30"/>
          <p:cNvPicPr preferRelativeResize="0"/>
          <p:nvPr/>
        </p:nvPicPr>
        <p:blipFill>
          <a:blip r:embed="rId3">
            <a:alphaModFix/>
          </a:blip>
          <a:stretch>
            <a:fillRect/>
          </a:stretch>
        </p:blipFill>
        <p:spPr>
          <a:xfrm>
            <a:off x="152400" y="152400"/>
            <a:ext cx="10347159" cy="65532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pic>
        <p:nvPicPr>
          <p:cNvPr id="160" name="Google Shape;160;p31"/>
          <p:cNvPicPr preferRelativeResize="0"/>
          <p:nvPr/>
        </p:nvPicPr>
        <p:blipFill>
          <a:blip r:embed="rId3">
            <a:alphaModFix/>
          </a:blip>
          <a:stretch>
            <a:fillRect/>
          </a:stretch>
        </p:blipFill>
        <p:spPr>
          <a:xfrm>
            <a:off x="152400" y="152400"/>
            <a:ext cx="11887201" cy="59436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32"/>
          <p:cNvPicPr preferRelativeResize="0"/>
          <p:nvPr/>
        </p:nvPicPr>
        <p:blipFill>
          <a:blip r:embed="rId3">
            <a:alphaModFix/>
          </a:blip>
          <a:stretch>
            <a:fillRect/>
          </a:stretch>
        </p:blipFill>
        <p:spPr>
          <a:xfrm>
            <a:off x="152400" y="152400"/>
            <a:ext cx="11650132" cy="65531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33"/>
          <p:cNvPicPr preferRelativeResize="0"/>
          <p:nvPr/>
        </p:nvPicPr>
        <p:blipFill>
          <a:blip r:embed="rId3">
            <a:alphaModFix/>
          </a:blip>
          <a:stretch>
            <a:fillRect/>
          </a:stretch>
        </p:blipFill>
        <p:spPr>
          <a:xfrm>
            <a:off x="152400" y="152400"/>
            <a:ext cx="11887202" cy="505838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34"/>
          <p:cNvPicPr preferRelativeResize="0"/>
          <p:nvPr/>
        </p:nvPicPr>
        <p:blipFill>
          <a:blip r:embed="rId3">
            <a:alphaModFix/>
          </a:blip>
          <a:stretch>
            <a:fillRect/>
          </a:stretch>
        </p:blipFill>
        <p:spPr>
          <a:xfrm>
            <a:off x="152400" y="152400"/>
            <a:ext cx="9996408" cy="6553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5" title="Screenshot 2026-10-16 at 2.36.58 PM.png"/>
          <p:cNvPicPr preferRelativeResize="0"/>
          <p:nvPr/>
        </p:nvPicPr>
        <p:blipFill>
          <a:blip r:embed="rId3">
            <a:alphaModFix/>
          </a:blip>
          <a:stretch>
            <a:fillRect/>
          </a:stretch>
        </p:blipFill>
        <p:spPr>
          <a:xfrm>
            <a:off x="0" y="1105950"/>
            <a:ext cx="11887201" cy="575205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36"/>
          <p:cNvPicPr preferRelativeResize="0"/>
          <p:nvPr/>
        </p:nvPicPr>
        <p:blipFill>
          <a:blip r:embed="rId3">
            <a:alphaModFix/>
          </a:blip>
          <a:stretch>
            <a:fillRect/>
          </a:stretch>
        </p:blipFill>
        <p:spPr>
          <a:xfrm>
            <a:off x="152400" y="152400"/>
            <a:ext cx="11468102" cy="65532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37"/>
          <p:cNvPicPr preferRelativeResize="0"/>
          <p:nvPr/>
        </p:nvPicPr>
        <p:blipFill>
          <a:blip r:embed="rId3">
            <a:alphaModFix/>
          </a:blip>
          <a:stretch>
            <a:fillRect/>
          </a:stretch>
        </p:blipFill>
        <p:spPr>
          <a:xfrm>
            <a:off x="152400" y="152400"/>
            <a:ext cx="10267988" cy="6553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id="202" name="Google Shape;202;p38"/>
          <p:cNvPicPr preferRelativeResize="0"/>
          <p:nvPr/>
        </p:nvPicPr>
        <p:blipFill>
          <a:blip r:embed="rId3">
            <a:alphaModFix/>
          </a:blip>
          <a:stretch>
            <a:fillRect/>
          </a:stretch>
        </p:blipFill>
        <p:spPr>
          <a:xfrm>
            <a:off x="152400" y="152400"/>
            <a:ext cx="11887202" cy="56906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9"/>
          <p:cNvPicPr preferRelativeResize="0"/>
          <p:nvPr/>
        </p:nvPicPr>
        <p:blipFill>
          <a:blip r:embed="rId3">
            <a:alphaModFix/>
          </a:blip>
          <a:stretch>
            <a:fillRect/>
          </a:stretch>
        </p:blipFill>
        <p:spPr>
          <a:xfrm>
            <a:off x="152400" y="152400"/>
            <a:ext cx="11887202" cy="632298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pic>
        <p:nvPicPr>
          <p:cNvPr id="214" name="Google Shape;214;p40"/>
          <p:cNvPicPr preferRelativeResize="0"/>
          <p:nvPr/>
        </p:nvPicPr>
        <p:blipFill>
          <a:blip r:embed="rId3">
            <a:alphaModFix/>
          </a:blip>
          <a:stretch>
            <a:fillRect/>
          </a:stretch>
        </p:blipFill>
        <p:spPr>
          <a:xfrm>
            <a:off x="152400" y="152400"/>
            <a:ext cx="11887199" cy="632739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41"/>
          <p:cNvPicPr preferRelativeResize="0"/>
          <p:nvPr/>
        </p:nvPicPr>
        <p:blipFill>
          <a:blip r:embed="rId3">
            <a:alphaModFix/>
          </a:blip>
          <a:stretch>
            <a:fillRect/>
          </a:stretch>
        </p:blipFill>
        <p:spPr>
          <a:xfrm>
            <a:off x="152400" y="152400"/>
            <a:ext cx="11846171" cy="6553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42" title="Screenshot 2026-10-16 at 2.41.05 PM.png"/>
          <p:cNvPicPr preferRelativeResize="0"/>
          <p:nvPr/>
        </p:nvPicPr>
        <p:blipFill>
          <a:blip r:embed="rId3">
            <a:alphaModFix/>
          </a:blip>
          <a:stretch>
            <a:fillRect/>
          </a:stretch>
        </p:blipFill>
        <p:spPr>
          <a:xfrm>
            <a:off x="152400" y="152400"/>
            <a:ext cx="11482729" cy="65532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id="232" name="Google Shape;232;p43" title="Screenshot 2026-10-16 at 6.26.57 AM.png"/>
          <p:cNvPicPr preferRelativeResize="0"/>
          <p:nvPr/>
        </p:nvPicPr>
        <p:blipFill>
          <a:blip r:embed="rId3">
            <a:alphaModFix/>
          </a:blip>
          <a:stretch>
            <a:fillRect/>
          </a:stretch>
        </p:blipFill>
        <p:spPr>
          <a:xfrm>
            <a:off x="1340225" y="0"/>
            <a:ext cx="5431279" cy="65531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44"/>
          <p:cNvPicPr preferRelativeResize="0"/>
          <p:nvPr/>
        </p:nvPicPr>
        <p:blipFill>
          <a:blip r:embed="rId3">
            <a:alphaModFix/>
          </a:blip>
          <a:stretch>
            <a:fillRect/>
          </a:stretch>
        </p:blipFill>
        <p:spPr>
          <a:xfrm>
            <a:off x="337625" y="3240075"/>
            <a:ext cx="5134699" cy="3345400"/>
          </a:xfrm>
          <a:prstGeom prst="rect">
            <a:avLst/>
          </a:prstGeom>
          <a:noFill/>
          <a:ln>
            <a:noFill/>
          </a:ln>
        </p:spPr>
      </p:pic>
      <p:pic>
        <p:nvPicPr>
          <p:cNvPr id="239" name="Google Shape;239;p44"/>
          <p:cNvPicPr preferRelativeResize="0"/>
          <p:nvPr/>
        </p:nvPicPr>
        <p:blipFill>
          <a:blip r:embed="rId4">
            <a:alphaModFix/>
          </a:blip>
          <a:stretch>
            <a:fillRect/>
          </a:stretch>
        </p:blipFill>
        <p:spPr>
          <a:xfrm>
            <a:off x="6839852" y="1774925"/>
            <a:ext cx="4976998" cy="4895511"/>
          </a:xfrm>
          <a:prstGeom prst="rect">
            <a:avLst/>
          </a:prstGeom>
          <a:noFill/>
          <a:ln>
            <a:noFill/>
          </a:ln>
        </p:spPr>
      </p:pic>
      <p:sp>
        <p:nvSpPr>
          <p:cNvPr id="240" name="Google Shape;240;p44"/>
          <p:cNvSpPr txBox="1"/>
          <p:nvPr/>
        </p:nvSpPr>
        <p:spPr>
          <a:xfrm>
            <a:off x="3997575" y="504100"/>
            <a:ext cx="675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PDF+Chunk =&gt;LLM=&gt; annotated with </a:t>
            </a:r>
            <a:r>
              <a:rPr lang="en-US"/>
              <a:t>summary. Does this work? No</a:t>
            </a:r>
            <a:endParaRPr/>
          </a:p>
        </p:txBody>
      </p:sp>
      <p:pic>
        <p:nvPicPr>
          <p:cNvPr id="241" name="Google Shape;241;p44"/>
          <p:cNvPicPr preferRelativeResize="0"/>
          <p:nvPr/>
        </p:nvPicPr>
        <p:blipFill>
          <a:blip r:embed="rId5">
            <a:alphaModFix/>
          </a:blip>
          <a:stretch>
            <a:fillRect/>
          </a:stretch>
        </p:blipFill>
        <p:spPr>
          <a:xfrm>
            <a:off x="1733450" y="1863125"/>
            <a:ext cx="1094625" cy="1246825"/>
          </a:xfrm>
          <a:prstGeom prst="rect">
            <a:avLst/>
          </a:prstGeom>
          <a:noFill/>
          <a:ln>
            <a:noFill/>
          </a:ln>
        </p:spPr>
      </p:pic>
      <p:pic>
        <p:nvPicPr>
          <p:cNvPr id="242" name="Google Shape;242;p44" title="Screenshot 2026-10-19 at 5.12.57 PM.png"/>
          <p:cNvPicPr preferRelativeResize="0"/>
          <p:nvPr/>
        </p:nvPicPr>
        <p:blipFill>
          <a:blip r:embed="rId6">
            <a:alphaModFix/>
          </a:blip>
          <a:stretch>
            <a:fillRect/>
          </a:stretch>
        </p:blipFill>
        <p:spPr>
          <a:xfrm>
            <a:off x="4784049" y="1647851"/>
            <a:ext cx="1385951" cy="13979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5"/>
          <p:cNvSpPr txBox="1"/>
          <p:nvPr/>
        </p:nvSpPr>
        <p:spPr>
          <a:xfrm>
            <a:off x="2482925" y="456500"/>
            <a:ext cx="57471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t>WHY?</a:t>
            </a:r>
            <a:endParaRPr sz="1800"/>
          </a:p>
          <a:p>
            <a:pPr indent="0" lvl="0" marL="0" rtl="0" algn="l">
              <a:spcBef>
                <a:spcPts val="0"/>
              </a:spcBef>
              <a:spcAft>
                <a:spcPts val="0"/>
              </a:spcAft>
              <a:buNone/>
            </a:pPr>
            <a:r>
              <a:t/>
            </a:r>
            <a:endParaRPr sz="1800"/>
          </a:p>
          <a:p>
            <a:pPr indent="-342900" lvl="0" marL="457200" rtl="0" algn="l">
              <a:spcBef>
                <a:spcPts val="0"/>
              </a:spcBef>
              <a:spcAft>
                <a:spcPts val="0"/>
              </a:spcAft>
              <a:buSzPts val="1800"/>
              <a:buAutoNum type="arabicParenR"/>
            </a:pPr>
            <a:r>
              <a:rPr lang="en-US" sz="1800"/>
              <a:t>Why do we do this in the first place? </a:t>
            </a:r>
            <a:endParaRPr sz="1800"/>
          </a:p>
          <a:p>
            <a:pPr indent="0" lvl="0" marL="914400" rtl="0" algn="l">
              <a:spcBef>
                <a:spcPts val="0"/>
              </a:spcBef>
              <a:spcAft>
                <a:spcPts val="0"/>
              </a:spcAft>
              <a:buNone/>
            </a:pPr>
            <a:r>
              <a:rPr lang="en-US" sz="1800"/>
              <a:t>Because many documents have TOC or Index sections</a:t>
            </a:r>
            <a:endParaRPr sz="1800"/>
          </a:p>
          <a:p>
            <a:pPr indent="0" lvl="0" marL="914400" rtl="0" algn="l">
              <a:spcBef>
                <a:spcPts val="0"/>
              </a:spcBef>
              <a:spcAft>
                <a:spcPts val="0"/>
              </a:spcAft>
              <a:buNone/>
            </a:pPr>
            <a:r>
              <a:rPr lang="en-US" sz="1800"/>
              <a:t>They are all the same</a:t>
            </a:r>
            <a:endParaRPr sz="1800"/>
          </a:p>
          <a:p>
            <a:pPr indent="-342900" lvl="0" marL="457200" rtl="0" algn="l">
              <a:spcBef>
                <a:spcPts val="0"/>
              </a:spcBef>
              <a:spcAft>
                <a:spcPts val="0"/>
              </a:spcAft>
              <a:buSzPts val="1800"/>
              <a:buAutoNum type="arabicParenR"/>
            </a:pPr>
            <a:r>
              <a:rPr lang="en-US" sz="1800"/>
              <a:t>Boilerplate has no new information. Noise in index. Many TOC entries in the end or beginning of the db </a:t>
            </a:r>
            <a:r>
              <a:rPr lang="en-US" sz="1800"/>
              <a:t>index</a:t>
            </a:r>
            <a:r>
              <a:rPr lang="en-US" sz="1800"/>
              <a:t> which can translate to the beginning or end of LLM context window. </a:t>
            </a:r>
            <a:endParaRPr sz="18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nvSpPr>
        <p:spPr>
          <a:xfrm>
            <a:off x="779325" y="714500"/>
            <a:ext cx="3362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t>Figures and tables in pdfs. Extract as 1 unit/(Figs) </a:t>
            </a:r>
            <a:endParaRPr sz="2100"/>
          </a:p>
        </p:txBody>
      </p:sp>
      <p:pic>
        <p:nvPicPr>
          <p:cNvPr id="255" name="Google Shape;255;p46"/>
          <p:cNvPicPr preferRelativeResize="0"/>
          <p:nvPr/>
        </p:nvPicPr>
        <p:blipFill>
          <a:blip r:embed="rId3">
            <a:alphaModFix/>
          </a:blip>
          <a:stretch>
            <a:fillRect/>
          </a:stretch>
        </p:blipFill>
        <p:spPr>
          <a:xfrm>
            <a:off x="6178050" y="1408375"/>
            <a:ext cx="5293475" cy="5449625"/>
          </a:xfrm>
          <a:prstGeom prst="rect">
            <a:avLst/>
          </a:prstGeom>
          <a:noFill/>
          <a:ln>
            <a:noFill/>
          </a:ln>
        </p:spPr>
      </p:pic>
      <p:pic>
        <p:nvPicPr>
          <p:cNvPr id="256" name="Google Shape;256;p46"/>
          <p:cNvPicPr preferRelativeResize="0"/>
          <p:nvPr/>
        </p:nvPicPr>
        <p:blipFill>
          <a:blip r:embed="rId4">
            <a:alphaModFix/>
          </a:blip>
          <a:stretch>
            <a:fillRect/>
          </a:stretch>
        </p:blipFill>
        <p:spPr>
          <a:xfrm>
            <a:off x="117225" y="2053150"/>
            <a:ext cx="5873252" cy="3290152"/>
          </a:xfrm>
          <a:prstGeom prst="rect">
            <a:avLst/>
          </a:prstGeom>
          <a:noFill/>
          <a:ln>
            <a:noFill/>
          </a:ln>
        </p:spPr>
      </p:pic>
      <p:sp>
        <p:nvSpPr>
          <p:cNvPr id="257" name="Google Shape;257;p46"/>
          <p:cNvSpPr txBox="1"/>
          <p:nvPr/>
        </p:nvSpPr>
        <p:spPr>
          <a:xfrm>
            <a:off x="6825300" y="746000"/>
            <a:ext cx="5388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200"/>
          </a:p>
        </p:txBody>
      </p:sp>
      <p:sp>
        <p:nvSpPr>
          <p:cNvPr id="258" name="Google Shape;258;p46"/>
          <p:cNvSpPr txBox="1"/>
          <p:nvPr/>
        </p:nvSpPr>
        <p:spPr>
          <a:xfrm>
            <a:off x="6524675" y="545575"/>
            <a:ext cx="4230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t>Fig Output of Docling Parser</a:t>
            </a:r>
            <a:endParaRPr sz="2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47"/>
          <p:cNvPicPr preferRelativeResize="0"/>
          <p:nvPr/>
        </p:nvPicPr>
        <p:blipFill>
          <a:blip r:embed="rId3">
            <a:alphaModFix/>
          </a:blip>
          <a:stretch>
            <a:fillRect/>
          </a:stretch>
        </p:blipFill>
        <p:spPr>
          <a:xfrm>
            <a:off x="163550" y="2861500"/>
            <a:ext cx="5158150" cy="3639325"/>
          </a:xfrm>
          <a:prstGeom prst="rect">
            <a:avLst/>
          </a:prstGeom>
          <a:noFill/>
          <a:ln>
            <a:noFill/>
          </a:ln>
        </p:spPr>
      </p:pic>
      <p:sp>
        <p:nvSpPr>
          <p:cNvPr id="265" name="Google Shape;265;p47"/>
          <p:cNvSpPr txBox="1"/>
          <p:nvPr/>
        </p:nvSpPr>
        <p:spPr>
          <a:xfrm>
            <a:off x="6569850" y="2172200"/>
            <a:ext cx="4501800" cy="196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50">
                <a:solidFill>
                  <a:srgbClr val="BCEBE1"/>
                </a:solidFill>
                <a:highlight>
                  <a:srgbClr val="0D2B28"/>
                </a:highlight>
              </a:rPr>
              <a:t>This is Figure 2 on page 5 of the "Harnessing growth in workforce benefits: the next horizon" report (2025 Workforce Benefits Study). It sits in the section on the gig economy stabilizing post-pandemic, and Figure 3 on employer use of freelancers appears beside it. The figure is a stacked bar chart of worker participation in freelance or gig work, comparing the 2023 and 2025 surveys. It splits workers into those who freelance full or part time (34% in 2023, 23% in 2025) and those who do not freelance or have a gig job (66% in 2023, 77% in 2025). The survey question asks about current work arrangement beyond or instead of traditional W-2 employment. The page text uses the figure to show gig participation trending downward.</a:t>
            </a:r>
            <a:endParaRPr/>
          </a:p>
        </p:txBody>
      </p:sp>
      <p:sp>
        <p:nvSpPr>
          <p:cNvPr id="266" name="Google Shape;266;p47"/>
          <p:cNvSpPr txBox="1"/>
          <p:nvPr/>
        </p:nvSpPr>
        <p:spPr>
          <a:xfrm>
            <a:off x="6569850" y="4668050"/>
            <a:ext cx="5647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There is png and html. Why did we bother to extract to html? Because we can </a:t>
            </a:r>
            <a:r>
              <a:rPr lang="en-US"/>
              <a:t>reorder</a:t>
            </a:r>
            <a:r>
              <a:rPr lang="en-US"/>
              <a:t> the rows in html.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a:t>
            </a:r>
            <a:r>
              <a:rPr lang="en-US"/>
              <a:t>e can add charts and figs to a db as a structured object and </a:t>
            </a:r>
            <a:endParaRPr/>
          </a:p>
          <a:p>
            <a:pPr indent="0" lvl="0" marL="0" rtl="0" algn="l">
              <a:spcBef>
                <a:spcPts val="0"/>
              </a:spcBef>
              <a:spcAft>
                <a:spcPts val="0"/>
              </a:spcAft>
              <a:buNone/>
            </a:pPr>
            <a:r>
              <a:rPr lang="en-US"/>
              <a:t>use structured search.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Translate to table 2nd part of fig. Tables can be used in structured search</a:t>
            </a:r>
            <a:endParaRPr/>
          </a:p>
        </p:txBody>
      </p:sp>
      <p:pic>
        <p:nvPicPr>
          <p:cNvPr id="267" name="Google Shape;267;p47"/>
          <p:cNvPicPr preferRelativeResize="0"/>
          <p:nvPr/>
        </p:nvPicPr>
        <p:blipFill>
          <a:blip r:embed="rId4">
            <a:alphaModFix/>
          </a:blip>
          <a:stretch>
            <a:fillRect/>
          </a:stretch>
        </p:blipFill>
        <p:spPr>
          <a:xfrm>
            <a:off x="998575" y="1406625"/>
            <a:ext cx="1094625" cy="1246825"/>
          </a:xfrm>
          <a:prstGeom prst="rect">
            <a:avLst/>
          </a:prstGeom>
          <a:noFill/>
          <a:ln>
            <a:noFill/>
          </a:ln>
        </p:spPr>
      </p:pic>
      <p:pic>
        <p:nvPicPr>
          <p:cNvPr id="268" name="Google Shape;268;p47" title="Screenshot 2026-10-19 at 5.12.57 PM.png"/>
          <p:cNvPicPr preferRelativeResize="0"/>
          <p:nvPr/>
        </p:nvPicPr>
        <p:blipFill>
          <a:blip r:embed="rId5">
            <a:alphaModFix/>
          </a:blip>
          <a:stretch>
            <a:fillRect/>
          </a:stretch>
        </p:blipFill>
        <p:spPr>
          <a:xfrm>
            <a:off x="3425674" y="1202476"/>
            <a:ext cx="1385951" cy="1397925"/>
          </a:xfrm>
          <a:prstGeom prst="rect">
            <a:avLst/>
          </a:prstGeom>
          <a:noFill/>
          <a:ln>
            <a:noFill/>
          </a:ln>
        </p:spPr>
      </p:pic>
      <p:sp>
        <p:nvSpPr>
          <p:cNvPr id="269" name="Google Shape;269;p47"/>
          <p:cNvSpPr txBox="1"/>
          <p:nvPr/>
        </p:nvSpPr>
        <p:spPr>
          <a:xfrm>
            <a:off x="6655200" y="4201325"/>
            <a:ext cx="433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LanceDB</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48"/>
          <p:cNvPicPr preferRelativeResize="0"/>
          <p:nvPr/>
        </p:nvPicPr>
        <p:blipFill>
          <a:blip r:embed="rId3">
            <a:alphaModFix/>
          </a:blip>
          <a:stretch>
            <a:fillRect/>
          </a:stretch>
        </p:blipFill>
        <p:spPr>
          <a:xfrm>
            <a:off x="152400" y="152400"/>
            <a:ext cx="6501724" cy="6553198"/>
          </a:xfrm>
          <a:prstGeom prst="rect">
            <a:avLst/>
          </a:prstGeom>
          <a:noFill/>
          <a:ln>
            <a:noFill/>
          </a:ln>
        </p:spPr>
      </p:pic>
      <p:pic>
        <p:nvPicPr>
          <p:cNvPr id="276" name="Google Shape;276;p48"/>
          <p:cNvPicPr preferRelativeResize="0"/>
          <p:nvPr/>
        </p:nvPicPr>
        <p:blipFill>
          <a:blip r:embed="rId4">
            <a:alphaModFix/>
          </a:blip>
          <a:stretch>
            <a:fillRect/>
          </a:stretch>
        </p:blipFill>
        <p:spPr>
          <a:xfrm>
            <a:off x="6958924" y="1908050"/>
            <a:ext cx="5233077" cy="284000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id="282" name="Google Shape;282;p49"/>
          <p:cNvPicPr preferRelativeResize="0"/>
          <p:nvPr/>
        </p:nvPicPr>
        <p:blipFill>
          <a:blip r:embed="rId3">
            <a:alphaModFix/>
          </a:blip>
          <a:stretch>
            <a:fillRect/>
          </a:stretch>
        </p:blipFill>
        <p:spPr>
          <a:xfrm>
            <a:off x="1622125" y="1097925"/>
            <a:ext cx="3466226" cy="4565050"/>
          </a:xfrm>
          <a:prstGeom prst="rect">
            <a:avLst/>
          </a:prstGeom>
          <a:noFill/>
          <a:ln>
            <a:noFill/>
          </a:ln>
        </p:spPr>
      </p:pic>
      <p:pic>
        <p:nvPicPr>
          <p:cNvPr id="283" name="Google Shape;283;p49"/>
          <p:cNvPicPr preferRelativeResize="0"/>
          <p:nvPr/>
        </p:nvPicPr>
        <p:blipFill>
          <a:blip r:embed="rId4">
            <a:alphaModFix/>
          </a:blip>
          <a:stretch>
            <a:fillRect/>
          </a:stretch>
        </p:blipFill>
        <p:spPr>
          <a:xfrm>
            <a:off x="5218476" y="2282963"/>
            <a:ext cx="6798850" cy="2292073"/>
          </a:xfrm>
          <a:prstGeom prst="rect">
            <a:avLst/>
          </a:prstGeom>
          <a:noFill/>
          <a:ln>
            <a:noFill/>
          </a:ln>
        </p:spPr>
      </p:pic>
      <p:sp>
        <p:nvSpPr>
          <p:cNvPr id="284" name="Google Shape;284;p49"/>
          <p:cNvSpPr txBox="1"/>
          <p:nvPr/>
        </p:nvSpPr>
        <p:spPr>
          <a:xfrm>
            <a:off x="5856625" y="1035475"/>
            <a:ext cx="6357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bad headers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50"/>
          <p:cNvPicPr preferRelativeResize="0"/>
          <p:nvPr/>
        </p:nvPicPr>
        <p:blipFill>
          <a:blip r:embed="rId3">
            <a:alphaModFix/>
          </a:blip>
          <a:stretch>
            <a:fillRect/>
          </a:stretch>
        </p:blipFill>
        <p:spPr>
          <a:xfrm>
            <a:off x="1432825" y="1599825"/>
            <a:ext cx="7943850" cy="3314700"/>
          </a:xfrm>
          <a:prstGeom prst="rect">
            <a:avLst/>
          </a:prstGeom>
          <a:noFill/>
          <a:ln>
            <a:noFill/>
          </a:ln>
        </p:spPr>
      </p:pic>
      <p:sp>
        <p:nvSpPr>
          <p:cNvPr id="291" name="Google Shape;291;p50"/>
          <p:cNvSpPr txBox="1"/>
          <p:nvPr/>
        </p:nvSpPr>
        <p:spPr>
          <a:xfrm>
            <a:off x="2137775" y="5393325"/>
            <a:ext cx="51774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188038"/>
                </a:solidFill>
                <a:latin typeface="Roboto Mono"/>
                <a:ea typeface="Roboto Mono"/>
                <a:cs typeface="Roboto Mono"/>
                <a:sym typeface="Roboto Mono"/>
              </a:rPr>
              <a:t>doc-925d61c412d6</a:t>
            </a:r>
            <a:r>
              <a:rPr lang="en-US" sz="1100">
                <a:solidFill>
                  <a:schemeClr val="dk1"/>
                </a:solidFill>
              </a:rPr>
              <a:t> — Kentucky application, one person</a:t>
            </a:r>
            <a:endParaRPr sz="1100">
              <a:solidFill>
                <a:schemeClr val="dk1"/>
              </a:solidFill>
            </a:endParaRPr>
          </a:p>
          <a:p>
            <a:pPr indent="0" lvl="0" marL="0" rtl="0" algn="l">
              <a:spcBef>
                <a:spcPts val="0"/>
              </a:spcBef>
              <a:spcAft>
                <a:spcPts val="0"/>
              </a:spcAft>
              <a:buNone/>
            </a:pPr>
            <a:r>
              <a:rPr lang="en-US" sz="1100">
                <a:solidFill>
                  <a:srgbClr val="188038"/>
                </a:solidFill>
                <a:latin typeface="Roboto Mono"/>
                <a:ea typeface="Roboto Mono"/>
                <a:cs typeface="Roboto Mono"/>
                <a:sym typeface="Roboto Mono"/>
              </a:rPr>
              <a:t>doc-cfb6d2204f32</a:t>
            </a:r>
            <a:r>
              <a:rPr lang="en-US" sz="1100">
                <a:solidFill>
                  <a:schemeClr val="dk1"/>
                </a:solidFill>
              </a:rPr>
              <a:t> — Kentucky application, family</a:t>
            </a:r>
            <a:endParaRPr sz="1100">
              <a:solidFill>
                <a:schemeClr val="dk1"/>
              </a:solidFill>
            </a:endParaRPr>
          </a:p>
          <a:p>
            <a:pPr indent="0" lvl="0" marL="0" rtl="0" algn="l">
              <a:spcBef>
                <a:spcPts val="0"/>
              </a:spcBef>
              <a:spcAft>
                <a:spcPts val="0"/>
              </a:spcAft>
              <a:buNone/>
            </a:pPr>
            <a:r>
              <a:rPr lang="en-US" sz="1100">
                <a:solidFill>
                  <a:srgbClr val="188038"/>
                </a:solidFill>
                <a:latin typeface="Roboto Mono"/>
                <a:ea typeface="Roboto Mono"/>
                <a:cs typeface="Roboto Mono"/>
                <a:sym typeface="Roboto Mono"/>
              </a:rPr>
              <a:t>doc-3409df3900e3</a:t>
            </a:r>
            <a:r>
              <a:rPr lang="en-US" sz="1100">
                <a:solidFill>
                  <a:schemeClr val="dk1"/>
                </a:solidFill>
              </a:rPr>
              <a:t> — Missouri health-coverage application</a:t>
            </a:r>
            <a:endParaRPr sz="1100">
              <a:solidFill>
                <a:schemeClr val="dk1"/>
              </a:solidFill>
            </a:endParaRPr>
          </a:p>
          <a:p>
            <a:pPr indent="0" lvl="0" marL="0" rtl="0" algn="l">
              <a:spcBef>
                <a:spcPts val="0"/>
              </a:spcBef>
              <a:spcAft>
                <a:spcPts val="0"/>
              </a:spcAft>
              <a:buNone/>
            </a:pPr>
            <a:r>
              <a:rPr lang="en-US" sz="1100">
                <a:solidFill>
                  <a:srgbClr val="188038"/>
                </a:solidFill>
                <a:latin typeface="Roboto Mono"/>
                <a:ea typeface="Roboto Mono"/>
                <a:cs typeface="Roboto Mono"/>
                <a:sym typeface="Roboto Mono"/>
              </a:rPr>
              <a:t>doc-08754ed1a8a8</a:t>
            </a:r>
            <a:r>
              <a:rPr lang="en-US" sz="1100">
                <a:solidFill>
                  <a:schemeClr val="dk1"/>
                </a:solidFill>
              </a:rPr>
              <a:t> — Spanish Missouri health-coverage application</a:t>
            </a:r>
            <a:endParaRPr sz="1100">
              <a:solidFill>
                <a:schemeClr val="dk1"/>
              </a:solidFill>
            </a:endParaRPr>
          </a:p>
          <a:p>
            <a:pPr indent="0" lvl="0" marL="0" rtl="0" algn="l">
              <a:spcBef>
                <a:spcPts val="0"/>
              </a:spcBef>
              <a:spcAft>
                <a:spcPts val="0"/>
              </a:spcAft>
              <a:buNone/>
            </a:pPr>
            <a:r>
              <a:rPr lang="en-US" sz="1100">
                <a:solidFill>
                  <a:srgbClr val="188038"/>
                </a:solidFill>
                <a:latin typeface="Roboto Mono"/>
                <a:ea typeface="Roboto Mono"/>
                <a:cs typeface="Roboto Mono"/>
                <a:sym typeface="Roboto Mono"/>
              </a:rPr>
              <a:t>doc-e7bd4b9ae4bf</a:t>
            </a:r>
            <a:r>
              <a:rPr lang="en-US" sz="1100">
                <a:solidFill>
                  <a:schemeClr val="dk1"/>
                </a:solidFill>
              </a:rPr>
              <a:t> — Spanish aged/blind/disabled supplement</a:t>
            </a:r>
            <a:endParaRPr sz="1100">
              <a:solidFill>
                <a:schemeClr val="dk1"/>
              </a:solidFill>
            </a:endParaRPr>
          </a:p>
          <a:p>
            <a:pPr indent="0" lvl="0" marL="0" rtl="0" algn="l">
              <a:spcBef>
                <a:spcPts val="0"/>
              </a:spcBef>
              <a:spcAft>
                <a:spcPts val="0"/>
              </a:spcAft>
              <a:buNone/>
            </a:pPr>
            <a:r>
              <a:rPr lang="en-US" sz="1100">
                <a:solidFill>
                  <a:srgbClr val="188038"/>
                </a:solidFill>
                <a:latin typeface="Roboto Mono"/>
                <a:ea typeface="Roboto Mono"/>
                <a:cs typeface="Roboto Mono"/>
                <a:sym typeface="Roboto Mono"/>
              </a:rPr>
              <a:t>doc-b1682e9dbc26</a:t>
            </a:r>
            <a:r>
              <a:rPr lang="en-US" sz="1100">
                <a:solidFill>
                  <a:schemeClr val="dk1"/>
                </a:solidFill>
              </a:rPr>
              <a:t> — Ohio Medicaid authorized-representative form</a:t>
            </a:r>
            <a:endParaRPr sz="1100">
              <a:solidFill>
                <a:schemeClr val="dk1"/>
              </a:solidFill>
            </a:endParaRPr>
          </a:p>
        </p:txBody>
      </p:sp>
      <p:sp>
        <p:nvSpPr>
          <p:cNvPr id="292" name="Google Shape;292;p50"/>
          <p:cNvSpPr txBox="1"/>
          <p:nvPr/>
        </p:nvSpPr>
        <p:spPr>
          <a:xfrm>
            <a:off x="4253275" y="901875"/>
            <a:ext cx="641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forms do not chunk</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1"/>
          <p:cNvSpPr txBox="1"/>
          <p:nvPr/>
        </p:nvSpPr>
        <p:spPr>
          <a:xfrm>
            <a:off x="5890000" y="0"/>
            <a:ext cx="641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adding context </a:t>
            </a:r>
            <a:endParaRPr/>
          </a:p>
        </p:txBody>
      </p:sp>
      <p:pic>
        <p:nvPicPr>
          <p:cNvPr id="299" name="Google Shape;299;p51"/>
          <p:cNvPicPr preferRelativeResize="0"/>
          <p:nvPr/>
        </p:nvPicPr>
        <p:blipFill>
          <a:blip r:embed="rId3">
            <a:alphaModFix/>
          </a:blip>
          <a:stretch>
            <a:fillRect/>
          </a:stretch>
        </p:blipFill>
        <p:spPr>
          <a:xfrm>
            <a:off x="193450" y="62675"/>
            <a:ext cx="5322260" cy="5373600"/>
          </a:xfrm>
          <a:prstGeom prst="rect">
            <a:avLst/>
          </a:prstGeom>
          <a:noFill/>
          <a:ln>
            <a:noFill/>
          </a:ln>
        </p:spPr>
      </p:pic>
      <p:pic>
        <p:nvPicPr>
          <p:cNvPr id="300" name="Google Shape;300;p51"/>
          <p:cNvPicPr preferRelativeResize="0"/>
          <p:nvPr/>
        </p:nvPicPr>
        <p:blipFill>
          <a:blip r:embed="rId4">
            <a:alphaModFix/>
          </a:blip>
          <a:stretch>
            <a:fillRect/>
          </a:stretch>
        </p:blipFill>
        <p:spPr>
          <a:xfrm>
            <a:off x="5515710" y="775275"/>
            <a:ext cx="6412540" cy="2991084"/>
          </a:xfrm>
          <a:prstGeom prst="rect">
            <a:avLst/>
          </a:prstGeom>
          <a:noFill/>
          <a:ln>
            <a:noFill/>
          </a:ln>
        </p:spPr>
      </p:pic>
      <p:pic>
        <p:nvPicPr>
          <p:cNvPr id="301" name="Google Shape;301;p51"/>
          <p:cNvPicPr preferRelativeResize="0"/>
          <p:nvPr/>
        </p:nvPicPr>
        <p:blipFill>
          <a:blip r:embed="rId5">
            <a:alphaModFix/>
          </a:blip>
          <a:stretch>
            <a:fillRect/>
          </a:stretch>
        </p:blipFill>
        <p:spPr>
          <a:xfrm>
            <a:off x="0" y="5318275"/>
            <a:ext cx="15280348" cy="14406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52"/>
          <p:cNvPicPr preferRelativeResize="0"/>
          <p:nvPr/>
        </p:nvPicPr>
        <p:blipFill>
          <a:blip r:embed="rId3">
            <a:alphaModFix/>
          </a:blip>
          <a:stretch>
            <a:fillRect/>
          </a:stretch>
        </p:blipFill>
        <p:spPr>
          <a:xfrm>
            <a:off x="63325" y="1480875"/>
            <a:ext cx="5926899" cy="40890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3"/>
          <p:cNvSpPr txBox="1"/>
          <p:nvPr/>
        </p:nvSpPr>
        <p:spPr>
          <a:xfrm>
            <a:off x="1781900" y="1101975"/>
            <a:ext cx="675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tuning ragas and jev</a:t>
            </a:r>
            <a:endParaRPr/>
          </a:p>
        </p:txBody>
      </p:sp>
      <p:sp>
        <p:nvSpPr>
          <p:cNvPr id="314" name="Google Shape;314;p53"/>
          <p:cNvSpPr txBox="1"/>
          <p:nvPr/>
        </p:nvSpPr>
        <p:spPr>
          <a:xfrm>
            <a:off x="7549050" y="2093225"/>
            <a:ext cx="30000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{"user_input":"What percentage of adults in the HAC employer-plan population have high SDOH risk, and how are these risks distributed among social isolation, housing, food, and financial factors?"}</a:t>
            </a:r>
            <a:endParaRPr/>
          </a:p>
        </p:txBody>
      </p:sp>
      <p:sp>
        <p:nvSpPr>
          <p:cNvPr id="315" name="Google Shape;315;p53"/>
          <p:cNvSpPr txBox="1"/>
          <p:nvPr/>
        </p:nvSpPr>
        <p:spPr>
          <a:xfrm>
            <a:off x="1258150" y="2254400"/>
            <a:ext cx="3000000" cy="16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a:t>What percentage of adults have high social determinants of health (SDOH) risk and how are these risks distributed? Supposed to be benefits research but is classified as population health. </a:t>
            </a:r>
            <a:endParaRPr/>
          </a:p>
        </p:txBody>
      </p:sp>
      <p:sp>
        <p:nvSpPr>
          <p:cNvPr id="316" name="Google Shape;316;p53"/>
          <p:cNvSpPr txBox="1"/>
          <p:nvPr/>
        </p:nvSpPr>
        <p:spPr>
          <a:xfrm>
            <a:off x="2260250" y="4542800"/>
            <a:ext cx="641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underspecified ragas query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4"/>
          <p:cNvSpPr txBox="1"/>
          <p:nvPr/>
        </p:nvSpPr>
        <p:spPr>
          <a:xfrm>
            <a:off x="267250" y="623500"/>
            <a:ext cx="6413400" cy="179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a:t>how to fix jev routing errors: 1) Which groups of Medicare beneficiaries are most likely to experience problems affording prescription medications? routed as population health should be research, 2) What are the cardiovascular and metabolic benefits of playing Pickleball regularly for middle-aged and older adults? routed as clinical guidance should be research,</a:t>
            </a:r>
            <a:endParaRPr/>
          </a:p>
          <a:p>
            <a:pPr indent="0" lvl="0" marL="0" rtl="0" algn="l">
              <a:spcBef>
                <a:spcPts val="1200"/>
              </a:spcBef>
              <a:spcAft>
                <a:spcPts val="0"/>
              </a:spcAft>
              <a:buNone/>
            </a:pPr>
            <a:r>
              <a:t/>
            </a:r>
            <a:endParaRPr/>
          </a:p>
        </p:txBody>
      </p:sp>
      <p:sp>
        <p:nvSpPr>
          <p:cNvPr id="323" name="Google Shape;323;p54"/>
          <p:cNvSpPr txBox="1"/>
          <p:nvPr/>
        </p:nvSpPr>
        <p:spPr>
          <a:xfrm>
            <a:off x="423100" y="2416600"/>
            <a:ext cx="6413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t>- Which groups of Medicare beneficiaries are most likely to experience</a:t>
            </a:r>
            <a:endParaRPr/>
          </a:p>
          <a:p>
            <a:pPr indent="0" lvl="0" marL="0" rtl="0" algn="l">
              <a:spcBef>
                <a:spcPts val="0"/>
              </a:spcBef>
              <a:spcAft>
                <a:spcPts val="0"/>
              </a:spcAft>
              <a:buClr>
                <a:schemeClr val="dk1"/>
              </a:buClr>
              <a:buSzPts val="1100"/>
              <a:buFont typeface="Arial"/>
              <a:buNone/>
            </a:pPr>
            <a:r>
              <a:rPr lang="en-US"/>
              <a:t>- problems affording prescription medications?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According to the ASPE data-point analysis, which groups of Medicare</a:t>
            </a:r>
            <a:endParaRPr/>
          </a:p>
          <a:p>
            <a:pPr indent="0" lvl="0" marL="0" rtl="0" algn="l">
              <a:spcBef>
                <a:spcPts val="0"/>
              </a:spcBef>
              <a:spcAft>
                <a:spcPts val="0"/>
              </a:spcAft>
              <a:buClr>
                <a:schemeClr val="dk1"/>
              </a:buClr>
              <a:buSzPts val="1100"/>
              <a:buFont typeface="Arial"/>
              <a:buNone/>
            </a:pPr>
            <a:r>
              <a:rPr lang="en-US"/>
              <a:t>+ beneficiaries are most likely to experience problems affording</a:t>
            </a:r>
            <a:endParaRPr/>
          </a:p>
          <a:p>
            <a:pPr indent="0" lvl="0" marL="0" rtl="0" algn="l">
              <a:spcBef>
                <a:spcPts val="0"/>
              </a:spcBef>
              <a:spcAft>
                <a:spcPts val="0"/>
              </a:spcAft>
              <a:buClr>
                <a:schemeClr val="dk1"/>
              </a:buClr>
              <a:buSzPts val="1100"/>
              <a:buFont typeface="Arial"/>
              <a:buNone/>
            </a:pPr>
            <a:r>
              <a:rPr lang="en-US"/>
              <a:t>+ prescription medications?</a:t>
            </a:r>
            <a:endParaRPr/>
          </a:p>
          <a:p>
            <a:pPr indent="0" lvl="0" marL="0" rtl="0" algn="l">
              <a:spcBef>
                <a:spcPts val="0"/>
              </a:spcBef>
              <a:spcAft>
                <a:spcPts val="0"/>
              </a:spcAft>
              <a:buNone/>
            </a:pPr>
            <a:r>
              <a:t/>
            </a:r>
            <a:endParaRPr/>
          </a:p>
        </p:txBody>
      </p:sp>
      <p:sp>
        <p:nvSpPr>
          <p:cNvPr id="324" name="Google Shape;324;p54"/>
          <p:cNvSpPr txBox="1"/>
          <p:nvPr/>
        </p:nvSpPr>
        <p:spPr>
          <a:xfrm>
            <a:off x="2839225" y="5088350"/>
            <a:ext cx="641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make </a:t>
            </a:r>
            <a:r>
              <a:rPr lang="en-US"/>
              <a:t>queries</a:t>
            </a:r>
            <a:r>
              <a:rPr lang="en-US"/>
              <a:t> research queries</a:t>
            </a:r>
            <a:endParaRPr/>
          </a:p>
        </p:txBody>
      </p:sp>
      <p:sp>
        <p:nvSpPr>
          <p:cNvPr id="325" name="Google Shape;325;p54"/>
          <p:cNvSpPr txBox="1"/>
          <p:nvPr/>
        </p:nvSpPr>
        <p:spPr>
          <a:xfrm>
            <a:off x="5439600" y="223300"/>
            <a:ext cx="675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tuning ragas and jev</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5"/>
          <p:cNvSpPr txBox="1"/>
          <p:nvPr/>
        </p:nvSpPr>
        <p:spPr>
          <a:xfrm>
            <a:off x="2594275" y="2215725"/>
            <a:ext cx="64134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t>- What are the cardiovascular and metabolic benefits of playing</a:t>
            </a:r>
            <a:endParaRPr/>
          </a:p>
          <a:p>
            <a:pPr indent="0" lvl="0" marL="0" rtl="0" algn="l">
              <a:spcBef>
                <a:spcPts val="0"/>
              </a:spcBef>
              <a:spcAft>
                <a:spcPts val="0"/>
              </a:spcAft>
              <a:buClr>
                <a:schemeClr val="dk1"/>
              </a:buClr>
              <a:buSzPts val="1100"/>
              <a:buFont typeface="Arial"/>
              <a:buNone/>
            </a:pPr>
            <a:r>
              <a:rPr lang="en-US"/>
              <a:t>- Pickleball regularly for middle-aged and older adults?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 According to the ACE-sponsored six-week Pickleball study, what</a:t>
            </a:r>
            <a:endParaRPr/>
          </a:p>
          <a:p>
            <a:pPr indent="0" lvl="0" marL="0" rtl="0" algn="l">
              <a:spcBef>
                <a:spcPts val="0"/>
              </a:spcBef>
              <a:spcAft>
                <a:spcPts val="0"/>
              </a:spcAft>
              <a:buClr>
                <a:schemeClr val="dk1"/>
              </a:buClr>
              <a:buSzPts val="1100"/>
              <a:buFont typeface="Arial"/>
              <a:buNone/>
            </a:pPr>
            <a:r>
              <a:rPr lang="en-US"/>
              <a:t>+ cardiovascular and metabolic changes were observed in middle-aged</a:t>
            </a:r>
            <a:endParaRPr/>
          </a:p>
          <a:p>
            <a:pPr indent="0" lvl="0" marL="0" rtl="0" algn="l">
              <a:spcBef>
                <a:spcPts val="0"/>
              </a:spcBef>
              <a:spcAft>
                <a:spcPts val="0"/>
              </a:spcAft>
              <a:buClr>
                <a:schemeClr val="dk1"/>
              </a:buClr>
              <a:buSzPts val="1100"/>
              <a:buFont typeface="Arial"/>
              <a:buNone/>
            </a:pPr>
            <a:r>
              <a:rPr lang="en-US"/>
              <a:t>+ and older adults?</a:t>
            </a:r>
            <a:endParaRPr/>
          </a:p>
          <a:p>
            <a:pPr indent="0" lvl="0" marL="0" rtl="0" algn="l">
              <a:spcBef>
                <a:spcPts val="0"/>
              </a:spcBef>
              <a:spcAft>
                <a:spcPts val="0"/>
              </a:spcAft>
              <a:buNone/>
            </a:pPr>
            <a:r>
              <a:t/>
            </a:r>
            <a:endParaRPr/>
          </a:p>
        </p:txBody>
      </p:sp>
      <p:sp>
        <p:nvSpPr>
          <p:cNvPr id="332" name="Google Shape;332;p55"/>
          <p:cNvSpPr txBox="1"/>
          <p:nvPr/>
        </p:nvSpPr>
        <p:spPr>
          <a:xfrm>
            <a:off x="2705625" y="4687525"/>
            <a:ext cx="641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rPr>
              <a:t>make queries research queries</a:t>
            </a:r>
            <a:endParaRPr/>
          </a:p>
        </p:txBody>
      </p:sp>
      <p:sp>
        <p:nvSpPr>
          <p:cNvPr id="333" name="Google Shape;333;p55"/>
          <p:cNvSpPr txBox="1"/>
          <p:nvPr/>
        </p:nvSpPr>
        <p:spPr>
          <a:xfrm>
            <a:off x="1781900" y="1101975"/>
            <a:ext cx="675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tuning ragas and jev</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6"/>
          <p:cNvSpPr txBox="1"/>
          <p:nvPr/>
        </p:nvSpPr>
        <p:spPr>
          <a:xfrm>
            <a:off x="233800" y="1547650"/>
            <a:ext cx="3000000" cy="3929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a:t>Ordinary responsive HTML is a poor target for pixel-level self-correction because the output depends on:</a:t>
            </a:r>
            <a:endParaRPr/>
          </a:p>
          <a:p>
            <a:pPr indent="-298450" lvl="0" marL="457200" rtl="0" algn="l">
              <a:lnSpc>
                <a:spcPct val="115000"/>
              </a:lnSpc>
              <a:spcBef>
                <a:spcPts val="1200"/>
              </a:spcBef>
              <a:spcAft>
                <a:spcPts val="0"/>
              </a:spcAft>
              <a:buClr>
                <a:schemeClr val="dk1"/>
              </a:buClr>
              <a:buSzPts val="1100"/>
              <a:buChar char="●"/>
            </a:pPr>
            <a:r>
              <a:rPr lang="en-US"/>
              <a:t>Browser viewport and device scale</a:t>
            </a:r>
            <a:endParaRPr/>
          </a:p>
          <a:p>
            <a:pPr indent="-298450" lvl="0" marL="457200" rtl="0" algn="l">
              <a:lnSpc>
                <a:spcPct val="115000"/>
              </a:lnSpc>
              <a:spcBef>
                <a:spcPts val="0"/>
              </a:spcBef>
              <a:spcAft>
                <a:spcPts val="0"/>
              </a:spcAft>
              <a:buClr>
                <a:schemeClr val="dk1"/>
              </a:buClr>
              <a:buSzPts val="1100"/>
              <a:buChar char="●"/>
            </a:pPr>
            <a:r>
              <a:rPr lang="en-US"/>
              <a:t>Fonts and font availability</a:t>
            </a:r>
            <a:endParaRPr/>
          </a:p>
          <a:p>
            <a:pPr indent="-298450" lvl="0" marL="457200" rtl="0" algn="l">
              <a:lnSpc>
                <a:spcPct val="115000"/>
              </a:lnSpc>
              <a:spcBef>
                <a:spcPts val="0"/>
              </a:spcBef>
              <a:spcAft>
                <a:spcPts val="0"/>
              </a:spcAft>
              <a:buClr>
                <a:schemeClr val="dk1"/>
              </a:buClr>
              <a:buSzPts val="1100"/>
              <a:buChar char="●"/>
            </a:pPr>
            <a:r>
              <a:rPr lang="en-US"/>
              <a:t>CSS layout and text wrapping</a:t>
            </a:r>
            <a:endParaRPr/>
          </a:p>
          <a:p>
            <a:pPr indent="-298450" lvl="0" marL="457200" rtl="0" algn="l">
              <a:lnSpc>
                <a:spcPct val="115000"/>
              </a:lnSpc>
              <a:spcBef>
                <a:spcPts val="0"/>
              </a:spcBef>
              <a:spcAft>
                <a:spcPts val="0"/>
              </a:spcAft>
              <a:buClr>
                <a:schemeClr val="dk1"/>
              </a:buClr>
              <a:buSzPts val="1100"/>
              <a:buChar char="●"/>
            </a:pPr>
            <a:r>
              <a:rPr lang="en-US"/>
              <a:t>Browser engine and version</a:t>
            </a:r>
            <a:endParaRPr/>
          </a:p>
          <a:p>
            <a:pPr indent="-298450" lvl="0" marL="457200" rtl="0" algn="l">
              <a:lnSpc>
                <a:spcPct val="115000"/>
              </a:lnSpc>
              <a:spcBef>
                <a:spcPts val="0"/>
              </a:spcBef>
              <a:spcAft>
                <a:spcPts val="0"/>
              </a:spcAft>
              <a:buClr>
                <a:schemeClr val="dk1"/>
              </a:buClr>
              <a:buSzPts val="1100"/>
              <a:buChar char="●"/>
            </a:pPr>
            <a:r>
              <a:rPr lang="en-US"/>
              <a:t>Default margins and rendering behavior</a:t>
            </a:r>
            <a:endParaRPr/>
          </a:p>
          <a:p>
            <a:pPr indent="-298450" lvl="0" marL="457200" rtl="0" algn="l">
              <a:lnSpc>
                <a:spcPct val="115000"/>
              </a:lnSpc>
              <a:spcBef>
                <a:spcPts val="0"/>
              </a:spcBef>
              <a:spcAft>
                <a:spcPts val="0"/>
              </a:spcAft>
              <a:buClr>
                <a:schemeClr val="dk1"/>
              </a:buClr>
              <a:buSzPts val="1100"/>
              <a:buChar char="●"/>
            </a:pPr>
            <a:r>
              <a:rPr lang="en-US"/>
              <a:t>Screenshot dimensions</a:t>
            </a:r>
            <a:endParaRPr/>
          </a:p>
          <a:p>
            <a:pPr indent="0" lvl="0" marL="0" rtl="0" algn="l">
              <a:lnSpc>
                <a:spcPct val="115000"/>
              </a:lnSpc>
              <a:spcBef>
                <a:spcPts val="1200"/>
              </a:spcBef>
              <a:spcAft>
                <a:spcPts val="1200"/>
              </a:spcAft>
              <a:buNone/>
            </a:pPr>
            <a:r>
              <a:rPr lang="en-US"/>
              <a:t>For a stable correction loop, use a fixed rendering contract:</a:t>
            </a:r>
            <a:endParaRPr/>
          </a:p>
        </p:txBody>
      </p:sp>
      <p:sp>
        <p:nvSpPr>
          <p:cNvPr id="340" name="Google Shape;340;p56"/>
          <p:cNvSpPr txBox="1"/>
          <p:nvPr/>
        </p:nvSpPr>
        <p:spPr>
          <a:xfrm>
            <a:off x="4064000" y="578975"/>
            <a:ext cx="30000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Figure specification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Deterministic SVG or fixed-size HTML canvas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PNG rendered at fixed dimensions</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Visual comparison</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Correct the specification—not arbitrary HTML</a:t>
            </a:r>
            <a:endParaRPr/>
          </a:p>
        </p:txBody>
      </p:sp>
      <p:sp>
        <p:nvSpPr>
          <p:cNvPr id="341" name="Google Shape;341;p56"/>
          <p:cNvSpPr txBox="1"/>
          <p:nvPr/>
        </p:nvSpPr>
        <p:spPr>
          <a:xfrm>
            <a:off x="7727175" y="6680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The model should only modify the JSON specification:</a:t>
            </a:r>
            <a:endParaRPr/>
          </a:p>
        </p:txBody>
      </p:sp>
      <p:sp>
        <p:nvSpPr>
          <p:cNvPr id="342" name="Google Shape;342;p56"/>
          <p:cNvSpPr txBox="1"/>
          <p:nvPr/>
        </p:nvSpPr>
        <p:spPr>
          <a:xfrm>
            <a:off x="7894200" y="1659025"/>
            <a:ext cx="30000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t>
            </a:r>
            <a:endParaRPr/>
          </a:p>
          <a:p>
            <a:pPr indent="0" lvl="0" marL="0" rtl="0" algn="l">
              <a:spcBef>
                <a:spcPts val="0"/>
              </a:spcBef>
              <a:spcAft>
                <a:spcPts val="0"/>
              </a:spcAft>
              <a:buNone/>
            </a:pPr>
            <a:r>
              <a:rPr lang="en-US"/>
              <a:t>  "canvas": {"width": 1530, "height": 1980},</a:t>
            </a:r>
            <a:endParaRPr/>
          </a:p>
          <a:p>
            <a:pPr indent="0" lvl="0" marL="0" rtl="0" algn="l">
              <a:spcBef>
                <a:spcPts val="0"/>
              </a:spcBef>
              <a:spcAft>
                <a:spcPts val="0"/>
              </a:spcAft>
              <a:buNone/>
            </a:pPr>
            <a:r>
              <a:rPr lang="en-US"/>
              <a:t>  "series": [...],</a:t>
            </a:r>
            <a:endParaRPr/>
          </a:p>
          <a:p>
            <a:pPr indent="0" lvl="0" marL="0" rtl="0" algn="l">
              <a:spcBef>
                <a:spcPts val="0"/>
              </a:spcBef>
              <a:spcAft>
                <a:spcPts val="0"/>
              </a:spcAft>
              <a:buNone/>
            </a:pPr>
            <a:r>
              <a:rPr lang="en-US"/>
              <a:t>  "categories": [...],</a:t>
            </a:r>
            <a:endParaRPr/>
          </a:p>
          <a:p>
            <a:pPr indent="0" lvl="0" marL="0" rtl="0" algn="l">
              <a:spcBef>
                <a:spcPts val="0"/>
              </a:spcBef>
              <a:spcAft>
                <a:spcPts val="0"/>
              </a:spcAft>
              <a:buNone/>
            </a:pPr>
            <a:r>
              <a:rPr lang="en-US"/>
              <a:t>  "elements":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"type": "text",</a:t>
            </a:r>
            <a:endParaRPr/>
          </a:p>
          <a:p>
            <a:pPr indent="0" lvl="0" marL="0" rtl="0" algn="l">
              <a:spcBef>
                <a:spcPts val="0"/>
              </a:spcBef>
              <a:spcAft>
                <a:spcPts val="0"/>
              </a:spcAft>
              <a:buNone/>
            </a:pPr>
            <a:r>
              <a:rPr lang="en-US"/>
              <a:t>      "x": 120,</a:t>
            </a:r>
            <a:endParaRPr/>
          </a:p>
          <a:p>
            <a:pPr indent="0" lvl="0" marL="0" rtl="0" algn="l">
              <a:spcBef>
                <a:spcPts val="0"/>
              </a:spcBef>
              <a:spcAft>
                <a:spcPts val="0"/>
              </a:spcAft>
              <a:buNone/>
            </a:pPr>
            <a:r>
              <a:rPr lang="en-US"/>
              <a:t>      "y": 80,</a:t>
            </a:r>
            <a:endParaRPr/>
          </a:p>
          <a:p>
            <a:pPr indent="0" lvl="0" marL="0" rtl="0" algn="l">
              <a:spcBef>
                <a:spcPts val="0"/>
              </a:spcBef>
              <a:spcAft>
                <a:spcPts val="0"/>
              </a:spcAft>
              <a:buNone/>
            </a:pPr>
            <a:r>
              <a:rPr lang="en-US"/>
              <a:t>      "width": 900,</a:t>
            </a:r>
            <a:endParaRPr/>
          </a:p>
          <a:p>
            <a:pPr indent="0" lvl="0" marL="0" rtl="0" algn="l">
              <a:spcBef>
                <a:spcPts val="0"/>
              </a:spcBef>
              <a:spcAft>
                <a:spcPts val="0"/>
              </a:spcAft>
              <a:buNone/>
            </a:pPr>
            <a:r>
              <a:rPr lang="en-US"/>
              <a:t>      "font_size": 28</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"type": "bar",</a:t>
            </a:r>
            <a:endParaRPr/>
          </a:p>
          <a:p>
            <a:pPr indent="0" lvl="0" marL="0" rtl="0" algn="l">
              <a:spcBef>
                <a:spcPts val="0"/>
              </a:spcBef>
              <a:spcAft>
                <a:spcPts val="0"/>
              </a:spcAft>
              <a:buNone/>
            </a:pPr>
            <a:r>
              <a:rPr lang="en-US"/>
              <a:t>      "x": 620,</a:t>
            </a:r>
            <a:endParaRPr/>
          </a:p>
          <a:p>
            <a:pPr indent="0" lvl="0" marL="0" rtl="0" algn="l">
              <a:spcBef>
                <a:spcPts val="0"/>
              </a:spcBef>
              <a:spcAft>
                <a:spcPts val="0"/>
              </a:spcAft>
              <a:buNone/>
            </a:pPr>
            <a:r>
              <a:rPr lang="en-US"/>
              <a:t>      "y": 340,</a:t>
            </a:r>
            <a:endParaRPr/>
          </a:p>
          <a:p>
            <a:pPr indent="0" lvl="0" marL="0" rtl="0" algn="l">
              <a:spcBef>
                <a:spcPts val="0"/>
              </a:spcBef>
              <a:spcAft>
                <a:spcPts val="0"/>
              </a:spcAft>
              <a:buNone/>
            </a:pPr>
            <a:r>
              <a:rPr lang="en-US"/>
              <a:t>      "width": 480,</a:t>
            </a:r>
            <a:endParaRPr/>
          </a:p>
          <a:p>
            <a:pPr indent="0" lvl="0" marL="0" rtl="0" algn="l">
              <a:spcBef>
                <a:spcPts val="0"/>
              </a:spcBef>
              <a:spcAft>
                <a:spcPts val="0"/>
              </a:spcAft>
              <a:buNone/>
            </a:pPr>
            <a:r>
              <a:rPr lang="en-US"/>
              <a:t>      "height": 28,</a:t>
            </a:r>
            <a:endParaRPr/>
          </a:p>
          <a:p>
            <a:pPr indent="0" lvl="0" marL="0" rtl="0" algn="l">
              <a:spcBef>
                <a:spcPts val="0"/>
              </a:spcBef>
              <a:spcAft>
                <a:spcPts val="0"/>
              </a:spcAft>
              <a:buNone/>
            </a:pPr>
            <a:r>
              <a:rPr lang="en-US"/>
              <a:t>      "segments":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t>
            </a:r>
            <a:endParaRPr/>
          </a:p>
        </p:txBody>
      </p:sp>
      <p:sp>
        <p:nvSpPr>
          <p:cNvPr id="343" name="Google Shape;343;p56"/>
          <p:cNvSpPr txBox="1"/>
          <p:nvPr/>
        </p:nvSpPr>
        <p:spPr>
          <a:xfrm>
            <a:off x="4019450" y="3632625"/>
            <a:ext cx="30000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Source figure</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Argon extracts semantic spec</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Deterministic SVG renderer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Compare source and render</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rPr lang="en-US"/>
              <a:t>Structured corrections:</a:t>
            </a:r>
            <a:endParaRPr/>
          </a:p>
          <a:p>
            <a:pPr indent="0" lvl="0" marL="0" rtl="0" algn="l">
              <a:spcBef>
                <a:spcPts val="0"/>
              </a:spcBef>
              <a:spcAft>
                <a:spcPts val="0"/>
              </a:spcAft>
              <a:buNone/>
            </a:pPr>
            <a:r>
              <a:rPr lang="en-US"/>
              <a:t>  values → labels → structure → geometry → styling</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512"/>
        </a:solidFill>
      </p:bgPr>
    </p:bg>
    <p:spTree>
      <p:nvGrpSpPr>
        <p:cNvPr id="348" name="Shape 348"/>
        <p:cNvGrpSpPr/>
        <p:nvPr/>
      </p:nvGrpSpPr>
      <p:grpSpPr>
        <a:xfrm>
          <a:off x="0" y="0"/>
          <a:ext cx="0" cy="0"/>
          <a:chOff x="0" y="0"/>
          <a:chExt cx="0" cy="0"/>
        </a:xfrm>
      </p:grpSpPr>
      <p:sp>
        <p:nvSpPr>
          <p:cNvPr id="349" name="Google Shape;349;p57"/>
          <p:cNvSpPr/>
          <p:nvPr/>
        </p:nvSpPr>
        <p:spPr>
          <a:xfrm>
            <a:off x="0" y="0"/>
            <a:ext cx="12192000" cy="6858000"/>
          </a:xfrm>
          <a:prstGeom prst="rect">
            <a:avLst/>
          </a:prstGeom>
          <a:solidFill>
            <a:srgbClr val="071512"/>
          </a:solidFill>
          <a:ln cap="flat" cmpd="sng" w="9525">
            <a:solidFill>
              <a:srgbClr val="0715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7"/>
          <p:cNvSpPr/>
          <p:nvPr/>
        </p:nvSpPr>
        <p:spPr>
          <a:xfrm>
            <a:off x="609600" y="457200"/>
            <a:ext cx="1095375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F4F8F6"/>
                </a:solidFill>
              </a:rPr>
              <a:t>Medicaid belongs in the routing metadata</a:t>
            </a:r>
            <a:endParaRPr/>
          </a:p>
        </p:txBody>
      </p:sp>
      <p:sp>
        <p:nvSpPr>
          <p:cNvPr id="351" name="Google Shape;351;p57"/>
          <p:cNvSpPr/>
          <p:nvPr/>
        </p:nvSpPr>
        <p:spPr>
          <a:xfrm>
            <a:off x="609600" y="1028700"/>
            <a:ext cx="1047750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75">
                <a:solidFill>
                  <a:srgbClr val="9CB5AD"/>
                </a:solidFill>
              </a:rPr>
              <a:t>One payer spans several document types, each with different retrieval behavior.</a:t>
            </a:r>
            <a:endParaRPr/>
          </a:p>
        </p:txBody>
      </p:sp>
      <p:sp>
        <p:nvSpPr>
          <p:cNvPr id="352" name="Google Shape;352;p57"/>
          <p:cNvSpPr/>
          <p:nvPr/>
        </p:nvSpPr>
        <p:spPr>
          <a:xfrm>
            <a:off x="609600" y="1752600"/>
            <a:ext cx="23812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62E6C0"/>
                </a:solidFill>
              </a:rPr>
              <a:t>PAYER / DOMAIN</a:t>
            </a:r>
            <a:endParaRPr/>
          </a:p>
        </p:txBody>
      </p:sp>
      <p:sp>
        <p:nvSpPr>
          <p:cNvPr id="353" name="Google Shape;353;p57"/>
          <p:cNvSpPr/>
          <p:nvPr/>
        </p:nvSpPr>
        <p:spPr>
          <a:xfrm>
            <a:off x="609600" y="2152650"/>
            <a:ext cx="2238375" cy="1714500"/>
          </a:xfrm>
          <a:prstGeom prst="roundRect">
            <a:avLst>
              <a:gd fmla="val 4444" name="adj"/>
            </a:avLst>
          </a:prstGeom>
          <a:solidFill>
            <a:srgbClr val="12352D"/>
          </a:solidFill>
          <a:ln cap="flat" cmpd="sng" w="19050">
            <a:solidFill>
              <a:srgbClr val="62E6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57"/>
          <p:cNvSpPr/>
          <p:nvPr/>
        </p:nvSpPr>
        <p:spPr>
          <a:xfrm>
            <a:off x="866775" y="2457450"/>
            <a:ext cx="1714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FFFFFF"/>
                </a:solidFill>
              </a:rPr>
              <a:t>Medicaid</a:t>
            </a:r>
            <a:endParaRPr/>
          </a:p>
        </p:txBody>
      </p:sp>
      <p:sp>
        <p:nvSpPr>
          <p:cNvPr id="355" name="Google Shape;355;p57"/>
          <p:cNvSpPr/>
          <p:nvPr/>
        </p:nvSpPr>
        <p:spPr>
          <a:xfrm>
            <a:off x="838200" y="3038475"/>
            <a:ext cx="177165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B7CEC7"/>
                </a:solidFill>
              </a:rPr>
              <a:t>Filter or route by payer</a:t>
            </a:r>
            <a:endParaRPr/>
          </a:p>
        </p:txBody>
      </p:sp>
      <p:cxnSp>
        <p:nvCxnSpPr>
          <p:cNvPr id="356" name="Google Shape;356;p57"/>
          <p:cNvCxnSpPr/>
          <p:nvPr/>
        </p:nvCxnSpPr>
        <p:spPr>
          <a:xfrm>
            <a:off x="3076575" y="3009900"/>
            <a:ext cx="723900" cy="0"/>
          </a:xfrm>
          <a:prstGeom prst="straightConnector1">
            <a:avLst/>
          </a:prstGeom>
          <a:noFill/>
          <a:ln cap="flat" cmpd="sng" w="28575">
            <a:solidFill>
              <a:srgbClr val="62E6C0"/>
            </a:solidFill>
            <a:prstDash val="solid"/>
            <a:round/>
            <a:headEnd len="sm" w="sm" type="none"/>
            <a:tailEnd len="sm" w="sm" type="none"/>
          </a:ln>
        </p:spPr>
      </p:cxnSp>
      <p:sp>
        <p:nvSpPr>
          <p:cNvPr id="357" name="Google Shape;357;p57"/>
          <p:cNvSpPr/>
          <p:nvPr/>
        </p:nvSpPr>
        <p:spPr>
          <a:xfrm>
            <a:off x="3952875" y="1752600"/>
            <a:ext cx="2952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F2B565"/>
                </a:solidFill>
              </a:rPr>
              <a:t>DOCUMENT TYPE</a:t>
            </a:r>
            <a:endParaRPr/>
          </a:p>
        </p:txBody>
      </p:sp>
      <p:sp>
        <p:nvSpPr>
          <p:cNvPr id="358" name="Google Shape;358;p57"/>
          <p:cNvSpPr/>
          <p:nvPr/>
        </p:nvSpPr>
        <p:spPr>
          <a:xfrm>
            <a:off x="3952875" y="2095500"/>
            <a:ext cx="3762375" cy="628650"/>
          </a:xfrm>
          <a:prstGeom prst="roundRect">
            <a:avLst>
              <a:gd fmla="val 12121" name="adj"/>
            </a:avLst>
          </a:prstGeom>
          <a:solidFill>
            <a:srgbClr val="3A2A18"/>
          </a:solidFill>
          <a:ln cap="flat" cmpd="sng" w="14275">
            <a:solidFill>
              <a:srgbClr val="F2B56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7"/>
          <p:cNvSpPr/>
          <p:nvPr/>
        </p:nvSpPr>
        <p:spPr>
          <a:xfrm>
            <a:off x="4171950" y="2190750"/>
            <a:ext cx="14287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FD49A"/>
                </a:solidFill>
              </a:rPr>
              <a:t>Policy</a:t>
            </a:r>
            <a:endParaRPr/>
          </a:p>
        </p:txBody>
      </p:sp>
      <p:sp>
        <p:nvSpPr>
          <p:cNvPr id="360" name="Google Shape;360;p57"/>
          <p:cNvSpPr/>
          <p:nvPr/>
        </p:nvSpPr>
        <p:spPr>
          <a:xfrm>
            <a:off x="5619750" y="2209800"/>
            <a:ext cx="1857375"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50">
                <a:solidFill>
                  <a:srgbClr val="A9BDB7"/>
                </a:solidFill>
              </a:rPr>
              <a:t>Prior authorization criteria</a:t>
            </a:r>
            <a:endParaRPr/>
          </a:p>
        </p:txBody>
      </p:sp>
      <p:sp>
        <p:nvSpPr>
          <p:cNvPr id="361" name="Google Shape;361;p57"/>
          <p:cNvSpPr/>
          <p:nvPr/>
        </p:nvSpPr>
        <p:spPr>
          <a:xfrm>
            <a:off x="3952875" y="2905125"/>
            <a:ext cx="3762375" cy="628650"/>
          </a:xfrm>
          <a:prstGeom prst="roundRect">
            <a:avLst>
              <a:gd fmla="val 12121" name="adj"/>
            </a:avLst>
          </a:prstGeom>
          <a:solidFill>
            <a:srgbClr val="152622"/>
          </a:solidFill>
          <a:ln cap="flat" cmpd="sng" w="14275">
            <a:solidFill>
              <a:srgbClr val="3556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7"/>
          <p:cNvSpPr/>
          <p:nvPr/>
        </p:nvSpPr>
        <p:spPr>
          <a:xfrm>
            <a:off x="4171950" y="3000375"/>
            <a:ext cx="14287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1F5F3"/>
                </a:solidFill>
              </a:rPr>
              <a:t>Forms &amp; directory</a:t>
            </a:r>
            <a:endParaRPr/>
          </a:p>
        </p:txBody>
      </p:sp>
      <p:sp>
        <p:nvSpPr>
          <p:cNvPr id="363" name="Google Shape;363;p57"/>
          <p:cNvSpPr/>
          <p:nvPr/>
        </p:nvSpPr>
        <p:spPr>
          <a:xfrm>
            <a:off x="5619750" y="3019425"/>
            <a:ext cx="1857375"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50">
                <a:solidFill>
                  <a:srgbClr val="A9BDB7"/>
                </a:solidFill>
              </a:rPr>
              <a:t>Applications and provider lists</a:t>
            </a:r>
            <a:endParaRPr/>
          </a:p>
        </p:txBody>
      </p:sp>
      <p:sp>
        <p:nvSpPr>
          <p:cNvPr id="364" name="Google Shape;364;p57"/>
          <p:cNvSpPr/>
          <p:nvPr/>
        </p:nvSpPr>
        <p:spPr>
          <a:xfrm>
            <a:off x="3952875" y="3714750"/>
            <a:ext cx="3762375" cy="628650"/>
          </a:xfrm>
          <a:prstGeom prst="roundRect">
            <a:avLst>
              <a:gd fmla="val 12121" name="adj"/>
            </a:avLst>
          </a:prstGeom>
          <a:solidFill>
            <a:srgbClr val="152622"/>
          </a:solidFill>
          <a:ln cap="flat" cmpd="sng" w="14275">
            <a:solidFill>
              <a:srgbClr val="3556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57"/>
          <p:cNvSpPr/>
          <p:nvPr/>
        </p:nvSpPr>
        <p:spPr>
          <a:xfrm>
            <a:off x="4171950" y="3810000"/>
            <a:ext cx="14287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1F5F3"/>
                </a:solidFill>
              </a:rPr>
              <a:t>Clinical guidance</a:t>
            </a:r>
            <a:endParaRPr/>
          </a:p>
        </p:txBody>
      </p:sp>
      <p:sp>
        <p:nvSpPr>
          <p:cNvPr id="366" name="Google Shape;366;p57"/>
          <p:cNvSpPr/>
          <p:nvPr/>
        </p:nvSpPr>
        <p:spPr>
          <a:xfrm>
            <a:off x="5619750" y="3829050"/>
            <a:ext cx="1857375"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50">
                <a:solidFill>
                  <a:srgbClr val="A9BDB7"/>
                </a:solidFill>
              </a:rPr>
              <a:t>Care and treatment guidance</a:t>
            </a:r>
            <a:endParaRPr/>
          </a:p>
        </p:txBody>
      </p:sp>
      <p:sp>
        <p:nvSpPr>
          <p:cNvPr id="367" name="Google Shape;367;p57"/>
          <p:cNvSpPr/>
          <p:nvPr/>
        </p:nvSpPr>
        <p:spPr>
          <a:xfrm>
            <a:off x="3952875" y="4524375"/>
            <a:ext cx="3762375" cy="628650"/>
          </a:xfrm>
          <a:prstGeom prst="roundRect">
            <a:avLst>
              <a:gd fmla="val 12121" name="adj"/>
            </a:avLst>
          </a:prstGeom>
          <a:solidFill>
            <a:srgbClr val="152622"/>
          </a:solidFill>
          <a:ln cap="flat" cmpd="sng" w="14275">
            <a:solidFill>
              <a:srgbClr val="3556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57"/>
          <p:cNvSpPr/>
          <p:nvPr/>
        </p:nvSpPr>
        <p:spPr>
          <a:xfrm>
            <a:off x="4171950" y="4619625"/>
            <a:ext cx="142875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1F5F3"/>
                </a:solidFill>
              </a:rPr>
              <a:t>Research</a:t>
            </a:r>
            <a:endParaRPr/>
          </a:p>
        </p:txBody>
      </p:sp>
      <p:sp>
        <p:nvSpPr>
          <p:cNvPr id="369" name="Google Shape;369;p57"/>
          <p:cNvSpPr/>
          <p:nvPr/>
        </p:nvSpPr>
        <p:spPr>
          <a:xfrm>
            <a:off x="5619750" y="4638675"/>
            <a:ext cx="1857375"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050">
                <a:solidFill>
                  <a:srgbClr val="A9BDB7"/>
                </a:solidFill>
              </a:rPr>
              <a:t>Studies and evidence</a:t>
            </a:r>
            <a:endParaRPr/>
          </a:p>
        </p:txBody>
      </p:sp>
      <p:sp>
        <p:nvSpPr>
          <p:cNvPr id="370" name="Google Shape;370;p57"/>
          <p:cNvSpPr/>
          <p:nvPr/>
        </p:nvSpPr>
        <p:spPr>
          <a:xfrm>
            <a:off x="8286750" y="1752600"/>
            <a:ext cx="3048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A5C8FF"/>
                </a:solidFill>
              </a:rPr>
              <a:t>ROUTING EXAMPLES</a:t>
            </a:r>
            <a:endParaRPr/>
          </a:p>
        </p:txBody>
      </p:sp>
      <p:sp>
        <p:nvSpPr>
          <p:cNvPr id="371" name="Google Shape;371;p57"/>
          <p:cNvSpPr/>
          <p:nvPr/>
        </p:nvSpPr>
        <p:spPr>
          <a:xfrm>
            <a:off x="8286750" y="2181225"/>
            <a:ext cx="3048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4F8F6"/>
                </a:solidFill>
              </a:rPr>
              <a:t>Kentucky Medicaid PA</a:t>
            </a:r>
            <a:endParaRPr/>
          </a:p>
        </p:txBody>
      </p:sp>
      <p:sp>
        <p:nvSpPr>
          <p:cNvPr id="372" name="Google Shape;372;p57"/>
          <p:cNvSpPr/>
          <p:nvPr/>
        </p:nvSpPr>
        <p:spPr>
          <a:xfrm>
            <a:off x="8286750" y="2505075"/>
            <a:ext cx="30480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25">
                <a:solidFill>
                  <a:srgbClr val="A5C8FF"/>
                </a:solidFill>
              </a:rPr>
              <a:t>Medicaid + policy</a:t>
            </a:r>
            <a:endParaRPr/>
          </a:p>
        </p:txBody>
      </p:sp>
      <p:sp>
        <p:nvSpPr>
          <p:cNvPr id="373" name="Google Shape;373;p57"/>
          <p:cNvSpPr/>
          <p:nvPr/>
        </p:nvSpPr>
        <p:spPr>
          <a:xfrm>
            <a:off x="8286750" y="3133725"/>
            <a:ext cx="3048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4F8F6"/>
                </a:solidFill>
              </a:rPr>
              <a:t>Apply for KY Medicaid</a:t>
            </a:r>
            <a:endParaRPr/>
          </a:p>
        </p:txBody>
      </p:sp>
      <p:sp>
        <p:nvSpPr>
          <p:cNvPr id="374" name="Google Shape;374;p57"/>
          <p:cNvSpPr/>
          <p:nvPr/>
        </p:nvSpPr>
        <p:spPr>
          <a:xfrm>
            <a:off x="8286750" y="3457575"/>
            <a:ext cx="30480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25">
                <a:solidFill>
                  <a:srgbClr val="A5C8FF"/>
                </a:solidFill>
              </a:rPr>
              <a:t>Medicaid + forms</a:t>
            </a:r>
            <a:endParaRPr/>
          </a:p>
        </p:txBody>
      </p:sp>
      <p:sp>
        <p:nvSpPr>
          <p:cNvPr id="375" name="Google Shape;375;p57"/>
          <p:cNvSpPr/>
          <p:nvPr/>
        </p:nvSpPr>
        <p:spPr>
          <a:xfrm>
            <a:off x="8286750" y="4086225"/>
            <a:ext cx="3048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4F8F6"/>
                </a:solidFill>
              </a:rPr>
              <a:t>Adult optical providers</a:t>
            </a:r>
            <a:endParaRPr/>
          </a:p>
        </p:txBody>
      </p:sp>
      <p:sp>
        <p:nvSpPr>
          <p:cNvPr id="376" name="Google Shape;376;p57"/>
          <p:cNvSpPr/>
          <p:nvPr/>
        </p:nvSpPr>
        <p:spPr>
          <a:xfrm>
            <a:off x="8286750" y="4410075"/>
            <a:ext cx="3048000" cy="2476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25">
                <a:solidFill>
                  <a:srgbClr val="A5C8FF"/>
                </a:solidFill>
              </a:rPr>
              <a:t>Medicaid + directory</a:t>
            </a:r>
            <a:endParaRPr/>
          </a:p>
        </p:txBody>
      </p:sp>
      <p:cxnSp>
        <p:nvCxnSpPr>
          <p:cNvPr id="377" name="Google Shape;377;p57"/>
          <p:cNvCxnSpPr/>
          <p:nvPr/>
        </p:nvCxnSpPr>
        <p:spPr>
          <a:xfrm>
            <a:off x="609600" y="5810250"/>
            <a:ext cx="10972800" cy="0"/>
          </a:xfrm>
          <a:prstGeom prst="straightConnector1">
            <a:avLst/>
          </a:prstGeom>
          <a:noFill/>
          <a:ln cap="flat" cmpd="sng" w="9525">
            <a:solidFill>
              <a:srgbClr val="29423C"/>
            </a:solidFill>
            <a:prstDash val="solid"/>
            <a:round/>
            <a:headEnd len="sm" w="sm" type="none"/>
            <a:tailEnd len="sm" w="sm" type="none"/>
          </a:ln>
        </p:spPr>
      </p:cxnSp>
      <p:sp>
        <p:nvSpPr>
          <p:cNvPr id="378" name="Google Shape;378;p57"/>
          <p:cNvSpPr/>
          <p:nvPr/>
        </p:nvSpPr>
        <p:spPr>
          <a:xfrm>
            <a:off x="609600" y="6019800"/>
            <a:ext cx="108585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350">
                <a:solidFill>
                  <a:srgbClr val="FFFFFF"/>
                </a:solidFill>
              </a:rPr>
              <a:t>Recommended architecture: keep one document-type index and attach payer metadata. Add a dedicated Medicaid index only when corpus size or access rules require it.</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71512"/>
        </a:solidFill>
      </p:bgPr>
    </p:bg>
    <p:spTree>
      <p:nvGrpSpPr>
        <p:cNvPr id="383" name="Shape 383"/>
        <p:cNvGrpSpPr/>
        <p:nvPr/>
      </p:nvGrpSpPr>
      <p:grpSpPr>
        <a:xfrm>
          <a:off x="0" y="0"/>
          <a:ext cx="0" cy="0"/>
          <a:chOff x="0" y="0"/>
          <a:chExt cx="0" cy="0"/>
        </a:xfrm>
      </p:grpSpPr>
      <p:sp>
        <p:nvSpPr>
          <p:cNvPr id="384" name="Google Shape;384;p58"/>
          <p:cNvSpPr/>
          <p:nvPr/>
        </p:nvSpPr>
        <p:spPr>
          <a:xfrm>
            <a:off x="609600" y="457200"/>
            <a:ext cx="10668000" cy="457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250">
                <a:solidFill>
                  <a:srgbClr val="F4F8F6"/>
                </a:solidFill>
              </a:rPr>
              <a:t>The six document-type clusters</a:t>
            </a:r>
            <a:endParaRPr/>
          </a:p>
        </p:txBody>
      </p:sp>
      <p:sp>
        <p:nvSpPr>
          <p:cNvPr id="385" name="Google Shape;385;p58"/>
          <p:cNvSpPr/>
          <p:nvPr/>
        </p:nvSpPr>
        <p:spPr>
          <a:xfrm>
            <a:off x="609600" y="1028700"/>
            <a:ext cx="6858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75">
                <a:solidFill>
                  <a:srgbClr val="9CB5AD"/>
                </a:solidFill>
              </a:rPr>
              <a:t>Current reference set: 50 documents</a:t>
            </a:r>
            <a:endParaRPr/>
          </a:p>
        </p:txBody>
      </p:sp>
      <p:sp>
        <p:nvSpPr>
          <p:cNvPr id="386" name="Google Shape;386;p58"/>
          <p:cNvSpPr/>
          <p:nvPr/>
        </p:nvSpPr>
        <p:spPr>
          <a:xfrm>
            <a:off x="609600" y="1800225"/>
            <a:ext cx="76200" cy="400050"/>
          </a:xfrm>
          <a:prstGeom prst="rect">
            <a:avLst/>
          </a:prstGeom>
          <a:solidFill>
            <a:srgbClr val="F2B565"/>
          </a:solidFill>
          <a:ln cap="flat" cmpd="sng" w="9525">
            <a:solidFill>
              <a:srgbClr val="F2B56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58"/>
          <p:cNvSpPr/>
          <p:nvPr/>
        </p:nvSpPr>
        <p:spPr>
          <a:xfrm>
            <a:off x="876300" y="175260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4F8F6"/>
                </a:solidFill>
              </a:rPr>
              <a:t>Policy</a:t>
            </a:r>
            <a:endParaRPr/>
          </a:p>
        </p:txBody>
      </p:sp>
      <p:sp>
        <p:nvSpPr>
          <p:cNvPr id="388" name="Google Shape;388;p58"/>
          <p:cNvSpPr/>
          <p:nvPr/>
        </p:nvSpPr>
        <p:spPr>
          <a:xfrm>
            <a:off x="3390900" y="177165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F2B565"/>
                </a:solidFill>
              </a:rPr>
              <a:t>5 docs</a:t>
            </a:r>
            <a:endParaRPr/>
          </a:p>
        </p:txBody>
      </p:sp>
      <p:sp>
        <p:nvSpPr>
          <p:cNvPr id="389" name="Google Shape;389;p58"/>
          <p:cNvSpPr/>
          <p:nvPr/>
        </p:nvSpPr>
        <p:spPr>
          <a:xfrm>
            <a:off x="609600" y="2409825"/>
            <a:ext cx="76200" cy="400050"/>
          </a:xfrm>
          <a:prstGeom prst="rect">
            <a:avLst/>
          </a:prstGeom>
          <a:solidFill>
            <a:srgbClr val="62E6C0"/>
          </a:solidFill>
          <a:ln cap="flat" cmpd="sng" w="9525">
            <a:solidFill>
              <a:srgbClr val="62E6C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58"/>
          <p:cNvSpPr/>
          <p:nvPr/>
        </p:nvSpPr>
        <p:spPr>
          <a:xfrm>
            <a:off x="876300" y="236220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4F8F6"/>
                </a:solidFill>
              </a:rPr>
              <a:t>Clinical guidance</a:t>
            </a:r>
            <a:endParaRPr/>
          </a:p>
        </p:txBody>
      </p:sp>
      <p:sp>
        <p:nvSpPr>
          <p:cNvPr id="391" name="Google Shape;391;p58"/>
          <p:cNvSpPr/>
          <p:nvPr/>
        </p:nvSpPr>
        <p:spPr>
          <a:xfrm>
            <a:off x="3390900" y="238125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62E6C0"/>
                </a:solidFill>
              </a:rPr>
              <a:t>10 docs</a:t>
            </a:r>
            <a:endParaRPr/>
          </a:p>
        </p:txBody>
      </p:sp>
      <p:sp>
        <p:nvSpPr>
          <p:cNvPr id="392" name="Google Shape;392;p58"/>
          <p:cNvSpPr/>
          <p:nvPr/>
        </p:nvSpPr>
        <p:spPr>
          <a:xfrm>
            <a:off x="609600" y="3019425"/>
            <a:ext cx="76200" cy="400050"/>
          </a:xfrm>
          <a:prstGeom prst="rect">
            <a:avLst/>
          </a:prstGeom>
          <a:solidFill>
            <a:srgbClr val="85C7F2"/>
          </a:solidFill>
          <a:ln cap="flat" cmpd="sng" w="9525">
            <a:solidFill>
              <a:srgbClr val="85C7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58"/>
          <p:cNvSpPr/>
          <p:nvPr/>
        </p:nvSpPr>
        <p:spPr>
          <a:xfrm>
            <a:off x="876300" y="297180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4F8F6"/>
                </a:solidFill>
              </a:rPr>
              <a:t>Population health</a:t>
            </a:r>
            <a:endParaRPr/>
          </a:p>
        </p:txBody>
      </p:sp>
      <p:sp>
        <p:nvSpPr>
          <p:cNvPr id="394" name="Google Shape;394;p58"/>
          <p:cNvSpPr/>
          <p:nvPr/>
        </p:nvSpPr>
        <p:spPr>
          <a:xfrm>
            <a:off x="3390900" y="299085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85C7F2"/>
                </a:solidFill>
              </a:rPr>
              <a:t>7 docs</a:t>
            </a:r>
            <a:endParaRPr/>
          </a:p>
        </p:txBody>
      </p:sp>
      <p:sp>
        <p:nvSpPr>
          <p:cNvPr id="395" name="Google Shape;395;p58"/>
          <p:cNvSpPr/>
          <p:nvPr/>
        </p:nvSpPr>
        <p:spPr>
          <a:xfrm>
            <a:off x="609600" y="3629025"/>
            <a:ext cx="76200" cy="400050"/>
          </a:xfrm>
          <a:prstGeom prst="rect">
            <a:avLst/>
          </a:prstGeom>
          <a:solidFill>
            <a:srgbClr val="C9A7FF"/>
          </a:solidFill>
          <a:ln cap="flat" cmpd="sng" w="9525">
            <a:solidFill>
              <a:srgbClr val="C9A7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58"/>
          <p:cNvSpPr/>
          <p:nvPr/>
        </p:nvSpPr>
        <p:spPr>
          <a:xfrm>
            <a:off x="876300" y="358140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4F8F6"/>
                </a:solidFill>
              </a:rPr>
              <a:t>Benefits research</a:t>
            </a:r>
            <a:endParaRPr/>
          </a:p>
        </p:txBody>
      </p:sp>
      <p:sp>
        <p:nvSpPr>
          <p:cNvPr id="397" name="Google Shape;397;p58"/>
          <p:cNvSpPr/>
          <p:nvPr/>
        </p:nvSpPr>
        <p:spPr>
          <a:xfrm>
            <a:off x="3390900" y="360045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C9A7FF"/>
                </a:solidFill>
              </a:rPr>
              <a:t>7 docs</a:t>
            </a:r>
            <a:endParaRPr/>
          </a:p>
        </p:txBody>
      </p:sp>
      <p:sp>
        <p:nvSpPr>
          <p:cNvPr id="398" name="Google Shape;398;p58"/>
          <p:cNvSpPr/>
          <p:nvPr/>
        </p:nvSpPr>
        <p:spPr>
          <a:xfrm>
            <a:off x="609600" y="4238625"/>
            <a:ext cx="76200" cy="400050"/>
          </a:xfrm>
          <a:prstGeom prst="rect">
            <a:avLst/>
          </a:prstGeom>
          <a:solidFill>
            <a:srgbClr val="FF9E9E"/>
          </a:solidFill>
          <a:ln cap="flat" cmpd="sng" w="9525">
            <a:solidFill>
              <a:srgbClr val="FF9E9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8"/>
          <p:cNvSpPr/>
          <p:nvPr/>
        </p:nvSpPr>
        <p:spPr>
          <a:xfrm>
            <a:off x="876300" y="419100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4F8F6"/>
                </a:solidFill>
              </a:rPr>
              <a:t>Forms &amp; directory</a:t>
            </a:r>
            <a:endParaRPr/>
          </a:p>
        </p:txBody>
      </p:sp>
      <p:sp>
        <p:nvSpPr>
          <p:cNvPr id="400" name="Google Shape;400;p58"/>
          <p:cNvSpPr/>
          <p:nvPr/>
        </p:nvSpPr>
        <p:spPr>
          <a:xfrm>
            <a:off x="3390900" y="421005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FF9E9E"/>
                </a:solidFill>
              </a:rPr>
              <a:t>7 docs</a:t>
            </a:r>
            <a:endParaRPr/>
          </a:p>
        </p:txBody>
      </p:sp>
      <p:sp>
        <p:nvSpPr>
          <p:cNvPr id="401" name="Google Shape;401;p58"/>
          <p:cNvSpPr/>
          <p:nvPr/>
        </p:nvSpPr>
        <p:spPr>
          <a:xfrm>
            <a:off x="609600" y="4848225"/>
            <a:ext cx="76200" cy="400050"/>
          </a:xfrm>
          <a:prstGeom prst="rect">
            <a:avLst/>
          </a:prstGeom>
          <a:solidFill>
            <a:srgbClr val="D2E66A"/>
          </a:solidFill>
          <a:ln cap="flat" cmpd="sng" w="9525">
            <a:solidFill>
              <a:srgbClr val="D2E6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8"/>
          <p:cNvSpPr/>
          <p:nvPr/>
        </p:nvSpPr>
        <p:spPr>
          <a:xfrm>
            <a:off x="876300" y="4800600"/>
            <a:ext cx="2857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F4F8F6"/>
                </a:solidFill>
              </a:rPr>
              <a:t>Research</a:t>
            </a:r>
            <a:endParaRPr/>
          </a:p>
        </p:txBody>
      </p:sp>
      <p:sp>
        <p:nvSpPr>
          <p:cNvPr id="403" name="Google Shape;403;p58"/>
          <p:cNvSpPr/>
          <p:nvPr/>
        </p:nvSpPr>
        <p:spPr>
          <a:xfrm>
            <a:off x="3390900" y="4819650"/>
            <a:ext cx="857250" cy="266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D2E66A"/>
                </a:solidFill>
              </a:rPr>
              <a:t>14 docs</a:t>
            </a:r>
            <a:endParaRPr/>
          </a:p>
        </p:txBody>
      </p:sp>
      <p:cxnSp>
        <p:nvCxnSpPr>
          <p:cNvPr id="404" name="Google Shape;404;p58"/>
          <p:cNvCxnSpPr/>
          <p:nvPr/>
        </p:nvCxnSpPr>
        <p:spPr>
          <a:xfrm>
            <a:off x="4800600" y="1695450"/>
            <a:ext cx="0" cy="3581400"/>
          </a:xfrm>
          <a:prstGeom prst="straightConnector1">
            <a:avLst/>
          </a:prstGeom>
          <a:noFill/>
          <a:ln cap="flat" cmpd="sng" w="14275">
            <a:solidFill>
              <a:srgbClr val="29423C"/>
            </a:solidFill>
            <a:prstDash val="solid"/>
            <a:round/>
            <a:headEnd len="sm" w="sm" type="none"/>
            <a:tailEnd len="sm" w="sm" type="none"/>
          </a:ln>
        </p:spPr>
      </p:cxnSp>
      <p:sp>
        <p:nvSpPr>
          <p:cNvPr id="405" name="Google Shape;405;p58"/>
          <p:cNvSpPr/>
          <p:nvPr/>
        </p:nvSpPr>
        <p:spPr>
          <a:xfrm>
            <a:off x="5410200" y="1752600"/>
            <a:ext cx="59055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175">
                <a:solidFill>
                  <a:srgbClr val="FFFFFF"/>
                </a:solidFill>
              </a:rPr>
              <a:t>Why don’t we make Medicaid a cluster?</a:t>
            </a:r>
            <a:endParaRPr/>
          </a:p>
        </p:txBody>
      </p:sp>
      <p:sp>
        <p:nvSpPr>
          <p:cNvPr id="406" name="Google Shape;406;p58"/>
          <p:cNvSpPr/>
          <p:nvPr/>
        </p:nvSpPr>
        <p:spPr>
          <a:xfrm>
            <a:off x="5410200" y="2571750"/>
            <a:ext cx="5619750" cy="3619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00">
                <a:solidFill>
                  <a:srgbClr val="B7CEC7"/>
                </a:solidFill>
              </a:rPr>
              <a:t>A Medicaid cluster would mix very different material:</a:t>
            </a:r>
            <a:endParaRPr/>
          </a:p>
        </p:txBody>
      </p:sp>
      <p:sp>
        <p:nvSpPr>
          <p:cNvPr id="407" name="Google Shape;407;p58"/>
          <p:cNvSpPr/>
          <p:nvPr/>
        </p:nvSpPr>
        <p:spPr>
          <a:xfrm>
            <a:off x="5410200" y="3114675"/>
            <a:ext cx="15240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050">
                <a:solidFill>
                  <a:srgbClr val="62E6C0"/>
                </a:solidFill>
              </a:rPr>
              <a:t>EXAMPLES</a:t>
            </a:r>
            <a:endParaRPr/>
          </a:p>
        </p:txBody>
      </p:sp>
      <p:sp>
        <p:nvSpPr>
          <p:cNvPr id="408" name="Google Shape;408;p58"/>
          <p:cNvSpPr/>
          <p:nvPr/>
        </p:nvSpPr>
        <p:spPr>
          <a:xfrm>
            <a:off x="5410200" y="3429000"/>
            <a:ext cx="5810250" cy="1428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163">
                <a:solidFill>
                  <a:srgbClr val="F4F8F6"/>
                </a:solidFill>
              </a:rPr>
              <a:t>• Kentucky prior-authorization criteria  →  policy</a:t>
            </a:r>
            <a:endParaRPr/>
          </a:p>
          <a:p>
            <a:pPr indent="0" lvl="0" marL="0" marR="0" rtl="0" algn="l">
              <a:spcBef>
                <a:spcPts val="0"/>
              </a:spcBef>
              <a:spcAft>
                <a:spcPts val="0"/>
              </a:spcAft>
              <a:buNone/>
            </a:pPr>
            <a:r>
              <a:rPr lang="en-US" sz="1163">
                <a:solidFill>
                  <a:srgbClr val="F4F8F6"/>
                </a:solidFill>
              </a:rPr>
              <a:t>• TennCare preferred drug list  →  policy</a:t>
            </a:r>
            <a:endParaRPr/>
          </a:p>
          <a:p>
            <a:pPr indent="0" lvl="0" marL="0" marR="0" rtl="0" algn="l">
              <a:spcBef>
                <a:spcPts val="0"/>
              </a:spcBef>
              <a:spcAft>
                <a:spcPts val="0"/>
              </a:spcAft>
              <a:buNone/>
            </a:pPr>
            <a:r>
              <a:rPr lang="en-US" sz="1163">
                <a:solidFill>
                  <a:srgbClr val="F4F8F6"/>
                </a:solidFill>
              </a:rPr>
              <a:t>• Kentucky Medicaid application  →  forms_directory</a:t>
            </a:r>
            <a:endParaRPr/>
          </a:p>
          <a:p>
            <a:pPr indent="0" lvl="0" marL="0" marR="0" rtl="0" algn="l">
              <a:spcBef>
                <a:spcPts val="0"/>
              </a:spcBef>
              <a:spcAft>
                <a:spcPts val="0"/>
              </a:spcAft>
              <a:buNone/>
            </a:pPr>
            <a:r>
              <a:rPr lang="en-US" sz="1163">
                <a:solidFill>
                  <a:srgbClr val="F4F8F6"/>
                </a:solidFill>
              </a:rPr>
              <a:t>• Washington Medicaid optical providers  →  forms_directory</a:t>
            </a:r>
            <a:endParaRPr/>
          </a:p>
          <a:p>
            <a:pPr indent="0" lvl="0" marL="0" marR="0" rtl="0" algn="l">
              <a:spcBef>
                <a:spcPts val="0"/>
              </a:spcBef>
              <a:spcAft>
                <a:spcPts val="0"/>
              </a:spcAft>
              <a:buNone/>
            </a:pPr>
            <a:r>
              <a:rPr lang="en-US" sz="1163">
                <a:solidFill>
                  <a:srgbClr val="F4F8F6"/>
                </a:solidFill>
              </a:rPr>
              <a:t>• Medicaid utilization research  →  research</a:t>
            </a:r>
            <a:endParaRPr/>
          </a:p>
        </p:txBody>
      </p:sp>
      <p:cxnSp>
        <p:nvCxnSpPr>
          <p:cNvPr id="409" name="Google Shape;409;p58"/>
          <p:cNvCxnSpPr/>
          <p:nvPr/>
        </p:nvCxnSpPr>
        <p:spPr>
          <a:xfrm>
            <a:off x="609600" y="5810250"/>
            <a:ext cx="10972800" cy="0"/>
          </a:xfrm>
          <a:prstGeom prst="straightConnector1">
            <a:avLst/>
          </a:prstGeom>
          <a:noFill/>
          <a:ln cap="flat" cmpd="sng" w="9525">
            <a:solidFill>
              <a:srgbClr val="29423C"/>
            </a:solidFill>
            <a:prstDash val="solid"/>
            <a:round/>
            <a:headEnd len="sm" w="sm" type="none"/>
            <a:tailEnd len="sm" w="sm" type="none"/>
          </a:ln>
        </p:spPr>
      </p:cxnSp>
      <p:sp>
        <p:nvSpPr>
          <p:cNvPr id="410" name="Google Shape;410;p58"/>
          <p:cNvSpPr/>
          <p:nvPr/>
        </p:nvSpPr>
        <p:spPr>
          <a:xfrm>
            <a:off x="609600" y="6048375"/>
            <a:ext cx="10858500"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575">
                <a:solidFill>
                  <a:srgbClr val="62E6C0"/>
                </a:solidFill>
              </a:rPr>
              <a:t>Use Medicaid as a payer filter, then route by document type.</a:t>
            </a:r>
            <a:endParaRPr/>
          </a:p>
        </p:txBody>
      </p:sp>
      <p:sp>
        <p:nvSpPr>
          <p:cNvPr id="411" name="Google Shape;411;p58"/>
          <p:cNvSpPr/>
          <p:nvPr/>
        </p:nvSpPr>
        <p:spPr>
          <a:xfrm>
            <a:off x="5410200" y="5000625"/>
            <a:ext cx="5810250" cy="552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F2B565"/>
                </a:solidFill>
              </a:rPr>
              <a:t>Putting everything into one Medicaid cluster could reduce retrieval precision.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59"/>
          <p:cNvPicPr preferRelativeResize="0"/>
          <p:nvPr/>
        </p:nvPicPr>
        <p:blipFill>
          <a:blip r:embed="rId3">
            <a:alphaModFix/>
          </a:blip>
          <a:stretch>
            <a:fillRect/>
          </a:stretch>
        </p:blipFill>
        <p:spPr>
          <a:xfrm>
            <a:off x="152400" y="1079900"/>
            <a:ext cx="11619876" cy="5625699"/>
          </a:xfrm>
          <a:prstGeom prst="rect">
            <a:avLst/>
          </a:prstGeom>
          <a:noFill/>
          <a:ln>
            <a:noFill/>
          </a:ln>
        </p:spPr>
      </p:pic>
      <p:sp>
        <p:nvSpPr>
          <p:cNvPr id="418" name="Google Shape;418;p59"/>
          <p:cNvSpPr txBox="1"/>
          <p:nvPr/>
        </p:nvSpPr>
        <p:spPr>
          <a:xfrm>
            <a:off x="445325" y="322850"/>
            <a:ext cx="6412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a:solidFill>
                  <a:schemeClr val="dk1"/>
                </a:solidFill>
              </a:rPr>
              <a:t>Agent Memory</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	Why? Store the prompt, store </a:t>
            </a:r>
            <a:r>
              <a:rPr lang="en-US" u="sng">
                <a:solidFill>
                  <a:schemeClr val="hlink"/>
                </a:solidFill>
                <a:hlinkClick r:id="rId4"/>
              </a:rPr>
              <a:t>skills.md</a:t>
            </a:r>
            <a:r>
              <a:rPr lang="en-US">
                <a:solidFill>
                  <a:schemeClr val="dk1"/>
                </a:solidFill>
              </a:rPr>
              <a:t>, </a:t>
            </a:r>
            <a:r>
              <a:rPr lang="en-US" u="sng">
                <a:solidFill>
                  <a:schemeClr val="hlink"/>
                </a:solidFill>
                <a:hlinkClick r:id="rId5"/>
              </a:rPr>
              <a:t>user.md</a:t>
            </a:r>
            <a:r>
              <a:rPr lang="en-US">
                <a:solidFill>
                  <a:schemeClr val="dk1"/>
                </a:solidFill>
              </a:rPr>
              <a:t>, </a:t>
            </a:r>
            <a:r>
              <a:rPr lang="en-US" u="sng">
                <a:solidFill>
                  <a:schemeClr val="hlink"/>
                </a:solidFill>
                <a:hlinkClick r:id="rId6"/>
              </a:rPr>
              <a:t>xx.md</a:t>
            </a:r>
            <a:r>
              <a:rPr lang="en-US">
                <a:solidFill>
                  <a:schemeClr val="dk1"/>
                </a:solidFill>
              </a:rPr>
              <a:t>,  store RAG chunks, all of these have different memory requirements.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60"/>
          <p:cNvPicPr preferRelativeResize="0"/>
          <p:nvPr/>
        </p:nvPicPr>
        <p:blipFill>
          <a:blip r:embed="rId3">
            <a:alphaModFix/>
          </a:blip>
          <a:stretch>
            <a:fillRect/>
          </a:stretch>
        </p:blipFill>
        <p:spPr>
          <a:xfrm>
            <a:off x="152400" y="152400"/>
            <a:ext cx="11887201" cy="5060349"/>
          </a:xfrm>
          <a:prstGeom prst="rect">
            <a:avLst/>
          </a:prstGeom>
          <a:noFill/>
          <a:ln>
            <a:noFill/>
          </a:ln>
        </p:spPr>
      </p:pic>
      <p:sp>
        <p:nvSpPr>
          <p:cNvPr id="425" name="Google Shape;425;p60"/>
          <p:cNvSpPr txBox="1"/>
          <p:nvPr/>
        </p:nvSpPr>
        <p:spPr>
          <a:xfrm>
            <a:off x="3890600" y="5787125"/>
            <a:ext cx="62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All the .md files take up context memory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id="431" name="Google Shape;431;p61"/>
          <p:cNvPicPr preferRelativeResize="0"/>
          <p:nvPr/>
        </p:nvPicPr>
        <p:blipFill>
          <a:blip r:embed="rId3">
            <a:alphaModFix/>
          </a:blip>
          <a:stretch>
            <a:fillRect/>
          </a:stretch>
        </p:blipFill>
        <p:spPr>
          <a:xfrm>
            <a:off x="152400" y="152400"/>
            <a:ext cx="11887201" cy="5472175"/>
          </a:xfrm>
          <a:prstGeom prst="rect">
            <a:avLst/>
          </a:prstGeom>
          <a:noFill/>
          <a:ln>
            <a:noFill/>
          </a:ln>
        </p:spPr>
      </p:pic>
      <p:sp>
        <p:nvSpPr>
          <p:cNvPr id="432" name="Google Shape;432;p61"/>
          <p:cNvSpPr txBox="1"/>
          <p:nvPr/>
        </p:nvSpPr>
        <p:spPr>
          <a:xfrm>
            <a:off x="3912275" y="6198950"/>
            <a:ext cx="624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RAG systems select data from documents not crawled by bots and add to context window. Can fine tune into model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pic>
        <p:nvPicPr>
          <p:cNvPr id="438" name="Google Shape;438;p62"/>
          <p:cNvPicPr preferRelativeResize="0"/>
          <p:nvPr/>
        </p:nvPicPr>
        <p:blipFill>
          <a:blip r:embed="rId3">
            <a:alphaModFix/>
          </a:blip>
          <a:stretch>
            <a:fillRect/>
          </a:stretch>
        </p:blipFill>
        <p:spPr>
          <a:xfrm>
            <a:off x="152400" y="152400"/>
            <a:ext cx="11887201" cy="5244600"/>
          </a:xfrm>
          <a:prstGeom prst="rect">
            <a:avLst/>
          </a:prstGeom>
          <a:noFill/>
          <a:ln>
            <a:noFill/>
          </a:ln>
        </p:spPr>
      </p:pic>
      <p:sp>
        <p:nvSpPr>
          <p:cNvPr id="439" name="Google Shape;439;p62"/>
          <p:cNvSpPr txBox="1"/>
          <p:nvPr/>
        </p:nvSpPr>
        <p:spPr>
          <a:xfrm>
            <a:off x="5689600" y="6068900"/>
            <a:ext cx="6242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Logs, records traces. path of agent.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pic>
        <p:nvPicPr>
          <p:cNvPr id="445" name="Google Shape;445;p63"/>
          <p:cNvPicPr preferRelativeResize="0"/>
          <p:nvPr/>
        </p:nvPicPr>
        <p:blipFill>
          <a:blip r:embed="rId3">
            <a:alphaModFix/>
          </a:blip>
          <a:stretch>
            <a:fillRect/>
          </a:stretch>
        </p:blipFill>
        <p:spPr>
          <a:xfrm>
            <a:off x="152400" y="152400"/>
            <a:ext cx="11814221" cy="655320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pic>
        <p:nvPicPr>
          <p:cNvPr id="451" name="Google Shape;451;p64" title="context_window_filling.png"/>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pic>
        <p:nvPicPr>
          <p:cNvPr id="457" name="Google Shape;457;p65"/>
          <p:cNvPicPr preferRelativeResize="0"/>
          <p:nvPr/>
        </p:nvPicPr>
        <p:blipFill>
          <a:blip r:embed="rId3">
            <a:alphaModFix/>
          </a:blip>
          <a:stretch>
            <a:fillRect/>
          </a:stretch>
        </p:blipFill>
        <p:spPr>
          <a:xfrm>
            <a:off x="152400" y="152400"/>
            <a:ext cx="11953024" cy="66126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6"/>
          <p:cNvSpPr txBox="1"/>
          <p:nvPr/>
        </p:nvSpPr>
        <p:spPr>
          <a:xfrm>
            <a:off x="371700" y="1189475"/>
            <a:ext cx="7136700" cy="508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Not all tokens used</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US" sz="1500">
                <a:solidFill>
                  <a:schemeClr val="dk1"/>
                </a:solidFill>
              </a:rPr>
              <a:t>Horizontal axis:</a:t>
            </a:r>
            <a:r>
              <a:rPr lang="en-US" sz="1500">
                <a:solidFill>
                  <a:schemeClr val="dk1"/>
                </a:solidFill>
              </a:rPr>
              <a:t> context length, from 1,000 to 200,000 tokens.</a:t>
            </a:r>
            <a:endParaRPr sz="1500">
              <a:solidFill>
                <a:schemeClr val="dk1"/>
              </a:solidFill>
            </a:endParaRPr>
          </a:p>
          <a:p>
            <a:pPr indent="0" lvl="0" marL="0" rtl="0" algn="l">
              <a:spcBef>
                <a:spcPts val="0"/>
              </a:spcBef>
              <a:spcAft>
                <a:spcPts val="0"/>
              </a:spcAft>
              <a:buClr>
                <a:schemeClr val="dk1"/>
              </a:buClr>
              <a:buSzPts val="1100"/>
              <a:buFont typeface="Arial"/>
              <a:buNone/>
            </a:pPr>
            <a:r>
              <a:rPr b="1" lang="en-US" sz="1500">
                <a:solidFill>
                  <a:schemeClr val="dk1"/>
                </a:solidFill>
              </a:rPr>
              <a:t>Vertical axis:</a:t>
            </a:r>
            <a:r>
              <a:rPr lang="en-US" sz="1500">
                <a:solidFill>
                  <a:schemeClr val="dk1"/>
                </a:solidFill>
              </a:rPr>
              <a:t> where the hidden fact—the “needle”—was placed in the document.</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US" sz="1500">
                <a:solidFill>
                  <a:schemeClr val="dk1"/>
                </a:solidFill>
              </a:rPr>
              <a:t>Top = beginning of the prompt.</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US" sz="1500">
                <a:solidFill>
                  <a:schemeClr val="dk1"/>
                </a:solidFill>
              </a:rPr>
              <a:t>Bottom = end of the prompt.</a:t>
            </a:r>
            <a:endParaRPr sz="1500">
              <a:solidFill>
                <a:schemeClr val="dk1"/>
              </a:solidFill>
            </a:endParaRPr>
          </a:p>
          <a:p>
            <a:pPr indent="0" lvl="0" marL="0" rtl="0" algn="l">
              <a:lnSpc>
                <a:spcPct val="115000"/>
              </a:lnSpc>
              <a:spcBef>
                <a:spcPts val="1200"/>
              </a:spcBef>
              <a:spcAft>
                <a:spcPts val="0"/>
              </a:spcAft>
              <a:buNone/>
            </a:pPr>
            <a:r>
              <a:rPr b="1" lang="en-US" sz="1500">
                <a:solidFill>
                  <a:schemeClr val="dk1"/>
                </a:solidFill>
              </a:rPr>
              <a:t>Green:</a:t>
            </a:r>
            <a:r>
              <a:rPr lang="en-US" sz="1500">
                <a:solidFill>
                  <a:schemeClr val="dk1"/>
                </a:solidFill>
              </a:rPr>
              <a:t> the model retrieved the fact correctly.</a:t>
            </a:r>
            <a:endParaRPr sz="1500">
              <a:solidFill>
                <a:schemeClr val="dk1"/>
              </a:solidFill>
            </a:endParaRPr>
          </a:p>
          <a:p>
            <a:pPr indent="0" lvl="0" marL="0" rtl="0" algn="l">
              <a:lnSpc>
                <a:spcPct val="115000"/>
              </a:lnSpc>
              <a:spcBef>
                <a:spcPts val="1200"/>
              </a:spcBef>
              <a:spcAft>
                <a:spcPts val="0"/>
              </a:spcAft>
              <a:buNone/>
            </a:pPr>
            <a:r>
              <a:rPr b="1" lang="en-US" sz="1500">
                <a:solidFill>
                  <a:schemeClr val="dk1"/>
                </a:solidFill>
              </a:rPr>
              <a:t>Yellow:</a:t>
            </a:r>
            <a:r>
              <a:rPr lang="en-US" sz="1500">
                <a:solidFill>
                  <a:schemeClr val="dk1"/>
                </a:solidFill>
              </a:rPr>
              <a:t> partial accuracy.</a:t>
            </a:r>
            <a:endParaRPr sz="1500">
              <a:solidFill>
                <a:schemeClr val="dk1"/>
              </a:solidFill>
            </a:endParaRPr>
          </a:p>
          <a:p>
            <a:pPr indent="0" lvl="0" marL="0" rtl="0" algn="l">
              <a:lnSpc>
                <a:spcPct val="115000"/>
              </a:lnSpc>
              <a:spcBef>
                <a:spcPts val="1200"/>
              </a:spcBef>
              <a:spcAft>
                <a:spcPts val="0"/>
              </a:spcAft>
              <a:buNone/>
            </a:pPr>
            <a:r>
              <a:rPr b="1" lang="en-US" sz="1500">
                <a:solidFill>
                  <a:schemeClr val="dk1"/>
                </a:solidFill>
              </a:rPr>
              <a:t>Pink:</a:t>
            </a:r>
            <a:r>
              <a:rPr lang="en-US" sz="1500">
                <a:solidFill>
                  <a:schemeClr val="dk1"/>
                </a:solidFill>
              </a:rPr>
              <a:t> retrieval failed.</a:t>
            </a:r>
            <a:endParaRPr sz="1500">
              <a:solidFill>
                <a:schemeClr val="dk1"/>
              </a:solidFill>
            </a:endParaRPr>
          </a:p>
          <a:p>
            <a:pPr indent="0" lvl="0" marL="0" rtl="0" algn="l">
              <a:lnSpc>
                <a:spcPct val="115000"/>
              </a:lnSpc>
              <a:spcBef>
                <a:spcPts val="1200"/>
              </a:spcBef>
              <a:spcAft>
                <a:spcPts val="0"/>
              </a:spcAft>
              <a:buNone/>
            </a:pPr>
            <a:r>
              <a:t/>
            </a:r>
            <a:endParaRPr sz="1500">
              <a:solidFill>
                <a:schemeClr val="dk1"/>
              </a:solidFill>
            </a:endParaRPr>
          </a:p>
          <a:p>
            <a:pPr indent="0" lvl="0" marL="0" rtl="0" algn="l">
              <a:lnSpc>
                <a:spcPct val="115000"/>
              </a:lnSpc>
              <a:spcBef>
                <a:spcPts val="1200"/>
              </a:spcBef>
              <a:spcAft>
                <a:spcPts val="0"/>
              </a:spcAft>
              <a:buNone/>
            </a:pPr>
            <a:r>
              <a:rPr b="1" lang="en-US" sz="1500">
                <a:solidFill>
                  <a:schemeClr val="dk1"/>
                </a:solidFill>
              </a:rPr>
              <a:t>RAG:</a:t>
            </a:r>
            <a:endParaRPr b="1" sz="15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500">
                <a:solidFill>
                  <a:schemeClr val="dk1"/>
                </a:solidFill>
              </a:rPr>
              <a:t>Retrieving more documents &lt;&lt;&lt; Giving the LLM a better answer context</a:t>
            </a:r>
            <a:endParaRPr b="1" sz="1500">
              <a:solidFill>
                <a:schemeClr val="dk1"/>
              </a:solidFill>
            </a:endParaRPr>
          </a:p>
          <a:p>
            <a:pPr indent="0" lvl="0" marL="0" rtl="0" algn="l">
              <a:lnSpc>
                <a:spcPct val="115000"/>
              </a:lnSpc>
              <a:spcBef>
                <a:spcPts val="1200"/>
              </a:spcBef>
              <a:spcAft>
                <a:spcPts val="0"/>
              </a:spcAft>
              <a:buNone/>
            </a:pPr>
            <a:r>
              <a:t/>
            </a:r>
            <a:endParaRPr sz="1500">
              <a:solidFill>
                <a:schemeClr val="dk1"/>
              </a:solidFill>
            </a:endParaRPr>
          </a:p>
          <a:p>
            <a:pPr indent="0" lvl="0" marL="0" rtl="0" algn="l">
              <a:spcBef>
                <a:spcPts val="1200"/>
              </a:spcBef>
              <a:spcAft>
                <a:spcPts val="0"/>
              </a:spcAft>
              <a:buNone/>
            </a:pPr>
            <a:r>
              <a:t/>
            </a:r>
            <a:endParaRPr sz="1500">
              <a:solidFill>
                <a:schemeClr val="dk1"/>
              </a:solidFill>
            </a:endParaRPr>
          </a:p>
        </p:txBody>
      </p:sp>
      <p:sp>
        <p:nvSpPr>
          <p:cNvPr id="464" name="Google Shape;464;p66"/>
          <p:cNvSpPr txBox="1"/>
          <p:nvPr/>
        </p:nvSpPr>
        <p:spPr>
          <a:xfrm>
            <a:off x="8388200" y="1722250"/>
            <a:ext cx="3828600" cy="180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300">
                <a:solidFill>
                  <a:schemeClr val="dk1"/>
                </a:solidFill>
              </a:rPr>
              <a:t>DOTTED LINE</a:t>
            </a:r>
            <a:endParaRPr b="1"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Clr>
                <a:schemeClr val="dk1"/>
              </a:buClr>
              <a:buSzPts val="1100"/>
              <a:buFont typeface="Arial"/>
              <a:buNone/>
            </a:pPr>
            <a:r>
              <a:rPr lang="en-US" sz="1300">
                <a:solidFill>
                  <a:schemeClr val="dk1"/>
                </a:solidFill>
              </a:rPr>
              <a:t>Context lengths are roughly </a:t>
            </a:r>
            <a:r>
              <a:rPr b="1" lang="en-US" sz="1300">
                <a:solidFill>
                  <a:schemeClr val="dk1"/>
                </a:solidFill>
              </a:rPr>
              <a:t>83K–200K tokens</a:t>
            </a:r>
            <a:r>
              <a:rPr lang="en-US" sz="1300">
                <a:solidFill>
                  <a:schemeClr val="dk1"/>
                </a:solidFill>
              </a:rPr>
              <a:t>.</a:t>
            </a:r>
            <a:endParaRPr sz="1300">
              <a:solidFill>
                <a:schemeClr val="dk1"/>
              </a:solidFill>
            </a:endParaRPr>
          </a:p>
          <a:p>
            <a:pPr indent="0" lvl="0" marL="0" rtl="0" algn="l">
              <a:spcBef>
                <a:spcPts val="0"/>
              </a:spcBef>
              <a:spcAft>
                <a:spcPts val="0"/>
              </a:spcAft>
              <a:buClr>
                <a:schemeClr val="dk1"/>
              </a:buClr>
              <a:buSzPts val="1100"/>
              <a:buFont typeface="Arial"/>
              <a:buNone/>
            </a:pPr>
            <a:r>
              <a:rPr lang="en-US" sz="1300">
                <a:solidFill>
                  <a:schemeClr val="dk1"/>
                </a:solidFill>
              </a:rPr>
              <a:t>Most cells are pink, indicating </a:t>
            </a:r>
            <a:r>
              <a:rPr b="1" lang="en-US" sz="1300">
                <a:solidFill>
                  <a:schemeClr val="dk1"/>
                </a:solidFill>
              </a:rPr>
              <a:t>0% retrieval accuracy</a:t>
            </a:r>
            <a:r>
              <a:rPr lang="en-US" sz="1300">
                <a:solidFill>
                  <a:schemeClr val="dk1"/>
                </a:solidFill>
              </a:rPr>
              <a:t>.</a:t>
            </a:r>
            <a:endParaRPr sz="1300">
              <a:solidFill>
                <a:schemeClr val="dk1"/>
              </a:solidFill>
            </a:endParaRPr>
          </a:p>
          <a:p>
            <a:pPr indent="0" lvl="0" marL="0" rtl="0" algn="l">
              <a:spcBef>
                <a:spcPts val="0"/>
              </a:spcBef>
              <a:spcAft>
                <a:spcPts val="0"/>
              </a:spcAft>
              <a:buClr>
                <a:schemeClr val="dk1"/>
              </a:buClr>
              <a:buSzPts val="1100"/>
              <a:buFont typeface="Arial"/>
              <a:buNone/>
            </a:pPr>
            <a:r>
              <a:rPr lang="en-US" sz="1300">
                <a:solidFill>
                  <a:schemeClr val="dk1"/>
                </a:solidFill>
              </a:rPr>
              <a:t>The diagonal boundary expands downward as context length increases.</a:t>
            </a:r>
            <a:endParaRPr sz="1300">
              <a:solidFill>
                <a:schemeClr val="dk1"/>
              </a:solidFill>
            </a:endParaRPr>
          </a:p>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pic>
        <p:nvPicPr>
          <p:cNvPr id="470" name="Google Shape;470;p67"/>
          <p:cNvPicPr preferRelativeResize="0"/>
          <p:nvPr/>
        </p:nvPicPr>
        <p:blipFill>
          <a:blip r:embed="rId3">
            <a:alphaModFix/>
          </a:blip>
          <a:stretch>
            <a:fillRect/>
          </a:stretch>
        </p:blipFill>
        <p:spPr>
          <a:xfrm>
            <a:off x="152400" y="152400"/>
            <a:ext cx="11650135" cy="6553201"/>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68"/>
          <p:cNvPicPr preferRelativeResize="0"/>
          <p:nvPr/>
        </p:nvPicPr>
        <p:blipFill>
          <a:blip r:embed="rId3">
            <a:alphaModFix/>
          </a:blip>
          <a:stretch>
            <a:fillRect/>
          </a:stretch>
        </p:blipFill>
        <p:spPr>
          <a:xfrm>
            <a:off x="152400" y="152400"/>
            <a:ext cx="6507756" cy="655320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id="482" name="Google Shape;482;p69"/>
          <p:cNvPicPr preferRelativeResize="0"/>
          <p:nvPr/>
        </p:nvPicPr>
        <p:blipFill>
          <a:blip r:embed="rId3">
            <a:alphaModFix/>
          </a:blip>
          <a:stretch>
            <a:fillRect/>
          </a:stretch>
        </p:blipFill>
        <p:spPr>
          <a:xfrm>
            <a:off x="876000" y="228000"/>
            <a:ext cx="6842313" cy="655320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70"/>
          <p:cNvSpPr txBox="1"/>
          <p:nvPr/>
        </p:nvSpPr>
        <p:spPr>
          <a:xfrm>
            <a:off x="1144800" y="367200"/>
            <a:ext cx="6220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Turn on multiquery when you have a </a:t>
            </a:r>
            <a:r>
              <a:rPr lang="en-US"/>
              <a:t>retrieval</a:t>
            </a:r>
            <a:r>
              <a:rPr lang="en-US"/>
              <a:t> </a:t>
            </a:r>
            <a:r>
              <a:rPr lang="en-US"/>
              <a:t>error. Cant get the right chunk</a:t>
            </a:r>
            <a:endParaRPr/>
          </a:p>
          <a:p>
            <a:pPr indent="0" lvl="0" marL="0" rtl="0" algn="l">
              <a:spcBef>
                <a:spcPts val="0"/>
              </a:spcBef>
              <a:spcAft>
                <a:spcPts val="0"/>
              </a:spcAft>
              <a:buNone/>
            </a:pPr>
            <a:r>
              <a:rPr lang="en-US"/>
              <a:t>Turn on CRAG when have retrieval error</a:t>
            </a:r>
            <a:endParaRPr/>
          </a:p>
          <a:p>
            <a:pPr indent="0" lvl="0" marL="0" rtl="0" algn="l">
              <a:spcBef>
                <a:spcPts val="0"/>
              </a:spcBef>
              <a:spcAft>
                <a:spcPts val="0"/>
              </a:spcAft>
              <a:buNone/>
            </a:pPr>
            <a:r>
              <a:rPr lang="en-US"/>
              <a:t>Turn on KIND</a:t>
            </a:r>
            <a:endParaRPr/>
          </a:p>
        </p:txBody>
      </p:sp>
      <p:pic>
        <p:nvPicPr>
          <p:cNvPr id="489" name="Google Shape;489;p70" title="Screenshot 2026-10-16 at 6.26.57 AM.png"/>
          <p:cNvPicPr preferRelativeResize="0"/>
          <p:nvPr/>
        </p:nvPicPr>
        <p:blipFill>
          <a:blip r:embed="rId3">
            <a:alphaModFix/>
          </a:blip>
          <a:stretch>
            <a:fillRect/>
          </a:stretch>
        </p:blipFill>
        <p:spPr>
          <a:xfrm>
            <a:off x="735600" y="1558750"/>
            <a:ext cx="4392002" cy="5299241"/>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71"/>
          <p:cNvPicPr preferRelativeResize="0"/>
          <p:nvPr/>
        </p:nvPicPr>
        <p:blipFill>
          <a:blip r:embed="rId3">
            <a:alphaModFix/>
          </a:blip>
          <a:stretch>
            <a:fillRect/>
          </a:stretch>
        </p:blipFill>
        <p:spPr>
          <a:xfrm>
            <a:off x="152400" y="152400"/>
            <a:ext cx="6355705" cy="6553199"/>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72"/>
          <p:cNvSpPr txBox="1"/>
          <p:nvPr/>
        </p:nvSpPr>
        <p:spPr>
          <a:xfrm>
            <a:off x="3906550" y="105075"/>
            <a:ext cx="550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Agentic Search </a:t>
            </a:r>
            <a:endParaRPr/>
          </a:p>
          <a:p>
            <a:pPr indent="0" lvl="0" marL="0" rtl="0" algn="l">
              <a:spcBef>
                <a:spcPts val="0"/>
              </a:spcBef>
              <a:spcAft>
                <a:spcPts val="0"/>
              </a:spcAft>
              <a:buNone/>
            </a:pPr>
            <a:r>
              <a:t/>
            </a:r>
            <a:endParaRPr/>
          </a:p>
        </p:txBody>
      </p:sp>
      <p:pic>
        <p:nvPicPr>
          <p:cNvPr id="502" name="Google Shape;502;p72"/>
          <p:cNvPicPr preferRelativeResize="0"/>
          <p:nvPr/>
        </p:nvPicPr>
        <p:blipFill>
          <a:blip r:embed="rId3">
            <a:alphaModFix/>
          </a:blip>
          <a:stretch>
            <a:fillRect/>
          </a:stretch>
        </p:blipFill>
        <p:spPr>
          <a:xfrm>
            <a:off x="152400" y="873075"/>
            <a:ext cx="11887200" cy="554736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pic>
        <p:nvPicPr>
          <p:cNvPr id="508" name="Google Shape;508;p73"/>
          <p:cNvPicPr preferRelativeResize="0"/>
          <p:nvPr/>
        </p:nvPicPr>
        <p:blipFill>
          <a:blip r:embed="rId3">
            <a:alphaModFix/>
          </a:blip>
          <a:stretch>
            <a:fillRect/>
          </a:stretch>
        </p:blipFill>
        <p:spPr>
          <a:xfrm>
            <a:off x="152400" y="152400"/>
            <a:ext cx="6739325" cy="655319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pic>
        <p:nvPicPr>
          <p:cNvPr id="514" name="Google Shape;514;p74"/>
          <p:cNvPicPr preferRelativeResize="0"/>
          <p:nvPr/>
        </p:nvPicPr>
        <p:blipFill>
          <a:blip r:embed="rId3">
            <a:alphaModFix/>
          </a:blip>
          <a:stretch>
            <a:fillRect/>
          </a:stretch>
        </p:blipFill>
        <p:spPr>
          <a:xfrm>
            <a:off x="152400" y="152400"/>
            <a:ext cx="5693763" cy="6553199"/>
          </a:xfrm>
          <a:prstGeom prst="rect">
            <a:avLst/>
          </a:prstGeom>
          <a:noFill/>
          <a:ln>
            <a:noFill/>
          </a:ln>
        </p:spPr>
      </p:pic>
      <p:pic>
        <p:nvPicPr>
          <p:cNvPr id="515" name="Google Shape;515;p74"/>
          <p:cNvPicPr preferRelativeResize="0"/>
          <p:nvPr/>
        </p:nvPicPr>
        <p:blipFill>
          <a:blip r:embed="rId4">
            <a:alphaModFix/>
          </a:blip>
          <a:stretch>
            <a:fillRect/>
          </a:stretch>
        </p:blipFill>
        <p:spPr>
          <a:xfrm>
            <a:off x="5998563" y="152400"/>
            <a:ext cx="6041036" cy="517558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pic>
        <p:nvPicPr>
          <p:cNvPr id="521" name="Google Shape;521;p75"/>
          <p:cNvPicPr preferRelativeResize="0"/>
          <p:nvPr/>
        </p:nvPicPr>
        <p:blipFill>
          <a:blip r:embed="rId3">
            <a:alphaModFix/>
          </a:blip>
          <a:stretch>
            <a:fillRect/>
          </a:stretch>
        </p:blipFill>
        <p:spPr>
          <a:xfrm>
            <a:off x="152400" y="152400"/>
            <a:ext cx="8948144" cy="65531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76"/>
          <p:cNvPicPr preferRelativeResize="0"/>
          <p:nvPr/>
        </p:nvPicPr>
        <p:blipFill>
          <a:blip r:embed="rId3">
            <a:alphaModFix/>
          </a:blip>
          <a:stretch>
            <a:fillRect/>
          </a:stretch>
        </p:blipFill>
        <p:spPr>
          <a:xfrm>
            <a:off x="152400" y="152400"/>
            <a:ext cx="7768438" cy="655320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pic>
        <p:nvPicPr>
          <p:cNvPr id="533" name="Google Shape;533;p77"/>
          <p:cNvPicPr preferRelativeResize="0"/>
          <p:nvPr/>
        </p:nvPicPr>
        <p:blipFill>
          <a:blip r:embed="rId3">
            <a:alphaModFix/>
          </a:blip>
          <a:stretch>
            <a:fillRect/>
          </a:stretch>
        </p:blipFill>
        <p:spPr>
          <a:xfrm>
            <a:off x="152400" y="152400"/>
            <a:ext cx="5873154" cy="6553203"/>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id="539" name="Google Shape;539;p78"/>
          <p:cNvPicPr preferRelativeResize="0"/>
          <p:nvPr/>
        </p:nvPicPr>
        <p:blipFill>
          <a:blip r:embed="rId3">
            <a:alphaModFix/>
          </a:blip>
          <a:stretch>
            <a:fillRect/>
          </a:stretch>
        </p:blipFill>
        <p:spPr>
          <a:xfrm>
            <a:off x="152400" y="152400"/>
            <a:ext cx="6998561" cy="655319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pic>
        <p:nvPicPr>
          <p:cNvPr id="545" name="Google Shape;545;p79"/>
          <p:cNvPicPr preferRelativeResize="0"/>
          <p:nvPr/>
        </p:nvPicPr>
        <p:blipFill>
          <a:blip r:embed="rId3">
            <a:alphaModFix/>
          </a:blip>
          <a:stretch>
            <a:fillRect/>
          </a:stretch>
        </p:blipFill>
        <p:spPr>
          <a:xfrm>
            <a:off x="152400" y="152400"/>
            <a:ext cx="6864299" cy="655319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80"/>
          <p:cNvPicPr preferRelativeResize="0"/>
          <p:nvPr/>
        </p:nvPicPr>
        <p:blipFill>
          <a:blip r:embed="rId3">
            <a:alphaModFix/>
          </a:blip>
          <a:stretch>
            <a:fillRect/>
          </a:stretch>
        </p:blipFill>
        <p:spPr>
          <a:xfrm>
            <a:off x="152400" y="152400"/>
            <a:ext cx="5459659" cy="6553199"/>
          </a:xfrm>
          <a:prstGeom prst="rect">
            <a:avLst/>
          </a:prstGeom>
          <a:noFill/>
          <a:ln>
            <a:noFill/>
          </a:ln>
        </p:spPr>
      </p:pic>
      <p:pic>
        <p:nvPicPr>
          <p:cNvPr id="552" name="Google Shape;552;p80"/>
          <p:cNvPicPr preferRelativeResize="0"/>
          <p:nvPr/>
        </p:nvPicPr>
        <p:blipFill>
          <a:blip r:embed="rId4">
            <a:alphaModFix/>
          </a:blip>
          <a:stretch>
            <a:fillRect/>
          </a:stretch>
        </p:blipFill>
        <p:spPr>
          <a:xfrm>
            <a:off x="5764459" y="152400"/>
            <a:ext cx="6275141" cy="6027939"/>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pic>
        <p:nvPicPr>
          <p:cNvPr id="558" name="Google Shape;558;p81"/>
          <p:cNvPicPr preferRelativeResize="0"/>
          <p:nvPr/>
        </p:nvPicPr>
        <p:blipFill>
          <a:blip r:embed="rId3">
            <a:alphaModFix/>
          </a:blip>
          <a:stretch>
            <a:fillRect/>
          </a:stretch>
        </p:blipFill>
        <p:spPr>
          <a:xfrm>
            <a:off x="152400" y="152400"/>
            <a:ext cx="9095045" cy="655319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82"/>
          <p:cNvSpPr txBox="1"/>
          <p:nvPr/>
        </p:nvSpPr>
        <p:spPr>
          <a:xfrm>
            <a:off x="1639550" y="1452175"/>
            <a:ext cx="7979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index ──► retrieve / rerank ──► top-k ──► assemble context ──► [context] ──► LLM</a:t>
            </a:r>
            <a:endParaRPr/>
          </a:p>
          <a:p>
            <a:pPr indent="0" lvl="0" marL="0" rtl="0" algn="l">
              <a:spcBef>
                <a:spcPts val="0"/>
              </a:spcBef>
              <a:spcAft>
                <a:spcPts val="0"/>
              </a:spcAft>
              <a:buNone/>
            </a:pPr>
            <a:r>
              <a:rPr lang="en-US"/>
              <a:t>          (A) retrieval miss:             (B) assembly loss:</a:t>
            </a:r>
            <a:endParaRPr/>
          </a:p>
          <a:p>
            <a:pPr indent="0" lvl="0" marL="0" rtl="0" algn="l">
              <a:spcBef>
                <a:spcPts val="0"/>
              </a:spcBef>
              <a:spcAft>
                <a:spcPts val="0"/>
              </a:spcAft>
              <a:buNone/>
            </a:pPr>
            <a:r>
              <a:rPr lang="en-US"/>
              <a:t>          right chunk not in top-k        right chunk/table WAS found,</a:t>
            </a:r>
            <a:endParaRPr/>
          </a:p>
          <a:p>
            <a:pPr indent="0" lvl="0" marL="0" rtl="0" algn="l">
              <a:spcBef>
                <a:spcPts val="0"/>
              </a:spcBef>
              <a:spcAft>
                <a:spcPts val="0"/>
              </a:spcAft>
              <a:buNone/>
            </a:pPr>
            <a:r>
              <a:rPr lang="en-US"/>
              <a:t>                                          but the fact still isn't in the context</a:t>
            </a:r>
            <a:endParaRPr/>
          </a:p>
        </p:txBody>
      </p:sp>
      <p:pic>
        <p:nvPicPr>
          <p:cNvPr id="565" name="Google Shape;565;p82"/>
          <p:cNvPicPr preferRelativeResize="0"/>
          <p:nvPr/>
        </p:nvPicPr>
        <p:blipFill>
          <a:blip r:embed="rId3">
            <a:alphaModFix/>
          </a:blip>
          <a:stretch>
            <a:fillRect/>
          </a:stretch>
        </p:blipFill>
        <p:spPr>
          <a:xfrm>
            <a:off x="972400" y="3291500"/>
            <a:ext cx="8646238" cy="4054324"/>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pic>
        <p:nvPicPr>
          <p:cNvPr id="571" name="Google Shape;571;p83"/>
          <p:cNvPicPr preferRelativeResize="0"/>
          <p:nvPr/>
        </p:nvPicPr>
        <p:blipFill>
          <a:blip r:embed="rId3">
            <a:alphaModFix/>
          </a:blip>
          <a:stretch>
            <a:fillRect/>
          </a:stretch>
        </p:blipFill>
        <p:spPr>
          <a:xfrm>
            <a:off x="152400" y="152400"/>
            <a:ext cx="8388531" cy="6553202"/>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84"/>
          <p:cNvSpPr txBox="1"/>
          <p:nvPr/>
        </p:nvSpPr>
        <p:spPr>
          <a:xfrm>
            <a:off x="796350" y="718275"/>
            <a:ext cx="5501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Evals</a:t>
            </a:r>
            <a:endParaRPr/>
          </a:p>
          <a:p>
            <a:pPr indent="0" lvl="0" marL="0" rtl="0" algn="l">
              <a:spcBef>
                <a:spcPts val="0"/>
              </a:spcBef>
              <a:spcAft>
                <a:spcPts val="0"/>
              </a:spcAft>
              <a:buNone/>
            </a:pPr>
            <a:r>
              <a:rPr lang="en-US"/>
              <a:t>Evals are hard because there are different levels of evals and each level corresponds to a different system architecture. </a:t>
            </a:r>
            <a:endParaRPr/>
          </a:p>
          <a:p>
            <a:pPr indent="-317500" lvl="0" marL="457200" rtl="0" algn="l">
              <a:spcBef>
                <a:spcPts val="0"/>
              </a:spcBef>
              <a:spcAft>
                <a:spcPts val="0"/>
              </a:spcAft>
              <a:buSzPts val="1400"/>
              <a:buAutoNum type="arabicParenR"/>
            </a:pPr>
            <a:r>
              <a:rPr lang="en-US"/>
              <a:t>Hard because trying to match a set of evals with an incorrect system architecture means the RAG system won’t work</a:t>
            </a:r>
            <a:endParaRPr/>
          </a:p>
          <a:p>
            <a:pPr indent="-317500" lvl="0" marL="457200" rtl="0" algn="l">
              <a:spcBef>
                <a:spcPts val="0"/>
              </a:spcBef>
              <a:spcAft>
                <a:spcPts val="0"/>
              </a:spcAft>
              <a:buSzPts val="1400"/>
              <a:buAutoNum type="arabicParenR"/>
            </a:pPr>
            <a:r>
              <a:rPr lang="en-US"/>
              <a:t>Hard because not all the failure modes or set of evals exist before the system is build. Constant </a:t>
            </a:r>
            <a:r>
              <a:rPr lang="en-US"/>
              <a:t>iteration</a:t>
            </a:r>
            <a:endParaRPr/>
          </a:p>
          <a:p>
            <a:pPr indent="-317500" lvl="0" marL="457200" rtl="0" algn="l">
              <a:spcBef>
                <a:spcPts val="0"/>
              </a:spcBef>
              <a:spcAft>
                <a:spcPts val="0"/>
              </a:spcAft>
              <a:buSzPts val="1400"/>
              <a:buAutoNum type="arabicParenR"/>
            </a:pPr>
            <a:r>
              <a:rPr lang="en-US"/>
              <a:t>Error analysis is hard and tedious. </a:t>
            </a:r>
            <a:endParaRPr/>
          </a:p>
          <a:p>
            <a:pPr indent="-317500" lvl="0" marL="457200" rtl="0" algn="l">
              <a:spcBef>
                <a:spcPts val="0"/>
              </a:spcBef>
              <a:spcAft>
                <a:spcPts val="0"/>
              </a:spcAft>
              <a:buSzPts val="1400"/>
              <a:buAutoNum type="arabicParenR"/>
            </a:pPr>
            <a:r>
              <a:rPr lang="en-US"/>
              <a:t>LLMs can generate evals but by definition a RAG system has data which the LLM hasn’t seen before so any evals are from a similar distribution. </a:t>
            </a:r>
            <a:endParaRPr/>
          </a:p>
          <a:p>
            <a:pPr indent="-317500" lvl="0" marL="457200" rtl="0" algn="l">
              <a:spcBef>
                <a:spcPts val="0"/>
              </a:spcBef>
              <a:spcAft>
                <a:spcPts val="0"/>
              </a:spcAft>
              <a:buSzPts val="1400"/>
              <a:buAutoNum type="arabicParenR"/>
            </a:pPr>
            <a:r>
              <a:rPr lang="en-US"/>
              <a:t>LLM evals </a:t>
            </a:r>
            <a:r>
              <a:rPr lang="en-US"/>
              <a:t>only</a:t>
            </a:r>
            <a:r>
              <a:rPr lang="en-US"/>
              <a:t> good for short horizon single document tasks</a:t>
            </a:r>
            <a:endParaRPr/>
          </a:p>
          <a:p>
            <a:pPr indent="-317500" lvl="0" marL="457200" rtl="0" algn="l">
              <a:spcBef>
                <a:spcPts val="0"/>
              </a:spcBef>
              <a:spcAft>
                <a:spcPts val="0"/>
              </a:spcAft>
              <a:buSzPts val="1400"/>
              <a:buAutoNum type="arabicParenR"/>
            </a:pPr>
            <a:r>
              <a:rPr lang="en-US"/>
              <a:t>Have to look at data when other side is a real human. We cover that in policy chatbot demo.  </a:t>
            </a:r>
            <a:endParaRPr/>
          </a:p>
        </p:txBody>
      </p:sp>
      <p:sp>
        <p:nvSpPr>
          <p:cNvPr id="578" name="Google Shape;578;p84"/>
          <p:cNvSpPr txBox="1"/>
          <p:nvPr/>
        </p:nvSpPr>
        <p:spPr>
          <a:xfrm>
            <a:off x="874425" y="3997375"/>
            <a:ext cx="550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Evals1: simple questions answered by a single document. For example: xx. All of the demos in the geha repo are of this type. </a:t>
            </a:r>
            <a:endParaRPr/>
          </a:p>
        </p:txBody>
      </p:sp>
      <p:sp>
        <p:nvSpPr>
          <p:cNvPr id="579" name="Google Shape;579;p84"/>
          <p:cNvSpPr txBox="1"/>
          <p:nvPr/>
        </p:nvSpPr>
        <p:spPr>
          <a:xfrm>
            <a:off x="999325" y="4715675"/>
            <a:ext cx="5501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Evals 2: more complex questions requiring multi hop agentic search to solve them. This includes an agentic fraud investigator in ~/geha/hapi/fraud. These evals </a:t>
            </a:r>
            <a:r>
              <a:rPr lang="en-US"/>
              <a:t>require</a:t>
            </a:r>
            <a:r>
              <a:rPr lang="en-US"/>
              <a:t> combining queries against several datasources. The evals are common fraud patterns found in most of the common cases like duplicate claims, miscoding, etc..</a:t>
            </a:r>
            <a:endParaRPr/>
          </a:p>
        </p:txBody>
      </p:sp>
      <p:sp>
        <p:nvSpPr>
          <p:cNvPr id="580" name="Google Shape;580;p84"/>
          <p:cNvSpPr txBox="1"/>
          <p:nvPr/>
        </p:nvSpPr>
        <p:spPr>
          <a:xfrm>
            <a:off x="999325" y="6080475"/>
            <a:ext cx="5501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Evals3: an eval </a:t>
            </a:r>
            <a:r>
              <a:rPr lang="en-US"/>
              <a:t>requiring</a:t>
            </a:r>
            <a:r>
              <a:rPr lang="en-US"/>
              <a:t> a long horizon task with exploration where the goal is not always clear like: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pic>
        <p:nvPicPr>
          <p:cNvPr id="586" name="Google Shape;586;p85"/>
          <p:cNvPicPr preferRelativeResize="0"/>
          <p:nvPr/>
        </p:nvPicPr>
        <p:blipFill>
          <a:blip r:embed="rId3">
            <a:alphaModFix/>
          </a:blip>
          <a:stretch>
            <a:fillRect/>
          </a:stretch>
        </p:blipFill>
        <p:spPr>
          <a:xfrm>
            <a:off x="152400" y="152400"/>
            <a:ext cx="11887202" cy="569068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pic>
        <p:nvPicPr>
          <p:cNvPr id="592" name="Google Shape;592;p86"/>
          <p:cNvPicPr preferRelativeResize="0"/>
          <p:nvPr/>
        </p:nvPicPr>
        <p:blipFill>
          <a:blip r:embed="rId3">
            <a:alphaModFix/>
          </a:blip>
          <a:stretch>
            <a:fillRect/>
          </a:stretch>
        </p:blipFill>
        <p:spPr>
          <a:xfrm>
            <a:off x="152400" y="152400"/>
            <a:ext cx="8777605" cy="655320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pic>
        <p:nvPicPr>
          <p:cNvPr id="598" name="Google Shape;598;p87"/>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pic>
        <p:nvPicPr>
          <p:cNvPr id="604" name="Google Shape;604;p88"/>
          <p:cNvPicPr preferRelativeResize="0"/>
          <p:nvPr/>
        </p:nvPicPr>
        <p:blipFill>
          <a:blip r:embed="rId3">
            <a:alphaModFix/>
          </a:blip>
          <a:stretch>
            <a:fillRect/>
          </a:stretch>
        </p:blipFill>
        <p:spPr>
          <a:xfrm>
            <a:off x="152400" y="152400"/>
            <a:ext cx="11539942" cy="6553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pic>
        <p:nvPicPr>
          <p:cNvPr id="610" name="Google Shape;610;p89"/>
          <p:cNvPicPr preferRelativeResize="0"/>
          <p:nvPr/>
        </p:nvPicPr>
        <p:blipFill>
          <a:blip r:embed="rId3">
            <a:alphaModFix/>
          </a:blip>
          <a:stretch>
            <a:fillRect/>
          </a:stretch>
        </p:blipFill>
        <p:spPr>
          <a:xfrm>
            <a:off x="173500" y="574275"/>
            <a:ext cx="10531931" cy="6553201"/>
          </a:xfrm>
          <a:prstGeom prst="rect">
            <a:avLst/>
          </a:prstGeom>
          <a:noFill/>
          <a:ln>
            <a:noFill/>
          </a:ln>
        </p:spPr>
      </p:pic>
      <p:sp>
        <p:nvSpPr>
          <p:cNvPr id="611" name="Google Shape;611;p89"/>
          <p:cNvSpPr txBox="1"/>
          <p:nvPr/>
        </p:nvSpPr>
        <p:spPr>
          <a:xfrm>
            <a:off x="4492900" y="274225"/>
            <a:ext cx="7741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table aware rag</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pic>
        <p:nvPicPr>
          <p:cNvPr id="617" name="Google Shape;617;p90"/>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pic>
        <p:nvPicPr>
          <p:cNvPr id="623" name="Google Shape;623;p91"/>
          <p:cNvPicPr preferRelativeResize="0"/>
          <p:nvPr/>
        </p:nvPicPr>
        <p:blipFill>
          <a:blip r:embed="rId3">
            <a:alphaModFix/>
          </a:blip>
          <a:stretch>
            <a:fillRect/>
          </a:stretch>
        </p:blipFill>
        <p:spPr>
          <a:xfrm>
            <a:off x="152400" y="152400"/>
            <a:ext cx="7357349" cy="6553201"/>
          </a:xfrm>
          <a:prstGeom prst="rect">
            <a:avLst/>
          </a:prstGeom>
          <a:noFill/>
          <a:ln>
            <a:noFill/>
          </a:ln>
        </p:spPr>
      </p:pic>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p92"/>
          <p:cNvPicPr preferRelativeResize="0"/>
          <p:nvPr/>
        </p:nvPicPr>
        <p:blipFill>
          <a:blip r:embed="rId3">
            <a:alphaModFix/>
          </a:blip>
          <a:stretch>
            <a:fillRect/>
          </a:stretch>
        </p:blipFill>
        <p:spPr>
          <a:xfrm>
            <a:off x="721925" y="152400"/>
            <a:ext cx="3906962" cy="6553201"/>
          </a:xfrm>
          <a:prstGeom prst="rect">
            <a:avLst/>
          </a:prstGeom>
          <a:noFill/>
          <a:ln>
            <a:noFill/>
          </a:ln>
        </p:spPr>
      </p:pic>
      <p:pic>
        <p:nvPicPr>
          <p:cNvPr id="630" name="Google Shape;630;p92"/>
          <p:cNvPicPr preferRelativeResize="0"/>
          <p:nvPr/>
        </p:nvPicPr>
        <p:blipFill>
          <a:blip r:embed="rId4">
            <a:alphaModFix/>
          </a:blip>
          <a:stretch>
            <a:fillRect/>
          </a:stretch>
        </p:blipFill>
        <p:spPr>
          <a:xfrm>
            <a:off x="6131262" y="152400"/>
            <a:ext cx="4424315" cy="65532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pic>
        <p:nvPicPr>
          <p:cNvPr id="636" name="Google Shape;636;p93" title="bbox-drawing.gif"/>
          <p:cNvPicPr preferRelativeResize="0"/>
          <p:nvPr/>
        </p:nvPicPr>
        <p:blipFill>
          <a:blip r:embed="rId3">
            <a:alphaModFix/>
          </a:blip>
          <a:stretch>
            <a:fillRect/>
          </a:stretch>
        </p:blipFill>
        <p:spPr>
          <a:xfrm>
            <a:off x="152400" y="152400"/>
            <a:ext cx="8060518" cy="6553201"/>
          </a:xfrm>
          <a:prstGeom prst="rect">
            <a:avLst/>
          </a:prstGeom>
          <a:noFill/>
          <a:ln>
            <a:noFill/>
          </a:ln>
        </p:spPr>
      </p:pic>
      <p:sp>
        <p:nvSpPr>
          <p:cNvPr id="637" name="Google Shape;637;p93"/>
          <p:cNvSpPr txBox="1"/>
          <p:nvPr/>
        </p:nvSpPr>
        <p:spPr>
          <a:xfrm>
            <a:off x="8548500" y="2218050"/>
            <a:ext cx="3429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LLM controls the app</a:t>
            </a:r>
            <a:endParaRPr b="1" sz="2500"/>
          </a:p>
          <a:p>
            <a:pPr indent="0" lvl="0" marL="0" rtl="0" algn="l">
              <a:spcBef>
                <a:spcPts val="0"/>
              </a:spcBef>
              <a:spcAft>
                <a:spcPts val="0"/>
              </a:spcAft>
              <a:buNone/>
            </a:pPr>
            <a:r>
              <a:rPr b="1" lang="en-US" sz="2500"/>
              <a:t>Automating drawing</a:t>
            </a:r>
            <a:endParaRPr b="1" sz="2500"/>
          </a:p>
          <a:p>
            <a:pPr indent="0" lvl="0" marL="0" rtl="0" algn="l">
              <a:spcBef>
                <a:spcPts val="0"/>
              </a:spcBef>
              <a:spcAft>
                <a:spcPts val="0"/>
              </a:spcAft>
              <a:buNone/>
            </a:pPr>
            <a:r>
              <a:rPr b="1" lang="en-US" sz="2500"/>
              <a:t>bounding boxes </a:t>
            </a:r>
            <a:endParaRPr b="1" sz="25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pic>
        <p:nvPicPr>
          <p:cNvPr id="643" name="Google Shape;643;p94" title="ChatGPT GIF Oct 21, 2026, 07_46_49 AM.gif"/>
          <p:cNvPicPr preferRelativeResize="0"/>
          <p:nvPr/>
        </p:nvPicPr>
        <p:blipFill>
          <a:blip r:embed="rId3">
            <a:alphaModFix/>
          </a:blip>
          <a:stretch>
            <a:fillRect/>
          </a:stretch>
        </p:blipFill>
        <p:spPr>
          <a:xfrm>
            <a:off x="152400" y="152400"/>
            <a:ext cx="7863840" cy="6553200"/>
          </a:xfrm>
          <a:prstGeom prst="rect">
            <a:avLst/>
          </a:prstGeom>
          <a:noFill/>
          <a:ln>
            <a:noFill/>
          </a:ln>
        </p:spPr>
      </p:pic>
      <p:sp>
        <p:nvSpPr>
          <p:cNvPr id="644" name="Google Shape;644;p94"/>
          <p:cNvSpPr txBox="1"/>
          <p:nvPr/>
        </p:nvSpPr>
        <p:spPr>
          <a:xfrm>
            <a:off x="8238150" y="2837225"/>
            <a:ext cx="35664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LLM controlling App</a:t>
            </a:r>
            <a:endParaRPr b="1" sz="2500"/>
          </a:p>
          <a:p>
            <a:pPr indent="0" lvl="0" marL="0" rtl="0" algn="l">
              <a:spcBef>
                <a:spcPts val="0"/>
              </a:spcBef>
              <a:spcAft>
                <a:spcPts val="0"/>
              </a:spcAft>
              <a:buNone/>
            </a:pPr>
            <a:r>
              <a:rPr b="1" lang="en-US" sz="2500"/>
              <a:t>to create bounding</a:t>
            </a:r>
            <a:endParaRPr b="1" sz="2500"/>
          </a:p>
          <a:p>
            <a:pPr indent="0" lvl="0" marL="0" rtl="0" algn="l">
              <a:spcBef>
                <a:spcPts val="0"/>
              </a:spcBef>
              <a:spcAft>
                <a:spcPts val="0"/>
              </a:spcAft>
              <a:buNone/>
            </a:pPr>
            <a:r>
              <a:rPr b="1" lang="en-US" sz="2500"/>
              <a:t>boxes</a:t>
            </a:r>
            <a:endParaRPr b="1" sz="25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pic>
        <p:nvPicPr>
          <p:cNvPr id="650" name="Google Shape;650;p95"/>
          <p:cNvPicPr preferRelativeResize="0"/>
          <p:nvPr/>
        </p:nvPicPr>
        <p:blipFill>
          <a:blip r:embed="rId3">
            <a:alphaModFix/>
          </a:blip>
          <a:stretch>
            <a:fillRect/>
          </a:stretch>
        </p:blipFill>
        <p:spPr>
          <a:xfrm>
            <a:off x="152400" y="152400"/>
            <a:ext cx="7269957" cy="6553201"/>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2E"/>
        </a:solidFill>
      </p:bgPr>
    </p:bg>
    <p:spTree>
      <p:nvGrpSpPr>
        <p:cNvPr id="655" name="Shape 655"/>
        <p:cNvGrpSpPr/>
        <p:nvPr/>
      </p:nvGrpSpPr>
      <p:grpSpPr>
        <a:xfrm>
          <a:off x="0" y="0"/>
          <a:ext cx="0" cy="0"/>
          <a:chOff x="0" y="0"/>
          <a:chExt cx="0" cy="0"/>
        </a:xfrm>
      </p:grpSpPr>
      <p:sp>
        <p:nvSpPr>
          <p:cNvPr id="656" name="Google Shape;656;p96"/>
          <p:cNvSpPr/>
          <p:nvPr/>
        </p:nvSpPr>
        <p:spPr>
          <a:xfrm>
            <a:off x="812800" y="81280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5D"/>
              </a:buClr>
              <a:buSzPts val="1400"/>
              <a:buFont typeface="JetBrains Mono"/>
              <a:buNone/>
            </a:pPr>
            <a:r>
              <a:rPr b="0" i="0" lang="en-US" sz="1400" u="none" cap="none" strike="noStrike">
                <a:solidFill>
                  <a:srgbClr val="F08A5D"/>
                </a:solidFill>
                <a:latin typeface="JetBrains Mono"/>
                <a:ea typeface="JetBrains Mono"/>
                <a:cs typeface="JetBrains Mono"/>
                <a:sym typeface="JetBrains Mono"/>
              </a:rPr>
              <a:t>GEHA DENTAL RAG · GENERATOR FINETUNING</a:t>
            </a:r>
            <a:endParaRPr b="0" i="0" sz="1400" u="none" cap="none" strike="noStrike">
              <a:solidFill>
                <a:schemeClr val="dk1"/>
              </a:solidFill>
              <a:latin typeface="IBM Plex Sans"/>
              <a:ea typeface="IBM Plex Sans"/>
              <a:cs typeface="IBM Plex Sans"/>
              <a:sym typeface="IBM Plex Sans"/>
            </a:endParaRPr>
          </a:p>
        </p:txBody>
      </p:sp>
      <p:sp>
        <p:nvSpPr>
          <p:cNvPr id="657" name="Google Shape;657;p96"/>
          <p:cNvSpPr txBox="1"/>
          <p:nvPr>
            <p:ph type="title"/>
          </p:nvPr>
        </p:nvSpPr>
        <p:spPr>
          <a:xfrm>
            <a:off x="812800" y="2265710"/>
            <a:ext cx="10883392" cy="141218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3F1EA"/>
              </a:buClr>
              <a:buSzPts val="5200"/>
              <a:buFont typeface="IBM Plex Sans"/>
              <a:buNone/>
            </a:pPr>
            <a:r>
              <a:rPr b="1" i="0" lang="en-US" sz="5200">
                <a:solidFill>
                  <a:srgbClr val="F3F1EA"/>
                </a:solidFill>
                <a:latin typeface="IBM Plex Sans"/>
                <a:ea typeface="IBM Plex Sans"/>
                <a:cs typeface="IBM Plex Sans"/>
                <a:sym typeface="IBM Plex Sans"/>
              </a:rPr>
              <a:t>Teaching the answer model to read our passages</a:t>
            </a:r>
            <a:endParaRPr sz="5200"/>
          </a:p>
        </p:txBody>
      </p:sp>
      <p:sp>
        <p:nvSpPr>
          <p:cNvPr id="658" name="Google Shape;658;p96"/>
          <p:cNvSpPr/>
          <p:nvPr/>
        </p:nvSpPr>
        <p:spPr>
          <a:xfrm>
            <a:off x="812800" y="3906490"/>
            <a:ext cx="10883392" cy="71120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B9C3D1"/>
              </a:buClr>
              <a:buSzPts val="2000"/>
              <a:buFont typeface="IBM Plex Sans"/>
              <a:buNone/>
            </a:pPr>
            <a:r>
              <a:rPr b="0" i="0" lang="en-US" sz="2000" u="none" cap="none" strike="noStrike">
                <a:solidFill>
                  <a:srgbClr val="B9C3D1"/>
                </a:solidFill>
                <a:latin typeface="IBM Plex Sans"/>
                <a:ea typeface="IBM Plex Sans"/>
                <a:cs typeface="IBM Plex Sans"/>
                <a:sym typeface="IBM Plex Sans"/>
              </a:rPr>
              <a:t>LoRA instruction finetuning of Qwen2.5‑1.5B‑Instruct on direct and chain‑of‑thought examples</a:t>
            </a:r>
            <a:endParaRPr b="0" i="0" sz="2000" u="none" cap="none" strike="noStrike">
              <a:solidFill>
                <a:schemeClr val="dk1"/>
              </a:solidFill>
              <a:latin typeface="IBM Plex Sans"/>
              <a:ea typeface="IBM Plex Sans"/>
              <a:cs typeface="IBM Plex Sans"/>
              <a:sym typeface="IBM Plex Sans"/>
            </a:endParaRPr>
          </a:p>
        </p:txBody>
      </p:sp>
      <p:sp>
        <p:nvSpPr>
          <p:cNvPr id="659" name="Google Shape;659;p96"/>
          <p:cNvSpPr/>
          <p:nvPr/>
        </p:nvSpPr>
        <p:spPr>
          <a:xfrm>
            <a:off x="812800" y="5796310"/>
            <a:ext cx="10883392" cy="2742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C98A8"/>
              </a:buClr>
              <a:buSzPts val="1400"/>
              <a:buFont typeface="IBM Plex Sans"/>
              <a:buNone/>
            </a:pPr>
            <a:r>
              <a:rPr b="0" i="0" lang="en-US" sz="1400" u="none" cap="none" strike="noStrike">
                <a:solidFill>
                  <a:srgbClr val="8C98A8"/>
                </a:solidFill>
                <a:latin typeface="IBM Plex Sans"/>
                <a:ea typeface="IBM Plex Sans"/>
                <a:cs typeface="IBM Plex Sans"/>
                <a:sym typeface="IBM Plex Sans"/>
              </a:rPr>
              <a:t>October 2026 · experiment log · results from the Colab A100 run, 21 Oct</a:t>
            </a:r>
            <a:endParaRPr b="0" i="0" sz="14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664" name="Shape 664"/>
        <p:cNvGrpSpPr/>
        <p:nvPr/>
      </p:nvGrpSpPr>
      <p:grpSpPr>
        <a:xfrm>
          <a:off x="0" y="0"/>
          <a:ext cx="0" cy="0"/>
          <a:chOff x="0" y="0"/>
          <a:chExt cx="0" cy="0"/>
        </a:xfrm>
      </p:grpSpPr>
      <p:sp>
        <p:nvSpPr>
          <p:cNvPr id="665" name="Google Shape;665;p97"/>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Two places to finetune a RAG system</a:t>
            </a:r>
            <a:endParaRPr sz="3200"/>
          </a:p>
        </p:txBody>
      </p:sp>
      <p:sp>
        <p:nvSpPr>
          <p:cNvPr id="666" name="Google Shape;666;p97"/>
          <p:cNvSpPr/>
          <p:nvPr/>
        </p:nvSpPr>
        <p:spPr>
          <a:xfrm>
            <a:off x="819150" y="1621780"/>
            <a:ext cx="5143500" cy="4213870"/>
          </a:xfrm>
          <a:prstGeom prst="roundRect">
            <a:avLst>
              <a:gd fmla="val 2863"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97"/>
          <p:cNvSpPr/>
          <p:nvPr/>
        </p:nvSpPr>
        <p:spPr>
          <a:xfrm>
            <a:off x="1130300" y="1932930"/>
            <a:ext cx="465683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DB5"/>
              </a:buClr>
              <a:buSzPts val="1200"/>
              <a:buFont typeface="JetBrains Mono"/>
              <a:buNone/>
            </a:pPr>
            <a:r>
              <a:rPr b="0" i="0" lang="en-US" sz="1200" u="none" cap="none" strike="noStrike">
                <a:solidFill>
                  <a:srgbClr val="2F6DB5"/>
                </a:solidFill>
                <a:latin typeface="JetBrains Mono"/>
                <a:ea typeface="JetBrains Mono"/>
                <a:cs typeface="JetBrains Mono"/>
                <a:sym typeface="JetBrains Mono"/>
              </a:rPr>
              <a:t>RETRIEVER · DONE EARLIER</a:t>
            </a:r>
            <a:endParaRPr b="0" i="0" sz="1200" u="none" cap="none" strike="noStrike">
              <a:solidFill>
                <a:schemeClr val="dk1"/>
              </a:solidFill>
              <a:latin typeface="IBM Plex Sans"/>
              <a:ea typeface="IBM Plex Sans"/>
              <a:cs typeface="IBM Plex Sans"/>
              <a:sym typeface="IBM Plex Sans"/>
            </a:endParaRPr>
          </a:p>
        </p:txBody>
      </p:sp>
      <p:sp>
        <p:nvSpPr>
          <p:cNvPr id="668" name="Google Shape;668;p97"/>
          <p:cNvSpPr/>
          <p:nvPr/>
        </p:nvSpPr>
        <p:spPr>
          <a:xfrm>
            <a:off x="1130300" y="2298650"/>
            <a:ext cx="4656836"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2200"/>
              <a:buFont typeface="IBM Plex Sans"/>
              <a:buNone/>
            </a:pPr>
            <a:r>
              <a:rPr b="1" i="0" lang="en-US" sz="2200" u="none" cap="none" strike="noStrike">
                <a:solidFill>
                  <a:srgbClr val="16202E"/>
                </a:solidFill>
                <a:latin typeface="IBM Plex Sans"/>
                <a:ea typeface="IBM Plex Sans"/>
                <a:cs typeface="IBM Plex Sans"/>
                <a:sym typeface="IBM Plex Sans"/>
              </a:rPr>
              <a:t>Which chunks the LLM sees</a:t>
            </a:r>
            <a:endParaRPr b="0" i="0" sz="2200" u="none" cap="none" strike="noStrike">
              <a:solidFill>
                <a:schemeClr val="dk1"/>
              </a:solidFill>
              <a:latin typeface="IBM Plex Sans"/>
              <a:ea typeface="IBM Plex Sans"/>
              <a:cs typeface="IBM Plex Sans"/>
              <a:sym typeface="IBM Plex Sans"/>
            </a:endParaRPr>
          </a:p>
        </p:txBody>
      </p:sp>
      <p:sp>
        <p:nvSpPr>
          <p:cNvPr id="669" name="Google Shape;669;p97"/>
          <p:cNvSpPr/>
          <p:nvPr/>
        </p:nvSpPr>
        <p:spPr>
          <a:xfrm>
            <a:off x="1130300" y="2786311"/>
            <a:ext cx="465683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500"/>
              <a:buFont typeface="IBM Plex Sans"/>
              <a:buNone/>
            </a:pPr>
            <a:r>
              <a:rPr b="0" i="0" lang="en-US" sz="1500" u="none" cap="none" strike="noStrike">
                <a:solidFill>
                  <a:srgbClr val="4A5568"/>
                </a:solidFill>
                <a:latin typeface="IBM Plex Sans"/>
                <a:ea typeface="IBM Plex Sans"/>
                <a:cs typeface="IBM Plex Sans"/>
                <a:sym typeface="IBM Plex Sans"/>
              </a:rPr>
              <a:t>bge‑base‑en‑v1.5 embedding model, contrastive loss on question → chunk pairs.</a:t>
            </a:r>
            <a:endParaRPr b="0" i="0" sz="1500" u="none" cap="none" strike="noStrike">
              <a:solidFill>
                <a:schemeClr val="dk1"/>
              </a:solidFill>
              <a:latin typeface="IBM Plex Sans"/>
              <a:ea typeface="IBM Plex Sans"/>
              <a:cs typeface="IBM Plex Sans"/>
              <a:sym typeface="IBM Plex Sans"/>
            </a:endParaRPr>
          </a:p>
        </p:txBody>
      </p:sp>
      <p:sp>
        <p:nvSpPr>
          <p:cNvPr id="670" name="Google Shape;670;p97"/>
          <p:cNvSpPr/>
          <p:nvPr/>
        </p:nvSpPr>
        <p:spPr>
          <a:xfrm>
            <a:off x="1130300" y="4991100"/>
            <a:ext cx="465683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500"/>
              <a:buFont typeface="IBM Plex Sans"/>
              <a:buNone/>
            </a:pPr>
            <a:r>
              <a:rPr b="1" i="0" lang="en-US" sz="1500" u="none" cap="none" strike="noStrike">
                <a:solidFill>
                  <a:srgbClr val="16202E"/>
                </a:solidFill>
                <a:latin typeface="IBM Plex Sans"/>
                <a:ea typeface="IBM Plex Sans"/>
                <a:cs typeface="IBM Plex Sans"/>
                <a:sym typeface="IBM Plex Sans"/>
              </a:rPr>
              <a:t>Recall@5: 64.6% → 68.7%</a:t>
            </a:r>
            <a:r>
              <a:rPr b="0" i="0" lang="en-US" sz="1500" u="none" cap="none" strike="noStrike">
                <a:solidFill>
                  <a:srgbClr val="16202E"/>
                </a:solidFill>
                <a:latin typeface="IBM Plex Sans"/>
                <a:ea typeface="IBM Plex Sans"/>
                <a:cs typeface="IBM Plex Sans"/>
                <a:sym typeface="IBM Plex Sans"/>
              </a:rPr>
              <a:t> on the held‑out brochure</a:t>
            </a:r>
            <a:endParaRPr b="0" i="0" sz="1500" u="none" cap="none" strike="noStrike">
              <a:solidFill>
                <a:schemeClr val="dk1"/>
              </a:solidFill>
              <a:latin typeface="IBM Plex Sans"/>
              <a:ea typeface="IBM Plex Sans"/>
              <a:cs typeface="IBM Plex Sans"/>
              <a:sym typeface="IBM Plex Sans"/>
            </a:endParaRPr>
          </a:p>
        </p:txBody>
      </p:sp>
      <p:sp>
        <p:nvSpPr>
          <p:cNvPr id="671" name="Google Shape;671;p97"/>
          <p:cNvSpPr/>
          <p:nvPr/>
        </p:nvSpPr>
        <p:spPr>
          <a:xfrm>
            <a:off x="6229350" y="1621780"/>
            <a:ext cx="5143500" cy="4213870"/>
          </a:xfrm>
          <a:prstGeom prst="roundRect">
            <a:avLst>
              <a:gd fmla="val 2863"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97"/>
          <p:cNvSpPr/>
          <p:nvPr/>
        </p:nvSpPr>
        <p:spPr>
          <a:xfrm>
            <a:off x="6540500" y="1932930"/>
            <a:ext cx="465683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481A"/>
              </a:buClr>
              <a:buSzPts val="1200"/>
              <a:buFont typeface="JetBrains Mono"/>
              <a:buNone/>
            </a:pPr>
            <a:r>
              <a:rPr b="0" i="0" lang="en-US" sz="1200" u="none" cap="none" strike="noStrike">
                <a:solidFill>
                  <a:srgbClr val="B4481A"/>
                </a:solidFill>
                <a:latin typeface="JetBrains Mono"/>
                <a:ea typeface="JetBrains Mono"/>
                <a:cs typeface="JetBrains Mono"/>
                <a:sym typeface="JetBrains Mono"/>
              </a:rPr>
              <a:t>GENERATOR · THIS DECK</a:t>
            </a:r>
            <a:endParaRPr b="0" i="0" sz="1200" u="none" cap="none" strike="noStrike">
              <a:solidFill>
                <a:schemeClr val="dk1"/>
              </a:solidFill>
              <a:latin typeface="IBM Plex Sans"/>
              <a:ea typeface="IBM Plex Sans"/>
              <a:cs typeface="IBM Plex Sans"/>
              <a:sym typeface="IBM Plex Sans"/>
            </a:endParaRPr>
          </a:p>
        </p:txBody>
      </p:sp>
      <p:sp>
        <p:nvSpPr>
          <p:cNvPr id="673" name="Google Shape;673;p97"/>
          <p:cNvSpPr/>
          <p:nvPr/>
        </p:nvSpPr>
        <p:spPr>
          <a:xfrm>
            <a:off x="6540500" y="2298650"/>
            <a:ext cx="4656836" cy="3606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2200"/>
              <a:buFont typeface="IBM Plex Sans"/>
              <a:buNone/>
            </a:pPr>
            <a:r>
              <a:rPr b="1" i="0" lang="en-US" sz="2200" u="none" cap="none" strike="noStrike">
                <a:solidFill>
                  <a:srgbClr val="16202E"/>
                </a:solidFill>
                <a:latin typeface="IBM Plex Sans"/>
                <a:ea typeface="IBM Plex Sans"/>
                <a:cs typeface="IBM Plex Sans"/>
                <a:sym typeface="IBM Plex Sans"/>
              </a:rPr>
              <a:t>How the LLM answers from them</a:t>
            </a:r>
            <a:endParaRPr b="0" i="0" sz="2200" u="none" cap="none" strike="noStrike">
              <a:solidFill>
                <a:schemeClr val="dk1"/>
              </a:solidFill>
              <a:latin typeface="IBM Plex Sans"/>
              <a:ea typeface="IBM Plex Sans"/>
              <a:cs typeface="IBM Plex Sans"/>
              <a:sym typeface="IBM Plex Sans"/>
            </a:endParaRPr>
          </a:p>
        </p:txBody>
      </p:sp>
      <p:sp>
        <p:nvSpPr>
          <p:cNvPr id="674" name="Google Shape;674;p97"/>
          <p:cNvSpPr/>
          <p:nvPr/>
        </p:nvSpPr>
        <p:spPr>
          <a:xfrm>
            <a:off x="6540500" y="2786311"/>
            <a:ext cx="4656836"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500"/>
              <a:buFont typeface="IBM Plex Sans"/>
              <a:buNone/>
            </a:pPr>
            <a:r>
              <a:rPr b="0" i="0" lang="en-US" sz="1500" u="none" cap="none" strike="noStrike">
                <a:solidFill>
                  <a:srgbClr val="4A5568"/>
                </a:solidFill>
                <a:latin typeface="IBM Plex Sans"/>
                <a:ea typeface="IBM Plex Sans"/>
                <a:cs typeface="IBM Plex Sans"/>
                <a:sym typeface="IBM Plex Sans"/>
              </a:rPr>
              <a:t>Qwen2.5‑1.5B‑Instruct chat model, LoRA instruction finetuning on passage + question → answer.</a:t>
            </a:r>
            <a:endParaRPr b="0" i="0" sz="1500" u="none" cap="none" strike="noStrike">
              <a:solidFill>
                <a:schemeClr val="dk1"/>
              </a:solidFill>
              <a:latin typeface="IBM Plex Sans"/>
              <a:ea typeface="IBM Plex Sans"/>
              <a:cs typeface="IBM Plex Sans"/>
              <a:sym typeface="IBM Plex Sans"/>
            </a:endParaRPr>
          </a:p>
        </p:txBody>
      </p:sp>
      <p:sp>
        <p:nvSpPr>
          <p:cNvPr id="675" name="Google Shape;675;p97"/>
          <p:cNvSpPr/>
          <p:nvPr/>
        </p:nvSpPr>
        <p:spPr>
          <a:xfrm>
            <a:off x="6540500" y="5257800"/>
            <a:ext cx="4656836"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500"/>
              <a:buFont typeface="IBM Plex Sans"/>
              <a:buNone/>
            </a:pPr>
            <a:r>
              <a:rPr b="1" i="0" lang="en-US" sz="1500" u="none" cap="none" strike="noStrike">
                <a:solidFill>
                  <a:srgbClr val="16202E"/>
                </a:solidFill>
                <a:latin typeface="IBM Plex Sans"/>
                <a:ea typeface="IBM Plex Sans"/>
                <a:cs typeface="IBM Plex Sans"/>
                <a:sym typeface="IBM Plex Sans"/>
              </a:rPr>
              <a:t>Answer F1: 0.51 → 0.57</a:t>
            </a:r>
            <a:r>
              <a:rPr b="0" i="0" lang="en-US" sz="1500" u="none" cap="none" strike="noStrike">
                <a:solidFill>
                  <a:srgbClr val="16202E"/>
                </a:solidFill>
                <a:latin typeface="IBM Plex Sans"/>
                <a:ea typeface="IBM Plex Sans"/>
                <a:cs typeface="IBM Plex Sans"/>
                <a:sym typeface="IBM Plex Sans"/>
              </a:rPr>
              <a:t> on the held‑out brochure</a:t>
            </a:r>
            <a:endParaRPr b="0" i="0" sz="1500" u="none" cap="none" strike="noStrike">
              <a:solidFill>
                <a:schemeClr val="dk1"/>
              </a:solidFill>
              <a:latin typeface="IBM Plex Sans"/>
              <a:ea typeface="IBM Plex Sans"/>
              <a:cs typeface="IBM Plex Sans"/>
              <a:sym typeface="IBM Plex Sans"/>
            </a:endParaRPr>
          </a:p>
        </p:txBody>
      </p:sp>
      <p:sp>
        <p:nvSpPr>
          <p:cNvPr id="676" name="Google Shape;676;p97"/>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The slide that started this: instruction finetuning with direct and chain‑of‑thought data (FLAN, arXiv 2210.11416)</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681" name="Shape 681"/>
        <p:cNvGrpSpPr/>
        <p:nvPr/>
      </p:nvGrpSpPr>
      <p:grpSpPr>
        <a:xfrm>
          <a:off x="0" y="0"/>
          <a:ext cx="0" cy="0"/>
          <a:chOff x="0" y="0"/>
          <a:chExt cx="0" cy="0"/>
        </a:xfrm>
      </p:grpSpPr>
      <p:sp>
        <p:nvSpPr>
          <p:cNvPr id="682" name="Google Shape;682;p98"/>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The pipeline, end to end</a:t>
            </a:r>
            <a:endParaRPr sz="3200"/>
          </a:p>
        </p:txBody>
      </p:sp>
      <p:sp>
        <p:nvSpPr>
          <p:cNvPr id="683" name="Google Shape;683;p98"/>
          <p:cNvSpPr/>
          <p:nvPr/>
        </p:nvSpPr>
        <p:spPr>
          <a:xfrm>
            <a:off x="819150" y="1672580"/>
            <a:ext cx="2286000" cy="2316361"/>
          </a:xfrm>
          <a:prstGeom prst="roundRect">
            <a:avLst>
              <a:gd fmla="val 5278"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98"/>
          <p:cNvSpPr/>
          <p:nvPr/>
        </p:nvSpPr>
        <p:spPr>
          <a:xfrm>
            <a:off x="1054100" y="1907530"/>
            <a:ext cx="187058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DB5"/>
              </a:buClr>
              <a:buSzPts val="1200"/>
              <a:buFont typeface="JetBrains Mono"/>
              <a:buNone/>
            </a:pPr>
            <a:r>
              <a:rPr b="0" i="0" lang="en-US" sz="1200" u="none" cap="none" strike="noStrike">
                <a:solidFill>
                  <a:srgbClr val="2F6DB5"/>
                </a:solidFill>
                <a:latin typeface="JetBrains Mono"/>
                <a:ea typeface="JetBrains Mono"/>
                <a:cs typeface="JetBrains Mono"/>
                <a:sym typeface="JetBrains Mono"/>
              </a:rPr>
              <a:t>01</a:t>
            </a:r>
            <a:endParaRPr b="0" i="0" sz="1200" u="none" cap="none" strike="noStrike">
              <a:solidFill>
                <a:schemeClr val="dk1"/>
              </a:solidFill>
              <a:latin typeface="IBM Plex Sans"/>
              <a:ea typeface="IBM Plex Sans"/>
              <a:cs typeface="IBM Plex Sans"/>
              <a:sym typeface="IBM Plex Sans"/>
            </a:endParaRPr>
          </a:p>
        </p:txBody>
      </p:sp>
      <p:sp>
        <p:nvSpPr>
          <p:cNvPr id="685" name="Google Shape;685;p98"/>
          <p:cNvSpPr/>
          <p:nvPr/>
        </p:nvSpPr>
        <p:spPr>
          <a:xfrm>
            <a:off x="1054100" y="2222450"/>
            <a:ext cx="1870583"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800"/>
              <a:buFont typeface="IBM Plex Sans"/>
              <a:buNone/>
            </a:pPr>
            <a:r>
              <a:rPr b="1" i="0" lang="en-US" sz="1800" u="none" cap="none" strike="noStrike">
                <a:solidFill>
                  <a:srgbClr val="16202E"/>
                </a:solidFill>
                <a:latin typeface="IBM Plex Sans"/>
                <a:ea typeface="IBM Plex Sans"/>
                <a:cs typeface="IBM Plex Sans"/>
                <a:sym typeface="IBM Plex Sans"/>
              </a:rPr>
              <a:t>QA pairs</a:t>
            </a:r>
            <a:endParaRPr b="0" i="0" sz="1800" u="none" cap="none" strike="noStrike">
              <a:solidFill>
                <a:schemeClr val="dk1"/>
              </a:solidFill>
              <a:latin typeface="IBM Plex Sans"/>
              <a:ea typeface="IBM Plex Sans"/>
              <a:cs typeface="IBM Plex Sans"/>
              <a:sym typeface="IBM Plex Sans"/>
            </a:endParaRPr>
          </a:p>
        </p:txBody>
      </p:sp>
      <p:sp>
        <p:nvSpPr>
          <p:cNvPr id="686" name="Google Shape;686;p98"/>
          <p:cNvSpPr/>
          <p:nvPr/>
        </p:nvSpPr>
        <p:spPr>
          <a:xfrm>
            <a:off x="1054100" y="2598341"/>
            <a:ext cx="1870583" cy="9499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Synthetic RAGAS questions + reference answers from the GEHA dental PDFs</a:t>
            </a:r>
            <a:endParaRPr b="0" i="0" sz="1300" u="none" cap="none" strike="noStrike">
              <a:solidFill>
                <a:schemeClr val="dk1"/>
              </a:solidFill>
              <a:latin typeface="IBM Plex Sans"/>
              <a:ea typeface="IBM Plex Sans"/>
              <a:cs typeface="IBM Plex Sans"/>
              <a:sym typeface="IBM Plex Sans"/>
            </a:endParaRPr>
          </a:p>
        </p:txBody>
      </p:sp>
      <p:pic>
        <p:nvPicPr>
          <p:cNvPr descr="connector" id="687" name="Google Shape;687;p98"/>
          <p:cNvPicPr preferRelativeResize="0"/>
          <p:nvPr/>
        </p:nvPicPr>
        <p:blipFill rotWithShape="1">
          <a:blip r:embed="rId3">
            <a:alphaModFix/>
          </a:blip>
          <a:srcRect b="0" l="0" r="0" t="0"/>
          <a:stretch/>
        </p:blipFill>
        <p:spPr>
          <a:xfrm>
            <a:off x="3213100" y="1666230"/>
            <a:ext cx="254000" cy="101600"/>
          </a:xfrm>
          <a:prstGeom prst="rect">
            <a:avLst/>
          </a:prstGeom>
          <a:noFill/>
          <a:ln>
            <a:noFill/>
          </a:ln>
        </p:spPr>
      </p:pic>
      <p:sp>
        <p:nvSpPr>
          <p:cNvPr id="688" name="Google Shape;688;p98"/>
          <p:cNvSpPr/>
          <p:nvPr/>
        </p:nvSpPr>
        <p:spPr>
          <a:xfrm>
            <a:off x="3575050" y="1672580"/>
            <a:ext cx="2286000" cy="2316361"/>
          </a:xfrm>
          <a:prstGeom prst="roundRect">
            <a:avLst>
              <a:gd fmla="val 5278"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98"/>
          <p:cNvSpPr/>
          <p:nvPr/>
        </p:nvSpPr>
        <p:spPr>
          <a:xfrm>
            <a:off x="3810000" y="1907530"/>
            <a:ext cx="187058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DB5"/>
              </a:buClr>
              <a:buSzPts val="1200"/>
              <a:buFont typeface="JetBrains Mono"/>
              <a:buNone/>
            </a:pPr>
            <a:r>
              <a:rPr b="0" i="0" lang="en-US" sz="1200" u="none" cap="none" strike="noStrike">
                <a:solidFill>
                  <a:srgbClr val="2F6DB5"/>
                </a:solidFill>
                <a:latin typeface="JetBrains Mono"/>
                <a:ea typeface="JetBrains Mono"/>
                <a:cs typeface="JetBrains Mono"/>
                <a:sym typeface="JetBrains Mono"/>
              </a:rPr>
              <a:t>02</a:t>
            </a:r>
            <a:endParaRPr b="0" i="0" sz="1200" u="none" cap="none" strike="noStrike">
              <a:solidFill>
                <a:schemeClr val="dk1"/>
              </a:solidFill>
              <a:latin typeface="IBM Plex Sans"/>
              <a:ea typeface="IBM Plex Sans"/>
              <a:cs typeface="IBM Plex Sans"/>
              <a:sym typeface="IBM Plex Sans"/>
            </a:endParaRPr>
          </a:p>
        </p:txBody>
      </p:sp>
      <p:sp>
        <p:nvSpPr>
          <p:cNvPr id="690" name="Google Shape;690;p98"/>
          <p:cNvSpPr/>
          <p:nvPr/>
        </p:nvSpPr>
        <p:spPr>
          <a:xfrm>
            <a:off x="3810000" y="2222450"/>
            <a:ext cx="1870583"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800"/>
              <a:buFont typeface="IBM Plex Sans"/>
              <a:buNone/>
            </a:pPr>
            <a:r>
              <a:rPr b="1" i="0" lang="en-US" sz="1800" u="none" cap="none" strike="noStrike">
                <a:solidFill>
                  <a:srgbClr val="16202E"/>
                </a:solidFill>
                <a:latin typeface="IBM Plex Sans"/>
                <a:ea typeface="IBM Plex Sans"/>
                <a:cs typeface="IBM Plex Sans"/>
                <a:sym typeface="IBM Plex Sans"/>
              </a:rPr>
              <a:t>SFT builder</a:t>
            </a:r>
            <a:endParaRPr b="0" i="0" sz="1800" u="none" cap="none" strike="noStrike">
              <a:solidFill>
                <a:schemeClr val="dk1"/>
              </a:solidFill>
              <a:latin typeface="IBM Plex Sans"/>
              <a:ea typeface="IBM Plex Sans"/>
              <a:cs typeface="IBM Plex Sans"/>
              <a:sym typeface="IBM Plex Sans"/>
            </a:endParaRPr>
          </a:p>
        </p:txBody>
      </p:sp>
      <p:sp>
        <p:nvSpPr>
          <p:cNvPr id="691" name="Google Shape;691;p98"/>
          <p:cNvSpPr/>
          <p:nvPr/>
        </p:nvSpPr>
        <p:spPr>
          <a:xfrm>
            <a:off x="3810000" y="2598341"/>
            <a:ext cx="1870583" cy="118105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Gold passage + 2 distractors, shuffled. One direct and one chain‑of‑thought target each</a:t>
            </a:r>
            <a:endParaRPr b="0" i="0" sz="1300" u="none" cap="none" strike="noStrike">
              <a:solidFill>
                <a:schemeClr val="dk1"/>
              </a:solidFill>
              <a:latin typeface="IBM Plex Sans"/>
              <a:ea typeface="IBM Plex Sans"/>
              <a:cs typeface="IBM Plex Sans"/>
              <a:sym typeface="IBM Plex Sans"/>
            </a:endParaRPr>
          </a:p>
        </p:txBody>
      </p:sp>
      <p:pic>
        <p:nvPicPr>
          <p:cNvPr descr="connector" id="692" name="Google Shape;692;p98"/>
          <p:cNvPicPr preferRelativeResize="0"/>
          <p:nvPr/>
        </p:nvPicPr>
        <p:blipFill rotWithShape="1">
          <a:blip r:embed="rId3">
            <a:alphaModFix/>
          </a:blip>
          <a:srcRect b="0" l="0" r="0" t="0"/>
          <a:stretch/>
        </p:blipFill>
        <p:spPr>
          <a:xfrm>
            <a:off x="5969000" y="1666230"/>
            <a:ext cx="254000" cy="101600"/>
          </a:xfrm>
          <a:prstGeom prst="rect">
            <a:avLst/>
          </a:prstGeom>
          <a:noFill/>
          <a:ln>
            <a:noFill/>
          </a:ln>
        </p:spPr>
      </p:pic>
      <p:sp>
        <p:nvSpPr>
          <p:cNvPr id="693" name="Google Shape;693;p98"/>
          <p:cNvSpPr/>
          <p:nvPr/>
        </p:nvSpPr>
        <p:spPr>
          <a:xfrm>
            <a:off x="6330950" y="1672580"/>
            <a:ext cx="2286000" cy="2316361"/>
          </a:xfrm>
          <a:prstGeom prst="roundRect">
            <a:avLst>
              <a:gd fmla="val 5278"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98"/>
          <p:cNvSpPr/>
          <p:nvPr/>
        </p:nvSpPr>
        <p:spPr>
          <a:xfrm>
            <a:off x="6565900" y="1907530"/>
            <a:ext cx="187058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481A"/>
              </a:buClr>
              <a:buSzPts val="1200"/>
              <a:buFont typeface="JetBrains Mono"/>
              <a:buNone/>
            </a:pPr>
            <a:r>
              <a:rPr b="0" i="0" lang="en-US" sz="1200" u="none" cap="none" strike="noStrike">
                <a:solidFill>
                  <a:srgbClr val="B4481A"/>
                </a:solidFill>
                <a:latin typeface="JetBrains Mono"/>
                <a:ea typeface="JetBrains Mono"/>
                <a:cs typeface="JetBrains Mono"/>
                <a:sym typeface="JetBrains Mono"/>
              </a:rPr>
              <a:t>03</a:t>
            </a:r>
            <a:endParaRPr b="0" i="0" sz="1200" u="none" cap="none" strike="noStrike">
              <a:solidFill>
                <a:schemeClr val="dk1"/>
              </a:solidFill>
              <a:latin typeface="IBM Plex Sans"/>
              <a:ea typeface="IBM Plex Sans"/>
              <a:cs typeface="IBM Plex Sans"/>
              <a:sym typeface="IBM Plex Sans"/>
            </a:endParaRPr>
          </a:p>
        </p:txBody>
      </p:sp>
      <p:sp>
        <p:nvSpPr>
          <p:cNvPr id="695" name="Google Shape;695;p98"/>
          <p:cNvSpPr/>
          <p:nvPr/>
        </p:nvSpPr>
        <p:spPr>
          <a:xfrm>
            <a:off x="6565900" y="2222450"/>
            <a:ext cx="1870583"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800"/>
              <a:buFont typeface="IBM Plex Sans"/>
              <a:buNone/>
            </a:pPr>
            <a:r>
              <a:rPr b="1" i="0" lang="en-US" sz="1800" u="none" cap="none" strike="noStrike">
                <a:solidFill>
                  <a:srgbClr val="16202E"/>
                </a:solidFill>
                <a:latin typeface="IBM Plex Sans"/>
                <a:ea typeface="IBM Plex Sans"/>
                <a:cs typeface="IBM Plex Sans"/>
                <a:sym typeface="IBM Plex Sans"/>
              </a:rPr>
              <a:t>LoRA training</a:t>
            </a:r>
            <a:endParaRPr b="0" i="0" sz="1800" u="none" cap="none" strike="noStrike">
              <a:solidFill>
                <a:schemeClr val="dk1"/>
              </a:solidFill>
              <a:latin typeface="IBM Plex Sans"/>
              <a:ea typeface="IBM Plex Sans"/>
              <a:cs typeface="IBM Plex Sans"/>
              <a:sym typeface="IBM Plex Sans"/>
            </a:endParaRPr>
          </a:p>
        </p:txBody>
      </p:sp>
      <p:sp>
        <p:nvSpPr>
          <p:cNvPr id="696" name="Google Shape;696;p98"/>
          <p:cNvSpPr/>
          <p:nvPr/>
        </p:nvSpPr>
        <p:spPr>
          <a:xfrm>
            <a:off x="6565900" y="2598341"/>
            <a:ext cx="1870583" cy="9499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Loss on answer tokens only. Keep the adapter with the lowest validation loss</a:t>
            </a:r>
            <a:endParaRPr b="0" i="0" sz="1300" u="none" cap="none" strike="noStrike">
              <a:solidFill>
                <a:schemeClr val="dk1"/>
              </a:solidFill>
              <a:latin typeface="IBM Plex Sans"/>
              <a:ea typeface="IBM Plex Sans"/>
              <a:cs typeface="IBM Plex Sans"/>
              <a:sym typeface="IBM Plex Sans"/>
            </a:endParaRPr>
          </a:p>
        </p:txBody>
      </p:sp>
      <p:pic>
        <p:nvPicPr>
          <p:cNvPr descr="connector" id="697" name="Google Shape;697;p98"/>
          <p:cNvPicPr preferRelativeResize="0"/>
          <p:nvPr/>
        </p:nvPicPr>
        <p:blipFill rotWithShape="1">
          <a:blip r:embed="rId3">
            <a:alphaModFix/>
          </a:blip>
          <a:srcRect b="0" l="0" r="0" t="0"/>
          <a:stretch/>
        </p:blipFill>
        <p:spPr>
          <a:xfrm>
            <a:off x="8724900" y="1666230"/>
            <a:ext cx="254000" cy="101600"/>
          </a:xfrm>
          <a:prstGeom prst="rect">
            <a:avLst/>
          </a:prstGeom>
          <a:noFill/>
          <a:ln>
            <a:noFill/>
          </a:ln>
        </p:spPr>
      </p:pic>
      <p:sp>
        <p:nvSpPr>
          <p:cNvPr id="698" name="Google Shape;698;p98"/>
          <p:cNvSpPr/>
          <p:nvPr/>
        </p:nvSpPr>
        <p:spPr>
          <a:xfrm>
            <a:off x="9086850" y="1672580"/>
            <a:ext cx="2286000" cy="2316361"/>
          </a:xfrm>
          <a:prstGeom prst="roundRect">
            <a:avLst>
              <a:gd fmla="val 5278"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98"/>
          <p:cNvSpPr/>
          <p:nvPr/>
        </p:nvSpPr>
        <p:spPr>
          <a:xfrm>
            <a:off x="9321800" y="1907530"/>
            <a:ext cx="1870583"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DB5"/>
              </a:buClr>
              <a:buSzPts val="1200"/>
              <a:buFont typeface="JetBrains Mono"/>
              <a:buNone/>
            </a:pPr>
            <a:r>
              <a:rPr b="0" i="0" lang="en-US" sz="1200" u="none" cap="none" strike="noStrike">
                <a:solidFill>
                  <a:srgbClr val="2F6DB5"/>
                </a:solidFill>
                <a:latin typeface="JetBrains Mono"/>
                <a:ea typeface="JetBrains Mono"/>
                <a:cs typeface="JetBrains Mono"/>
                <a:sym typeface="JetBrains Mono"/>
              </a:rPr>
              <a:t>04</a:t>
            </a:r>
            <a:endParaRPr b="0" i="0" sz="1200" u="none" cap="none" strike="noStrike">
              <a:solidFill>
                <a:schemeClr val="dk1"/>
              </a:solidFill>
              <a:latin typeface="IBM Plex Sans"/>
              <a:ea typeface="IBM Plex Sans"/>
              <a:cs typeface="IBM Plex Sans"/>
              <a:sym typeface="IBM Plex Sans"/>
            </a:endParaRPr>
          </a:p>
        </p:txBody>
      </p:sp>
      <p:sp>
        <p:nvSpPr>
          <p:cNvPr id="700" name="Google Shape;700;p98"/>
          <p:cNvSpPr/>
          <p:nvPr/>
        </p:nvSpPr>
        <p:spPr>
          <a:xfrm>
            <a:off x="9321800" y="2222450"/>
            <a:ext cx="1870583" cy="29969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800"/>
              <a:buFont typeface="IBM Plex Sans"/>
              <a:buNone/>
            </a:pPr>
            <a:r>
              <a:rPr b="1" i="0" lang="en-US" sz="1800" u="none" cap="none" strike="noStrike">
                <a:solidFill>
                  <a:srgbClr val="16202E"/>
                </a:solidFill>
                <a:latin typeface="IBM Plex Sans"/>
                <a:ea typeface="IBM Plex Sans"/>
                <a:cs typeface="IBM Plex Sans"/>
                <a:sym typeface="IBM Plex Sans"/>
              </a:rPr>
              <a:t>Held‑out eval</a:t>
            </a:r>
            <a:endParaRPr b="0" i="0" sz="1800" u="none" cap="none" strike="noStrike">
              <a:solidFill>
                <a:schemeClr val="dk1"/>
              </a:solidFill>
              <a:latin typeface="IBM Plex Sans"/>
              <a:ea typeface="IBM Plex Sans"/>
              <a:cs typeface="IBM Plex Sans"/>
              <a:sym typeface="IBM Plex Sans"/>
            </a:endParaRPr>
          </a:p>
        </p:txBody>
      </p:sp>
      <p:sp>
        <p:nvSpPr>
          <p:cNvPr id="701" name="Google Shape;701;p98"/>
          <p:cNvSpPr/>
          <p:nvPr/>
        </p:nvSpPr>
        <p:spPr>
          <a:xfrm>
            <a:off x="9321800" y="2598341"/>
            <a:ext cx="1870583" cy="9499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300"/>
              <a:buFont typeface="IBM Plex Sans"/>
              <a:buNone/>
            </a:pPr>
            <a:r>
              <a:rPr b="0" i="0" lang="en-US" sz="1300" u="none" cap="none" strike="noStrike">
                <a:solidFill>
                  <a:srgbClr val="4A5568"/>
                </a:solidFill>
                <a:latin typeface="IBM Plex Sans"/>
                <a:ea typeface="IBM Plex Sans"/>
                <a:cs typeface="IBM Plex Sans"/>
                <a:sym typeface="IBM Plex Sans"/>
              </a:rPr>
              <a:t>Unseen plan brochure. Base vs tuned, same prompts; only the adapter differs</a:t>
            </a:r>
            <a:endParaRPr b="0" i="0" sz="1300" u="none" cap="none" strike="noStrike">
              <a:solidFill>
                <a:schemeClr val="dk1"/>
              </a:solidFill>
              <a:latin typeface="IBM Plex Sans"/>
              <a:ea typeface="IBM Plex Sans"/>
              <a:cs typeface="IBM Plex Sans"/>
              <a:sym typeface="IBM Plex Sans"/>
            </a:endParaRPr>
          </a:p>
        </p:txBody>
      </p:sp>
      <p:sp>
        <p:nvSpPr>
          <p:cNvPr id="702" name="Google Shape;702;p98"/>
          <p:cNvSpPr/>
          <p:nvPr/>
        </p:nvSpPr>
        <p:spPr>
          <a:xfrm>
            <a:off x="812800" y="4401691"/>
            <a:ext cx="528472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400"/>
              <a:buFont typeface="IBM Plex Sans"/>
              <a:buNone/>
            </a:pPr>
            <a:r>
              <a:rPr b="1" i="0" lang="en-US" sz="1400" u="none" cap="none" strike="noStrike">
                <a:solidFill>
                  <a:srgbClr val="16202E"/>
                </a:solidFill>
                <a:latin typeface="IBM Plex Sans"/>
                <a:ea typeface="IBM Plex Sans"/>
                <a:cs typeface="IBM Plex Sans"/>
                <a:sym typeface="IBM Plex Sans"/>
              </a:rPr>
              <a:t>Why distractors:</a:t>
            </a:r>
            <a:r>
              <a:rPr b="0" i="0" lang="en-US" sz="1400" u="none" cap="none" strike="noStrike">
                <a:solidFill>
                  <a:srgbClr val="4A5568"/>
                </a:solidFill>
                <a:latin typeface="IBM Plex Sans"/>
                <a:ea typeface="IBM Plex Sans"/>
                <a:cs typeface="IBM Plex Sans"/>
                <a:sym typeface="IBM Plex Sans"/>
              </a:rPr>
              <a:t> retrieval is never perfect, so the model must learn to ignore irrelevant chunks (the RAFT recipe).</a:t>
            </a:r>
            <a:endParaRPr b="0" i="0" sz="1400" u="none" cap="none" strike="noStrike">
              <a:solidFill>
                <a:schemeClr val="dk1"/>
              </a:solidFill>
              <a:latin typeface="IBM Plex Sans"/>
              <a:ea typeface="IBM Plex Sans"/>
              <a:cs typeface="IBM Plex Sans"/>
              <a:sym typeface="IBM Plex Sans"/>
            </a:endParaRPr>
          </a:p>
        </p:txBody>
      </p:sp>
      <p:sp>
        <p:nvSpPr>
          <p:cNvPr id="703" name="Google Shape;703;p98"/>
          <p:cNvSpPr/>
          <p:nvPr/>
        </p:nvSpPr>
        <p:spPr>
          <a:xfrm>
            <a:off x="6248400" y="4401691"/>
            <a:ext cx="528472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400"/>
              <a:buFont typeface="IBM Plex Sans"/>
              <a:buNone/>
            </a:pPr>
            <a:r>
              <a:rPr b="1" i="0" lang="en-US" sz="1400" u="none" cap="none" strike="noStrike">
                <a:solidFill>
                  <a:srgbClr val="16202E"/>
                </a:solidFill>
                <a:latin typeface="IBM Plex Sans"/>
                <a:ea typeface="IBM Plex Sans"/>
                <a:cs typeface="IBM Plex Sans"/>
                <a:sym typeface="IBM Plex Sans"/>
              </a:rPr>
              <a:t>Why two formats:</a:t>
            </a:r>
            <a:r>
              <a:rPr b="0" i="0" lang="en-US" sz="1400" u="none" cap="none" strike="noStrike">
                <a:solidFill>
                  <a:srgbClr val="4A5568"/>
                </a:solidFill>
                <a:latin typeface="IBM Plex Sans"/>
                <a:ea typeface="IBM Plex Sans"/>
                <a:cs typeface="IBM Plex Sans"/>
                <a:sym typeface="IBM Plex Sans"/>
              </a:rPr>
              <a:t> mixing direct and chain‑of‑thought targets in one run is the FLAN multi‑task recipe.</a:t>
            </a:r>
            <a:endParaRPr b="0" i="0" sz="1400" u="none" cap="none" strike="noStrike">
              <a:solidFill>
                <a:schemeClr val="dk1"/>
              </a:solidFill>
              <a:latin typeface="IBM Plex Sans"/>
              <a:ea typeface="IBM Plex Sans"/>
              <a:cs typeface="IBM Plex Sans"/>
              <a:sym typeface="IBM Plex Sans"/>
            </a:endParaRPr>
          </a:p>
        </p:txBody>
      </p:sp>
      <p:sp>
        <p:nvSpPr>
          <p:cNvPr id="704" name="Google Shape;704;p9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JetBrains Mono"/>
              <a:buNone/>
            </a:pPr>
            <a:r>
              <a:rPr b="0" i="0" lang="en-US" sz="1200" u="none" cap="none" strike="noStrike">
                <a:solidFill>
                  <a:srgbClr val="6A7280"/>
                </a:solidFill>
                <a:latin typeface="JetBrains Mono"/>
                <a:ea typeface="JetBrains Mono"/>
                <a:cs typeface="JetBrains Mono"/>
                <a:sym typeface="JetBrains Mono"/>
              </a:rPr>
              <a:t>prepare_sft.py → train_lora.py → plot_loss.py → eval_generator.py</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709" name="Shape 709"/>
        <p:cNvGrpSpPr/>
        <p:nvPr/>
      </p:nvGrpSpPr>
      <p:grpSpPr>
        <a:xfrm>
          <a:off x="0" y="0"/>
          <a:ext cx="0" cy="0"/>
          <a:chOff x="0" y="0"/>
          <a:chExt cx="0" cy="0"/>
        </a:xfrm>
      </p:grpSpPr>
      <p:sp>
        <p:nvSpPr>
          <p:cNvPr id="710" name="Google Shape;710;p99"/>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One question becomes two training examples</a:t>
            </a:r>
            <a:endParaRPr sz="3200"/>
          </a:p>
        </p:txBody>
      </p:sp>
      <p:sp>
        <p:nvSpPr>
          <p:cNvPr id="711" name="Google Shape;711;p99"/>
          <p:cNvSpPr/>
          <p:nvPr/>
        </p:nvSpPr>
        <p:spPr>
          <a:xfrm>
            <a:off x="812800" y="1564630"/>
            <a:ext cx="5410200" cy="4277370"/>
          </a:xfrm>
          <a:prstGeom prst="roundRect">
            <a:avLst>
              <a:gd fmla="val 2969" name="adj"/>
            </a:avLst>
          </a:prstGeom>
          <a:solidFill>
            <a:srgbClr val="1620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99"/>
          <p:cNvSpPr/>
          <p:nvPr/>
        </p:nvSpPr>
        <p:spPr>
          <a:xfrm>
            <a:off x="1066800" y="1818630"/>
            <a:ext cx="5049266"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C98A8"/>
              </a:buClr>
              <a:buSzPts val="1200"/>
              <a:buFont typeface="JetBrains Mono"/>
              <a:buNone/>
            </a:pPr>
            <a:r>
              <a:rPr b="0" i="0" lang="en-US" sz="1200" u="none" cap="none" strike="noStrike">
                <a:solidFill>
                  <a:srgbClr val="8C98A8"/>
                </a:solidFill>
                <a:latin typeface="JetBrains Mono"/>
                <a:ea typeface="JetBrains Mono"/>
                <a:cs typeface="JetBrains Mono"/>
                <a:sym typeface="JetBrains Mono"/>
              </a:rPr>
              <a:t>PROMPT · masked, not trained on</a:t>
            </a:r>
            <a:endParaRPr b="0" i="0" sz="1200" u="none" cap="none" strike="noStrike">
              <a:solidFill>
                <a:schemeClr val="dk1"/>
              </a:solidFill>
              <a:latin typeface="IBM Plex Sans"/>
              <a:ea typeface="IBM Plex Sans"/>
              <a:cs typeface="IBM Plex Sans"/>
              <a:sym typeface="IBM Plex Sans"/>
            </a:endParaRPr>
          </a:p>
        </p:txBody>
      </p:sp>
      <p:sp>
        <p:nvSpPr>
          <p:cNvPr id="713" name="Google Shape;713;p99"/>
          <p:cNvSpPr/>
          <p:nvPr/>
        </p:nvSpPr>
        <p:spPr>
          <a:xfrm>
            <a:off x="1066800" y="2158950"/>
            <a:ext cx="5049266" cy="711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D6DCE4"/>
              </a:buClr>
              <a:buSzPts val="1200"/>
              <a:buFont typeface="JetBrains Mono"/>
              <a:buNone/>
            </a:pPr>
            <a:r>
              <a:rPr b="0" i="0" lang="en-US" sz="1200" u="none" cap="none" strike="noStrike">
                <a:solidFill>
                  <a:srgbClr val="D6DCE4"/>
                </a:solidFill>
                <a:latin typeface="JetBrains Mono"/>
                <a:ea typeface="JetBrains Mono"/>
                <a:cs typeface="JetBrains Mono"/>
                <a:sym typeface="JetBrains Mono"/>
              </a:rPr>
              <a:t>[1] guide p.6 · Plan features </a:t>
            </a:r>
            <a:r>
              <a:rPr b="0" i="0" lang="en-US" sz="1200" u="none" cap="none" strike="noStrike">
                <a:solidFill>
                  <a:srgbClr val="8C98A8"/>
                </a:solidFill>
                <a:latin typeface="JetBrains Mono"/>
                <a:ea typeface="JetBrains Mono"/>
                <a:cs typeface="JetBrains Mono"/>
                <a:sym typeface="JetBrains Mono"/>
              </a:rPr>
              <a:t>(distractor)</a:t>
            </a:r>
            <a:endParaRPr b="0" i="0" sz="1200" u="none" cap="none" strike="noStrike">
              <a:solidFill>
                <a:schemeClr val="dk1"/>
              </a:solidFill>
              <a:latin typeface="IBM Plex Sans"/>
              <a:ea typeface="IBM Plex Sans"/>
              <a:cs typeface="IBM Plex Sans"/>
              <a:sym typeface="IBM Plex Sans"/>
            </a:endParaRPr>
          </a:p>
          <a:p>
            <a:pPr indent="0" lvl="0" marL="0" marR="0" rtl="0" algn="l">
              <a:lnSpc>
                <a:spcPct val="150000"/>
              </a:lnSpc>
              <a:spcBef>
                <a:spcPts val="0"/>
              </a:spcBef>
              <a:spcAft>
                <a:spcPts val="0"/>
              </a:spcAft>
              <a:buClr>
                <a:srgbClr val="D6DCE4"/>
              </a:buClr>
              <a:buSzPts val="1200"/>
              <a:buFont typeface="JetBrains Mono"/>
              <a:buNone/>
            </a:pPr>
            <a:r>
              <a:rPr b="0" i="0" lang="en-US" sz="1200" u="none" cap="none" strike="noStrike">
                <a:solidFill>
                  <a:srgbClr val="D6DCE4"/>
                </a:solidFill>
                <a:latin typeface="JetBrains Mono"/>
                <a:ea typeface="JetBrains Mono"/>
                <a:cs typeface="JetBrains Mono"/>
                <a:sym typeface="JetBrains Mono"/>
              </a:rPr>
              <a:t>[2] guide p.2 · Contact us </a:t>
            </a:r>
            <a:r>
              <a:rPr b="0" i="0" lang="en-US" sz="1200" u="none" cap="none" strike="noStrike">
                <a:solidFill>
                  <a:srgbClr val="F08A5D"/>
                </a:solidFill>
                <a:latin typeface="JetBrains Mono"/>
                <a:ea typeface="JetBrains Mono"/>
                <a:cs typeface="JetBrains Mono"/>
                <a:sym typeface="JetBrains Mono"/>
              </a:rPr>
              <a:t>(gold)</a:t>
            </a:r>
            <a:endParaRPr b="0" i="0" sz="1200" u="none" cap="none" strike="noStrike">
              <a:solidFill>
                <a:schemeClr val="dk1"/>
              </a:solidFill>
              <a:latin typeface="IBM Plex Sans"/>
              <a:ea typeface="IBM Plex Sans"/>
              <a:cs typeface="IBM Plex Sans"/>
              <a:sym typeface="IBM Plex Sans"/>
            </a:endParaRPr>
          </a:p>
          <a:p>
            <a:pPr indent="0" lvl="0" marL="0" marR="0" rtl="0" algn="l">
              <a:lnSpc>
                <a:spcPct val="150000"/>
              </a:lnSpc>
              <a:spcBef>
                <a:spcPts val="0"/>
              </a:spcBef>
              <a:spcAft>
                <a:spcPts val="0"/>
              </a:spcAft>
              <a:buClr>
                <a:srgbClr val="D6DCE4"/>
              </a:buClr>
              <a:buSzPts val="1200"/>
              <a:buFont typeface="JetBrains Mono"/>
              <a:buNone/>
            </a:pPr>
            <a:r>
              <a:rPr b="0" i="0" lang="en-US" sz="1200" u="none" cap="none" strike="noStrike">
                <a:solidFill>
                  <a:srgbClr val="D6DCE4"/>
                </a:solidFill>
                <a:latin typeface="JetBrains Mono"/>
                <a:ea typeface="JetBrains Mono"/>
                <a:cs typeface="JetBrains Mono"/>
                <a:sym typeface="JetBrains Mono"/>
              </a:rPr>
              <a:t>[3] guide p.4 · Both plans include </a:t>
            </a:r>
            <a:r>
              <a:rPr b="0" i="0" lang="en-US" sz="1200" u="none" cap="none" strike="noStrike">
                <a:solidFill>
                  <a:srgbClr val="8C98A8"/>
                </a:solidFill>
                <a:latin typeface="JetBrains Mono"/>
                <a:ea typeface="JetBrains Mono"/>
                <a:cs typeface="JetBrains Mono"/>
                <a:sym typeface="JetBrains Mono"/>
              </a:rPr>
              <a:t>(distractor)</a:t>
            </a:r>
            <a:endParaRPr b="0" i="0" sz="1200" u="none" cap="none" strike="noStrike">
              <a:solidFill>
                <a:schemeClr val="dk1"/>
              </a:solidFill>
              <a:latin typeface="IBM Plex Sans"/>
              <a:ea typeface="IBM Plex Sans"/>
              <a:cs typeface="IBM Plex Sans"/>
              <a:sym typeface="IBM Plex Sans"/>
            </a:endParaRPr>
          </a:p>
        </p:txBody>
      </p:sp>
      <p:sp>
        <p:nvSpPr>
          <p:cNvPr id="714" name="Google Shape;714;p99"/>
          <p:cNvSpPr/>
          <p:nvPr/>
        </p:nvSpPr>
        <p:spPr>
          <a:xfrm>
            <a:off x="1066800" y="2971750"/>
            <a:ext cx="5049266" cy="4826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F3F1EA"/>
              </a:buClr>
              <a:buSzPts val="1200"/>
              <a:buFont typeface="JetBrains Mono"/>
              <a:buNone/>
            </a:pPr>
            <a:r>
              <a:rPr b="0" i="0" lang="en-US" sz="1200" u="none" cap="none" strike="noStrike">
                <a:solidFill>
                  <a:srgbClr val="F3F1EA"/>
                </a:solidFill>
                <a:latin typeface="JetBrains Mono"/>
                <a:ea typeface="JetBrains Mono"/>
                <a:cs typeface="JetBrains Mono"/>
                <a:sym typeface="JetBrains Mono"/>
              </a:rPr>
              <a:t>Question: What is the phone number to contact a FedViser for GEHA dental benefits?</a:t>
            </a:r>
            <a:endParaRPr b="0" i="0" sz="1200" u="none" cap="none" strike="noStrike">
              <a:solidFill>
                <a:schemeClr val="dk1"/>
              </a:solidFill>
              <a:latin typeface="IBM Plex Sans"/>
              <a:ea typeface="IBM Plex Sans"/>
              <a:cs typeface="IBM Plex Sans"/>
              <a:sym typeface="IBM Plex Sans"/>
            </a:endParaRPr>
          </a:p>
        </p:txBody>
      </p:sp>
      <p:sp>
        <p:nvSpPr>
          <p:cNvPr id="715" name="Google Shape;715;p99"/>
          <p:cNvSpPr/>
          <p:nvPr/>
        </p:nvSpPr>
        <p:spPr>
          <a:xfrm>
            <a:off x="6483350" y="1570980"/>
            <a:ext cx="4889500" cy="1170880"/>
          </a:xfrm>
          <a:prstGeom prst="roundRect">
            <a:avLst>
              <a:gd fmla="val 10304"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99"/>
          <p:cNvSpPr/>
          <p:nvPr/>
        </p:nvSpPr>
        <p:spPr>
          <a:xfrm>
            <a:off x="6692900" y="1780530"/>
            <a:ext cx="46045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F6DB5"/>
              </a:buClr>
              <a:buSzPts val="1200"/>
              <a:buFont typeface="JetBrains Mono"/>
              <a:buNone/>
            </a:pPr>
            <a:r>
              <a:rPr b="0" i="0" lang="en-US" sz="1200" u="none" cap="none" strike="noStrike">
                <a:solidFill>
                  <a:srgbClr val="2F6DB5"/>
                </a:solidFill>
                <a:latin typeface="JetBrains Mono"/>
                <a:ea typeface="JetBrains Mono"/>
                <a:cs typeface="JetBrains Mono"/>
                <a:sym typeface="JetBrains Mono"/>
              </a:rPr>
              <a:t>DIRECT TARGET · trained on</a:t>
            </a:r>
            <a:endParaRPr b="0" i="0" sz="1200" u="none" cap="none" strike="noStrike">
              <a:solidFill>
                <a:schemeClr val="dk1"/>
              </a:solidFill>
              <a:latin typeface="IBM Plex Sans"/>
              <a:ea typeface="IBM Plex Sans"/>
              <a:cs typeface="IBM Plex Sans"/>
              <a:sym typeface="IBM Plex Sans"/>
            </a:endParaRPr>
          </a:p>
        </p:txBody>
      </p:sp>
      <p:sp>
        <p:nvSpPr>
          <p:cNvPr id="717" name="Google Shape;717;p99"/>
          <p:cNvSpPr/>
          <p:nvPr/>
        </p:nvSpPr>
        <p:spPr>
          <a:xfrm>
            <a:off x="6692900" y="2070050"/>
            <a:ext cx="4604512" cy="4876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300"/>
              <a:buFont typeface="IBM Plex Sans"/>
              <a:buNone/>
            </a:pPr>
            <a:r>
              <a:rPr b="0" i="0" lang="en-US" sz="1300" u="none" cap="none" strike="noStrike">
                <a:solidFill>
                  <a:srgbClr val="16202E"/>
                </a:solidFill>
                <a:latin typeface="IBM Plex Sans"/>
                <a:ea typeface="IBM Plex Sans"/>
                <a:cs typeface="IBM Plex Sans"/>
                <a:sym typeface="IBM Plex Sans"/>
              </a:rPr>
              <a:t>You can reach a FedViser … by calling 1‑855‑572‑1636 Monday through Friday from 8 a.m. to 8 p.m. Eastern time.</a:t>
            </a:r>
            <a:endParaRPr b="0" i="0" sz="1300" u="none" cap="none" strike="noStrike">
              <a:solidFill>
                <a:schemeClr val="dk1"/>
              </a:solidFill>
              <a:latin typeface="IBM Plex Sans"/>
              <a:ea typeface="IBM Plex Sans"/>
              <a:cs typeface="IBM Plex Sans"/>
              <a:sym typeface="IBM Plex Sans"/>
            </a:endParaRPr>
          </a:p>
        </p:txBody>
      </p:sp>
      <p:sp>
        <p:nvSpPr>
          <p:cNvPr id="718" name="Google Shape;718;p99"/>
          <p:cNvSpPr/>
          <p:nvPr/>
        </p:nvSpPr>
        <p:spPr>
          <a:xfrm>
            <a:off x="6483350" y="2906961"/>
            <a:ext cx="4889500" cy="1851620"/>
          </a:xfrm>
          <a:prstGeom prst="roundRect">
            <a:avLst>
              <a:gd fmla="val 6516"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99"/>
          <p:cNvSpPr/>
          <p:nvPr/>
        </p:nvSpPr>
        <p:spPr>
          <a:xfrm>
            <a:off x="6692900" y="3116511"/>
            <a:ext cx="460451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481A"/>
              </a:buClr>
              <a:buSzPts val="1200"/>
              <a:buFont typeface="JetBrains Mono"/>
              <a:buNone/>
            </a:pPr>
            <a:r>
              <a:rPr b="0" i="0" lang="en-US" sz="1200" u="none" cap="none" strike="noStrike">
                <a:solidFill>
                  <a:srgbClr val="B4481A"/>
                </a:solidFill>
                <a:latin typeface="JetBrains Mono"/>
                <a:ea typeface="JetBrains Mono"/>
                <a:cs typeface="JetBrains Mono"/>
                <a:sym typeface="JetBrains Mono"/>
              </a:rPr>
              <a:t>CHAIN‑OF‑THOUGHT TARGET · trained on</a:t>
            </a:r>
            <a:endParaRPr b="0" i="0" sz="1200" u="none" cap="none" strike="noStrike">
              <a:solidFill>
                <a:schemeClr val="dk1"/>
              </a:solidFill>
              <a:latin typeface="IBM Plex Sans"/>
              <a:ea typeface="IBM Plex Sans"/>
              <a:cs typeface="IBM Plex Sans"/>
              <a:sym typeface="IBM Plex Sans"/>
            </a:endParaRPr>
          </a:p>
        </p:txBody>
      </p:sp>
      <p:sp>
        <p:nvSpPr>
          <p:cNvPr id="720" name="Google Shape;720;p99"/>
          <p:cNvSpPr/>
          <p:nvPr/>
        </p:nvSpPr>
        <p:spPr>
          <a:xfrm>
            <a:off x="6692900" y="3406031"/>
            <a:ext cx="4604512" cy="1168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Evidence:</a:t>
            </a:r>
            <a:endParaRPr b="0" i="0" sz="1200" u="none" cap="none" strike="noStrike">
              <a:solidFill>
                <a:schemeClr val="dk1"/>
              </a:solidFill>
              <a:latin typeface="IBM Plex Sans"/>
              <a:ea typeface="IBM Plex Sans"/>
              <a:cs typeface="IBM Plex Sans"/>
              <a:sym typeface="IBM Plex Sans"/>
            </a:endParaRPr>
          </a:p>
          <a:p>
            <a:pPr indent="0" lvl="0" marL="0" marR="0" rtl="0" algn="l">
              <a:lnSpc>
                <a:spcPct val="15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 [2] “Reach a FedViser Monday‑Friday from 8 a.m.‑8 p.m.”</a:t>
            </a:r>
            <a:endParaRPr b="0" i="0" sz="1200" u="none" cap="none" strike="noStrike">
              <a:solidFill>
                <a:schemeClr val="dk1"/>
              </a:solidFill>
              <a:latin typeface="IBM Plex Sans"/>
              <a:ea typeface="IBM Plex Sans"/>
              <a:cs typeface="IBM Plex Sans"/>
              <a:sym typeface="IBM Plex Sans"/>
            </a:endParaRPr>
          </a:p>
          <a:p>
            <a:pPr indent="0" lvl="0" marL="0" marR="0" rtl="0" algn="l">
              <a:lnSpc>
                <a:spcPct val="15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Answer: You can reach a FedViser … 1‑855‑572‑1636 …</a:t>
            </a:r>
            <a:endParaRPr b="0" i="0" sz="1200" u="none" cap="none" strike="noStrike">
              <a:solidFill>
                <a:schemeClr val="dk1"/>
              </a:solidFill>
              <a:latin typeface="IBM Plex Sans"/>
              <a:ea typeface="IBM Plex Sans"/>
              <a:cs typeface="IBM Plex Sans"/>
              <a:sym typeface="IBM Plex Sans"/>
            </a:endParaRPr>
          </a:p>
        </p:txBody>
      </p:sp>
      <p:sp>
        <p:nvSpPr>
          <p:cNvPr id="721" name="Google Shape;721;p99"/>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Real example ragas‑0002 (abridged). Evidence is extractive: the gold sentences that overlap the reference answer most.</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726" name="Shape 726"/>
        <p:cNvGrpSpPr/>
        <p:nvPr/>
      </p:nvGrpSpPr>
      <p:grpSpPr>
        <a:xfrm>
          <a:off x="0" y="0"/>
          <a:ext cx="0" cy="0"/>
          <a:chOff x="0" y="0"/>
          <a:chExt cx="0" cy="0"/>
        </a:xfrm>
      </p:grpSpPr>
      <p:sp>
        <p:nvSpPr>
          <p:cNvPr id="727" name="Google Shape;727;p100"/>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Data splits: the test set is a different document</a:t>
            </a:r>
            <a:endParaRPr sz="3200"/>
          </a:p>
        </p:txBody>
      </p:sp>
      <p:graphicFrame>
        <p:nvGraphicFramePr>
          <p:cNvPr id="728" name="Google Shape;728;p100"/>
          <p:cNvGraphicFramePr/>
          <p:nvPr/>
        </p:nvGraphicFramePr>
        <p:xfrm>
          <a:off x="825500" y="1628130"/>
          <a:ext cx="3000000" cy="3000000"/>
        </p:xfrm>
        <a:graphic>
          <a:graphicData uri="http://schemas.openxmlformats.org/drawingml/2006/table">
            <a:tbl>
              <a:tblPr>
                <a:noFill/>
                <a:tableStyleId>{EEE02795-A6B7-4247-B71C-ED7A564BFD40}</a:tableStyleId>
              </a:tblPr>
              <a:tblGrid>
                <a:gridCol w="2190650"/>
                <a:gridCol w="1417475"/>
                <a:gridCol w="1417475"/>
                <a:gridCol w="1417475"/>
              </a:tblGrid>
              <a:tr h="386000">
                <a:tc>
                  <a:txBody>
                    <a:bodyPr/>
                    <a:lstStyle/>
                    <a:p>
                      <a:pPr indent="0" lvl="0" marL="0" marR="0" rtl="0" algn="l">
                        <a:lnSpc>
                          <a:spcPct val="140000"/>
                        </a:lnSpc>
                        <a:spcBef>
                          <a:spcPts val="0"/>
                        </a:spcBef>
                        <a:spcAft>
                          <a:spcPts val="0"/>
                        </a:spcAft>
                        <a:buClr>
                          <a:schemeClr val="dk1"/>
                        </a:buClr>
                        <a:buSzPts val="1400"/>
                        <a:buFont typeface="IBM Plex Sans"/>
                        <a:buNone/>
                      </a:pPr>
                      <a:r>
                        <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b="1" lang="en-US" sz="1400" u="none" cap="none" strike="noStrike">
                          <a:solidFill>
                            <a:srgbClr val="16202E"/>
                          </a:solidFill>
                          <a:latin typeface="IBM Plex Sans"/>
                          <a:ea typeface="IBM Plex Sans"/>
                          <a:cs typeface="IBM Plex Sans"/>
                          <a:sym typeface="IBM Plex Sans"/>
                        </a:rPr>
                        <a:t>train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b="1" lang="en-US" sz="1400" u="none" cap="none" strike="noStrike">
                          <a:solidFill>
                            <a:srgbClr val="16202E"/>
                          </a:solidFill>
                          <a:latin typeface="IBM Plex Sans"/>
                          <a:ea typeface="IBM Plex Sans"/>
                          <a:cs typeface="IBM Plex Sans"/>
                          <a:sym typeface="IBM Plex Sans"/>
                        </a:rPr>
                        <a:t>validation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b="1" lang="en-US" sz="1400" u="none" cap="none" strike="noStrike">
                          <a:solidFill>
                            <a:srgbClr val="16202E"/>
                          </a:solidFill>
                          <a:latin typeface="IBM Plex Sans"/>
                          <a:ea typeface="IBM Plex Sans"/>
                          <a:cs typeface="IBM Plex Sans"/>
                          <a:sym typeface="IBM Plex Sans"/>
                        </a:rPr>
                        <a:t>test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Document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guide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guide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brochure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Sections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22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6</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72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QA pairs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78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24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41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SFT examples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156</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48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82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Distractor pool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34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167</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Prompt tokens, mean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990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702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1,251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Answer tokens, mean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135</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120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199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r>
            </a:tbl>
          </a:graphicData>
        </a:graphic>
      </p:graphicFrame>
      <p:sp>
        <p:nvSpPr>
          <p:cNvPr id="729" name="Google Shape;729;p100"/>
          <p:cNvSpPr/>
          <p:nvPr/>
        </p:nvSpPr>
        <p:spPr>
          <a:xfrm>
            <a:off x="7630567" y="1621780"/>
            <a:ext cx="3742283" cy="3088084"/>
          </a:xfrm>
          <a:prstGeom prst="roundRect">
            <a:avLst>
              <a:gd fmla="val 3907"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00"/>
          <p:cNvSpPr/>
          <p:nvPr/>
        </p:nvSpPr>
        <p:spPr>
          <a:xfrm>
            <a:off x="7890917" y="1882130"/>
            <a:ext cx="3318231" cy="2692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600"/>
              <a:buFont typeface="IBM Plex Sans"/>
              <a:buNone/>
            </a:pPr>
            <a:r>
              <a:rPr b="1" i="0" lang="en-US" sz="1600" u="none" cap="none" strike="noStrike">
                <a:solidFill>
                  <a:srgbClr val="16202E"/>
                </a:solidFill>
                <a:latin typeface="IBM Plex Sans"/>
                <a:ea typeface="IBM Plex Sans"/>
                <a:cs typeface="IBM Plex Sans"/>
                <a:sym typeface="IBM Plex Sans"/>
              </a:rPr>
              <a:t>Leakage checks: 5 of 5 pass</a:t>
            </a:r>
            <a:endParaRPr b="0" i="0" sz="1600" u="none" cap="none" strike="noStrike">
              <a:solidFill>
                <a:schemeClr val="dk1"/>
              </a:solidFill>
              <a:latin typeface="IBM Plex Sans"/>
              <a:ea typeface="IBM Plex Sans"/>
              <a:cs typeface="IBM Plex Sans"/>
              <a:sym typeface="IBM Plex Sans"/>
            </a:endParaRPr>
          </a:p>
        </p:txBody>
      </p:sp>
      <p:pic>
        <p:nvPicPr>
          <p:cNvPr descr="CheckCircle" id="731" name="Google Shape;731;p100"/>
          <p:cNvPicPr preferRelativeResize="0"/>
          <p:nvPr/>
        </p:nvPicPr>
        <p:blipFill rotWithShape="1">
          <a:blip r:embed="rId3">
            <a:alphaModFix/>
          </a:blip>
          <a:srcRect b="0" l="0" r="0" t="0"/>
          <a:stretch/>
        </p:blipFill>
        <p:spPr>
          <a:xfrm>
            <a:off x="7890917" y="2266900"/>
            <a:ext cx="203200" cy="203200"/>
          </a:xfrm>
          <a:prstGeom prst="rect">
            <a:avLst/>
          </a:prstGeom>
          <a:noFill/>
          <a:ln>
            <a:noFill/>
          </a:ln>
        </p:spPr>
      </p:pic>
      <p:sp>
        <p:nvSpPr>
          <p:cNvPr id="732" name="Google Shape;732;p100"/>
          <p:cNvSpPr/>
          <p:nvPr/>
        </p:nvSpPr>
        <p:spPr>
          <a:xfrm>
            <a:off x="8195717" y="2252960"/>
            <a:ext cx="1851839"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300"/>
              <a:buFont typeface="IBM Plex Sans"/>
              <a:buNone/>
            </a:pPr>
            <a:r>
              <a:rPr b="0" i="0" lang="en-US" sz="1300" u="none" cap="none" strike="noStrike">
                <a:solidFill>
                  <a:srgbClr val="16202E"/>
                </a:solidFill>
                <a:latin typeface="IBM Plex Sans"/>
                <a:ea typeface="IBM Plex Sans"/>
                <a:cs typeface="IBM Plex Sans"/>
                <a:sym typeface="IBM Plex Sans"/>
              </a:rPr>
              <a:t>No shared chunk IDs</a:t>
            </a:r>
            <a:endParaRPr b="0" i="0" sz="1300" u="none" cap="none" strike="noStrike">
              <a:solidFill>
                <a:schemeClr val="dk1"/>
              </a:solidFill>
              <a:latin typeface="IBM Plex Sans"/>
              <a:ea typeface="IBM Plex Sans"/>
              <a:cs typeface="IBM Plex Sans"/>
              <a:sym typeface="IBM Plex Sans"/>
            </a:endParaRPr>
          </a:p>
        </p:txBody>
      </p:sp>
      <p:pic>
        <p:nvPicPr>
          <p:cNvPr descr="CheckCircle" id="733" name="Google Shape;733;p100"/>
          <p:cNvPicPr preferRelativeResize="0"/>
          <p:nvPr/>
        </p:nvPicPr>
        <p:blipFill rotWithShape="1">
          <a:blip r:embed="rId3">
            <a:alphaModFix/>
          </a:blip>
          <a:srcRect b="0" l="0" r="0" t="0"/>
          <a:stretch/>
        </p:blipFill>
        <p:spPr>
          <a:xfrm>
            <a:off x="7890917" y="2625030"/>
            <a:ext cx="203200" cy="203200"/>
          </a:xfrm>
          <a:prstGeom prst="rect">
            <a:avLst/>
          </a:prstGeom>
          <a:noFill/>
          <a:ln>
            <a:noFill/>
          </a:ln>
        </p:spPr>
      </p:pic>
      <p:sp>
        <p:nvSpPr>
          <p:cNvPr id="734" name="Google Shape;734;p100"/>
          <p:cNvSpPr/>
          <p:nvPr/>
        </p:nvSpPr>
        <p:spPr>
          <a:xfrm>
            <a:off x="8195717" y="2611090"/>
            <a:ext cx="226593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300"/>
              <a:buFont typeface="IBM Plex Sans"/>
              <a:buNone/>
            </a:pPr>
            <a:r>
              <a:rPr b="0" i="0" lang="en-US" sz="1300" u="none" cap="none" strike="noStrike">
                <a:solidFill>
                  <a:srgbClr val="16202E"/>
                </a:solidFill>
                <a:latin typeface="IBM Plex Sans"/>
                <a:ea typeface="IBM Plex Sans"/>
                <a:cs typeface="IBM Plex Sans"/>
                <a:sym typeface="IBM Plex Sans"/>
              </a:rPr>
              <a:t>Train/val sections disjoint</a:t>
            </a:r>
            <a:endParaRPr b="0" i="0" sz="1300" u="none" cap="none" strike="noStrike">
              <a:solidFill>
                <a:schemeClr val="dk1"/>
              </a:solidFill>
              <a:latin typeface="IBM Plex Sans"/>
              <a:ea typeface="IBM Plex Sans"/>
              <a:cs typeface="IBM Plex Sans"/>
              <a:sym typeface="IBM Plex Sans"/>
            </a:endParaRPr>
          </a:p>
        </p:txBody>
      </p:sp>
      <p:pic>
        <p:nvPicPr>
          <p:cNvPr descr="CheckCircle" id="735" name="Google Shape;735;p100"/>
          <p:cNvPicPr preferRelativeResize="0"/>
          <p:nvPr/>
        </p:nvPicPr>
        <p:blipFill rotWithShape="1">
          <a:blip r:embed="rId3">
            <a:alphaModFix/>
          </a:blip>
          <a:srcRect b="0" l="0" r="0" t="0"/>
          <a:stretch/>
        </p:blipFill>
        <p:spPr>
          <a:xfrm>
            <a:off x="7890917" y="2983161"/>
            <a:ext cx="203200" cy="203200"/>
          </a:xfrm>
          <a:prstGeom prst="rect">
            <a:avLst/>
          </a:prstGeom>
          <a:noFill/>
          <a:ln>
            <a:noFill/>
          </a:ln>
        </p:spPr>
      </p:pic>
      <p:sp>
        <p:nvSpPr>
          <p:cNvPr id="736" name="Google Shape;736;p100"/>
          <p:cNvSpPr/>
          <p:nvPr/>
        </p:nvSpPr>
        <p:spPr>
          <a:xfrm>
            <a:off x="8195717" y="2969220"/>
            <a:ext cx="2020848"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300"/>
              <a:buFont typeface="IBM Plex Sans"/>
              <a:buNone/>
            </a:pPr>
            <a:r>
              <a:rPr b="0" i="0" lang="en-US" sz="1300" u="none" cap="none" strike="noStrike">
                <a:solidFill>
                  <a:srgbClr val="16202E"/>
                </a:solidFill>
                <a:latin typeface="IBM Plex Sans"/>
                <a:ea typeface="IBM Plex Sans"/>
                <a:cs typeface="IBM Plex Sans"/>
                <a:sym typeface="IBM Plex Sans"/>
              </a:rPr>
              <a:t>Test document unseen</a:t>
            </a:r>
            <a:endParaRPr b="0" i="0" sz="1300" u="none" cap="none" strike="noStrike">
              <a:solidFill>
                <a:schemeClr val="dk1"/>
              </a:solidFill>
              <a:latin typeface="IBM Plex Sans"/>
              <a:ea typeface="IBM Plex Sans"/>
              <a:cs typeface="IBM Plex Sans"/>
              <a:sym typeface="IBM Plex Sans"/>
            </a:endParaRPr>
          </a:p>
        </p:txBody>
      </p:sp>
      <p:pic>
        <p:nvPicPr>
          <p:cNvPr descr="CheckCircle" id="737" name="Google Shape;737;p100"/>
          <p:cNvPicPr preferRelativeResize="0"/>
          <p:nvPr/>
        </p:nvPicPr>
        <p:blipFill rotWithShape="1">
          <a:blip r:embed="rId3">
            <a:alphaModFix/>
          </a:blip>
          <a:srcRect b="0" l="0" r="0" t="0"/>
          <a:stretch/>
        </p:blipFill>
        <p:spPr>
          <a:xfrm>
            <a:off x="7890917" y="3341291"/>
            <a:ext cx="203200" cy="203200"/>
          </a:xfrm>
          <a:prstGeom prst="rect">
            <a:avLst/>
          </a:prstGeom>
          <a:noFill/>
          <a:ln>
            <a:noFill/>
          </a:ln>
        </p:spPr>
      </p:pic>
      <p:sp>
        <p:nvSpPr>
          <p:cNvPr id="738" name="Google Shape;738;p100"/>
          <p:cNvSpPr/>
          <p:nvPr/>
        </p:nvSpPr>
        <p:spPr>
          <a:xfrm>
            <a:off x="8195717" y="3327350"/>
            <a:ext cx="2017276"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300"/>
              <a:buFont typeface="IBM Plex Sans"/>
              <a:buNone/>
            </a:pPr>
            <a:r>
              <a:rPr b="0" i="0" lang="en-US" sz="1300" u="none" cap="none" strike="noStrike">
                <a:solidFill>
                  <a:srgbClr val="16202E"/>
                </a:solidFill>
                <a:latin typeface="IBM Plex Sans"/>
                <a:ea typeface="IBM Plex Sans"/>
                <a:cs typeface="IBM Plex Sans"/>
                <a:sym typeface="IBM Plex Sans"/>
              </a:rPr>
              <a:t>No repeated questions</a:t>
            </a:r>
            <a:endParaRPr b="0" i="0" sz="1300" u="none" cap="none" strike="noStrike">
              <a:solidFill>
                <a:schemeClr val="dk1"/>
              </a:solidFill>
              <a:latin typeface="IBM Plex Sans"/>
              <a:ea typeface="IBM Plex Sans"/>
              <a:cs typeface="IBM Plex Sans"/>
              <a:sym typeface="IBM Plex Sans"/>
            </a:endParaRPr>
          </a:p>
        </p:txBody>
      </p:sp>
      <p:pic>
        <p:nvPicPr>
          <p:cNvPr descr="CheckCircle" id="739" name="Google Shape;739;p100"/>
          <p:cNvPicPr preferRelativeResize="0"/>
          <p:nvPr/>
        </p:nvPicPr>
        <p:blipFill rotWithShape="1">
          <a:blip r:embed="rId3">
            <a:alphaModFix/>
          </a:blip>
          <a:srcRect b="0" l="0" r="0" t="0"/>
          <a:stretch/>
        </p:blipFill>
        <p:spPr>
          <a:xfrm>
            <a:off x="7890917" y="3699421"/>
            <a:ext cx="203200" cy="203200"/>
          </a:xfrm>
          <a:prstGeom prst="rect">
            <a:avLst/>
          </a:prstGeom>
          <a:noFill/>
          <a:ln>
            <a:noFill/>
          </a:ln>
        </p:spPr>
      </p:pic>
      <p:sp>
        <p:nvSpPr>
          <p:cNvPr id="740" name="Google Shape;740;p100"/>
          <p:cNvSpPr/>
          <p:nvPr/>
        </p:nvSpPr>
        <p:spPr>
          <a:xfrm>
            <a:off x="8195717" y="3685480"/>
            <a:ext cx="2145090" cy="2565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300"/>
              <a:buFont typeface="IBM Plex Sans"/>
              <a:buNone/>
            </a:pPr>
            <a:r>
              <a:rPr b="0" i="0" lang="en-US" sz="1300" u="none" cap="none" strike="noStrike">
                <a:solidFill>
                  <a:srgbClr val="16202E"/>
                </a:solidFill>
                <a:latin typeface="IBM Plex Sans"/>
                <a:ea typeface="IBM Plex Sans"/>
                <a:cs typeface="IBM Plex Sans"/>
                <a:sym typeface="IBM Plex Sans"/>
              </a:rPr>
              <a:t>Sources inside own split</a:t>
            </a:r>
            <a:endParaRPr b="0" i="0" sz="1300" u="none" cap="none" strike="noStrike">
              <a:solidFill>
                <a:schemeClr val="dk1"/>
              </a:solidFill>
              <a:latin typeface="IBM Plex Sans"/>
              <a:ea typeface="IBM Plex Sans"/>
              <a:cs typeface="IBM Plex Sans"/>
              <a:sym typeface="IBM Plex Sans"/>
            </a:endParaRPr>
          </a:p>
        </p:txBody>
      </p:sp>
      <p:sp>
        <p:nvSpPr>
          <p:cNvPr id="741" name="Google Shape;741;p100"/>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Guide = 2026 GEHA dental benefits guide · Brochure = 2026 plan brochure · Report: results/data_splits.md</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746" name="Shape 746"/>
        <p:cNvGrpSpPr/>
        <p:nvPr/>
      </p:nvGrpSpPr>
      <p:grpSpPr>
        <a:xfrm>
          <a:off x="0" y="0"/>
          <a:ext cx="0" cy="0"/>
          <a:chOff x="0" y="0"/>
          <a:chExt cx="0" cy="0"/>
        </a:xfrm>
      </p:grpSpPr>
      <p:sp>
        <p:nvSpPr>
          <p:cNvPr id="747" name="Google Shape;747;p101"/>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The model: a frozen 1.5B base with a small adapter</a:t>
            </a:r>
            <a:endParaRPr sz="3200"/>
          </a:p>
        </p:txBody>
      </p:sp>
      <p:sp>
        <p:nvSpPr>
          <p:cNvPr id="748" name="Google Shape;748;p101"/>
          <p:cNvSpPr/>
          <p:nvPr/>
        </p:nvSpPr>
        <p:spPr>
          <a:xfrm>
            <a:off x="819150" y="1621780"/>
            <a:ext cx="2476500" cy="1931591"/>
          </a:xfrm>
          <a:prstGeom prst="roundRect">
            <a:avLst>
              <a:gd fmla="val 6246"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01"/>
          <p:cNvSpPr/>
          <p:nvPr/>
        </p:nvSpPr>
        <p:spPr>
          <a:xfrm>
            <a:off x="1079500" y="1882130"/>
            <a:ext cx="2014474"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6202E"/>
              </a:buClr>
              <a:buSzPts val="4400"/>
              <a:buFont typeface="IBM Plex Sans"/>
              <a:buNone/>
            </a:pPr>
            <a:r>
              <a:rPr b="1" i="0" lang="en-US" sz="4400" u="none" cap="none" strike="noStrike">
                <a:solidFill>
                  <a:srgbClr val="16202E"/>
                </a:solidFill>
                <a:latin typeface="IBM Plex Sans"/>
                <a:ea typeface="IBM Plex Sans"/>
                <a:cs typeface="IBM Plex Sans"/>
                <a:sym typeface="IBM Plex Sans"/>
              </a:rPr>
              <a:t>1.5B</a:t>
            </a:r>
            <a:endParaRPr b="0" i="0" sz="4400" u="none" cap="none" strike="noStrike">
              <a:solidFill>
                <a:schemeClr val="dk1"/>
              </a:solidFill>
              <a:latin typeface="IBM Plex Sans"/>
              <a:ea typeface="IBM Plex Sans"/>
              <a:cs typeface="IBM Plex Sans"/>
              <a:sym typeface="IBM Plex Sans"/>
            </a:endParaRPr>
          </a:p>
        </p:txBody>
      </p:sp>
      <p:sp>
        <p:nvSpPr>
          <p:cNvPr id="750" name="Google Shape;750;p101"/>
          <p:cNvSpPr/>
          <p:nvPr/>
        </p:nvSpPr>
        <p:spPr>
          <a:xfrm>
            <a:off x="1079500" y="2572990"/>
            <a:ext cx="2014474"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frozen weights in Qwen2.5‑1.5B‑Instruct</a:t>
            </a:r>
            <a:endParaRPr b="0" i="0" sz="1400" u="none" cap="none" strike="noStrike">
              <a:solidFill>
                <a:schemeClr val="dk1"/>
              </a:solidFill>
              <a:latin typeface="IBM Plex Sans"/>
              <a:ea typeface="IBM Plex Sans"/>
              <a:cs typeface="IBM Plex Sans"/>
              <a:sym typeface="IBM Plex Sans"/>
            </a:endParaRPr>
          </a:p>
        </p:txBody>
      </p:sp>
      <p:sp>
        <p:nvSpPr>
          <p:cNvPr id="751" name="Google Shape;751;p101"/>
          <p:cNvSpPr/>
          <p:nvPr/>
        </p:nvSpPr>
        <p:spPr>
          <a:xfrm>
            <a:off x="3511550" y="1621780"/>
            <a:ext cx="2476500" cy="1931591"/>
          </a:xfrm>
          <a:prstGeom prst="roundRect">
            <a:avLst>
              <a:gd fmla="val 6246"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01"/>
          <p:cNvSpPr/>
          <p:nvPr/>
        </p:nvSpPr>
        <p:spPr>
          <a:xfrm>
            <a:off x="3771900" y="1882130"/>
            <a:ext cx="2014474"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481A"/>
              </a:buClr>
              <a:buSzPts val="4400"/>
              <a:buFont typeface="IBM Plex Sans"/>
              <a:buNone/>
            </a:pPr>
            <a:r>
              <a:rPr b="1" i="0" lang="en-US" sz="4400" u="none" cap="none" strike="noStrike">
                <a:solidFill>
                  <a:srgbClr val="B4481A"/>
                </a:solidFill>
                <a:latin typeface="IBM Plex Sans"/>
                <a:ea typeface="IBM Plex Sans"/>
                <a:cs typeface="IBM Plex Sans"/>
                <a:sym typeface="IBM Plex Sans"/>
              </a:rPr>
              <a:t>18.5M</a:t>
            </a:r>
            <a:endParaRPr b="0" i="0" sz="4400" u="none" cap="none" strike="noStrike">
              <a:solidFill>
                <a:schemeClr val="dk1"/>
              </a:solidFill>
              <a:latin typeface="IBM Plex Sans"/>
              <a:ea typeface="IBM Plex Sans"/>
              <a:cs typeface="IBM Plex Sans"/>
              <a:sym typeface="IBM Plex Sans"/>
            </a:endParaRPr>
          </a:p>
        </p:txBody>
      </p:sp>
      <p:sp>
        <p:nvSpPr>
          <p:cNvPr id="753" name="Google Shape;753;p101"/>
          <p:cNvSpPr/>
          <p:nvPr/>
        </p:nvSpPr>
        <p:spPr>
          <a:xfrm>
            <a:off x="3771900" y="2572990"/>
            <a:ext cx="2014474" cy="74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trainable LoRA weights, about 1.2% of the model</a:t>
            </a:r>
            <a:endParaRPr b="0" i="0" sz="1400" u="none" cap="none" strike="noStrike">
              <a:solidFill>
                <a:schemeClr val="dk1"/>
              </a:solidFill>
              <a:latin typeface="IBM Plex Sans"/>
              <a:ea typeface="IBM Plex Sans"/>
              <a:cs typeface="IBM Plex Sans"/>
              <a:sym typeface="IBM Plex Sans"/>
            </a:endParaRPr>
          </a:p>
        </p:txBody>
      </p:sp>
      <p:sp>
        <p:nvSpPr>
          <p:cNvPr id="754" name="Google Shape;754;p101"/>
          <p:cNvSpPr/>
          <p:nvPr/>
        </p:nvSpPr>
        <p:spPr>
          <a:xfrm>
            <a:off x="6203950" y="1621780"/>
            <a:ext cx="2476500" cy="1931591"/>
          </a:xfrm>
          <a:prstGeom prst="roundRect">
            <a:avLst>
              <a:gd fmla="val 6246"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01"/>
          <p:cNvSpPr/>
          <p:nvPr/>
        </p:nvSpPr>
        <p:spPr>
          <a:xfrm>
            <a:off x="6464300" y="1882130"/>
            <a:ext cx="2014474"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6202E"/>
              </a:buClr>
              <a:buSzPts val="4400"/>
              <a:buFont typeface="IBM Plex Sans"/>
              <a:buNone/>
            </a:pPr>
            <a:r>
              <a:rPr b="1" i="0" lang="en-US" sz="4400" u="none" cap="none" strike="noStrike">
                <a:solidFill>
                  <a:srgbClr val="16202E"/>
                </a:solidFill>
                <a:latin typeface="IBM Plex Sans"/>
                <a:ea typeface="IBM Plex Sans"/>
                <a:cs typeface="IBM Plex Sans"/>
                <a:sym typeface="IBM Plex Sans"/>
              </a:rPr>
              <a:t>20</a:t>
            </a:r>
            <a:endParaRPr b="0" i="0" sz="4400" u="none" cap="none" strike="noStrike">
              <a:solidFill>
                <a:schemeClr val="dk1"/>
              </a:solidFill>
              <a:latin typeface="IBM Plex Sans"/>
              <a:ea typeface="IBM Plex Sans"/>
              <a:cs typeface="IBM Plex Sans"/>
              <a:sym typeface="IBM Plex Sans"/>
            </a:endParaRPr>
          </a:p>
        </p:txBody>
      </p:sp>
      <p:sp>
        <p:nvSpPr>
          <p:cNvPr id="756" name="Google Shape;756;p101"/>
          <p:cNvSpPr/>
          <p:nvPr/>
        </p:nvSpPr>
        <p:spPr>
          <a:xfrm>
            <a:off x="6464300" y="2572990"/>
            <a:ext cx="2014474" cy="74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optimizer steps per epoch (156 examples ÷ batch 8)</a:t>
            </a:r>
            <a:endParaRPr b="0" i="0" sz="1400" u="none" cap="none" strike="noStrike">
              <a:solidFill>
                <a:schemeClr val="dk1"/>
              </a:solidFill>
              <a:latin typeface="IBM Plex Sans"/>
              <a:ea typeface="IBM Plex Sans"/>
              <a:cs typeface="IBM Plex Sans"/>
              <a:sym typeface="IBM Plex Sans"/>
            </a:endParaRPr>
          </a:p>
        </p:txBody>
      </p:sp>
      <p:sp>
        <p:nvSpPr>
          <p:cNvPr id="757" name="Google Shape;757;p101"/>
          <p:cNvSpPr/>
          <p:nvPr/>
        </p:nvSpPr>
        <p:spPr>
          <a:xfrm>
            <a:off x="8896350" y="1621780"/>
            <a:ext cx="2476500" cy="1931591"/>
          </a:xfrm>
          <a:prstGeom prst="roundRect">
            <a:avLst>
              <a:gd fmla="val 6246"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01"/>
          <p:cNvSpPr/>
          <p:nvPr/>
        </p:nvSpPr>
        <p:spPr>
          <a:xfrm>
            <a:off x="9156700" y="1882130"/>
            <a:ext cx="2014474"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6202E"/>
              </a:buClr>
              <a:buSzPts val="4400"/>
              <a:buFont typeface="IBM Plex Sans"/>
              <a:buNone/>
            </a:pPr>
            <a:r>
              <a:rPr b="1" i="0" lang="en-US" sz="4400" u="none" cap="none" strike="noStrike">
                <a:solidFill>
                  <a:srgbClr val="16202E"/>
                </a:solidFill>
                <a:latin typeface="IBM Plex Sans"/>
                <a:ea typeface="IBM Plex Sans"/>
                <a:cs typeface="IBM Plex Sans"/>
                <a:sym typeface="IBM Plex Sans"/>
              </a:rPr>
              <a:t>74 MB</a:t>
            </a:r>
            <a:endParaRPr b="0" i="0" sz="4400" u="none" cap="none" strike="noStrike">
              <a:solidFill>
                <a:schemeClr val="dk1"/>
              </a:solidFill>
              <a:latin typeface="IBM Plex Sans"/>
              <a:ea typeface="IBM Plex Sans"/>
              <a:cs typeface="IBM Plex Sans"/>
              <a:sym typeface="IBM Plex Sans"/>
            </a:endParaRPr>
          </a:p>
        </p:txBody>
      </p:sp>
      <p:sp>
        <p:nvSpPr>
          <p:cNvPr id="759" name="Google Shape;759;p101"/>
          <p:cNvSpPr/>
          <p:nvPr/>
        </p:nvSpPr>
        <p:spPr>
          <a:xfrm>
            <a:off x="9156700" y="2572990"/>
            <a:ext cx="2014474"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adapter file on disk, vs about 3 GB for the base</a:t>
            </a:r>
            <a:endParaRPr b="0" i="0" sz="1400" u="none" cap="none" strike="noStrike">
              <a:solidFill>
                <a:schemeClr val="dk1"/>
              </a:solidFill>
              <a:latin typeface="IBM Plex Sans"/>
              <a:ea typeface="IBM Plex Sans"/>
              <a:cs typeface="IBM Plex Sans"/>
              <a:sym typeface="IBM Plex Sans"/>
            </a:endParaRPr>
          </a:p>
        </p:txBody>
      </p:sp>
      <p:graphicFrame>
        <p:nvGraphicFramePr>
          <p:cNvPr id="760" name="Google Shape;760;p101"/>
          <p:cNvGraphicFramePr/>
          <p:nvPr/>
        </p:nvGraphicFramePr>
        <p:xfrm>
          <a:off x="825500" y="3928021"/>
          <a:ext cx="3000000" cy="3000000"/>
        </p:xfrm>
        <a:graphic>
          <a:graphicData uri="http://schemas.openxmlformats.org/drawingml/2006/table">
            <a:tbl>
              <a:tblPr>
                <a:noFill/>
                <a:tableStyleId>{EEE02795-A6B7-4247-B71C-ED7A564BFD40}</a:tableStyleId>
              </a:tblPr>
              <a:tblGrid>
                <a:gridCol w="2638425"/>
                <a:gridCol w="2638425"/>
                <a:gridCol w="2638425"/>
                <a:gridCol w="2638425"/>
              </a:tblGrid>
              <a:tr h="359325">
                <a:tc>
                  <a:txBody>
                    <a:bodyPr/>
                    <a:lstStyle/>
                    <a:p>
                      <a:pPr indent="0" lvl="0" marL="0" marR="0" rtl="0" algn="l">
                        <a:lnSpc>
                          <a:spcPct val="140000"/>
                        </a:lnSpc>
                        <a:spcBef>
                          <a:spcPts val="0"/>
                        </a:spcBef>
                        <a:spcAft>
                          <a:spcPts val="0"/>
                        </a:spcAft>
                        <a:buClr>
                          <a:srgbClr val="16202E"/>
                        </a:buClr>
                        <a:buSzPts val="1300"/>
                        <a:buFont typeface="IBM Plex Sans"/>
                        <a:buNone/>
                      </a:pPr>
                      <a:r>
                        <a:rPr b="1" lang="en-US" sz="1300" u="none" cap="none" strike="noStrike">
                          <a:solidFill>
                            <a:srgbClr val="16202E"/>
                          </a:solidFill>
                          <a:latin typeface="IBM Plex Sans"/>
                          <a:ea typeface="IBM Plex Sans"/>
                          <a:cs typeface="IBM Plex Sans"/>
                          <a:sym typeface="IBM Plex Sans"/>
                        </a:rPr>
                        <a:t>LoRA</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4BF"/>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l">
                        <a:lnSpc>
                          <a:spcPct val="140000"/>
                        </a:lnSpc>
                        <a:spcBef>
                          <a:spcPts val="0"/>
                        </a:spcBef>
                        <a:spcAft>
                          <a:spcPts val="0"/>
                        </a:spcAft>
                        <a:buClr>
                          <a:srgbClr val="16202E"/>
                        </a:buClr>
                        <a:buSzPts val="1300"/>
                        <a:buFont typeface="IBM Plex Sans"/>
                        <a:buNone/>
                      </a:pPr>
                      <a:r>
                        <a:rPr b="1" lang="en-US" sz="1300" u="none" cap="none" strike="noStrike">
                          <a:solidFill>
                            <a:srgbClr val="16202E"/>
                          </a:solidFill>
                          <a:latin typeface="IBM Plex Sans"/>
                          <a:ea typeface="IBM Plex Sans"/>
                          <a:cs typeface="IBM Plex Sans"/>
                          <a:sym typeface="IBM Plex Sans"/>
                        </a:rPr>
                        <a:t>Targets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l">
                        <a:lnSpc>
                          <a:spcPct val="140000"/>
                        </a:lnSpc>
                        <a:spcBef>
                          <a:spcPts val="0"/>
                        </a:spcBef>
                        <a:spcAft>
                          <a:spcPts val="0"/>
                        </a:spcAft>
                        <a:buClr>
                          <a:srgbClr val="16202E"/>
                        </a:buClr>
                        <a:buSzPts val="1300"/>
                        <a:buFont typeface="IBM Plex Sans"/>
                        <a:buNone/>
                      </a:pPr>
                      <a:r>
                        <a:rPr b="1" lang="en-US" sz="1300" u="none" cap="none" strike="noStrike">
                          <a:solidFill>
                            <a:srgbClr val="16202E"/>
                          </a:solidFill>
                          <a:latin typeface="IBM Plex Sans"/>
                          <a:ea typeface="IBM Plex Sans"/>
                          <a:cs typeface="IBM Plex Sans"/>
                          <a:sym typeface="IBM Plex Sans"/>
                        </a:rPr>
                        <a:t>Optimizer</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l">
                        <a:lnSpc>
                          <a:spcPct val="140000"/>
                        </a:lnSpc>
                        <a:spcBef>
                          <a:spcPts val="0"/>
                        </a:spcBef>
                        <a:spcAft>
                          <a:spcPts val="0"/>
                        </a:spcAft>
                        <a:buClr>
                          <a:srgbClr val="16202E"/>
                        </a:buClr>
                        <a:buSzPts val="1300"/>
                        <a:buFont typeface="IBM Plex Sans"/>
                        <a:buNone/>
                      </a:pPr>
                      <a:r>
                        <a:rPr b="1" lang="en-US" sz="1300" u="none" cap="none" strike="noStrike">
                          <a:solidFill>
                            <a:srgbClr val="16202E"/>
                          </a:solidFill>
                          <a:latin typeface="IBM Plex Sans"/>
                          <a:ea typeface="IBM Plex Sans"/>
                          <a:cs typeface="IBM Plex Sans"/>
                          <a:sym typeface="IBM Plex Sans"/>
                        </a:rPr>
                        <a:t>Selection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r>
              <a:tr h="359325">
                <a:tc>
                  <a:txBody>
                    <a:bodyPr/>
                    <a:lstStyle/>
                    <a:p>
                      <a:pPr indent="0" lvl="0" marL="0" marR="0" rtl="0" algn="l">
                        <a:lnSpc>
                          <a:spcPct val="140000"/>
                        </a:lnSpc>
                        <a:spcBef>
                          <a:spcPts val="0"/>
                        </a:spcBef>
                        <a:spcAft>
                          <a:spcPts val="0"/>
                        </a:spcAft>
                        <a:buClr>
                          <a:srgbClr val="16202E"/>
                        </a:buClr>
                        <a:buSzPts val="1300"/>
                        <a:buFont typeface="IBM Plex Sans"/>
                        <a:buNone/>
                      </a:pPr>
                      <a:r>
                        <a:rPr lang="en-US" sz="1300" u="none" cap="none" strike="noStrike">
                          <a:solidFill>
                            <a:srgbClr val="16202E"/>
                          </a:solidFill>
                          <a:latin typeface="IBM Plex Sans"/>
                          <a:ea typeface="IBM Plex Sans"/>
                          <a:cs typeface="IBM Plex Sans"/>
                          <a:sym typeface="IBM Plex Sans"/>
                        </a:rPr>
                        <a:t>rank 16, alpha 32, dropout 0.05</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02E"/>
                        </a:buClr>
                        <a:buSzPts val="1300"/>
                        <a:buFont typeface="IBM Plex Sans"/>
                        <a:buNone/>
                      </a:pPr>
                      <a:r>
                        <a:rPr lang="en-US" sz="1300" u="none" cap="none" strike="noStrike">
                          <a:solidFill>
                            <a:srgbClr val="16202E"/>
                          </a:solidFill>
                          <a:latin typeface="IBM Plex Sans"/>
                          <a:ea typeface="IBM Plex Sans"/>
                          <a:cs typeface="IBM Plex Sans"/>
                          <a:sym typeface="IBM Plex Sans"/>
                        </a:rPr>
                        <a:t>q, k, v, o, gate, up, down</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02E"/>
                        </a:buClr>
                        <a:buSzPts val="1300"/>
                        <a:buFont typeface="IBM Plex Sans"/>
                        <a:buNone/>
                      </a:pPr>
                      <a:r>
                        <a:rPr lang="en-US" sz="1300" u="none" cap="none" strike="noStrike">
                          <a:solidFill>
                            <a:srgbClr val="16202E"/>
                          </a:solidFill>
                          <a:latin typeface="IBM Plex Sans"/>
                          <a:ea typeface="IBM Plex Sans"/>
                          <a:cs typeface="IBM Plex Sans"/>
                          <a:sym typeface="IBM Plex Sans"/>
                        </a:rPr>
                        <a:t>AdamW 2e‑4, warmup + cosine</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02E"/>
                        </a:buClr>
                        <a:buSzPts val="1300"/>
                        <a:buFont typeface="IBM Plex Sans"/>
                        <a:buNone/>
                      </a:pPr>
                      <a:r>
                        <a:rPr lang="en-US" sz="1300" u="none" cap="none" strike="noStrike">
                          <a:solidFill>
                            <a:srgbClr val="16202E"/>
                          </a:solidFill>
                          <a:latin typeface="IBM Plex Sans"/>
                          <a:ea typeface="IBM Plex Sans"/>
                          <a:cs typeface="IBM Plex Sans"/>
                          <a:sym typeface="IBM Plex Sans"/>
                        </a:rPr>
                        <a:t>lowest validation loss</a:t>
                      </a:r>
                      <a:endParaRPr sz="1300" u="none" cap="none" strike="noStrike">
                        <a:latin typeface="IBM Plex Sans"/>
                        <a:ea typeface="IBM Plex Sans"/>
                        <a:cs typeface="IBM Plex Sans"/>
                        <a:sym typeface="IBM Plex Sans"/>
                      </a:endParaRPr>
                    </a:p>
                  </a:txBody>
                  <a:tcPr marT="57775" marB="57775" marR="57775" marL="577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r>
            </a:tbl>
          </a:graphicData>
        </a:graphic>
      </p:graphicFrame>
      <p:sp>
        <p:nvSpPr>
          <p:cNvPr id="761" name="Google Shape;761;p101"/>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Adapter size measured from adapter_model.safetensors (fp32); base size is the bf16 checkpoint</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766" name="Shape 766"/>
        <p:cNvGrpSpPr/>
        <p:nvPr/>
      </p:nvGrpSpPr>
      <p:grpSpPr>
        <a:xfrm>
          <a:off x="0" y="0"/>
          <a:ext cx="0" cy="0"/>
          <a:chOff x="0" y="0"/>
          <a:chExt cx="0" cy="0"/>
        </a:xfrm>
      </p:grpSpPr>
      <p:sp>
        <p:nvSpPr>
          <p:cNvPr id="767" name="Google Shape;767;p102"/>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On the Mac: 4 h 41 min, one finished epoch</a:t>
            </a:r>
            <a:endParaRPr sz="3200"/>
          </a:p>
        </p:txBody>
      </p:sp>
      <p:pic>
        <p:nvPicPr>
          <p:cNvPr descr="ellipse" id="768" name="Google Shape;768;p102"/>
          <p:cNvPicPr preferRelativeResize="0"/>
          <p:nvPr/>
        </p:nvPicPr>
        <p:blipFill rotWithShape="1">
          <a:blip r:embed="rId3">
            <a:alphaModFix/>
          </a:blip>
          <a:srcRect b="0" l="0" r="0" t="0"/>
          <a:stretch/>
        </p:blipFill>
        <p:spPr>
          <a:xfrm>
            <a:off x="812800" y="1920230"/>
            <a:ext cx="203200" cy="203200"/>
          </a:xfrm>
          <a:prstGeom prst="rect">
            <a:avLst/>
          </a:prstGeom>
          <a:noFill/>
          <a:ln>
            <a:noFill/>
          </a:ln>
        </p:spPr>
      </p:pic>
      <p:sp>
        <p:nvSpPr>
          <p:cNvPr id="769" name="Google Shape;769;p102"/>
          <p:cNvSpPr/>
          <p:nvPr/>
        </p:nvSpPr>
        <p:spPr>
          <a:xfrm>
            <a:off x="812800" y="2199630"/>
            <a:ext cx="2563876"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600"/>
              <a:buFont typeface="JetBrains Mono"/>
              <a:buNone/>
            </a:pPr>
            <a:r>
              <a:rPr b="1" i="0" lang="en-US" sz="1600" u="none" cap="none" strike="noStrike">
                <a:solidFill>
                  <a:srgbClr val="16202E"/>
                </a:solidFill>
                <a:latin typeface="JetBrains Mono"/>
                <a:ea typeface="JetBrains Mono"/>
                <a:cs typeface="JetBrains Mono"/>
                <a:sym typeface="JetBrains Mono"/>
              </a:rPr>
              <a:t>02:53</a:t>
            </a:r>
            <a:endParaRPr b="0" i="0" sz="1600" u="none" cap="none" strike="noStrike">
              <a:solidFill>
                <a:schemeClr val="dk1"/>
              </a:solidFill>
              <a:latin typeface="IBM Plex Sans"/>
              <a:ea typeface="IBM Plex Sans"/>
              <a:cs typeface="IBM Plex Sans"/>
              <a:sym typeface="IBM Plex Sans"/>
            </a:endParaRPr>
          </a:p>
        </p:txBody>
      </p:sp>
      <p:sp>
        <p:nvSpPr>
          <p:cNvPr id="770" name="Google Shape;770;p102"/>
          <p:cNvSpPr/>
          <p:nvPr/>
        </p:nvSpPr>
        <p:spPr>
          <a:xfrm>
            <a:off x="812800" y="2560290"/>
            <a:ext cx="2563876"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Start on an M1 Pro, 32 GB, fp32 on the GPU (MPS)</a:t>
            </a:r>
            <a:endParaRPr b="0" i="0" sz="1400" u="none" cap="none" strike="noStrike">
              <a:solidFill>
                <a:schemeClr val="dk1"/>
              </a:solidFill>
              <a:latin typeface="IBM Plex Sans"/>
              <a:ea typeface="IBM Plex Sans"/>
              <a:cs typeface="IBM Plex Sans"/>
              <a:sym typeface="IBM Plex Sans"/>
            </a:endParaRPr>
          </a:p>
        </p:txBody>
      </p:sp>
      <p:pic>
        <p:nvPicPr>
          <p:cNvPr descr="ellipse" id="771" name="Google Shape;771;p102"/>
          <p:cNvPicPr preferRelativeResize="0"/>
          <p:nvPr/>
        </p:nvPicPr>
        <p:blipFill rotWithShape="1">
          <a:blip r:embed="rId3">
            <a:alphaModFix/>
          </a:blip>
          <a:srcRect b="0" l="0" r="0" t="0"/>
          <a:stretch/>
        </p:blipFill>
        <p:spPr>
          <a:xfrm>
            <a:off x="3505200" y="1920230"/>
            <a:ext cx="203200" cy="203200"/>
          </a:xfrm>
          <a:prstGeom prst="rect">
            <a:avLst/>
          </a:prstGeom>
          <a:noFill/>
          <a:ln>
            <a:noFill/>
          </a:ln>
        </p:spPr>
      </p:pic>
      <p:sp>
        <p:nvSpPr>
          <p:cNvPr id="772" name="Google Shape;772;p102"/>
          <p:cNvSpPr/>
          <p:nvPr/>
        </p:nvSpPr>
        <p:spPr>
          <a:xfrm>
            <a:off x="3505200" y="2199630"/>
            <a:ext cx="2563876"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600"/>
              <a:buFont typeface="JetBrains Mono"/>
              <a:buNone/>
            </a:pPr>
            <a:r>
              <a:rPr b="1" i="0" lang="en-US" sz="1600" u="none" cap="none" strike="noStrike">
                <a:solidFill>
                  <a:srgbClr val="16202E"/>
                </a:solidFill>
                <a:latin typeface="JetBrains Mono"/>
                <a:ea typeface="JetBrains Mono"/>
                <a:cs typeface="JetBrains Mono"/>
                <a:sym typeface="JetBrains Mono"/>
              </a:rPr>
              <a:t>03:57</a:t>
            </a:r>
            <a:endParaRPr b="0" i="0" sz="1600" u="none" cap="none" strike="noStrike">
              <a:solidFill>
                <a:schemeClr val="dk1"/>
              </a:solidFill>
              <a:latin typeface="IBM Plex Sans"/>
              <a:ea typeface="IBM Plex Sans"/>
              <a:cs typeface="IBM Plex Sans"/>
              <a:sym typeface="IBM Plex Sans"/>
            </a:endParaRPr>
          </a:p>
        </p:txBody>
      </p:sp>
      <p:sp>
        <p:nvSpPr>
          <p:cNvPr id="773" name="Google Shape;773;p102"/>
          <p:cNvSpPr/>
          <p:nvPr/>
        </p:nvSpPr>
        <p:spPr>
          <a:xfrm>
            <a:off x="3505200" y="2560290"/>
            <a:ext cx="2563876" cy="74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Epoch 1 done in 56 min. Validation loss 0.626 → 0.517; adapter saved</a:t>
            </a:r>
            <a:endParaRPr b="0" i="0" sz="1400" u="none" cap="none" strike="noStrike">
              <a:solidFill>
                <a:schemeClr val="dk1"/>
              </a:solidFill>
              <a:latin typeface="IBM Plex Sans"/>
              <a:ea typeface="IBM Plex Sans"/>
              <a:cs typeface="IBM Plex Sans"/>
              <a:sym typeface="IBM Plex Sans"/>
            </a:endParaRPr>
          </a:p>
        </p:txBody>
      </p:sp>
      <p:pic>
        <p:nvPicPr>
          <p:cNvPr descr="ellipse" id="774" name="Google Shape;774;p102"/>
          <p:cNvPicPr preferRelativeResize="0"/>
          <p:nvPr/>
        </p:nvPicPr>
        <p:blipFill rotWithShape="1">
          <a:blip r:embed="rId4">
            <a:alphaModFix/>
          </a:blip>
          <a:srcRect b="0" l="0" r="0" t="0"/>
          <a:stretch/>
        </p:blipFill>
        <p:spPr>
          <a:xfrm>
            <a:off x="6197600" y="1920230"/>
            <a:ext cx="203200" cy="203200"/>
          </a:xfrm>
          <a:prstGeom prst="rect">
            <a:avLst/>
          </a:prstGeom>
          <a:noFill/>
          <a:ln>
            <a:noFill/>
          </a:ln>
        </p:spPr>
      </p:pic>
      <p:sp>
        <p:nvSpPr>
          <p:cNvPr id="775" name="Google Shape;775;p102"/>
          <p:cNvSpPr/>
          <p:nvPr/>
        </p:nvSpPr>
        <p:spPr>
          <a:xfrm>
            <a:off x="6197600" y="2199630"/>
            <a:ext cx="2563876"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600"/>
              <a:buFont typeface="JetBrains Mono"/>
              <a:buNone/>
            </a:pPr>
            <a:r>
              <a:rPr b="1" i="0" lang="en-US" sz="1600" u="none" cap="none" strike="noStrike">
                <a:solidFill>
                  <a:srgbClr val="16202E"/>
                </a:solidFill>
                <a:latin typeface="JetBrains Mono"/>
                <a:ea typeface="JetBrains Mono"/>
                <a:cs typeface="JetBrains Mono"/>
                <a:sym typeface="JetBrains Mono"/>
              </a:rPr>
              <a:t>06:39</a:t>
            </a:r>
            <a:endParaRPr b="0" i="0" sz="1600" u="none" cap="none" strike="noStrike">
              <a:solidFill>
                <a:schemeClr val="dk1"/>
              </a:solidFill>
              <a:latin typeface="IBM Plex Sans"/>
              <a:ea typeface="IBM Plex Sans"/>
              <a:cs typeface="IBM Plex Sans"/>
              <a:sym typeface="IBM Plex Sans"/>
            </a:endParaRPr>
          </a:p>
        </p:txBody>
      </p:sp>
      <p:sp>
        <p:nvSpPr>
          <p:cNvPr id="776" name="Google Shape;776;p102"/>
          <p:cNvSpPr/>
          <p:nvPr/>
        </p:nvSpPr>
        <p:spPr>
          <a:xfrm>
            <a:off x="6197600" y="2560290"/>
            <a:ext cx="2563876" cy="74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Battery at 1%: the Mac hibernates for 12 min, epoch 2 still unfinished</a:t>
            </a:r>
            <a:endParaRPr b="0" i="0" sz="1400" u="none" cap="none" strike="noStrike">
              <a:solidFill>
                <a:schemeClr val="dk1"/>
              </a:solidFill>
              <a:latin typeface="IBM Plex Sans"/>
              <a:ea typeface="IBM Plex Sans"/>
              <a:cs typeface="IBM Plex Sans"/>
              <a:sym typeface="IBM Plex Sans"/>
            </a:endParaRPr>
          </a:p>
        </p:txBody>
      </p:sp>
      <p:pic>
        <p:nvPicPr>
          <p:cNvPr descr="ellipse" id="777" name="Google Shape;777;p102"/>
          <p:cNvPicPr preferRelativeResize="0"/>
          <p:nvPr/>
        </p:nvPicPr>
        <p:blipFill rotWithShape="1">
          <a:blip r:embed="rId5">
            <a:alphaModFix/>
          </a:blip>
          <a:srcRect b="0" l="0" r="0" t="0"/>
          <a:stretch/>
        </p:blipFill>
        <p:spPr>
          <a:xfrm>
            <a:off x="8890000" y="1920230"/>
            <a:ext cx="203200" cy="203200"/>
          </a:xfrm>
          <a:prstGeom prst="rect">
            <a:avLst/>
          </a:prstGeom>
          <a:noFill/>
          <a:ln>
            <a:noFill/>
          </a:ln>
        </p:spPr>
      </p:pic>
      <p:sp>
        <p:nvSpPr>
          <p:cNvPr id="778" name="Google Shape;778;p102"/>
          <p:cNvSpPr/>
          <p:nvPr/>
        </p:nvSpPr>
        <p:spPr>
          <a:xfrm>
            <a:off x="8890000" y="2199630"/>
            <a:ext cx="2563876" cy="3098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600"/>
              <a:buFont typeface="JetBrains Mono"/>
              <a:buNone/>
            </a:pPr>
            <a:r>
              <a:rPr b="1" i="0" lang="en-US" sz="1600" u="none" cap="none" strike="noStrike">
                <a:solidFill>
                  <a:srgbClr val="16202E"/>
                </a:solidFill>
                <a:latin typeface="JetBrains Mono"/>
                <a:ea typeface="JetBrains Mono"/>
                <a:cs typeface="JetBrains Mono"/>
                <a:sym typeface="JetBrains Mono"/>
              </a:rPr>
              <a:t>07:34</a:t>
            </a:r>
            <a:endParaRPr b="0" i="0" sz="1600" u="none" cap="none" strike="noStrike">
              <a:solidFill>
                <a:schemeClr val="dk1"/>
              </a:solidFill>
              <a:latin typeface="IBM Plex Sans"/>
              <a:ea typeface="IBM Plex Sans"/>
              <a:cs typeface="IBM Plex Sans"/>
              <a:sym typeface="IBM Plex Sans"/>
            </a:endParaRPr>
          </a:p>
        </p:txBody>
      </p:sp>
      <p:sp>
        <p:nvSpPr>
          <p:cNvPr id="779" name="Google Shape;779;p102"/>
          <p:cNvSpPr/>
          <p:nvPr/>
        </p:nvSpPr>
        <p:spPr>
          <a:xfrm>
            <a:off x="8890000" y="2560290"/>
            <a:ext cx="2563876"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Stopped. Full run moves to a Colab GPU</a:t>
            </a:r>
            <a:endParaRPr b="0" i="0" sz="1400" u="none" cap="none" strike="noStrike">
              <a:solidFill>
                <a:schemeClr val="dk1"/>
              </a:solidFill>
              <a:latin typeface="IBM Plex Sans"/>
              <a:ea typeface="IBM Plex Sans"/>
              <a:cs typeface="IBM Plex Sans"/>
              <a:sym typeface="IBM Plex Sans"/>
            </a:endParaRPr>
          </a:p>
        </p:txBody>
      </p:sp>
      <p:pic>
        <p:nvPicPr>
          <p:cNvPr descr="line" id="780" name="Google Shape;780;p102"/>
          <p:cNvPicPr preferRelativeResize="0"/>
          <p:nvPr/>
        </p:nvPicPr>
        <p:blipFill rotWithShape="1">
          <a:blip r:embed="rId6">
            <a:alphaModFix/>
          </a:blip>
          <a:srcRect b="0" l="0" r="0" t="0"/>
          <a:stretch/>
        </p:blipFill>
        <p:spPr>
          <a:xfrm>
            <a:off x="812800" y="1717030"/>
            <a:ext cx="10566400" cy="50800"/>
          </a:xfrm>
          <a:prstGeom prst="rect">
            <a:avLst/>
          </a:prstGeom>
          <a:noFill/>
          <a:ln>
            <a:noFill/>
          </a:ln>
        </p:spPr>
      </p:pic>
      <p:sp>
        <p:nvSpPr>
          <p:cNvPr id="781" name="Google Shape;781;p102"/>
          <p:cNvSpPr/>
          <p:nvPr/>
        </p:nvSpPr>
        <p:spPr>
          <a:xfrm>
            <a:off x="819150" y="3642271"/>
            <a:ext cx="3373934" cy="1165771"/>
          </a:xfrm>
          <a:prstGeom prst="roundRect">
            <a:avLst>
              <a:gd fmla="val 10349" name="adj"/>
            </a:avLst>
          </a:prstGeom>
          <a:solidFill>
            <a:srgbClr val="FDFCF9"/>
          </a:solidFill>
          <a:ln cap="flat" cmpd="sng" w="12700">
            <a:solidFill>
              <a:srgbClr val="E2DED3"/>
            </a:solidFill>
            <a:prstDash val="solid"/>
            <a:round/>
            <a:headEnd len="sm" w="sm" type="none"/>
            <a:tailEnd len="sm" w="sm" type="none"/>
          </a:ln>
        </p:spPr>
        <p:txBody>
          <a:bodyPr anchorCtr="0" anchor="t" bIns="148800" lIns="174200" spcFirstLastPara="1" rIns="85550" wrap="square" tIns="174200">
            <a:noAutofit/>
          </a:bodyPr>
          <a:lstStyle/>
          <a:p>
            <a:pPr indent="0" lvl="0" marL="0" marR="0" rtl="0" algn="l">
              <a:lnSpc>
                <a:spcPct val="140000"/>
              </a:lnSpc>
              <a:spcBef>
                <a:spcPts val="0"/>
              </a:spcBef>
              <a:spcAft>
                <a:spcPts val="0"/>
              </a:spcAft>
              <a:buClr>
                <a:srgbClr val="16202E"/>
              </a:buClr>
              <a:buSzPts val="1400"/>
              <a:buFont typeface="IBM Plex Sans"/>
              <a:buNone/>
            </a:pPr>
            <a:r>
              <a:rPr b="1" i="0" lang="en-US" sz="1400" u="none" cap="none" strike="noStrike">
                <a:solidFill>
                  <a:srgbClr val="16202E"/>
                </a:solidFill>
                <a:latin typeface="IBM Plex Sans"/>
                <a:ea typeface="IBM Plex Sans"/>
                <a:cs typeface="IBM Plex Sans"/>
                <a:sym typeface="IBM Plex Sans"/>
              </a:rPr>
              <a:t>No bf16 on M1.</a:t>
            </a:r>
            <a:r>
              <a:rPr b="0" i="0" lang="en-US" sz="1400" u="none" cap="none" strike="noStrike">
                <a:solidFill>
                  <a:srgbClr val="16202E"/>
                </a:solidFill>
                <a:latin typeface="IBM Plex Sans"/>
                <a:ea typeface="IBM Plex Sans"/>
                <a:cs typeface="IBM Plex Sans"/>
                <a:sym typeface="IBM Plex Sans"/>
              </a:rPr>
              <a:t> fp32 doubles memory and compute compared with a bf16 GPU.</a:t>
            </a:r>
            <a:endParaRPr b="0" i="0" sz="1400" u="none" cap="none" strike="noStrike">
              <a:solidFill>
                <a:schemeClr val="dk1"/>
              </a:solidFill>
              <a:latin typeface="IBM Plex Sans"/>
              <a:ea typeface="IBM Plex Sans"/>
              <a:cs typeface="IBM Plex Sans"/>
              <a:sym typeface="IBM Plex Sans"/>
            </a:endParaRPr>
          </a:p>
        </p:txBody>
      </p:sp>
      <p:sp>
        <p:nvSpPr>
          <p:cNvPr id="782" name="Google Shape;782;p102"/>
          <p:cNvSpPr/>
          <p:nvPr/>
        </p:nvSpPr>
        <p:spPr>
          <a:xfrm>
            <a:off x="4408984" y="3642271"/>
            <a:ext cx="3373983" cy="1165771"/>
          </a:xfrm>
          <a:prstGeom prst="roundRect">
            <a:avLst>
              <a:gd fmla="val 10349" name="adj"/>
            </a:avLst>
          </a:prstGeom>
          <a:solidFill>
            <a:srgbClr val="FDFCF9"/>
          </a:solidFill>
          <a:ln cap="flat" cmpd="sng" w="12700">
            <a:solidFill>
              <a:srgbClr val="E2DED3"/>
            </a:solidFill>
            <a:prstDash val="solid"/>
            <a:round/>
            <a:headEnd len="sm" w="sm" type="none"/>
            <a:tailEnd len="sm" w="sm" type="none"/>
          </a:ln>
        </p:spPr>
        <p:txBody>
          <a:bodyPr anchorCtr="0" anchor="t" bIns="174200" lIns="174200" spcFirstLastPara="1" rIns="85550" wrap="square" tIns="174200">
            <a:noAutofit/>
          </a:bodyPr>
          <a:lstStyle/>
          <a:p>
            <a:pPr indent="0" lvl="0" marL="0" marR="0" rtl="0" algn="l">
              <a:lnSpc>
                <a:spcPct val="140000"/>
              </a:lnSpc>
              <a:spcBef>
                <a:spcPts val="0"/>
              </a:spcBef>
              <a:spcAft>
                <a:spcPts val="0"/>
              </a:spcAft>
              <a:buClr>
                <a:srgbClr val="16202E"/>
              </a:buClr>
              <a:buSzPts val="1400"/>
              <a:buFont typeface="IBM Plex Sans"/>
              <a:buNone/>
            </a:pPr>
            <a:r>
              <a:rPr b="1" i="0" lang="en-US" sz="1400" u="none" cap="none" strike="noStrike">
                <a:solidFill>
                  <a:srgbClr val="16202E"/>
                </a:solidFill>
                <a:latin typeface="IBM Plex Sans"/>
                <a:ea typeface="IBM Plex Sans"/>
                <a:cs typeface="IBM Plex Sans"/>
                <a:sym typeface="IBM Plex Sans"/>
              </a:rPr>
              <a:t>Ran on battery.</a:t>
            </a:r>
            <a:r>
              <a:rPr b="0" i="0" lang="en-US" sz="1400" u="none" cap="none" strike="noStrike">
                <a:solidFill>
                  <a:srgbClr val="16202E"/>
                </a:solidFill>
                <a:latin typeface="IBM Plex Sans"/>
                <a:ea typeface="IBM Plex Sans"/>
                <a:cs typeface="IBM Plex Sans"/>
                <a:sym typeface="IBM Plex Sans"/>
              </a:rPr>
              <a:t> macOS throttled the job, then hibernated it.</a:t>
            </a:r>
            <a:endParaRPr b="0" i="0" sz="1400" u="none" cap="none" strike="noStrike">
              <a:solidFill>
                <a:schemeClr val="dk1"/>
              </a:solidFill>
              <a:latin typeface="IBM Plex Sans"/>
              <a:ea typeface="IBM Plex Sans"/>
              <a:cs typeface="IBM Plex Sans"/>
              <a:sym typeface="IBM Plex Sans"/>
            </a:endParaRPr>
          </a:p>
        </p:txBody>
      </p:sp>
      <p:sp>
        <p:nvSpPr>
          <p:cNvPr id="783" name="Google Shape;783;p102"/>
          <p:cNvSpPr/>
          <p:nvPr/>
        </p:nvSpPr>
        <p:spPr>
          <a:xfrm>
            <a:off x="7998867" y="3642271"/>
            <a:ext cx="3373983" cy="1165771"/>
          </a:xfrm>
          <a:prstGeom prst="roundRect">
            <a:avLst>
              <a:gd fmla="val 10349" name="adj"/>
            </a:avLst>
          </a:prstGeom>
          <a:solidFill>
            <a:srgbClr val="FDFCF9"/>
          </a:solidFill>
          <a:ln cap="flat" cmpd="sng" w="12700">
            <a:solidFill>
              <a:srgbClr val="E2DED3"/>
            </a:solidFill>
            <a:prstDash val="solid"/>
            <a:round/>
            <a:headEnd len="sm" w="sm" type="none"/>
            <a:tailEnd len="sm" w="sm" type="none"/>
          </a:ln>
        </p:spPr>
        <p:txBody>
          <a:bodyPr anchorCtr="0" anchor="t" bIns="174200" lIns="174200" spcFirstLastPara="1" rIns="85550" wrap="square" tIns="174200">
            <a:noAutofit/>
          </a:bodyPr>
          <a:lstStyle/>
          <a:p>
            <a:pPr indent="0" lvl="0" marL="0" marR="0" rtl="0" algn="l">
              <a:lnSpc>
                <a:spcPct val="140000"/>
              </a:lnSpc>
              <a:spcBef>
                <a:spcPts val="0"/>
              </a:spcBef>
              <a:spcAft>
                <a:spcPts val="0"/>
              </a:spcAft>
              <a:buClr>
                <a:srgbClr val="16202E"/>
              </a:buClr>
              <a:buSzPts val="1400"/>
              <a:buFont typeface="IBM Plex Sans"/>
              <a:buNone/>
            </a:pPr>
            <a:r>
              <a:rPr b="1" i="0" lang="en-US" sz="1400" u="none" cap="none" strike="noStrike">
                <a:solidFill>
                  <a:srgbClr val="16202E"/>
                </a:solidFill>
                <a:latin typeface="IBM Plex Sans"/>
                <a:ea typeface="IBM Plex Sans"/>
                <a:cs typeface="IBM Plex Sans"/>
                <a:sym typeface="IBM Plex Sans"/>
              </a:rPr>
              <a:t>Memory pressure.</a:t>
            </a:r>
            <a:r>
              <a:rPr b="0" i="0" lang="en-US" sz="1400" u="none" cap="none" strike="noStrike">
                <a:solidFill>
                  <a:srgbClr val="16202E"/>
                </a:solidFill>
                <a:latin typeface="IBM Plex Sans"/>
                <a:ea typeface="IBM Plex Sans"/>
                <a:cs typeface="IBM Plex Sans"/>
                <a:sym typeface="IBM Plex Sans"/>
              </a:rPr>
              <a:t> 15.8 of 17 GB swap in use slowed every step.</a:t>
            </a:r>
            <a:endParaRPr b="0" i="0" sz="1400" u="none" cap="none" strike="noStrike">
              <a:solidFill>
                <a:schemeClr val="dk1"/>
              </a:solidFill>
              <a:latin typeface="IBM Plex Sans"/>
              <a:ea typeface="IBM Plex Sans"/>
              <a:cs typeface="IBM Plex Sans"/>
              <a:sym typeface="IBM Plex Sans"/>
            </a:endParaRPr>
          </a:p>
        </p:txBody>
      </p:sp>
      <p:sp>
        <p:nvSpPr>
          <p:cNvPr id="784" name="Google Shape;784;p102"/>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Times are local (PDT), 21 Oct 2026, from the training log and macOS power log</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789" name="Shape 789"/>
        <p:cNvGrpSpPr/>
        <p:nvPr/>
      </p:nvGrpSpPr>
      <p:grpSpPr>
        <a:xfrm>
          <a:off x="0" y="0"/>
          <a:ext cx="0" cy="0"/>
          <a:chOff x="0" y="0"/>
          <a:chExt cx="0" cy="0"/>
        </a:xfrm>
      </p:grpSpPr>
      <p:sp>
        <p:nvSpPr>
          <p:cNvPr id="790" name="Google Shape;790;p103"/>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On a Colab A100: all 3 epochs in 3.5 minutes</a:t>
            </a:r>
            <a:endParaRPr sz="3200"/>
          </a:p>
        </p:txBody>
      </p:sp>
      <p:sp>
        <p:nvSpPr>
          <p:cNvPr id="791" name="Google Shape;791;p103"/>
          <p:cNvSpPr/>
          <p:nvPr/>
        </p:nvSpPr>
        <p:spPr>
          <a:xfrm>
            <a:off x="819150" y="1621780"/>
            <a:ext cx="3373934" cy="1931591"/>
          </a:xfrm>
          <a:prstGeom prst="roundRect">
            <a:avLst>
              <a:gd fmla="val 6246"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03"/>
          <p:cNvSpPr/>
          <p:nvPr/>
        </p:nvSpPr>
        <p:spPr>
          <a:xfrm>
            <a:off x="1079500" y="1882130"/>
            <a:ext cx="2938831"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6202E"/>
              </a:buClr>
              <a:buSzPts val="4400"/>
              <a:buFont typeface="IBM Plex Sans"/>
              <a:buNone/>
            </a:pPr>
            <a:r>
              <a:rPr b="1" i="0" lang="en-US" sz="4400" u="none" cap="none" strike="noStrike">
                <a:solidFill>
                  <a:srgbClr val="16202E"/>
                </a:solidFill>
                <a:latin typeface="IBM Plex Sans"/>
                <a:ea typeface="IBM Plex Sans"/>
                <a:cs typeface="IBM Plex Sans"/>
                <a:sym typeface="IBM Plex Sans"/>
              </a:rPr>
              <a:t>56 min</a:t>
            </a:r>
            <a:endParaRPr b="0" i="0" sz="4400" u="none" cap="none" strike="noStrike">
              <a:solidFill>
                <a:schemeClr val="dk1"/>
              </a:solidFill>
              <a:latin typeface="IBM Plex Sans"/>
              <a:ea typeface="IBM Plex Sans"/>
              <a:cs typeface="IBM Plex Sans"/>
              <a:sym typeface="IBM Plex Sans"/>
            </a:endParaRPr>
          </a:p>
        </p:txBody>
      </p:sp>
      <p:sp>
        <p:nvSpPr>
          <p:cNvPr id="793" name="Google Shape;793;p103"/>
          <p:cNvSpPr/>
          <p:nvPr/>
        </p:nvSpPr>
        <p:spPr>
          <a:xfrm>
            <a:off x="1079500" y="2572990"/>
            <a:ext cx="2938831"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one epoch on the M1 Pro, fp32 on MPS</a:t>
            </a:r>
            <a:endParaRPr b="0" i="0" sz="1400" u="none" cap="none" strike="noStrike">
              <a:solidFill>
                <a:schemeClr val="dk1"/>
              </a:solidFill>
              <a:latin typeface="IBM Plex Sans"/>
              <a:ea typeface="IBM Plex Sans"/>
              <a:cs typeface="IBM Plex Sans"/>
              <a:sym typeface="IBM Plex Sans"/>
            </a:endParaRPr>
          </a:p>
        </p:txBody>
      </p:sp>
      <p:sp>
        <p:nvSpPr>
          <p:cNvPr id="794" name="Google Shape;794;p103"/>
          <p:cNvSpPr/>
          <p:nvPr/>
        </p:nvSpPr>
        <p:spPr>
          <a:xfrm>
            <a:off x="4408984" y="1621780"/>
            <a:ext cx="3373983" cy="1931591"/>
          </a:xfrm>
          <a:prstGeom prst="roundRect">
            <a:avLst>
              <a:gd fmla="val 6246"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03"/>
          <p:cNvSpPr/>
          <p:nvPr/>
        </p:nvSpPr>
        <p:spPr>
          <a:xfrm>
            <a:off x="4669334" y="1882130"/>
            <a:ext cx="2938882"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4481A"/>
              </a:buClr>
              <a:buSzPts val="4400"/>
              <a:buFont typeface="IBM Plex Sans"/>
              <a:buNone/>
            </a:pPr>
            <a:r>
              <a:rPr b="1" i="0" lang="en-US" sz="4400" u="none" cap="none" strike="noStrike">
                <a:solidFill>
                  <a:srgbClr val="B4481A"/>
                </a:solidFill>
                <a:latin typeface="IBM Plex Sans"/>
                <a:ea typeface="IBM Plex Sans"/>
                <a:cs typeface="IBM Plex Sans"/>
                <a:sym typeface="IBM Plex Sans"/>
              </a:rPr>
              <a:t>71 s</a:t>
            </a:r>
            <a:endParaRPr b="0" i="0" sz="4400" u="none" cap="none" strike="noStrike">
              <a:solidFill>
                <a:schemeClr val="dk1"/>
              </a:solidFill>
              <a:latin typeface="IBM Plex Sans"/>
              <a:ea typeface="IBM Plex Sans"/>
              <a:cs typeface="IBM Plex Sans"/>
              <a:sym typeface="IBM Plex Sans"/>
            </a:endParaRPr>
          </a:p>
        </p:txBody>
      </p:sp>
      <p:sp>
        <p:nvSpPr>
          <p:cNvPr id="796" name="Google Shape;796;p103"/>
          <p:cNvSpPr/>
          <p:nvPr/>
        </p:nvSpPr>
        <p:spPr>
          <a:xfrm>
            <a:off x="4669334" y="2572990"/>
            <a:ext cx="2938882" cy="74543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one epoch on an A100‑SXM4‑40GB, bf16, validation included</a:t>
            </a:r>
            <a:endParaRPr b="0" i="0" sz="1400" u="none" cap="none" strike="noStrike">
              <a:solidFill>
                <a:schemeClr val="dk1"/>
              </a:solidFill>
              <a:latin typeface="IBM Plex Sans"/>
              <a:ea typeface="IBM Plex Sans"/>
              <a:cs typeface="IBM Plex Sans"/>
              <a:sym typeface="IBM Plex Sans"/>
            </a:endParaRPr>
          </a:p>
        </p:txBody>
      </p:sp>
      <p:sp>
        <p:nvSpPr>
          <p:cNvPr id="797" name="Google Shape;797;p103"/>
          <p:cNvSpPr/>
          <p:nvPr/>
        </p:nvSpPr>
        <p:spPr>
          <a:xfrm>
            <a:off x="7998867" y="1621780"/>
            <a:ext cx="3373983" cy="1931591"/>
          </a:xfrm>
          <a:prstGeom prst="roundRect">
            <a:avLst>
              <a:gd fmla="val 6246"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03"/>
          <p:cNvSpPr/>
          <p:nvPr/>
        </p:nvSpPr>
        <p:spPr>
          <a:xfrm>
            <a:off x="8259217" y="1882130"/>
            <a:ext cx="2938882" cy="64006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6202E"/>
              </a:buClr>
              <a:buSzPts val="4400"/>
              <a:buFont typeface="IBM Plex Sans"/>
              <a:buNone/>
            </a:pPr>
            <a:r>
              <a:rPr b="1" i="0" lang="en-US" sz="4400" u="none" cap="none" strike="noStrike">
                <a:solidFill>
                  <a:srgbClr val="16202E"/>
                </a:solidFill>
                <a:latin typeface="IBM Plex Sans"/>
                <a:ea typeface="IBM Plex Sans"/>
                <a:cs typeface="IBM Plex Sans"/>
                <a:sym typeface="IBM Plex Sans"/>
              </a:rPr>
              <a:t>≈47×</a:t>
            </a:r>
            <a:endParaRPr b="0" i="0" sz="4400" u="none" cap="none" strike="noStrike">
              <a:solidFill>
                <a:schemeClr val="dk1"/>
              </a:solidFill>
              <a:latin typeface="IBM Plex Sans"/>
              <a:ea typeface="IBM Plex Sans"/>
              <a:cs typeface="IBM Plex Sans"/>
              <a:sym typeface="IBM Plex Sans"/>
            </a:endParaRPr>
          </a:p>
        </p:txBody>
      </p:sp>
      <p:sp>
        <p:nvSpPr>
          <p:cNvPr id="799" name="Google Shape;799;p103"/>
          <p:cNvSpPr/>
          <p:nvPr/>
        </p:nvSpPr>
        <p:spPr>
          <a:xfrm>
            <a:off x="8259217" y="2572990"/>
            <a:ext cx="2938882" cy="505420"/>
          </a:xfrm>
          <a:prstGeom prst="rect">
            <a:avLst/>
          </a:prstGeom>
          <a:noFill/>
          <a:ln>
            <a:noFill/>
          </a:ln>
        </p:spPr>
        <p:txBody>
          <a:bodyPr anchorCtr="0" anchor="t" bIns="0" lIns="0" spcFirstLastPara="1" rIns="0" wrap="square" tIns="0">
            <a:noAutofit/>
          </a:bodyPr>
          <a:lstStyle/>
          <a:p>
            <a:pPr indent="0" lvl="0" marL="0" marR="0" rtl="0" algn="l">
              <a:lnSpc>
                <a:spcPct val="135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faster per epoch, same code and data</a:t>
            </a:r>
            <a:endParaRPr b="0" i="0" sz="1400" u="none" cap="none" strike="noStrike">
              <a:solidFill>
                <a:schemeClr val="dk1"/>
              </a:solidFill>
              <a:latin typeface="IBM Plex Sans"/>
              <a:ea typeface="IBM Plex Sans"/>
              <a:cs typeface="IBM Plex Sans"/>
              <a:sym typeface="IBM Plex Sans"/>
            </a:endParaRPr>
          </a:p>
        </p:txBody>
      </p:sp>
      <p:graphicFrame>
        <p:nvGraphicFramePr>
          <p:cNvPr id="800" name="Google Shape;800;p103"/>
          <p:cNvGraphicFramePr/>
          <p:nvPr/>
        </p:nvGraphicFramePr>
        <p:xfrm>
          <a:off x="825500" y="3928021"/>
          <a:ext cx="3000000" cy="3000000"/>
        </p:xfrm>
        <a:graphic>
          <a:graphicData uri="http://schemas.openxmlformats.org/drawingml/2006/table">
            <a:tbl>
              <a:tblPr>
                <a:noFill/>
                <a:tableStyleId>{EEE02795-A6B7-4247-B71C-ED7A564BFD40}</a:tableStyleId>
              </a:tblPr>
              <a:tblGrid>
                <a:gridCol w="4221475"/>
                <a:gridCol w="2110750"/>
                <a:gridCol w="4221475"/>
              </a:tblGrid>
              <a:tr h="386000">
                <a:tc>
                  <a:txBody>
                    <a:bodyPr/>
                    <a:lstStyle/>
                    <a:p>
                      <a:pPr indent="0" lvl="0" marL="0" marR="0" rtl="0" algn="l">
                        <a:lnSpc>
                          <a:spcPct val="140000"/>
                        </a:lnSpc>
                        <a:spcBef>
                          <a:spcPts val="0"/>
                        </a:spcBef>
                        <a:spcAft>
                          <a:spcPts val="0"/>
                        </a:spcAft>
                        <a:buClr>
                          <a:srgbClr val="16202E"/>
                        </a:buClr>
                        <a:buSzPts val="1400"/>
                        <a:buFont typeface="IBM Plex Sans"/>
                        <a:buNone/>
                      </a:pPr>
                      <a:r>
                        <a:rPr b="1" lang="en-US" sz="1400" u="none" cap="none" strike="noStrike">
                          <a:solidFill>
                            <a:srgbClr val="16202E"/>
                          </a:solidFill>
                          <a:latin typeface="IBM Plex Sans"/>
                          <a:ea typeface="IBM Plex Sans"/>
                          <a:cs typeface="IBM Plex Sans"/>
                          <a:sym typeface="IBM Plex Sans"/>
                        </a:rPr>
                        <a:t>Colab stage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b="1" lang="en-US" sz="1400" u="none" cap="none" strike="noStrike">
                          <a:solidFill>
                            <a:srgbClr val="16202E"/>
                          </a:solidFill>
                          <a:latin typeface="IBM Plex Sans"/>
                          <a:ea typeface="IBM Plex Sans"/>
                          <a:cs typeface="IBM Plex Sans"/>
                          <a:sym typeface="IBM Plex Sans"/>
                        </a:rPr>
                        <a:t>Time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l">
                        <a:lnSpc>
                          <a:spcPct val="140000"/>
                        </a:lnSpc>
                        <a:spcBef>
                          <a:spcPts val="0"/>
                        </a:spcBef>
                        <a:spcAft>
                          <a:spcPts val="0"/>
                        </a:spcAft>
                        <a:buClr>
                          <a:srgbClr val="16202E"/>
                        </a:buClr>
                        <a:buSzPts val="1400"/>
                        <a:buFont typeface="IBM Plex Sans"/>
                        <a:buNone/>
                      </a:pPr>
                      <a:r>
                        <a:rPr b="1" lang="en-US" sz="1400" u="none" cap="none" strike="noStrike">
                          <a:solidFill>
                            <a:srgbClr val="16202E"/>
                          </a:solidFill>
                          <a:latin typeface="IBM Plex Sans"/>
                          <a:ea typeface="IBM Plex Sans"/>
                          <a:cs typeface="IBM Plex Sans"/>
                          <a:sym typeface="IBM Plex Sans"/>
                        </a:rPr>
                        <a:t>Output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Training: 60 steps, 7 validation passes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3.5 min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train_log.jsonl, best adapter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r>
              <a:tr h="386000">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Eval: 82 examples × 2 models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≈23 min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l">
                        <a:lnSpc>
                          <a:spcPct val="140000"/>
                        </a:lnSpc>
                        <a:spcBef>
                          <a:spcPts val="0"/>
                        </a:spcBef>
                        <a:spcAft>
                          <a:spcPts val="0"/>
                        </a:spcAft>
                        <a:buClr>
                          <a:srgbClr val="16202E"/>
                        </a:buClr>
                        <a:buSzPts val="1400"/>
                        <a:buFont typeface="IBM Plex Sans"/>
                        <a:buNone/>
                      </a:pPr>
                      <a:r>
                        <a:rPr lang="en-US" sz="1400" u="none" cap="none" strike="noStrike">
                          <a:solidFill>
                            <a:srgbClr val="16202E"/>
                          </a:solidFill>
                          <a:latin typeface="IBM Plex Sans"/>
                          <a:ea typeface="IBM Plex Sans"/>
                          <a:cs typeface="IBM Plex Sans"/>
                          <a:sym typeface="IBM Plex Sans"/>
                        </a:rPr>
                        <a:t>generator_comparison.json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bl>
          </a:graphicData>
        </a:graphic>
      </p:graphicFrame>
      <p:sp>
        <p:nvSpPr>
          <p:cNvPr id="801" name="Google Shape;801;p103"/>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Training time from train_log.jsonl (elapsed_s = 212); eval time from result file timestamps</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06" name="Shape 806"/>
        <p:cNvGrpSpPr/>
        <p:nvPr/>
      </p:nvGrpSpPr>
      <p:grpSpPr>
        <a:xfrm>
          <a:off x="0" y="0"/>
          <a:ext cx="0" cy="0"/>
          <a:chOff x="0" y="0"/>
          <a:chExt cx="0" cy="0"/>
        </a:xfrm>
      </p:grpSpPr>
      <p:sp>
        <p:nvSpPr>
          <p:cNvPr id="807" name="Google Shape;807;p104"/>
          <p:cNvSpPr txBox="1"/>
          <p:nvPr>
            <p:ph type="title"/>
          </p:nvPr>
        </p:nvSpPr>
        <p:spPr>
          <a:xfrm>
            <a:off x="812800" y="812800"/>
            <a:ext cx="10883392"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Validation loss bottoms out after one epoch, then climbs</a:t>
            </a:r>
            <a:endParaRPr sz="3200"/>
          </a:p>
        </p:txBody>
      </p:sp>
      <p:cxnSp>
        <p:nvCxnSpPr>
          <p:cNvPr id="808" name="Google Shape;808;p104"/>
          <p:cNvCxnSpPr/>
          <p:nvPr/>
        </p:nvCxnSpPr>
        <p:spPr>
          <a:xfrm>
            <a:off x="812800" y="5253434"/>
            <a:ext cx="6096000" cy="0"/>
          </a:xfrm>
          <a:prstGeom prst="straightConnector1">
            <a:avLst/>
          </a:prstGeom>
          <a:noFill/>
          <a:ln cap="flat" cmpd="sng" w="19050">
            <a:solidFill>
              <a:srgbClr val="C9C3B5"/>
            </a:solidFill>
            <a:prstDash val="solid"/>
            <a:round/>
            <a:headEnd len="sm" w="sm" type="none"/>
            <a:tailEnd len="sm" w="sm" type="none"/>
          </a:ln>
        </p:spPr>
      </p:cxnSp>
      <p:sp>
        <p:nvSpPr>
          <p:cNvPr id="809" name="Google Shape;809;p104"/>
          <p:cNvSpPr/>
          <p:nvPr/>
        </p:nvSpPr>
        <p:spPr>
          <a:xfrm>
            <a:off x="1300480" y="178573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0.627</a:t>
            </a:r>
            <a:endParaRPr b="0" i="0" sz="1200" u="none" cap="none" strike="noStrike">
              <a:solidFill>
                <a:schemeClr val="dk1"/>
              </a:solidFill>
              <a:latin typeface="IBM Plex Sans"/>
              <a:ea typeface="IBM Plex Sans"/>
              <a:cs typeface="IBM Plex Sans"/>
              <a:sym typeface="IBM Plex Sans"/>
            </a:endParaRPr>
          </a:p>
        </p:txBody>
      </p:sp>
      <p:sp>
        <p:nvSpPr>
          <p:cNvPr id="810" name="Google Shape;810;p104"/>
          <p:cNvSpPr/>
          <p:nvPr/>
        </p:nvSpPr>
        <p:spPr>
          <a:xfrm>
            <a:off x="1270000" y="2062559"/>
            <a:ext cx="609600" cy="3181350"/>
          </a:xfrm>
          <a:custGeom>
            <a:rect b="b" l="l" r="r" t="t"/>
            <a:pathLst>
              <a:path extrusionOk="0" h="3181350" w="609600">
                <a:moveTo>
                  <a:pt x="50800" y="0"/>
                </a:moveTo>
                <a:lnTo>
                  <a:pt x="558800" y="0"/>
                </a:lnTo>
                <a:cubicBezTo>
                  <a:pt x="572273" y="0"/>
                  <a:pt x="585194" y="5352"/>
                  <a:pt x="594721" y="14879"/>
                </a:cubicBezTo>
                <a:cubicBezTo>
                  <a:pt x="604248" y="24406"/>
                  <a:pt x="609600" y="37327"/>
                  <a:pt x="609600" y="50800"/>
                </a:cubicBezTo>
                <a:lnTo>
                  <a:pt x="609600" y="3181350"/>
                </a:lnTo>
                <a:lnTo>
                  <a:pt x="0" y="3181350"/>
                </a:lnTo>
                <a:lnTo>
                  <a:pt x="0" y="50800"/>
                </a:lnTo>
                <a:cubicBezTo>
                  <a:pt x="0" y="22744"/>
                  <a:pt x="22744" y="0"/>
                  <a:pt x="50800" y="0"/>
                </a:cubicBezTo>
                <a:close/>
              </a:path>
            </a:pathLst>
          </a:custGeom>
          <a:solidFill>
            <a:srgbClr val="C9C3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04"/>
          <p:cNvSpPr/>
          <p:nvPr/>
        </p:nvSpPr>
        <p:spPr>
          <a:xfrm>
            <a:off x="2062480" y="224928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0.535</a:t>
            </a:r>
            <a:endParaRPr b="0" i="0" sz="1200" u="none" cap="none" strike="noStrike">
              <a:solidFill>
                <a:schemeClr val="dk1"/>
              </a:solidFill>
              <a:latin typeface="IBM Plex Sans"/>
              <a:ea typeface="IBM Plex Sans"/>
              <a:cs typeface="IBM Plex Sans"/>
              <a:sym typeface="IBM Plex Sans"/>
            </a:endParaRPr>
          </a:p>
        </p:txBody>
      </p:sp>
      <p:sp>
        <p:nvSpPr>
          <p:cNvPr id="812" name="Google Shape;812;p104"/>
          <p:cNvSpPr/>
          <p:nvPr/>
        </p:nvSpPr>
        <p:spPr>
          <a:xfrm>
            <a:off x="2032000" y="2526109"/>
            <a:ext cx="609600" cy="2717800"/>
          </a:xfrm>
          <a:custGeom>
            <a:rect b="b" l="l" r="r" t="t"/>
            <a:pathLst>
              <a:path extrusionOk="0" h="2717800" w="609600">
                <a:moveTo>
                  <a:pt x="50800" y="0"/>
                </a:moveTo>
                <a:lnTo>
                  <a:pt x="558800" y="0"/>
                </a:lnTo>
                <a:cubicBezTo>
                  <a:pt x="572273" y="0"/>
                  <a:pt x="585194" y="5352"/>
                  <a:pt x="594721" y="14879"/>
                </a:cubicBezTo>
                <a:cubicBezTo>
                  <a:pt x="604248" y="24406"/>
                  <a:pt x="609600" y="37327"/>
                  <a:pt x="609600" y="50800"/>
                </a:cubicBezTo>
                <a:lnTo>
                  <a:pt x="609600" y="2717800"/>
                </a:lnTo>
                <a:lnTo>
                  <a:pt x="0" y="2717800"/>
                </a:lnTo>
                <a:lnTo>
                  <a:pt x="0" y="50800"/>
                </a:lnTo>
                <a:cubicBezTo>
                  <a:pt x="0" y="22744"/>
                  <a:pt x="22744" y="0"/>
                  <a:pt x="50800" y="0"/>
                </a:cubicBezTo>
                <a:close/>
              </a:path>
            </a:pathLst>
          </a:custGeom>
          <a:solidFill>
            <a:srgbClr val="C9C3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04"/>
          <p:cNvSpPr/>
          <p:nvPr/>
        </p:nvSpPr>
        <p:spPr>
          <a:xfrm>
            <a:off x="2824480" y="233818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4481A"/>
              </a:buClr>
              <a:buSzPts val="1200"/>
              <a:buFont typeface="JetBrains Mono"/>
              <a:buNone/>
            </a:pPr>
            <a:r>
              <a:rPr b="1" i="0" lang="en-US" sz="1200" u="none" cap="none" strike="noStrike">
                <a:solidFill>
                  <a:srgbClr val="B4481A"/>
                </a:solidFill>
                <a:latin typeface="JetBrains Mono"/>
                <a:ea typeface="JetBrains Mono"/>
                <a:cs typeface="JetBrains Mono"/>
                <a:sym typeface="JetBrains Mono"/>
              </a:rPr>
              <a:t>0.517</a:t>
            </a:r>
            <a:endParaRPr b="0" i="0" sz="1200" u="none" cap="none" strike="noStrike">
              <a:solidFill>
                <a:schemeClr val="dk1"/>
              </a:solidFill>
              <a:latin typeface="IBM Plex Sans"/>
              <a:ea typeface="IBM Plex Sans"/>
              <a:cs typeface="IBM Plex Sans"/>
              <a:sym typeface="IBM Plex Sans"/>
            </a:endParaRPr>
          </a:p>
        </p:txBody>
      </p:sp>
      <p:sp>
        <p:nvSpPr>
          <p:cNvPr id="814" name="Google Shape;814;p104"/>
          <p:cNvSpPr/>
          <p:nvPr/>
        </p:nvSpPr>
        <p:spPr>
          <a:xfrm>
            <a:off x="2794000" y="2615009"/>
            <a:ext cx="609600" cy="2628900"/>
          </a:xfrm>
          <a:custGeom>
            <a:rect b="b" l="l" r="r" t="t"/>
            <a:pathLst>
              <a:path extrusionOk="0" h="2628900" w="609600">
                <a:moveTo>
                  <a:pt x="50800" y="0"/>
                </a:moveTo>
                <a:lnTo>
                  <a:pt x="558800" y="0"/>
                </a:lnTo>
                <a:cubicBezTo>
                  <a:pt x="572273" y="0"/>
                  <a:pt x="585194" y="5352"/>
                  <a:pt x="594721" y="14879"/>
                </a:cubicBezTo>
                <a:cubicBezTo>
                  <a:pt x="604248" y="24406"/>
                  <a:pt x="609600" y="37327"/>
                  <a:pt x="609600" y="50800"/>
                </a:cubicBezTo>
                <a:lnTo>
                  <a:pt x="609600" y="2628900"/>
                </a:lnTo>
                <a:lnTo>
                  <a:pt x="0" y="2628900"/>
                </a:lnTo>
                <a:lnTo>
                  <a:pt x="0" y="50800"/>
                </a:lnTo>
                <a:cubicBezTo>
                  <a:pt x="0" y="22744"/>
                  <a:pt x="22744" y="0"/>
                  <a:pt x="50800" y="0"/>
                </a:cubicBezTo>
                <a:close/>
              </a:path>
            </a:pathLst>
          </a:custGeom>
          <a:solidFill>
            <a:srgbClr val="D962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04"/>
          <p:cNvSpPr/>
          <p:nvPr/>
        </p:nvSpPr>
        <p:spPr>
          <a:xfrm>
            <a:off x="3586480" y="221753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0.541</a:t>
            </a:r>
            <a:endParaRPr b="0" i="0" sz="1200" u="none" cap="none" strike="noStrike">
              <a:solidFill>
                <a:schemeClr val="dk1"/>
              </a:solidFill>
              <a:latin typeface="IBM Plex Sans"/>
              <a:ea typeface="IBM Plex Sans"/>
              <a:cs typeface="IBM Plex Sans"/>
              <a:sym typeface="IBM Plex Sans"/>
            </a:endParaRPr>
          </a:p>
        </p:txBody>
      </p:sp>
      <p:sp>
        <p:nvSpPr>
          <p:cNvPr id="816" name="Google Shape;816;p104"/>
          <p:cNvSpPr/>
          <p:nvPr/>
        </p:nvSpPr>
        <p:spPr>
          <a:xfrm>
            <a:off x="3556000" y="2494359"/>
            <a:ext cx="609600" cy="2749550"/>
          </a:xfrm>
          <a:custGeom>
            <a:rect b="b" l="l" r="r" t="t"/>
            <a:pathLst>
              <a:path extrusionOk="0" h="2749550" w="609600">
                <a:moveTo>
                  <a:pt x="50800" y="0"/>
                </a:moveTo>
                <a:lnTo>
                  <a:pt x="558800" y="0"/>
                </a:lnTo>
                <a:cubicBezTo>
                  <a:pt x="572273" y="0"/>
                  <a:pt x="585194" y="5352"/>
                  <a:pt x="594721" y="14879"/>
                </a:cubicBezTo>
                <a:cubicBezTo>
                  <a:pt x="604248" y="24406"/>
                  <a:pt x="609600" y="37327"/>
                  <a:pt x="609600" y="50800"/>
                </a:cubicBezTo>
                <a:lnTo>
                  <a:pt x="609600" y="2749550"/>
                </a:lnTo>
                <a:lnTo>
                  <a:pt x="0" y="2749550"/>
                </a:lnTo>
                <a:lnTo>
                  <a:pt x="0" y="50800"/>
                </a:lnTo>
                <a:cubicBezTo>
                  <a:pt x="0" y="22744"/>
                  <a:pt x="22744" y="0"/>
                  <a:pt x="50800" y="0"/>
                </a:cubicBezTo>
                <a:close/>
              </a:path>
            </a:pathLst>
          </a:custGeom>
          <a:solidFill>
            <a:srgbClr val="C9C3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04"/>
          <p:cNvSpPr/>
          <p:nvPr/>
        </p:nvSpPr>
        <p:spPr>
          <a:xfrm>
            <a:off x="4348480" y="203973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0.576</a:t>
            </a:r>
            <a:endParaRPr b="0" i="0" sz="1200" u="none" cap="none" strike="noStrike">
              <a:solidFill>
                <a:schemeClr val="dk1"/>
              </a:solidFill>
              <a:latin typeface="IBM Plex Sans"/>
              <a:ea typeface="IBM Plex Sans"/>
              <a:cs typeface="IBM Plex Sans"/>
              <a:sym typeface="IBM Plex Sans"/>
            </a:endParaRPr>
          </a:p>
        </p:txBody>
      </p:sp>
      <p:sp>
        <p:nvSpPr>
          <p:cNvPr id="818" name="Google Shape;818;p104"/>
          <p:cNvSpPr/>
          <p:nvPr/>
        </p:nvSpPr>
        <p:spPr>
          <a:xfrm>
            <a:off x="4318000" y="2316559"/>
            <a:ext cx="609600" cy="2927350"/>
          </a:xfrm>
          <a:custGeom>
            <a:rect b="b" l="l" r="r" t="t"/>
            <a:pathLst>
              <a:path extrusionOk="0" h="2927350" w="609600">
                <a:moveTo>
                  <a:pt x="50800" y="0"/>
                </a:moveTo>
                <a:lnTo>
                  <a:pt x="558800" y="0"/>
                </a:lnTo>
                <a:cubicBezTo>
                  <a:pt x="572273" y="0"/>
                  <a:pt x="585194" y="5352"/>
                  <a:pt x="594721" y="14879"/>
                </a:cubicBezTo>
                <a:cubicBezTo>
                  <a:pt x="604248" y="24406"/>
                  <a:pt x="609600" y="37327"/>
                  <a:pt x="609600" y="50800"/>
                </a:cubicBezTo>
                <a:lnTo>
                  <a:pt x="609600" y="2927350"/>
                </a:lnTo>
                <a:lnTo>
                  <a:pt x="0" y="2927350"/>
                </a:lnTo>
                <a:lnTo>
                  <a:pt x="0" y="50800"/>
                </a:lnTo>
                <a:cubicBezTo>
                  <a:pt x="0" y="22744"/>
                  <a:pt x="22744" y="0"/>
                  <a:pt x="50800" y="0"/>
                </a:cubicBezTo>
                <a:close/>
              </a:path>
            </a:pathLst>
          </a:custGeom>
          <a:solidFill>
            <a:srgbClr val="C9C3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104"/>
          <p:cNvSpPr/>
          <p:nvPr/>
        </p:nvSpPr>
        <p:spPr>
          <a:xfrm>
            <a:off x="5110480" y="191273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0.601</a:t>
            </a:r>
            <a:endParaRPr b="0" i="0" sz="1200" u="none" cap="none" strike="noStrike">
              <a:solidFill>
                <a:schemeClr val="dk1"/>
              </a:solidFill>
              <a:latin typeface="IBM Plex Sans"/>
              <a:ea typeface="IBM Plex Sans"/>
              <a:cs typeface="IBM Plex Sans"/>
              <a:sym typeface="IBM Plex Sans"/>
            </a:endParaRPr>
          </a:p>
        </p:txBody>
      </p:sp>
      <p:sp>
        <p:nvSpPr>
          <p:cNvPr id="820" name="Google Shape;820;p104"/>
          <p:cNvSpPr/>
          <p:nvPr/>
        </p:nvSpPr>
        <p:spPr>
          <a:xfrm>
            <a:off x="5080000" y="2189559"/>
            <a:ext cx="609600" cy="3054350"/>
          </a:xfrm>
          <a:custGeom>
            <a:rect b="b" l="l" r="r" t="t"/>
            <a:pathLst>
              <a:path extrusionOk="0" h="3054350" w="609600">
                <a:moveTo>
                  <a:pt x="50800" y="0"/>
                </a:moveTo>
                <a:lnTo>
                  <a:pt x="558800" y="0"/>
                </a:lnTo>
                <a:cubicBezTo>
                  <a:pt x="572273" y="0"/>
                  <a:pt x="585194" y="5352"/>
                  <a:pt x="594721" y="14879"/>
                </a:cubicBezTo>
                <a:cubicBezTo>
                  <a:pt x="604248" y="24406"/>
                  <a:pt x="609600" y="37327"/>
                  <a:pt x="609600" y="50800"/>
                </a:cubicBezTo>
                <a:lnTo>
                  <a:pt x="609600" y="3054350"/>
                </a:lnTo>
                <a:lnTo>
                  <a:pt x="0" y="3054350"/>
                </a:lnTo>
                <a:lnTo>
                  <a:pt x="0" y="50800"/>
                </a:lnTo>
                <a:cubicBezTo>
                  <a:pt x="0" y="22744"/>
                  <a:pt x="22744" y="0"/>
                  <a:pt x="50800" y="0"/>
                </a:cubicBezTo>
                <a:close/>
              </a:path>
            </a:pathLst>
          </a:custGeom>
          <a:solidFill>
            <a:srgbClr val="C9C3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04"/>
          <p:cNvSpPr/>
          <p:nvPr/>
        </p:nvSpPr>
        <p:spPr>
          <a:xfrm>
            <a:off x="5872480" y="1880989"/>
            <a:ext cx="54864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16202E"/>
              </a:buClr>
              <a:buSzPts val="1200"/>
              <a:buFont typeface="JetBrains Mono"/>
              <a:buNone/>
            </a:pPr>
            <a:r>
              <a:rPr b="0" i="0" lang="en-US" sz="1200" u="none" cap="none" strike="noStrike">
                <a:solidFill>
                  <a:srgbClr val="16202E"/>
                </a:solidFill>
                <a:latin typeface="JetBrains Mono"/>
                <a:ea typeface="JetBrains Mono"/>
                <a:cs typeface="JetBrains Mono"/>
                <a:sym typeface="JetBrains Mono"/>
              </a:rPr>
              <a:t>0.607</a:t>
            </a:r>
            <a:endParaRPr b="0" i="0" sz="1200" u="none" cap="none" strike="noStrike">
              <a:solidFill>
                <a:schemeClr val="dk1"/>
              </a:solidFill>
              <a:latin typeface="IBM Plex Sans"/>
              <a:ea typeface="IBM Plex Sans"/>
              <a:cs typeface="IBM Plex Sans"/>
              <a:sym typeface="IBM Plex Sans"/>
            </a:endParaRPr>
          </a:p>
        </p:txBody>
      </p:sp>
      <p:sp>
        <p:nvSpPr>
          <p:cNvPr id="822" name="Google Shape;822;p104"/>
          <p:cNvSpPr/>
          <p:nvPr/>
        </p:nvSpPr>
        <p:spPr>
          <a:xfrm>
            <a:off x="5842000" y="2157809"/>
            <a:ext cx="609600" cy="3086100"/>
          </a:xfrm>
          <a:custGeom>
            <a:rect b="b" l="l" r="r" t="t"/>
            <a:pathLst>
              <a:path extrusionOk="0" h="3086100" w="609600">
                <a:moveTo>
                  <a:pt x="50800" y="0"/>
                </a:moveTo>
                <a:lnTo>
                  <a:pt x="558800" y="0"/>
                </a:lnTo>
                <a:cubicBezTo>
                  <a:pt x="572273" y="0"/>
                  <a:pt x="585194" y="5352"/>
                  <a:pt x="594721" y="14879"/>
                </a:cubicBezTo>
                <a:cubicBezTo>
                  <a:pt x="604248" y="24406"/>
                  <a:pt x="609600" y="37327"/>
                  <a:pt x="609600" y="50800"/>
                </a:cubicBezTo>
                <a:lnTo>
                  <a:pt x="609600" y="3086100"/>
                </a:lnTo>
                <a:lnTo>
                  <a:pt x="0" y="3086100"/>
                </a:lnTo>
                <a:lnTo>
                  <a:pt x="0" y="50800"/>
                </a:lnTo>
                <a:cubicBezTo>
                  <a:pt x="0" y="22744"/>
                  <a:pt x="22744" y="0"/>
                  <a:pt x="50800" y="0"/>
                </a:cubicBezTo>
                <a:close/>
              </a:path>
            </a:pathLst>
          </a:custGeom>
          <a:solidFill>
            <a:srgbClr val="C9C3B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104"/>
          <p:cNvSpPr/>
          <p:nvPr/>
        </p:nvSpPr>
        <p:spPr>
          <a:xfrm>
            <a:off x="1244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0</a:t>
            </a:r>
            <a:endParaRPr b="0" i="0" sz="1200" u="none" cap="none" strike="noStrike">
              <a:solidFill>
                <a:schemeClr val="dk1"/>
              </a:solidFill>
              <a:latin typeface="IBM Plex Sans"/>
              <a:ea typeface="IBM Plex Sans"/>
              <a:cs typeface="IBM Plex Sans"/>
              <a:sym typeface="IBM Plex Sans"/>
            </a:endParaRPr>
          </a:p>
        </p:txBody>
      </p:sp>
      <p:sp>
        <p:nvSpPr>
          <p:cNvPr id="824" name="Google Shape;824;p104"/>
          <p:cNvSpPr/>
          <p:nvPr/>
        </p:nvSpPr>
        <p:spPr>
          <a:xfrm>
            <a:off x="2006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0.5</a:t>
            </a:r>
            <a:endParaRPr b="0" i="0" sz="1200" u="none" cap="none" strike="noStrike">
              <a:solidFill>
                <a:schemeClr val="dk1"/>
              </a:solidFill>
              <a:latin typeface="IBM Plex Sans"/>
              <a:ea typeface="IBM Plex Sans"/>
              <a:cs typeface="IBM Plex Sans"/>
              <a:sym typeface="IBM Plex Sans"/>
            </a:endParaRPr>
          </a:p>
        </p:txBody>
      </p:sp>
      <p:sp>
        <p:nvSpPr>
          <p:cNvPr id="825" name="Google Shape;825;p104"/>
          <p:cNvSpPr/>
          <p:nvPr/>
        </p:nvSpPr>
        <p:spPr>
          <a:xfrm>
            <a:off x="2768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B4481A"/>
              </a:buClr>
              <a:buSzPts val="1200"/>
              <a:buFont typeface="IBM Plex Sans"/>
              <a:buNone/>
            </a:pPr>
            <a:r>
              <a:rPr b="1" i="0" lang="en-US" sz="1200" u="none" cap="none" strike="noStrike">
                <a:solidFill>
                  <a:srgbClr val="B4481A"/>
                </a:solidFill>
                <a:latin typeface="IBM Plex Sans"/>
                <a:ea typeface="IBM Plex Sans"/>
                <a:cs typeface="IBM Plex Sans"/>
                <a:sym typeface="IBM Plex Sans"/>
              </a:rPr>
              <a:t>1</a:t>
            </a:r>
            <a:endParaRPr b="0" i="0" sz="1200" u="none" cap="none" strike="noStrike">
              <a:solidFill>
                <a:schemeClr val="dk1"/>
              </a:solidFill>
              <a:latin typeface="IBM Plex Sans"/>
              <a:ea typeface="IBM Plex Sans"/>
              <a:cs typeface="IBM Plex Sans"/>
              <a:sym typeface="IBM Plex Sans"/>
            </a:endParaRPr>
          </a:p>
        </p:txBody>
      </p:sp>
      <p:sp>
        <p:nvSpPr>
          <p:cNvPr id="826" name="Google Shape;826;p104"/>
          <p:cNvSpPr/>
          <p:nvPr/>
        </p:nvSpPr>
        <p:spPr>
          <a:xfrm>
            <a:off x="3530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1.5</a:t>
            </a:r>
            <a:endParaRPr b="0" i="0" sz="1200" u="none" cap="none" strike="noStrike">
              <a:solidFill>
                <a:schemeClr val="dk1"/>
              </a:solidFill>
              <a:latin typeface="IBM Plex Sans"/>
              <a:ea typeface="IBM Plex Sans"/>
              <a:cs typeface="IBM Plex Sans"/>
              <a:sym typeface="IBM Plex Sans"/>
            </a:endParaRPr>
          </a:p>
        </p:txBody>
      </p:sp>
      <p:sp>
        <p:nvSpPr>
          <p:cNvPr id="827" name="Google Shape;827;p104"/>
          <p:cNvSpPr/>
          <p:nvPr/>
        </p:nvSpPr>
        <p:spPr>
          <a:xfrm>
            <a:off x="4292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2</a:t>
            </a:r>
            <a:endParaRPr b="0" i="0" sz="1200" u="none" cap="none" strike="noStrike">
              <a:solidFill>
                <a:schemeClr val="dk1"/>
              </a:solidFill>
              <a:latin typeface="IBM Plex Sans"/>
              <a:ea typeface="IBM Plex Sans"/>
              <a:cs typeface="IBM Plex Sans"/>
              <a:sym typeface="IBM Plex Sans"/>
            </a:endParaRPr>
          </a:p>
        </p:txBody>
      </p:sp>
      <p:sp>
        <p:nvSpPr>
          <p:cNvPr id="828" name="Google Shape;828;p104"/>
          <p:cNvSpPr/>
          <p:nvPr/>
        </p:nvSpPr>
        <p:spPr>
          <a:xfrm>
            <a:off x="5054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2.5</a:t>
            </a:r>
            <a:endParaRPr b="0" i="0" sz="1200" u="none" cap="none" strike="noStrike">
              <a:solidFill>
                <a:schemeClr val="dk1"/>
              </a:solidFill>
              <a:latin typeface="IBM Plex Sans"/>
              <a:ea typeface="IBM Plex Sans"/>
              <a:cs typeface="IBM Plex Sans"/>
              <a:sym typeface="IBM Plex Sans"/>
            </a:endParaRPr>
          </a:p>
        </p:txBody>
      </p:sp>
      <p:sp>
        <p:nvSpPr>
          <p:cNvPr id="829" name="Google Shape;829;p104"/>
          <p:cNvSpPr/>
          <p:nvPr/>
        </p:nvSpPr>
        <p:spPr>
          <a:xfrm>
            <a:off x="5816600" y="5339159"/>
            <a:ext cx="66040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3</a:t>
            </a:r>
            <a:endParaRPr b="0" i="0" sz="1200" u="none" cap="none" strike="noStrike">
              <a:solidFill>
                <a:schemeClr val="dk1"/>
              </a:solidFill>
              <a:latin typeface="IBM Plex Sans"/>
              <a:ea typeface="IBM Plex Sans"/>
              <a:cs typeface="IBM Plex Sans"/>
              <a:sym typeface="IBM Plex Sans"/>
            </a:endParaRPr>
          </a:p>
        </p:txBody>
      </p:sp>
      <p:sp>
        <p:nvSpPr>
          <p:cNvPr id="830" name="Google Shape;830;p104"/>
          <p:cNvSpPr/>
          <p:nvPr/>
        </p:nvSpPr>
        <p:spPr>
          <a:xfrm>
            <a:off x="721360" y="5628680"/>
            <a:ext cx="6278880" cy="23872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epoch</a:t>
            </a:r>
            <a:endParaRPr b="0" i="0" sz="1200" u="none" cap="none" strike="noStrike">
              <a:solidFill>
                <a:schemeClr val="dk1"/>
              </a:solidFill>
              <a:latin typeface="IBM Plex Sans"/>
              <a:ea typeface="IBM Plex Sans"/>
              <a:cs typeface="IBM Plex Sans"/>
              <a:sym typeface="IBM Plex Sans"/>
            </a:endParaRPr>
          </a:p>
        </p:txBody>
      </p:sp>
      <p:sp>
        <p:nvSpPr>
          <p:cNvPr id="831" name="Google Shape;831;p104"/>
          <p:cNvSpPr/>
          <p:nvPr/>
        </p:nvSpPr>
        <p:spPr>
          <a:xfrm>
            <a:off x="7315200" y="3009900"/>
            <a:ext cx="418592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4481A"/>
              </a:buClr>
              <a:buSzPts val="1500"/>
              <a:buFont typeface="IBM Plex Sans"/>
              <a:buNone/>
            </a:pPr>
            <a:r>
              <a:rPr b="1" i="0" lang="en-US" sz="1500" u="none" cap="none" strike="noStrike">
                <a:solidFill>
                  <a:srgbClr val="B4481A"/>
                </a:solidFill>
                <a:latin typeface="IBM Plex Sans"/>
                <a:ea typeface="IBM Plex Sans"/>
                <a:cs typeface="IBM Plex Sans"/>
                <a:sym typeface="IBM Plex Sans"/>
              </a:rPr>
              <a:t>Best at epoch 1 (step 20):</a:t>
            </a:r>
            <a:r>
              <a:rPr b="0" i="0" lang="en-US" sz="1500" u="none" cap="none" strike="noStrike">
                <a:solidFill>
                  <a:srgbClr val="4A5568"/>
                </a:solidFill>
                <a:latin typeface="IBM Plex Sans"/>
                <a:ea typeface="IBM Plex Sans"/>
                <a:cs typeface="IBM Plex Sans"/>
                <a:sym typeface="IBM Plex Sans"/>
              </a:rPr>
              <a:t> 0.517, down 17% from 0.627 before training.</a:t>
            </a:r>
            <a:endParaRPr b="0" i="0" sz="1500" u="none" cap="none" strike="noStrike">
              <a:solidFill>
                <a:schemeClr val="dk1"/>
              </a:solidFill>
              <a:latin typeface="IBM Plex Sans"/>
              <a:ea typeface="IBM Plex Sans"/>
              <a:cs typeface="IBM Plex Sans"/>
              <a:sym typeface="IBM Plex Sans"/>
            </a:endParaRPr>
          </a:p>
        </p:txBody>
      </p:sp>
      <p:sp>
        <p:nvSpPr>
          <p:cNvPr id="832" name="Google Shape;832;p104"/>
          <p:cNvSpPr/>
          <p:nvPr/>
        </p:nvSpPr>
        <p:spPr>
          <a:xfrm>
            <a:off x="7315200" y="3721100"/>
            <a:ext cx="4185920" cy="82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500"/>
              <a:buFont typeface="IBM Plex Sans"/>
              <a:buNone/>
            </a:pPr>
            <a:r>
              <a:rPr b="1" i="0" lang="en-US" sz="1500" u="none" cap="none" strike="noStrike">
                <a:solidFill>
                  <a:srgbClr val="16202E"/>
                </a:solidFill>
                <a:latin typeface="IBM Plex Sans"/>
                <a:ea typeface="IBM Plex Sans"/>
                <a:cs typeface="IBM Plex Sans"/>
                <a:sym typeface="IBM Plex Sans"/>
              </a:rPr>
              <a:t>Epochs 2–3:</a:t>
            </a:r>
            <a:r>
              <a:rPr b="0" i="0" lang="en-US" sz="1500" u="none" cap="none" strike="noStrike">
                <a:solidFill>
                  <a:srgbClr val="4A5568"/>
                </a:solidFill>
                <a:latin typeface="IBM Plex Sans"/>
                <a:ea typeface="IBM Plex Sans"/>
                <a:cs typeface="IBM Plex Sans"/>
                <a:sym typeface="IBM Plex Sans"/>
              </a:rPr>
              <a:t> validation loss climbs back to 0.607 while train loss keeps falling to about 0.11.</a:t>
            </a:r>
            <a:endParaRPr b="0" i="0" sz="1500" u="none" cap="none" strike="noStrike">
              <a:solidFill>
                <a:schemeClr val="dk1"/>
              </a:solidFill>
              <a:latin typeface="IBM Plex Sans"/>
              <a:ea typeface="IBM Plex Sans"/>
              <a:cs typeface="IBM Plex Sans"/>
              <a:sym typeface="IBM Plex Sans"/>
            </a:endParaRPr>
          </a:p>
        </p:txBody>
      </p:sp>
      <p:sp>
        <p:nvSpPr>
          <p:cNvPr id="833" name="Google Shape;833;p104"/>
          <p:cNvSpPr/>
          <p:nvPr/>
        </p:nvSpPr>
        <p:spPr>
          <a:xfrm>
            <a:off x="7315200" y="4699000"/>
            <a:ext cx="4185920"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6202E"/>
              </a:buClr>
              <a:buSzPts val="1500"/>
              <a:buFont typeface="IBM Plex Sans"/>
              <a:buNone/>
            </a:pPr>
            <a:r>
              <a:rPr b="1" i="0" lang="en-US" sz="1500" u="none" cap="none" strike="noStrike">
                <a:solidFill>
                  <a:srgbClr val="16202E"/>
                </a:solidFill>
                <a:latin typeface="IBM Plex Sans"/>
                <a:ea typeface="IBM Plex Sans"/>
                <a:cs typeface="IBM Plex Sans"/>
                <a:sym typeface="IBM Plex Sans"/>
              </a:rPr>
              <a:t>Kept:</a:t>
            </a:r>
            <a:r>
              <a:rPr b="0" i="0" lang="en-US" sz="1500" u="none" cap="none" strike="noStrike">
                <a:solidFill>
                  <a:srgbClr val="4A5568"/>
                </a:solidFill>
                <a:latin typeface="IBM Plex Sans"/>
                <a:ea typeface="IBM Plex Sans"/>
                <a:cs typeface="IBM Plex Sans"/>
                <a:sym typeface="IBM Plex Sans"/>
              </a:rPr>
              <a:t> only the epoch‑1 adapter, so the later epochs never reach the eval.</a:t>
            </a:r>
            <a:endParaRPr b="0" i="0" sz="1500" u="none" cap="none" strike="noStrike">
              <a:solidFill>
                <a:schemeClr val="dk1"/>
              </a:solidFill>
              <a:latin typeface="IBM Plex Sans"/>
              <a:ea typeface="IBM Plex Sans"/>
              <a:cs typeface="IBM Plex Sans"/>
              <a:sym typeface="IBM Plex Sans"/>
            </a:endParaRPr>
          </a:p>
        </p:txBody>
      </p:sp>
      <p:sp>
        <p:nvSpPr>
          <p:cNvPr id="834" name="Google Shape;834;p104"/>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Validation = 24 questions × 2 formats from guide sections never trained on · Colab A100 run · bars start at zero</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202E"/>
        </a:solidFill>
      </p:bgPr>
    </p:bg>
    <p:spTree>
      <p:nvGrpSpPr>
        <p:cNvPr id="839" name="Shape 839"/>
        <p:cNvGrpSpPr/>
        <p:nvPr/>
      </p:nvGrpSpPr>
      <p:grpSpPr>
        <a:xfrm>
          <a:off x="0" y="0"/>
          <a:ext cx="0" cy="0"/>
          <a:chOff x="0" y="0"/>
          <a:chExt cx="0" cy="0"/>
        </a:xfrm>
      </p:grpSpPr>
      <p:sp>
        <p:nvSpPr>
          <p:cNvPr id="840" name="Google Shape;840;p105"/>
          <p:cNvSpPr txBox="1"/>
          <p:nvPr>
            <p:ph type="title"/>
          </p:nvPr>
        </p:nvSpPr>
        <p:spPr>
          <a:xfrm>
            <a:off x="812800" y="812800"/>
            <a:ext cx="10883392" cy="91946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3F1EA"/>
              </a:buClr>
              <a:buSzPts val="3200"/>
              <a:buFont typeface="IBM Plex Sans"/>
              <a:buNone/>
            </a:pPr>
            <a:r>
              <a:rPr b="1" i="0" lang="en-US" sz="3200">
                <a:solidFill>
                  <a:srgbClr val="F3F1EA"/>
                </a:solidFill>
                <a:latin typeface="IBM Plex Sans"/>
                <a:ea typeface="IBM Plex Sans"/>
                <a:cs typeface="IBM Plex Sans"/>
                <a:sym typeface="IBM Plex Sans"/>
              </a:rPr>
              <a:t>Is it overfit? Yes after epoch 1, and the kept adapter avoids it</a:t>
            </a:r>
            <a:endParaRPr sz="3200"/>
          </a:p>
        </p:txBody>
      </p:sp>
      <p:sp>
        <p:nvSpPr>
          <p:cNvPr id="841" name="Google Shape;841;p105"/>
          <p:cNvSpPr/>
          <p:nvPr/>
        </p:nvSpPr>
        <p:spPr>
          <a:xfrm>
            <a:off x="812800" y="2011660"/>
            <a:ext cx="3352800" cy="3830340"/>
          </a:xfrm>
          <a:prstGeom prst="roundRect">
            <a:avLst>
              <a:gd fmla="val 3788" name="adj"/>
            </a:avLst>
          </a:prstGeom>
          <a:solidFill>
            <a:srgbClr val="1F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05"/>
          <p:cNvSpPr/>
          <p:nvPr/>
        </p:nvSpPr>
        <p:spPr>
          <a:xfrm>
            <a:off x="1066800" y="2265660"/>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5D"/>
              </a:buClr>
              <a:buSzPts val="1200"/>
              <a:buFont typeface="JetBrains Mono"/>
              <a:buNone/>
            </a:pPr>
            <a:r>
              <a:rPr b="0" i="0" lang="en-US" sz="1200" u="none" cap="none" strike="noStrike">
                <a:solidFill>
                  <a:srgbClr val="F08A5D"/>
                </a:solidFill>
                <a:latin typeface="JetBrains Mono"/>
                <a:ea typeface="JetBrains Mono"/>
                <a:cs typeface="JetBrains Mono"/>
                <a:sym typeface="JetBrains Mono"/>
              </a:rPr>
              <a:t>EPOCH 3</a:t>
            </a:r>
            <a:endParaRPr b="0" i="0" sz="1200" u="none" cap="none" strike="noStrike">
              <a:solidFill>
                <a:schemeClr val="dk1"/>
              </a:solidFill>
              <a:latin typeface="IBM Plex Sans"/>
              <a:ea typeface="IBM Plex Sans"/>
              <a:cs typeface="IBM Plex Sans"/>
              <a:sym typeface="IBM Plex Sans"/>
            </a:endParaRPr>
          </a:p>
        </p:txBody>
      </p:sp>
      <p:sp>
        <p:nvSpPr>
          <p:cNvPr id="843" name="Google Shape;843;p105"/>
          <p:cNvSpPr/>
          <p:nvPr/>
        </p:nvSpPr>
        <p:spPr>
          <a:xfrm>
            <a:off x="1066800" y="2605980"/>
            <a:ext cx="2930144" cy="7517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3F1EA"/>
              </a:buClr>
              <a:buSzPts val="2200"/>
              <a:buFont typeface="JetBrains Mono"/>
              <a:buNone/>
            </a:pPr>
            <a:r>
              <a:rPr b="1" i="0" lang="en-US" sz="2200" u="none" cap="none" strike="noStrike">
                <a:solidFill>
                  <a:srgbClr val="F3F1EA"/>
                </a:solidFill>
                <a:latin typeface="JetBrains Mono"/>
                <a:ea typeface="JetBrains Mono"/>
                <a:cs typeface="JetBrains Mono"/>
                <a:sym typeface="JetBrains Mono"/>
              </a:rPr>
              <a:t>train ≈0.11</a:t>
            </a:r>
            <a:endParaRPr b="0" i="0" sz="2200" u="none" cap="none" strike="noStrike">
              <a:solidFill>
                <a:schemeClr val="dk1"/>
              </a:solidFill>
              <a:latin typeface="IBM Plex Sans"/>
              <a:ea typeface="IBM Plex Sans"/>
              <a:cs typeface="IBM Plex Sans"/>
              <a:sym typeface="IBM Plex Sans"/>
            </a:endParaRPr>
          </a:p>
          <a:p>
            <a:pPr indent="0" lvl="0" marL="0" marR="0" rtl="0" algn="l">
              <a:lnSpc>
                <a:spcPct val="130000"/>
              </a:lnSpc>
              <a:spcBef>
                <a:spcPts val="0"/>
              </a:spcBef>
              <a:spcAft>
                <a:spcPts val="0"/>
              </a:spcAft>
              <a:buClr>
                <a:srgbClr val="F3F1EA"/>
              </a:buClr>
              <a:buSzPts val="2200"/>
              <a:buFont typeface="JetBrains Mono"/>
              <a:buNone/>
            </a:pPr>
            <a:r>
              <a:rPr b="1" i="0" lang="en-US" sz="2200" u="none" cap="none" strike="noStrike">
                <a:solidFill>
                  <a:srgbClr val="F3F1EA"/>
                </a:solidFill>
                <a:latin typeface="JetBrains Mono"/>
                <a:ea typeface="JetBrains Mono"/>
                <a:cs typeface="JetBrains Mono"/>
                <a:sym typeface="JetBrains Mono"/>
              </a:rPr>
              <a:t>val   0.607</a:t>
            </a:r>
            <a:endParaRPr b="0" i="0" sz="2200" u="none" cap="none" strike="noStrike">
              <a:solidFill>
                <a:schemeClr val="dk1"/>
              </a:solidFill>
              <a:latin typeface="IBM Plex Sans"/>
              <a:ea typeface="IBM Plex Sans"/>
              <a:cs typeface="IBM Plex Sans"/>
              <a:sym typeface="IBM Plex Sans"/>
            </a:endParaRPr>
          </a:p>
        </p:txBody>
      </p:sp>
      <p:sp>
        <p:nvSpPr>
          <p:cNvPr id="844" name="Google Shape;844;p105"/>
          <p:cNvSpPr/>
          <p:nvPr/>
        </p:nvSpPr>
        <p:spPr>
          <a:xfrm>
            <a:off x="1066800" y="3459361"/>
            <a:ext cx="2930144" cy="10209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3D1"/>
              </a:buClr>
              <a:buSzPts val="1400"/>
              <a:buFont typeface="IBM Plex Sans"/>
              <a:buNone/>
            </a:pPr>
            <a:r>
              <a:rPr b="0" i="0" lang="en-US" sz="1400" u="none" cap="none" strike="noStrike">
                <a:solidFill>
                  <a:srgbClr val="B9C3D1"/>
                </a:solidFill>
                <a:latin typeface="IBM Plex Sans"/>
                <a:ea typeface="IBM Plex Sans"/>
                <a:cs typeface="IBM Plex Sans"/>
                <a:sym typeface="IBM Plex Sans"/>
              </a:rPr>
              <a:t>The gap between validation and recent training loss grows from −0.07 to +0.48: the model memorizes the 78 training answers.</a:t>
            </a:r>
            <a:endParaRPr b="0" i="0" sz="1400" u="none" cap="none" strike="noStrike">
              <a:solidFill>
                <a:schemeClr val="dk1"/>
              </a:solidFill>
              <a:latin typeface="IBM Plex Sans"/>
              <a:ea typeface="IBM Plex Sans"/>
              <a:cs typeface="IBM Plex Sans"/>
              <a:sym typeface="IBM Plex Sans"/>
            </a:endParaRPr>
          </a:p>
        </p:txBody>
      </p:sp>
      <p:sp>
        <p:nvSpPr>
          <p:cNvPr id="845" name="Google Shape;845;p105"/>
          <p:cNvSpPr/>
          <p:nvPr/>
        </p:nvSpPr>
        <p:spPr>
          <a:xfrm>
            <a:off x="4419600" y="2011660"/>
            <a:ext cx="3352800" cy="3830340"/>
          </a:xfrm>
          <a:prstGeom prst="roundRect">
            <a:avLst>
              <a:gd fmla="val 3788" name="adj"/>
            </a:avLst>
          </a:prstGeom>
          <a:solidFill>
            <a:srgbClr val="1F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105"/>
          <p:cNvSpPr/>
          <p:nvPr/>
        </p:nvSpPr>
        <p:spPr>
          <a:xfrm>
            <a:off x="4673600" y="2265660"/>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5D"/>
              </a:buClr>
              <a:buSzPts val="1200"/>
              <a:buFont typeface="JetBrains Mono"/>
              <a:buNone/>
            </a:pPr>
            <a:r>
              <a:rPr b="0" i="0" lang="en-US" sz="1200" u="none" cap="none" strike="noStrike">
                <a:solidFill>
                  <a:srgbClr val="F08A5D"/>
                </a:solidFill>
                <a:latin typeface="JetBrains Mono"/>
                <a:ea typeface="JetBrains Mono"/>
                <a:cs typeface="JetBrains Mono"/>
                <a:sym typeface="JetBrains Mono"/>
              </a:rPr>
              <a:t>EPOCH 1 (KEPT)</a:t>
            </a:r>
            <a:endParaRPr b="0" i="0" sz="1200" u="none" cap="none" strike="noStrike">
              <a:solidFill>
                <a:schemeClr val="dk1"/>
              </a:solidFill>
              <a:latin typeface="IBM Plex Sans"/>
              <a:ea typeface="IBM Plex Sans"/>
              <a:cs typeface="IBM Plex Sans"/>
              <a:sym typeface="IBM Plex Sans"/>
            </a:endParaRPr>
          </a:p>
        </p:txBody>
      </p:sp>
      <p:sp>
        <p:nvSpPr>
          <p:cNvPr id="847" name="Google Shape;847;p105"/>
          <p:cNvSpPr/>
          <p:nvPr/>
        </p:nvSpPr>
        <p:spPr>
          <a:xfrm>
            <a:off x="4673600" y="2605980"/>
            <a:ext cx="2930144" cy="38859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F3F1EA"/>
              </a:buClr>
              <a:buSzPts val="2200"/>
              <a:buFont typeface="JetBrains Mono"/>
              <a:buNone/>
            </a:pPr>
            <a:r>
              <a:rPr b="1" i="0" lang="en-US" sz="2200" u="none" cap="none" strike="noStrike">
                <a:solidFill>
                  <a:srgbClr val="F3F1EA"/>
                </a:solidFill>
                <a:latin typeface="JetBrains Mono"/>
                <a:ea typeface="JetBrains Mono"/>
                <a:cs typeface="JetBrains Mono"/>
                <a:sym typeface="JetBrains Mono"/>
              </a:rPr>
              <a:t>val 0.517</a:t>
            </a:r>
            <a:endParaRPr b="0" i="0" sz="2200" u="none" cap="none" strike="noStrike">
              <a:solidFill>
                <a:schemeClr val="dk1"/>
              </a:solidFill>
              <a:latin typeface="IBM Plex Sans"/>
              <a:ea typeface="IBM Plex Sans"/>
              <a:cs typeface="IBM Plex Sans"/>
              <a:sym typeface="IBM Plex Sans"/>
            </a:endParaRPr>
          </a:p>
        </p:txBody>
      </p:sp>
      <p:sp>
        <p:nvSpPr>
          <p:cNvPr id="848" name="Google Shape;848;p105"/>
          <p:cNvSpPr/>
          <p:nvPr/>
        </p:nvSpPr>
        <p:spPr>
          <a:xfrm>
            <a:off x="4673600" y="3096171"/>
            <a:ext cx="2930144" cy="102096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9C3D1"/>
              </a:buClr>
              <a:buSzPts val="1400"/>
              <a:buFont typeface="IBM Plex Sans"/>
              <a:buNone/>
            </a:pPr>
            <a:r>
              <a:rPr b="0" i="0" lang="en-US" sz="1400" u="none" cap="none" strike="noStrike">
                <a:solidFill>
                  <a:srgbClr val="B9C3D1"/>
                </a:solidFill>
                <a:latin typeface="IBM Plex Sans"/>
                <a:ea typeface="IBM Plex Sans"/>
                <a:cs typeface="IBM Plex Sans"/>
                <a:sym typeface="IBM Plex Sans"/>
              </a:rPr>
              <a:t>Lowest validation loss of the run. Best‑checkpoint selection saved this adapter, and it is the one evaluated.</a:t>
            </a:r>
            <a:endParaRPr b="0" i="0" sz="1400" u="none" cap="none" strike="noStrike">
              <a:solidFill>
                <a:schemeClr val="dk1"/>
              </a:solidFill>
              <a:latin typeface="IBM Plex Sans"/>
              <a:ea typeface="IBM Plex Sans"/>
              <a:cs typeface="IBM Plex Sans"/>
              <a:sym typeface="IBM Plex Sans"/>
            </a:endParaRPr>
          </a:p>
        </p:txBody>
      </p:sp>
      <p:sp>
        <p:nvSpPr>
          <p:cNvPr id="849" name="Google Shape;849;p105"/>
          <p:cNvSpPr/>
          <p:nvPr/>
        </p:nvSpPr>
        <p:spPr>
          <a:xfrm>
            <a:off x="8026400" y="2011660"/>
            <a:ext cx="3352800" cy="3830340"/>
          </a:xfrm>
          <a:prstGeom prst="roundRect">
            <a:avLst>
              <a:gd fmla="val 3788" name="adj"/>
            </a:avLst>
          </a:prstGeom>
          <a:solidFill>
            <a:srgbClr val="1F2B3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105"/>
          <p:cNvSpPr/>
          <p:nvPr/>
        </p:nvSpPr>
        <p:spPr>
          <a:xfrm>
            <a:off x="8280400" y="2265660"/>
            <a:ext cx="2930144"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08A5D"/>
              </a:buClr>
              <a:buSzPts val="1200"/>
              <a:buFont typeface="JetBrains Mono"/>
              <a:buNone/>
            </a:pPr>
            <a:r>
              <a:rPr b="0" i="0" lang="en-US" sz="1200" u="none" cap="none" strike="noStrike">
                <a:solidFill>
                  <a:srgbClr val="F08A5D"/>
                </a:solidFill>
                <a:latin typeface="JetBrains Mono"/>
                <a:ea typeface="JetBrains Mono"/>
                <a:cs typeface="JetBrains Mono"/>
                <a:sym typeface="JetBrains Mono"/>
              </a:rPr>
              <a:t>UNSEEN DOCUMENT</a:t>
            </a:r>
            <a:endParaRPr b="0" i="0" sz="1200" u="none" cap="none" strike="noStrike">
              <a:solidFill>
                <a:schemeClr val="dk1"/>
              </a:solidFill>
              <a:latin typeface="IBM Plex Sans"/>
              <a:ea typeface="IBM Plex Sans"/>
              <a:cs typeface="IBM Plex Sans"/>
              <a:sym typeface="IBM Plex Sans"/>
            </a:endParaRPr>
          </a:p>
        </p:txBody>
      </p:sp>
      <p:sp>
        <p:nvSpPr>
          <p:cNvPr id="851" name="Google Shape;851;p105"/>
          <p:cNvSpPr/>
          <p:nvPr/>
        </p:nvSpPr>
        <p:spPr>
          <a:xfrm>
            <a:off x="8280400" y="2605980"/>
            <a:ext cx="2930144" cy="7720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DCE4"/>
              </a:buClr>
              <a:buSzPts val="1400"/>
              <a:buFont typeface="IBM Plex Sans"/>
              <a:buNone/>
            </a:pPr>
            <a:r>
              <a:rPr b="0" i="0" lang="en-US" sz="1400" u="none" cap="none" strike="noStrike">
                <a:solidFill>
                  <a:srgbClr val="D6DCE4"/>
                </a:solidFill>
                <a:latin typeface="IBM Plex Sans"/>
                <a:ea typeface="IBM Plex Sans"/>
                <a:cs typeface="IBM Plex Sans"/>
                <a:sym typeface="IBM Plex Sans"/>
              </a:rPr>
              <a:t>On the brochure the kept adapter beats the base model: answer F1 +0.06, gold citations +0.12.</a:t>
            </a:r>
            <a:endParaRPr b="0" i="0" sz="1400" u="none" cap="none" strike="noStrike">
              <a:solidFill>
                <a:schemeClr val="dk1"/>
              </a:solidFill>
              <a:latin typeface="IBM Plex Sans"/>
              <a:ea typeface="IBM Plex Sans"/>
              <a:cs typeface="IBM Plex Sans"/>
              <a:sym typeface="IBM Plex Sans"/>
            </a:endParaRPr>
          </a:p>
        </p:txBody>
      </p:sp>
      <p:sp>
        <p:nvSpPr>
          <p:cNvPr id="852" name="Google Shape;852;p105"/>
          <p:cNvSpPr/>
          <p:nvPr/>
        </p:nvSpPr>
        <p:spPr>
          <a:xfrm>
            <a:off x="8280400" y="3479651"/>
            <a:ext cx="2930144"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D6DCE4"/>
              </a:buClr>
              <a:buSzPts val="1400"/>
              <a:buFont typeface="IBM Plex Sans"/>
              <a:buNone/>
            </a:pPr>
            <a:r>
              <a:rPr b="0" i="0" lang="en-US" sz="1400" u="none" cap="none" strike="noStrike">
                <a:solidFill>
                  <a:srgbClr val="D6DCE4"/>
                </a:solidFill>
                <a:latin typeface="IBM Plex Sans"/>
                <a:ea typeface="IBM Plex Sans"/>
                <a:cs typeface="IBM Plex Sans"/>
                <a:sym typeface="IBM Plex Sans"/>
              </a:rPr>
              <a:t>So it generalizes, but the margin is small and part of it is style.</a:t>
            </a:r>
            <a:endParaRPr b="0" i="0" sz="1400" u="none" cap="none" strike="noStrike">
              <a:solidFill>
                <a:schemeClr val="dk1"/>
              </a:solidFill>
              <a:latin typeface="IBM Plex Sans"/>
              <a:ea typeface="IBM Plex Sans"/>
              <a:cs typeface="IBM Plex Sans"/>
              <a:sym typeface="IBM Plex Sans"/>
            </a:endParaRPr>
          </a:p>
        </p:txBody>
      </p:sp>
      <p:sp>
        <p:nvSpPr>
          <p:cNvPr id="853" name="Google Shape;853;p105"/>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8C98A8"/>
              </a:buClr>
              <a:buSzPts val="1200"/>
              <a:buFont typeface="IBM Plex Sans"/>
              <a:buNone/>
            </a:pPr>
            <a:r>
              <a:rPr b="0" i="0" lang="en-US" sz="1200" u="none" cap="none" strike="noStrike">
                <a:solidFill>
                  <a:srgbClr val="8C98A8"/>
                </a:solidFill>
                <a:latin typeface="IBM Plex Sans"/>
                <a:ea typeface="IBM Plex Sans"/>
                <a:cs typeface="IBM Plex Sans"/>
                <a:sym typeface="IBM Plex Sans"/>
              </a:rPr>
              <a:t>Your 1–2 epoch instinct was right for this data: 20 optimizer steps were enough</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58" name="Shape 858"/>
        <p:cNvGrpSpPr/>
        <p:nvPr/>
      </p:nvGrpSpPr>
      <p:grpSpPr>
        <a:xfrm>
          <a:off x="0" y="0"/>
          <a:ext cx="0" cy="0"/>
          <a:chOff x="0" y="0"/>
          <a:chExt cx="0" cy="0"/>
        </a:xfrm>
      </p:grpSpPr>
      <p:sp>
        <p:nvSpPr>
          <p:cNvPr id="859" name="Google Shape;859;p106"/>
          <p:cNvSpPr txBox="1"/>
          <p:nvPr>
            <p:ph type="title"/>
          </p:nvPr>
        </p:nvSpPr>
        <p:spPr>
          <a:xfrm>
            <a:off x="812800" y="812800"/>
            <a:ext cx="11379200" cy="895995"/>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140"/>
              <a:buFont typeface="IBM Plex Sans"/>
              <a:buNone/>
            </a:pPr>
            <a:r>
              <a:rPr b="1" i="0" lang="en-US" sz="3140">
                <a:solidFill>
                  <a:srgbClr val="16202E"/>
                </a:solidFill>
                <a:latin typeface="IBM Plex Sans"/>
                <a:ea typeface="IBM Plex Sans"/>
                <a:cs typeface="IBM Plex Sans"/>
                <a:sym typeface="IBM Plex Sans"/>
              </a:rPr>
              <a:t>On the unseen brochure, the tuned model answers better</a:t>
            </a:r>
            <a:endParaRPr sz="3140"/>
          </a:p>
        </p:txBody>
      </p:sp>
      <p:graphicFrame>
        <p:nvGraphicFramePr>
          <p:cNvPr id="860" name="Google Shape;860;p106"/>
          <p:cNvGraphicFramePr/>
          <p:nvPr/>
        </p:nvGraphicFramePr>
        <p:xfrm>
          <a:off x="825500" y="2000895"/>
          <a:ext cx="3000000" cy="3000000"/>
        </p:xfrm>
        <a:graphic>
          <a:graphicData uri="http://schemas.openxmlformats.org/drawingml/2006/table">
            <a:tbl>
              <a:tblPr>
                <a:noFill/>
                <a:tableStyleId>{EEE02795-A6B7-4247-B71C-ED7A564BFD40}</a:tableStyleId>
              </a:tblPr>
              <a:tblGrid>
                <a:gridCol w="3271650"/>
                <a:gridCol w="1160900"/>
                <a:gridCol w="1371975"/>
                <a:gridCol w="1160900"/>
                <a:gridCol w="2110750"/>
                <a:gridCol w="1477525"/>
              </a:tblGrid>
              <a:tr h="375850">
                <a:tc>
                  <a:txBody>
                    <a:bodyPr/>
                    <a:lstStyle/>
                    <a:p>
                      <a:pPr indent="0" lvl="0" marL="0" marR="0" rtl="0" algn="l">
                        <a:lnSpc>
                          <a:spcPct val="139970"/>
                        </a:lnSpc>
                        <a:spcBef>
                          <a:spcPts val="0"/>
                        </a:spcBef>
                        <a:spcAft>
                          <a:spcPts val="0"/>
                        </a:spcAft>
                        <a:buClr>
                          <a:srgbClr val="16202E"/>
                        </a:buClr>
                        <a:buSzPts val="1361"/>
                        <a:buFont typeface="IBM Plex Sans"/>
                        <a:buNone/>
                      </a:pPr>
                      <a:r>
                        <a:rPr b="1" lang="en-US" sz="1361" u="none" cap="none" strike="noStrike">
                          <a:solidFill>
                            <a:srgbClr val="16202E"/>
                          </a:solidFill>
                          <a:latin typeface="IBM Plex Sans"/>
                          <a:ea typeface="IBM Plex Sans"/>
                          <a:cs typeface="IBM Plex Sans"/>
                          <a:sym typeface="IBM Plex Sans"/>
                        </a:rPr>
                        <a:t>Metric (41 questions each)</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b="1" lang="en-US" sz="1361" u="none" cap="none" strike="noStrike">
                          <a:solidFill>
                            <a:srgbClr val="16202E"/>
                          </a:solidFill>
                          <a:latin typeface="IBM Plex Sans"/>
                          <a:ea typeface="IBM Plex Sans"/>
                          <a:cs typeface="IBM Plex Sans"/>
                          <a:sym typeface="IBM Plex Sans"/>
                        </a:rPr>
                        <a:t>Base</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b="1" lang="en-US" sz="1361" u="none" cap="none" strike="noStrike">
                          <a:solidFill>
                            <a:srgbClr val="16202E"/>
                          </a:solidFill>
                          <a:latin typeface="IBM Plex Sans"/>
                          <a:ea typeface="IBM Plex Sans"/>
                          <a:cs typeface="IBM Plex Sans"/>
                          <a:sym typeface="IBM Plex Sans"/>
                        </a:rPr>
                        <a:t>Tuned</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b="1" lang="en-US" sz="1361" u="none" cap="none" strike="noStrike">
                          <a:solidFill>
                            <a:srgbClr val="16202E"/>
                          </a:solidFill>
                          <a:latin typeface="IBM Plex Sans"/>
                          <a:ea typeface="IBM Plex Sans"/>
                          <a:cs typeface="IBM Plex Sans"/>
                          <a:sym typeface="IBM Plex Sans"/>
                        </a:rPr>
                        <a:t>Change</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b="1" lang="en-US" sz="1361" u="none" cap="none" strike="noStrike">
                          <a:solidFill>
                            <a:srgbClr val="16202E"/>
                          </a:solidFill>
                          <a:latin typeface="IBM Plex Sans"/>
                          <a:ea typeface="IBM Plex Sans"/>
                          <a:cs typeface="IBM Plex Sans"/>
                          <a:sym typeface="IBM Plex Sans"/>
                        </a:rPr>
                        <a:t>95% CI</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b="1" lang="en-US" sz="1361" u="none" cap="none" strike="noStrike">
                          <a:solidFill>
                            <a:srgbClr val="16202E"/>
                          </a:solidFill>
                          <a:latin typeface="IBM Plex Sans"/>
                          <a:ea typeface="IBM Plex Sans"/>
                          <a:cs typeface="IBM Plex Sans"/>
                          <a:sym typeface="IBM Plex Sans"/>
                        </a:rPr>
                        <a:t>Better / worse</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6B5B1"/>
                      </a:solidFill>
                      <a:prstDash val="solid"/>
                      <a:round/>
                      <a:headEnd len="sm" w="sm" type="none"/>
                      <a:tailEnd len="sm" w="sm" type="none"/>
                    </a:lnL>
                    <a:lnR cap="flat" cmpd="sng" w="12700">
                      <a:solidFill>
                        <a:srgbClr val="B6B5B1"/>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6B5B1"/>
                      </a:solidFill>
                      <a:prstDash val="solid"/>
                      <a:round/>
                      <a:headEnd len="sm" w="sm" type="none"/>
                      <a:tailEnd len="sm" w="sm" type="none"/>
                    </a:lnB>
                    <a:solidFill>
                      <a:srgbClr val="E4E3DE"/>
                    </a:solidFill>
                  </a:tcPr>
                </a:tc>
              </a:tr>
              <a:tr h="375900">
                <a:tc>
                  <a:txBody>
                    <a:bodyPr/>
                    <a:lstStyle/>
                    <a:p>
                      <a:pPr indent="0" lvl="0" marL="0" marR="0" rtl="0" algn="l">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Answer F1, direct</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0.51</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0.57</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+0.06</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+0.002 to +0.109</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27 / 14</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6B5B1"/>
                      </a:solidFill>
                      <a:prstDash val="solid"/>
                      <a:round/>
                      <a:headEnd len="sm" w="sm" type="none"/>
                      <a:tailEnd len="sm" w="sm" type="none"/>
                    </a:lnT>
                    <a:lnB cap="flat" cmpd="sng" w="12700">
                      <a:solidFill>
                        <a:srgbClr val="C4C4BF"/>
                      </a:solidFill>
                      <a:prstDash val="solid"/>
                      <a:round/>
                      <a:headEnd len="sm" w="sm" type="none"/>
                      <a:tailEnd len="sm" w="sm" type="none"/>
                    </a:lnB>
                  </a:tcPr>
                </a:tc>
              </a:tr>
              <a:tr h="375900">
                <a:tc>
                  <a:txBody>
                    <a:bodyPr/>
                    <a:lstStyle/>
                    <a:p>
                      <a:pPr indent="0" lvl="0" marL="0" marR="0" rtl="0" algn="l">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Answer F1, chain of thought</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0.49</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0.54</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+0.06</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+0.000 to +0.108</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29 / 11</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r h="375900">
                <a:tc>
                  <a:txBody>
                    <a:bodyPr/>
                    <a:lstStyle/>
                    <a:p>
                      <a:pPr indent="0" lvl="0" marL="0" marR="0" rtl="0" algn="l">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Cites the gold passage</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0.72</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0.84</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+0.12</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−0.008 to +0.240</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15 / 4</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r>
              <a:tr h="375900">
                <a:tc>
                  <a:txBody>
                    <a:bodyPr/>
                    <a:lstStyle/>
                    <a:p>
                      <a:pPr indent="0" lvl="0" marL="0" marR="0" rtl="0" algn="l">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Quotes found in passages</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0.87</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0.87</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0.00</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−0.104 to +0.097</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7 / 7</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r h="375900">
                <a:tc>
                  <a:txBody>
                    <a:bodyPr/>
                    <a:lstStyle/>
                    <a:p>
                      <a:pPr indent="0" lvl="0" marL="0" marR="0" rtl="0" algn="l">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CoT format followed</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1.00</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1.00</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0.00</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C4C4BF"/>
                      </a:solidFill>
                      <a:prstDash val="solid"/>
                      <a:round/>
                      <a:headEnd len="sm" w="sm" type="none"/>
                      <a:tailEnd len="sm" w="sm" type="none"/>
                    </a:lnR>
                    <a:lnT cap="flat" cmpd="sng" w="12700">
                      <a:solidFill>
                        <a:srgbClr val="BFBCB5"/>
                      </a:solidFill>
                      <a:prstDash val="solid"/>
                      <a:round/>
                      <a:headEnd len="sm" w="sm" type="none"/>
                      <a:tailEnd len="sm" w="sm" type="none"/>
                    </a:lnT>
                    <a:lnB cap="flat" cmpd="sng" w="12700">
                      <a:solidFill>
                        <a:srgbClr val="C4C4BF"/>
                      </a:solidFill>
                      <a:prstDash val="solid"/>
                      <a:round/>
                      <a:headEnd len="sm" w="sm" type="none"/>
                      <a:tailEnd len="sm" w="sm" type="none"/>
                    </a:lnB>
                  </a:tcPr>
                </a:tc>
              </a:tr>
              <a:tr h="375900">
                <a:tc>
                  <a:txBody>
                    <a:bodyPr/>
                    <a:lstStyle/>
                    <a:p>
                      <a:pPr indent="0" lvl="0" marL="0" marR="0" rtl="0" algn="l">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Answer length, words</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C4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62</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88</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+26</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reference: 107</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c>
                  <a:txBody>
                    <a:bodyPr/>
                    <a:lstStyle/>
                    <a:p>
                      <a:pPr indent="0" lvl="0" marL="0" marR="0" rtl="0" algn="r">
                        <a:lnSpc>
                          <a:spcPct val="139970"/>
                        </a:lnSpc>
                        <a:spcBef>
                          <a:spcPts val="0"/>
                        </a:spcBef>
                        <a:spcAft>
                          <a:spcPts val="0"/>
                        </a:spcAft>
                        <a:buClr>
                          <a:srgbClr val="16202E"/>
                        </a:buClr>
                        <a:buSzPts val="1361"/>
                        <a:buFont typeface="IBM Plex Sans"/>
                        <a:buNone/>
                      </a:pPr>
                      <a:r>
                        <a:rPr lang="en-US" sz="1361" u="none" cap="none" strike="noStrike">
                          <a:solidFill>
                            <a:srgbClr val="16202E"/>
                          </a:solidFill>
                          <a:latin typeface="IBM Plex Sans"/>
                          <a:ea typeface="IBM Plex Sans"/>
                          <a:cs typeface="IBM Plex Sans"/>
                          <a:sym typeface="IBM Plex Sans"/>
                        </a:rPr>
                        <a:t>–</a:t>
                      </a:r>
                      <a:endParaRPr sz="1361" u="none" cap="none" strike="noStrike">
                        <a:latin typeface="IBM Plex Sans"/>
                        <a:ea typeface="IBM Plex Sans"/>
                        <a:cs typeface="IBM Plex Sans"/>
                        <a:sym typeface="IBM Plex Sans"/>
                      </a:endParaRPr>
                    </a:p>
                  </a:txBody>
                  <a:tcPr marT="60475" marB="60475" marR="60475" marL="6047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4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CE3"/>
                    </a:solidFill>
                  </a:tcPr>
                </a:tc>
              </a:tr>
            </a:tbl>
          </a:graphicData>
        </a:graphic>
      </p:graphicFrame>
      <p:sp>
        <p:nvSpPr>
          <p:cNvPr id="861" name="Google Shape;861;p106"/>
          <p:cNvSpPr/>
          <p:nvPr/>
        </p:nvSpPr>
        <p:spPr>
          <a:xfrm>
            <a:off x="819150" y="4943227"/>
            <a:ext cx="5168900" cy="892423"/>
          </a:xfrm>
          <a:prstGeom prst="roundRect">
            <a:avLst>
              <a:gd fmla="val 13519"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06"/>
          <p:cNvSpPr/>
          <p:nvPr/>
        </p:nvSpPr>
        <p:spPr>
          <a:xfrm>
            <a:off x="1028700" y="5152777"/>
            <a:ext cx="4892294" cy="498723"/>
          </a:xfrm>
          <a:prstGeom prst="rect">
            <a:avLst/>
          </a:prstGeom>
          <a:noFill/>
          <a:ln>
            <a:noFill/>
          </a:ln>
        </p:spPr>
        <p:txBody>
          <a:bodyPr anchorCtr="0" anchor="t" bIns="0" lIns="0" spcFirstLastPara="1" rIns="0" wrap="square" tIns="0">
            <a:noAutofit/>
          </a:bodyPr>
          <a:lstStyle/>
          <a:p>
            <a:pPr indent="0" lvl="0" marL="0" marR="0" rtl="0" algn="l">
              <a:lnSpc>
                <a:spcPct val="140014"/>
              </a:lnSpc>
              <a:spcBef>
                <a:spcPts val="0"/>
              </a:spcBef>
              <a:spcAft>
                <a:spcPts val="0"/>
              </a:spcAft>
              <a:buClr>
                <a:srgbClr val="16202E"/>
              </a:buClr>
              <a:buSzPts val="1347"/>
              <a:buFont typeface="IBM Plex Sans"/>
              <a:buNone/>
            </a:pPr>
            <a:r>
              <a:rPr b="1" i="0" lang="en-US" sz="1347" u="none" cap="none" strike="noStrike">
                <a:solidFill>
                  <a:srgbClr val="16202E"/>
                </a:solidFill>
                <a:latin typeface="IBM Plex Sans"/>
                <a:ea typeface="IBM Plex Sans"/>
                <a:cs typeface="IBM Plex Sans"/>
                <a:sym typeface="IBM Plex Sans"/>
              </a:rPr>
              <a:t>Real gain:</a:t>
            </a:r>
            <a:r>
              <a:rPr b="0" i="0" lang="en-US" sz="1347" u="none" cap="none" strike="noStrike">
                <a:solidFill>
                  <a:srgbClr val="16202E"/>
                </a:solidFill>
                <a:latin typeface="IBM Plex Sans"/>
                <a:ea typeface="IBM Plex Sans"/>
                <a:cs typeface="IBM Plex Sans"/>
                <a:sym typeface="IBM Plex Sans"/>
              </a:rPr>
              <a:t> better on about two‑thirds of questions, and cites the gold passage over a distractor more often.</a:t>
            </a:r>
            <a:endParaRPr b="0" i="0" sz="1347" u="none" cap="none" strike="noStrike">
              <a:solidFill>
                <a:schemeClr val="dk1"/>
              </a:solidFill>
              <a:latin typeface="IBM Plex Sans"/>
              <a:ea typeface="IBM Plex Sans"/>
              <a:cs typeface="IBM Plex Sans"/>
              <a:sym typeface="IBM Plex Sans"/>
            </a:endParaRPr>
          </a:p>
        </p:txBody>
      </p:sp>
      <p:sp>
        <p:nvSpPr>
          <p:cNvPr id="863" name="Google Shape;863;p106"/>
          <p:cNvSpPr/>
          <p:nvPr/>
        </p:nvSpPr>
        <p:spPr>
          <a:xfrm>
            <a:off x="6203950" y="4943227"/>
            <a:ext cx="5168900" cy="892423"/>
          </a:xfrm>
          <a:prstGeom prst="roundRect">
            <a:avLst>
              <a:gd fmla="val 13519"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106"/>
          <p:cNvSpPr/>
          <p:nvPr/>
        </p:nvSpPr>
        <p:spPr>
          <a:xfrm>
            <a:off x="6413500" y="5152777"/>
            <a:ext cx="4892294" cy="498723"/>
          </a:xfrm>
          <a:prstGeom prst="rect">
            <a:avLst/>
          </a:prstGeom>
          <a:noFill/>
          <a:ln>
            <a:noFill/>
          </a:ln>
        </p:spPr>
        <p:txBody>
          <a:bodyPr anchorCtr="0" anchor="t" bIns="0" lIns="0" spcFirstLastPara="1" rIns="0" wrap="square" tIns="0">
            <a:noAutofit/>
          </a:bodyPr>
          <a:lstStyle/>
          <a:p>
            <a:pPr indent="0" lvl="0" marL="0" marR="0" rtl="0" algn="l">
              <a:lnSpc>
                <a:spcPct val="140014"/>
              </a:lnSpc>
              <a:spcBef>
                <a:spcPts val="0"/>
              </a:spcBef>
              <a:spcAft>
                <a:spcPts val="0"/>
              </a:spcAft>
              <a:buClr>
                <a:srgbClr val="16202E"/>
              </a:buClr>
              <a:buSzPts val="1347"/>
              <a:buFont typeface="IBM Plex Sans"/>
              <a:buNone/>
            </a:pPr>
            <a:r>
              <a:rPr b="1" i="0" lang="en-US" sz="1347" u="none" cap="none" strike="noStrike">
                <a:solidFill>
                  <a:srgbClr val="16202E"/>
                </a:solidFill>
                <a:latin typeface="IBM Plex Sans"/>
                <a:ea typeface="IBM Plex Sans"/>
                <a:cs typeface="IBM Plex Sans"/>
                <a:sym typeface="IBM Plex Sans"/>
              </a:rPr>
              <a:t>Read with care:</a:t>
            </a:r>
            <a:r>
              <a:rPr b="0" i="0" lang="en-US" sz="1347" u="none" cap="none" strike="noStrike">
                <a:solidFill>
                  <a:srgbClr val="16202E"/>
                </a:solidFill>
                <a:latin typeface="IBM Plex Sans"/>
                <a:ea typeface="IBM Plex Sans"/>
                <a:cs typeface="IBM Plex Sans"/>
                <a:sym typeface="IBM Plex Sans"/>
              </a:rPr>
              <a:t> the intervals almost touch zero, and longer answers closer to the reference length also raise F1.</a:t>
            </a:r>
            <a:endParaRPr b="0" i="0" sz="1347" u="none" cap="none" strike="noStrike">
              <a:solidFill>
                <a:schemeClr val="dk1"/>
              </a:solidFill>
              <a:latin typeface="IBM Plex Sans"/>
              <a:ea typeface="IBM Plex Sans"/>
              <a:cs typeface="IBM Plex Sans"/>
              <a:sym typeface="IBM Plex Sans"/>
            </a:endParaRPr>
          </a:p>
        </p:txBody>
      </p:sp>
      <p:sp>
        <p:nvSpPr>
          <p:cNvPr id="865" name="Google Shape;865;p106"/>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IBM Plex Sans"/>
              <a:buNone/>
            </a:pPr>
            <a:r>
              <a:rPr b="0" i="0" lang="en-US" sz="1200" u="none" cap="none" strike="noStrike">
                <a:solidFill>
                  <a:srgbClr val="6A7280"/>
                </a:solidFill>
                <a:latin typeface="IBM Plex Sans"/>
                <a:ea typeface="IBM Plex Sans"/>
                <a:cs typeface="IBM Plex Sans"/>
                <a:sym typeface="IBM Plex Sans"/>
              </a:rPr>
              <a:t>Epoch‑1 adapter vs base, same prompts, greedy decoding · paired bootstrap over questions, 5,000 resamples · one training seed</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B"/>
        </a:solidFill>
      </p:bgPr>
    </p:bg>
    <p:spTree>
      <p:nvGrpSpPr>
        <p:cNvPr id="870" name="Shape 870"/>
        <p:cNvGrpSpPr/>
        <p:nvPr/>
      </p:nvGrpSpPr>
      <p:grpSpPr>
        <a:xfrm>
          <a:off x="0" y="0"/>
          <a:ext cx="0" cy="0"/>
          <a:chOff x="0" y="0"/>
          <a:chExt cx="0" cy="0"/>
        </a:xfrm>
      </p:grpSpPr>
      <p:sp>
        <p:nvSpPr>
          <p:cNvPr id="871" name="Google Shape;871;p107"/>
          <p:cNvSpPr txBox="1"/>
          <p:nvPr>
            <p:ph type="title"/>
          </p:nvPr>
        </p:nvSpPr>
        <p:spPr>
          <a:xfrm>
            <a:off x="812800" y="609600"/>
            <a:ext cx="10883392" cy="41652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2800"/>
              <a:buFont typeface="IBM Plex Sans"/>
              <a:buNone/>
            </a:pPr>
            <a:r>
              <a:rPr b="1" i="0" lang="en-US" sz="2800">
                <a:solidFill>
                  <a:srgbClr val="16202E"/>
                </a:solidFill>
                <a:latin typeface="IBM Plex Sans"/>
                <a:ea typeface="IBM Plex Sans"/>
                <a:cs typeface="IBM Plex Sans"/>
                <a:sym typeface="IBM Plex Sans"/>
              </a:rPr>
              <a:t>The whole run on one page</a:t>
            </a:r>
            <a:endParaRPr sz="2800"/>
          </a:p>
        </p:txBody>
      </p:sp>
      <p:pic>
        <p:nvPicPr>
          <p:cNvPr descr="Six-panel training dashboard for the Colab A100 run: train and validation loss, generalization gap, learning rate, gradient norm, wall clock, and base versus finetuned eval scores" id="872" name="Google Shape;872;p107"/>
          <p:cNvPicPr preferRelativeResize="0"/>
          <p:nvPr/>
        </p:nvPicPr>
        <p:blipFill rotWithShape="1">
          <a:blip r:embed="rId3">
            <a:alphaModFix/>
          </a:blip>
          <a:srcRect b="0" l="-11176" r="-11176" t="0"/>
          <a:stretch/>
        </p:blipFill>
        <p:spPr>
          <a:xfrm>
            <a:off x="812800" y="1203920"/>
            <a:ext cx="10566400" cy="48260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5F0"/>
        </a:solidFill>
      </p:bgPr>
    </p:bg>
    <p:spTree>
      <p:nvGrpSpPr>
        <p:cNvPr id="877" name="Shape 877"/>
        <p:cNvGrpSpPr/>
        <p:nvPr/>
      </p:nvGrpSpPr>
      <p:grpSpPr>
        <a:xfrm>
          <a:off x="0" y="0"/>
          <a:ext cx="0" cy="0"/>
          <a:chOff x="0" y="0"/>
          <a:chExt cx="0" cy="0"/>
        </a:xfrm>
      </p:grpSpPr>
      <p:sp>
        <p:nvSpPr>
          <p:cNvPr id="878" name="Google Shape;878;p108"/>
          <p:cNvSpPr txBox="1"/>
          <p:nvPr>
            <p:ph type="title"/>
          </p:nvPr>
        </p:nvSpPr>
        <p:spPr>
          <a:xfrm>
            <a:off x="812800" y="812800"/>
            <a:ext cx="10883392" cy="47243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6202E"/>
              </a:buClr>
              <a:buSzPts val="3200"/>
              <a:buFont typeface="IBM Plex Sans"/>
              <a:buNone/>
            </a:pPr>
            <a:r>
              <a:rPr b="1" i="0" lang="en-US" sz="3200">
                <a:solidFill>
                  <a:srgbClr val="16202E"/>
                </a:solidFill>
                <a:latin typeface="IBM Plex Sans"/>
                <a:ea typeface="IBM Plex Sans"/>
                <a:cs typeface="IBM Plex Sans"/>
                <a:sym typeface="IBM Plex Sans"/>
              </a:rPr>
              <a:t>What we learned, and what to run next</a:t>
            </a:r>
            <a:endParaRPr sz="3200"/>
          </a:p>
        </p:txBody>
      </p:sp>
      <p:sp>
        <p:nvSpPr>
          <p:cNvPr id="879" name="Google Shape;879;p108"/>
          <p:cNvSpPr/>
          <p:nvPr/>
        </p:nvSpPr>
        <p:spPr>
          <a:xfrm>
            <a:off x="819150" y="1570980"/>
            <a:ext cx="5168900" cy="1302941"/>
          </a:xfrm>
          <a:prstGeom prst="roundRect">
            <a:avLst>
              <a:gd fmla="val 9260" name="adj"/>
            </a:avLst>
          </a:prstGeom>
          <a:solidFill>
            <a:srgbClr val="FDFCF9"/>
          </a:solidFill>
          <a:ln cap="flat" cmpd="sng" w="12700">
            <a:solidFill>
              <a:srgbClr val="D9622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08"/>
          <p:cNvSpPr/>
          <p:nvPr/>
        </p:nvSpPr>
        <p:spPr>
          <a:xfrm>
            <a:off x="1054100" y="1805930"/>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700"/>
              <a:buFont typeface="IBM Plex Sans"/>
              <a:buNone/>
            </a:pPr>
            <a:r>
              <a:rPr b="1" i="0" lang="en-US" sz="1700" u="none" cap="none" strike="noStrike">
                <a:solidFill>
                  <a:srgbClr val="16202E"/>
                </a:solidFill>
                <a:latin typeface="IBM Plex Sans"/>
                <a:ea typeface="IBM Plex Sans"/>
                <a:cs typeface="IBM Plex Sans"/>
                <a:sym typeface="IBM Plex Sans"/>
              </a:rPr>
              <a:t>One epoch is enough here</a:t>
            </a:r>
            <a:endParaRPr b="0" i="0" sz="1700" u="none" cap="none" strike="noStrike">
              <a:solidFill>
                <a:schemeClr val="dk1"/>
              </a:solidFill>
              <a:latin typeface="IBM Plex Sans"/>
              <a:ea typeface="IBM Plex Sans"/>
              <a:cs typeface="IBM Plex Sans"/>
              <a:sym typeface="IBM Plex Sans"/>
            </a:endParaRPr>
          </a:p>
        </p:txBody>
      </p:sp>
      <p:sp>
        <p:nvSpPr>
          <p:cNvPr id="881" name="Google Shape;881;p108"/>
          <p:cNvSpPr/>
          <p:nvPr/>
        </p:nvSpPr>
        <p:spPr>
          <a:xfrm>
            <a:off x="1054100" y="2141190"/>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With 156 examples, 20 steps reach the best validation loss. Next run: --epochs 1, or --patience 2.</a:t>
            </a:r>
            <a:endParaRPr b="0" i="0" sz="1400" u="none" cap="none" strike="noStrike">
              <a:solidFill>
                <a:schemeClr val="dk1"/>
              </a:solidFill>
              <a:latin typeface="IBM Plex Sans"/>
              <a:ea typeface="IBM Plex Sans"/>
              <a:cs typeface="IBM Plex Sans"/>
              <a:sym typeface="IBM Plex Sans"/>
            </a:endParaRPr>
          </a:p>
        </p:txBody>
      </p:sp>
      <p:sp>
        <p:nvSpPr>
          <p:cNvPr id="882" name="Google Shape;882;p108"/>
          <p:cNvSpPr/>
          <p:nvPr/>
        </p:nvSpPr>
        <p:spPr>
          <a:xfrm>
            <a:off x="6203950" y="1570980"/>
            <a:ext cx="5168900" cy="1302941"/>
          </a:xfrm>
          <a:prstGeom prst="roundRect">
            <a:avLst>
              <a:gd fmla="val 9260"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08"/>
          <p:cNvSpPr/>
          <p:nvPr/>
        </p:nvSpPr>
        <p:spPr>
          <a:xfrm>
            <a:off x="6438900" y="1805930"/>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700"/>
              <a:buFont typeface="IBM Plex Sans"/>
              <a:buNone/>
            </a:pPr>
            <a:r>
              <a:rPr b="1" i="0" lang="en-US" sz="1700" u="none" cap="none" strike="noStrike">
                <a:solidFill>
                  <a:srgbClr val="16202E"/>
                </a:solidFill>
                <a:latin typeface="IBM Plex Sans"/>
                <a:ea typeface="IBM Plex Sans"/>
                <a:cs typeface="IBM Plex Sans"/>
                <a:sym typeface="IBM Plex Sans"/>
              </a:rPr>
              <a:t>The gain is real but modest</a:t>
            </a:r>
            <a:endParaRPr b="0" i="0" sz="1700" u="none" cap="none" strike="noStrike">
              <a:solidFill>
                <a:schemeClr val="dk1"/>
              </a:solidFill>
              <a:latin typeface="IBM Plex Sans"/>
              <a:ea typeface="IBM Plex Sans"/>
              <a:cs typeface="IBM Plex Sans"/>
              <a:sym typeface="IBM Plex Sans"/>
            </a:endParaRPr>
          </a:p>
        </p:txBody>
      </p:sp>
      <p:sp>
        <p:nvSpPr>
          <p:cNvPr id="884" name="Google Shape;884;p108"/>
          <p:cNvSpPr/>
          <p:nvPr/>
        </p:nvSpPr>
        <p:spPr>
          <a:xfrm>
            <a:off x="6438900" y="2141190"/>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+0.06 answer F1 and +0.12 gold citations on an unseen document, from one seed and 41 questions.</a:t>
            </a:r>
            <a:endParaRPr b="0" i="0" sz="1400" u="none" cap="none" strike="noStrike">
              <a:solidFill>
                <a:schemeClr val="dk1"/>
              </a:solidFill>
              <a:latin typeface="IBM Plex Sans"/>
              <a:ea typeface="IBM Plex Sans"/>
              <a:cs typeface="IBM Plex Sans"/>
              <a:sym typeface="IBM Plex Sans"/>
            </a:endParaRPr>
          </a:p>
        </p:txBody>
      </p:sp>
      <p:sp>
        <p:nvSpPr>
          <p:cNvPr id="885" name="Google Shape;885;p108"/>
          <p:cNvSpPr/>
          <p:nvPr/>
        </p:nvSpPr>
        <p:spPr>
          <a:xfrm>
            <a:off x="819150" y="3089821"/>
            <a:ext cx="5168900" cy="1302941"/>
          </a:xfrm>
          <a:prstGeom prst="roundRect">
            <a:avLst>
              <a:gd fmla="val 9260"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108"/>
          <p:cNvSpPr/>
          <p:nvPr/>
        </p:nvSpPr>
        <p:spPr>
          <a:xfrm>
            <a:off x="1054100" y="3324771"/>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700"/>
              <a:buFont typeface="IBM Plex Sans"/>
              <a:buNone/>
            </a:pPr>
            <a:r>
              <a:rPr b="1" i="0" lang="en-US" sz="1700" u="none" cap="none" strike="noStrike">
                <a:solidFill>
                  <a:srgbClr val="16202E"/>
                </a:solidFill>
                <a:latin typeface="IBM Plex Sans"/>
                <a:ea typeface="IBM Plex Sans"/>
                <a:cs typeface="IBM Plex Sans"/>
                <a:sym typeface="IBM Plex Sans"/>
              </a:rPr>
              <a:t>Repeat across seeds</a:t>
            </a:r>
            <a:endParaRPr b="0" i="0" sz="1700" u="none" cap="none" strike="noStrike">
              <a:solidFill>
                <a:schemeClr val="dk1"/>
              </a:solidFill>
              <a:latin typeface="IBM Plex Sans"/>
              <a:ea typeface="IBM Plex Sans"/>
              <a:cs typeface="IBM Plex Sans"/>
              <a:sym typeface="IBM Plex Sans"/>
            </a:endParaRPr>
          </a:p>
        </p:txBody>
      </p:sp>
      <p:sp>
        <p:nvSpPr>
          <p:cNvPr id="887" name="Google Shape;887;p108"/>
          <p:cNvSpPr/>
          <p:nvPr/>
        </p:nvSpPr>
        <p:spPr>
          <a:xfrm>
            <a:off x="1054100" y="3660031"/>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Three to five seeds at about 30 minutes each on an A100 tell us whether +0.06 holds.</a:t>
            </a:r>
            <a:endParaRPr b="0" i="0" sz="1400" u="none" cap="none" strike="noStrike">
              <a:solidFill>
                <a:schemeClr val="dk1"/>
              </a:solidFill>
              <a:latin typeface="IBM Plex Sans"/>
              <a:ea typeface="IBM Plex Sans"/>
              <a:cs typeface="IBM Plex Sans"/>
              <a:sym typeface="IBM Plex Sans"/>
            </a:endParaRPr>
          </a:p>
        </p:txBody>
      </p:sp>
      <p:sp>
        <p:nvSpPr>
          <p:cNvPr id="888" name="Google Shape;888;p108"/>
          <p:cNvSpPr/>
          <p:nvPr/>
        </p:nvSpPr>
        <p:spPr>
          <a:xfrm>
            <a:off x="6203950" y="3089821"/>
            <a:ext cx="5168900" cy="1302941"/>
          </a:xfrm>
          <a:prstGeom prst="roundRect">
            <a:avLst>
              <a:gd fmla="val 9260" name="adj"/>
            </a:avLst>
          </a:prstGeom>
          <a:solidFill>
            <a:srgbClr val="FDFCF9"/>
          </a:solidFill>
          <a:ln cap="flat" cmpd="sng" w="12700">
            <a:solidFill>
              <a:srgbClr val="E2DE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08"/>
          <p:cNvSpPr/>
          <p:nvPr/>
        </p:nvSpPr>
        <p:spPr>
          <a:xfrm>
            <a:off x="6438900" y="3324771"/>
            <a:ext cx="4839970" cy="28446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6202E"/>
              </a:buClr>
              <a:buSzPts val="1700"/>
              <a:buFont typeface="IBM Plex Sans"/>
              <a:buNone/>
            </a:pPr>
            <a:r>
              <a:rPr b="1" i="0" lang="en-US" sz="1700" u="none" cap="none" strike="noStrike">
                <a:solidFill>
                  <a:srgbClr val="16202E"/>
                </a:solidFill>
                <a:latin typeface="IBM Plex Sans"/>
                <a:ea typeface="IBM Plex Sans"/>
                <a:cs typeface="IBM Plex Sans"/>
                <a:sym typeface="IBM Plex Sans"/>
              </a:rPr>
              <a:t>Grade beyond token F1</a:t>
            </a:r>
            <a:endParaRPr b="0" i="0" sz="1700" u="none" cap="none" strike="noStrike">
              <a:solidFill>
                <a:schemeClr val="dk1"/>
              </a:solidFill>
              <a:latin typeface="IBM Plex Sans"/>
              <a:ea typeface="IBM Plex Sans"/>
              <a:cs typeface="IBM Plex Sans"/>
              <a:sym typeface="IBM Plex Sans"/>
            </a:endParaRPr>
          </a:p>
        </p:txBody>
      </p:sp>
      <p:sp>
        <p:nvSpPr>
          <p:cNvPr id="890" name="Google Shape;890;p108"/>
          <p:cNvSpPr/>
          <p:nvPr/>
        </p:nvSpPr>
        <p:spPr>
          <a:xfrm>
            <a:off x="6438900" y="3660031"/>
            <a:ext cx="4839970" cy="52318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Add an LLM‑judge or human check for correctness, and LLM‑written rationales instead of extractive ones.</a:t>
            </a:r>
            <a:endParaRPr b="0" i="0" sz="1400" u="none" cap="none" strike="noStrike">
              <a:solidFill>
                <a:schemeClr val="dk1"/>
              </a:solidFill>
              <a:latin typeface="IBM Plex Sans"/>
              <a:ea typeface="IBM Plex Sans"/>
              <a:cs typeface="IBM Plex Sans"/>
              <a:sym typeface="IBM Plex Sans"/>
            </a:endParaRPr>
          </a:p>
        </p:txBody>
      </p:sp>
      <p:sp>
        <p:nvSpPr>
          <p:cNvPr id="891" name="Google Shape;891;p108"/>
          <p:cNvSpPr/>
          <p:nvPr/>
        </p:nvSpPr>
        <p:spPr>
          <a:xfrm>
            <a:off x="812800" y="6238280"/>
            <a:ext cx="10883392" cy="2387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280"/>
              </a:buClr>
              <a:buSzPts val="1200"/>
              <a:buFont typeface="JetBrains Mono"/>
              <a:buNone/>
            </a:pPr>
            <a:r>
              <a:rPr b="0" i="0" lang="en-US" sz="1200" u="none" cap="none" strike="noStrike">
                <a:solidFill>
                  <a:srgbClr val="6A7280"/>
                </a:solidFill>
                <a:latin typeface="JetBrains Mono"/>
                <a:ea typeface="JetBrains Mono"/>
                <a:cs typeface="JetBrains Mono"/>
                <a:sym typeface="JetBrains Mono"/>
              </a:rPr>
              <a:t>finetuning_LLM_LORA/ · results/ · PR dougc333/geha#101</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pic>
        <p:nvPicPr>
          <p:cNvPr id="902" name="Google Shape;902;p110"/>
          <p:cNvPicPr preferRelativeResize="0"/>
          <p:nvPr/>
        </p:nvPicPr>
        <p:blipFill>
          <a:blip r:embed="rId3">
            <a:alphaModFix/>
          </a:blip>
          <a:stretch>
            <a:fillRect/>
          </a:stretch>
        </p:blipFill>
        <p:spPr>
          <a:xfrm>
            <a:off x="96763" y="3864725"/>
            <a:ext cx="11887203" cy="2993269"/>
          </a:xfrm>
          <a:prstGeom prst="rect">
            <a:avLst/>
          </a:prstGeom>
          <a:noFill/>
          <a:ln>
            <a:noFill/>
          </a:ln>
        </p:spPr>
      </p:pic>
      <p:pic>
        <p:nvPicPr>
          <p:cNvPr id="903" name="Google Shape;903;p110"/>
          <p:cNvPicPr preferRelativeResize="0"/>
          <p:nvPr/>
        </p:nvPicPr>
        <p:blipFill>
          <a:blip r:embed="rId4">
            <a:alphaModFix/>
          </a:blip>
          <a:stretch>
            <a:fillRect/>
          </a:stretch>
        </p:blipFill>
        <p:spPr>
          <a:xfrm>
            <a:off x="210675" y="581175"/>
            <a:ext cx="11659383" cy="3283549"/>
          </a:xfrm>
          <a:prstGeom prst="rect">
            <a:avLst/>
          </a:prstGeom>
          <a:noFill/>
          <a:ln>
            <a:noFill/>
          </a:ln>
        </p:spPr>
      </p:pic>
      <p:sp>
        <p:nvSpPr>
          <p:cNvPr id="904" name="Google Shape;904;p110"/>
          <p:cNvSpPr txBox="1"/>
          <p:nvPr/>
        </p:nvSpPr>
        <p:spPr>
          <a:xfrm>
            <a:off x="3477700" y="69550"/>
            <a:ext cx="8012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t>Embedding Fine Tuning</a:t>
            </a:r>
            <a:endParaRPr b="1" sz="25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pic>
        <p:nvPicPr>
          <p:cNvPr id="910" name="Google Shape;910;p111" title="naive_rag_row_chunks.png"/>
          <p:cNvPicPr preferRelativeResize="0"/>
          <p:nvPr/>
        </p:nvPicPr>
        <p:blipFill rotWithShape="1">
          <a:blip r:embed="rId3">
            <a:alphaModFix/>
          </a:blip>
          <a:srcRect b="0" l="0" r="0" t="0"/>
          <a:stretch/>
        </p:blipFill>
        <p:spPr>
          <a:xfrm>
            <a:off x="0" y="1377381"/>
            <a:ext cx="12191999" cy="4103238"/>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7"/>
        </a:solidFill>
      </p:bgPr>
    </p:bg>
    <p:spTree>
      <p:nvGrpSpPr>
        <p:cNvPr id="915" name="Shape 915"/>
        <p:cNvGrpSpPr/>
        <p:nvPr/>
      </p:nvGrpSpPr>
      <p:grpSpPr>
        <a:xfrm>
          <a:off x="0" y="0"/>
          <a:ext cx="0" cy="0"/>
          <a:chOff x="0" y="0"/>
          <a:chExt cx="0" cy="0"/>
        </a:xfrm>
      </p:grpSpPr>
      <p:sp>
        <p:nvSpPr>
          <p:cNvPr id="916" name="Google Shape;916;p112"/>
          <p:cNvSpPr/>
          <p:nvPr/>
        </p:nvSpPr>
        <p:spPr>
          <a:xfrm>
            <a:off x="533400" y="361950"/>
            <a:ext cx="11125200" cy="5238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82524"/>
              </a:buClr>
              <a:buSzPts val="3000"/>
              <a:buFont typeface="Helvetica Neue"/>
              <a:buNone/>
            </a:pPr>
            <a:r>
              <a:rPr b="1" lang="en-US" sz="3000">
                <a:solidFill>
                  <a:srgbClr val="182524"/>
                </a:solidFill>
                <a:latin typeface="Helvetica Neue"/>
                <a:ea typeface="Helvetica Neue"/>
                <a:cs typeface="Helvetica Neue"/>
                <a:sym typeface="Helvetica Neue"/>
              </a:rPr>
              <a:t>Structural context and context expansion</a:t>
            </a:r>
            <a:endParaRPr/>
          </a:p>
        </p:txBody>
      </p:sp>
      <p:sp>
        <p:nvSpPr>
          <p:cNvPr id="917" name="Google Shape;917;p112"/>
          <p:cNvSpPr/>
          <p:nvPr/>
        </p:nvSpPr>
        <p:spPr>
          <a:xfrm>
            <a:off x="533400" y="876300"/>
            <a:ext cx="111252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36463"/>
              </a:buClr>
              <a:buSzPts val="1500"/>
              <a:buFont typeface="Helvetica Neue"/>
              <a:buNone/>
            </a:pPr>
            <a:r>
              <a:rPr b="0" lang="en-US" sz="1500">
                <a:solidFill>
                  <a:srgbClr val="536463"/>
                </a:solidFill>
                <a:latin typeface="Helvetica Neue"/>
                <a:ea typeface="Helvetica Neue"/>
                <a:cs typeface="Helvetica Neue"/>
                <a:sym typeface="Helvetica Neue"/>
              </a:rPr>
              <a:t>The same policy page produces different retrieval boundaries</a:t>
            </a:r>
            <a:endParaRPr/>
          </a:p>
        </p:txBody>
      </p:sp>
      <p:sp>
        <p:nvSpPr>
          <p:cNvPr id="918" name="Google Shape;918;p112"/>
          <p:cNvSpPr/>
          <p:nvPr/>
        </p:nvSpPr>
        <p:spPr>
          <a:xfrm>
            <a:off x="533400" y="1333500"/>
            <a:ext cx="53816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765E"/>
              </a:buClr>
              <a:buSzPts val="1200"/>
              <a:buFont typeface="Helvetica Neue"/>
              <a:buNone/>
            </a:pPr>
            <a:r>
              <a:rPr b="1" lang="en-US" sz="1200">
                <a:solidFill>
                  <a:srgbClr val="1E765E"/>
                </a:solidFill>
                <a:latin typeface="Helvetica Neue"/>
                <a:ea typeface="Helvetica Neue"/>
                <a:cs typeface="Helvetica Neue"/>
                <a:sym typeface="Helvetica Neue"/>
              </a:rPr>
              <a:t>STRUCTURAL CONTEXT</a:t>
            </a:r>
            <a:endParaRPr/>
          </a:p>
        </p:txBody>
      </p:sp>
      <p:sp>
        <p:nvSpPr>
          <p:cNvPr id="919" name="Google Shape;919;p112"/>
          <p:cNvSpPr/>
          <p:nvPr/>
        </p:nvSpPr>
        <p:spPr>
          <a:xfrm>
            <a:off x="6276975" y="1333500"/>
            <a:ext cx="5381625"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54DA6"/>
              </a:buClr>
              <a:buSzPts val="1200"/>
              <a:buFont typeface="Helvetica Neue"/>
              <a:buNone/>
            </a:pPr>
            <a:r>
              <a:rPr b="1" lang="en-US" sz="1200">
                <a:solidFill>
                  <a:srgbClr val="654DA6"/>
                </a:solidFill>
                <a:latin typeface="Helvetica Neue"/>
                <a:ea typeface="Helvetica Neue"/>
                <a:cs typeface="Helvetica Neue"/>
                <a:sym typeface="Helvetica Neue"/>
              </a:rPr>
              <a:t>CONTEXT EXPANSION</a:t>
            </a:r>
            <a:endParaRPr/>
          </a:p>
        </p:txBody>
      </p:sp>
      <p:sp>
        <p:nvSpPr>
          <p:cNvPr id="920" name="Google Shape;920;p112"/>
          <p:cNvSpPr/>
          <p:nvPr/>
        </p:nvSpPr>
        <p:spPr>
          <a:xfrm>
            <a:off x="476250" y="1619250"/>
            <a:ext cx="5495925" cy="2038350"/>
          </a:xfrm>
          <a:prstGeom prst="rect">
            <a:avLst/>
          </a:prstGeom>
          <a:solidFill>
            <a:srgbClr val="FFFFFF"/>
          </a:solidFill>
          <a:ln cap="flat" cmpd="sng" w="9525">
            <a:solidFill>
              <a:srgbClr val="D1DBD9"/>
            </a:solidFill>
            <a:prstDash val="solid"/>
            <a:round/>
            <a:headEnd len="sm" w="sm" type="none"/>
            <a:tailEnd len="sm" w="sm" type="none"/>
          </a:ln>
          <a:effectLst>
            <a:outerShdw blurRad="180975" dir="4443276" dist="69343">
              <a:srgbClr val="000000">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112"/>
          <p:cNvSpPr/>
          <p:nvPr/>
        </p:nvSpPr>
        <p:spPr>
          <a:xfrm>
            <a:off x="6219825" y="1619250"/>
            <a:ext cx="5495925" cy="2038350"/>
          </a:xfrm>
          <a:prstGeom prst="rect">
            <a:avLst/>
          </a:prstGeom>
          <a:solidFill>
            <a:srgbClr val="FFFFFF"/>
          </a:solidFill>
          <a:ln cap="flat" cmpd="sng" w="9525">
            <a:solidFill>
              <a:srgbClr val="D1DBD9"/>
            </a:solidFill>
            <a:prstDash val="solid"/>
            <a:round/>
            <a:headEnd len="sm" w="sm" type="none"/>
            <a:tailEnd len="sm" w="sm" type="none"/>
          </a:ln>
          <a:effectLst>
            <a:outerShdw blurRad="180975" dir="4443276" dist="69343">
              <a:srgbClr val="000000">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22" name="Google Shape;922;p112"/>
          <p:cNvPicPr preferRelativeResize="0"/>
          <p:nvPr/>
        </p:nvPicPr>
        <p:blipFill rotWithShape="1">
          <a:blip r:embed="rId3">
            <a:alphaModFix/>
          </a:blip>
          <a:srcRect b="0" l="0" r="0" t="0"/>
          <a:stretch/>
        </p:blipFill>
        <p:spPr>
          <a:xfrm>
            <a:off x="533400" y="1677421"/>
            <a:ext cx="5381625" cy="1922009"/>
          </a:xfrm>
          <a:prstGeom prst="rect">
            <a:avLst/>
          </a:prstGeom>
          <a:noFill/>
          <a:ln>
            <a:noFill/>
          </a:ln>
        </p:spPr>
      </p:pic>
      <p:pic>
        <p:nvPicPr>
          <p:cNvPr id="923" name="Google Shape;923;p112"/>
          <p:cNvPicPr preferRelativeResize="0"/>
          <p:nvPr/>
        </p:nvPicPr>
        <p:blipFill rotWithShape="1">
          <a:blip r:embed="rId4">
            <a:alphaModFix/>
          </a:blip>
          <a:srcRect b="0" l="0" r="0" t="0"/>
          <a:stretch/>
        </p:blipFill>
        <p:spPr>
          <a:xfrm>
            <a:off x="6276975" y="1677421"/>
            <a:ext cx="5381625" cy="1922009"/>
          </a:xfrm>
          <a:prstGeom prst="rect">
            <a:avLst/>
          </a:prstGeom>
          <a:noFill/>
          <a:ln>
            <a:noFill/>
          </a:ln>
        </p:spPr>
      </p:pic>
      <p:sp>
        <p:nvSpPr>
          <p:cNvPr id="924" name="Google Shape;924;p112"/>
          <p:cNvSpPr/>
          <p:nvPr/>
        </p:nvSpPr>
        <p:spPr>
          <a:xfrm>
            <a:off x="609600" y="2085975"/>
            <a:ext cx="5305425" cy="1381125"/>
          </a:xfrm>
          <a:prstGeom prst="rect">
            <a:avLst/>
          </a:prstGeom>
          <a:noFill/>
          <a:ln cap="flat" cmpd="sng" w="38100">
            <a:solidFill>
              <a:srgbClr val="D930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112"/>
          <p:cNvSpPr/>
          <p:nvPr/>
        </p:nvSpPr>
        <p:spPr>
          <a:xfrm>
            <a:off x="6696075" y="2257425"/>
            <a:ext cx="4505325" cy="1314450"/>
          </a:xfrm>
          <a:prstGeom prst="rect">
            <a:avLst/>
          </a:prstGeom>
          <a:noFill/>
          <a:ln cap="flat" cmpd="sng" w="38100">
            <a:solidFill>
              <a:srgbClr val="D930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12"/>
          <p:cNvSpPr/>
          <p:nvPr/>
        </p:nvSpPr>
        <p:spPr>
          <a:xfrm>
            <a:off x="533400" y="3924300"/>
            <a:ext cx="53816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82524"/>
              </a:buClr>
              <a:buSzPts val="1950"/>
              <a:buFont typeface="Helvetica Neue"/>
              <a:buNone/>
            </a:pPr>
            <a:r>
              <a:rPr b="1" lang="en-US" sz="1950">
                <a:solidFill>
                  <a:srgbClr val="182524"/>
                </a:solidFill>
                <a:latin typeface="Helvetica Neue"/>
                <a:ea typeface="Helvetica Neue"/>
                <a:cs typeface="Helvetica Neue"/>
                <a:sym typeface="Helvetica Neue"/>
              </a:rPr>
              <a:t>Whole table returned</a:t>
            </a:r>
            <a:endParaRPr/>
          </a:p>
        </p:txBody>
      </p:sp>
      <p:sp>
        <p:nvSpPr>
          <p:cNvPr id="927" name="Google Shape;927;p112"/>
          <p:cNvSpPr/>
          <p:nvPr/>
        </p:nvSpPr>
        <p:spPr>
          <a:xfrm>
            <a:off x="533400" y="4324350"/>
            <a:ext cx="5095875" cy="1000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65856"/>
              </a:buClr>
              <a:buSzPts val="1425"/>
              <a:buFont typeface="Helvetica Neue"/>
              <a:buNone/>
            </a:pPr>
            <a:r>
              <a:rPr b="0" lang="en-US" sz="1425">
                <a:solidFill>
                  <a:srgbClr val="465856"/>
                </a:solidFill>
                <a:latin typeface="Helvetica Neue"/>
                <a:ea typeface="Helvetica Neue"/>
                <a:cs typeface="Helvetica Neue"/>
                <a:sym typeface="Helvetica Neue"/>
              </a:rPr>
              <a:t>Table-aware parsing keeps the header and all rows in one retrieval unit. The relationships among preference, drug, code, and description remain intact.</a:t>
            </a:r>
            <a:endParaRPr/>
          </a:p>
        </p:txBody>
      </p:sp>
      <p:sp>
        <p:nvSpPr>
          <p:cNvPr id="928" name="Google Shape;928;p112"/>
          <p:cNvSpPr/>
          <p:nvPr/>
        </p:nvSpPr>
        <p:spPr>
          <a:xfrm>
            <a:off x="6276975" y="3924300"/>
            <a:ext cx="5381625"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82524"/>
              </a:buClr>
              <a:buSzPts val="1950"/>
              <a:buFont typeface="Helvetica Neue"/>
              <a:buNone/>
            </a:pPr>
            <a:r>
              <a:rPr b="1" lang="en-US" sz="1950">
                <a:solidFill>
                  <a:srgbClr val="182524"/>
                </a:solidFill>
                <a:latin typeface="Helvetica Neue"/>
                <a:ea typeface="Helvetica Neue"/>
                <a:cs typeface="Helvetica Neue"/>
                <a:sym typeface="Helvetica Neue"/>
              </a:rPr>
              <a:t>Parent section returned</a:t>
            </a:r>
            <a:endParaRPr/>
          </a:p>
        </p:txBody>
      </p:sp>
      <p:sp>
        <p:nvSpPr>
          <p:cNvPr id="929" name="Google Shape;929;p112"/>
          <p:cNvSpPr/>
          <p:nvPr/>
        </p:nvSpPr>
        <p:spPr>
          <a:xfrm>
            <a:off x="6276975" y="4324350"/>
            <a:ext cx="5095875" cy="1000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65856"/>
              </a:buClr>
              <a:buSzPts val="1425"/>
              <a:buFont typeface="Helvetica Neue"/>
              <a:buNone/>
            </a:pPr>
            <a:r>
              <a:rPr b="0" lang="en-US" sz="1425">
                <a:solidFill>
                  <a:srgbClr val="465856"/>
                </a:solidFill>
                <a:latin typeface="Helvetica Neue"/>
                <a:ea typeface="Helvetica Neue"/>
                <a:cs typeface="Helvetica Neue"/>
                <a:sym typeface="Helvetica Neue"/>
              </a:rPr>
              <a:t>Parent-child retrieval can match a small passage about NCCN or FDA guidance, then return the full Universal Approval Criteria section as context.</a:t>
            </a:r>
            <a:endParaRPr/>
          </a:p>
        </p:txBody>
      </p:sp>
      <p:cxnSp>
        <p:nvCxnSpPr>
          <p:cNvPr id="930" name="Google Shape;930;p112"/>
          <p:cNvCxnSpPr/>
          <p:nvPr/>
        </p:nvCxnSpPr>
        <p:spPr>
          <a:xfrm>
            <a:off x="533400" y="6238875"/>
            <a:ext cx="11125200" cy="0"/>
          </a:xfrm>
          <a:prstGeom prst="straightConnector1">
            <a:avLst/>
          </a:prstGeom>
          <a:noFill/>
          <a:ln cap="flat" cmpd="sng" w="9525">
            <a:solidFill>
              <a:srgbClr val="CED8D6"/>
            </a:solidFill>
            <a:prstDash val="solid"/>
            <a:round/>
            <a:headEnd len="sm" w="sm" type="none"/>
            <a:tailEnd len="sm" w="sm" type="none"/>
          </a:ln>
        </p:spPr>
      </p:cxnSp>
      <p:sp>
        <p:nvSpPr>
          <p:cNvPr id="931" name="Google Shape;931;p112"/>
          <p:cNvSpPr/>
          <p:nvPr/>
        </p:nvSpPr>
        <p:spPr>
          <a:xfrm>
            <a:off x="533400" y="6343650"/>
            <a:ext cx="111252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050"/>
              <a:buFont typeface="Helvetica Neue"/>
              <a:buNone/>
            </a:pPr>
            <a:r>
              <a:rPr b="0" lang="en-US" sz="1050">
                <a:solidFill>
                  <a:srgbClr val="62716F"/>
                </a:solidFill>
                <a:latin typeface="Helvetica Neue"/>
                <a:ea typeface="Helvetica Neue"/>
                <a:cs typeface="Helvetica Neue"/>
                <a:sym typeface="Helvetica Neue"/>
              </a:rPr>
              <a:t>Source: GEHA Coverage Policy: Bendamustine, page 1</a:t>
            </a:r>
            <a:endParaRPr/>
          </a:p>
        </p:txBody>
      </p:sp>
      <p:sp>
        <p:nvSpPr>
          <p:cNvPr id="932" name="Google Shape;932;p112"/>
          <p:cNvSpPr txBox="1"/>
          <p:nvPr/>
        </p:nvSpPr>
        <p:spPr>
          <a:xfrm>
            <a:off x="637225" y="5196825"/>
            <a:ext cx="54093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Ambiguity risk</a:t>
            </a:r>
            <a:endParaRPr b="1"/>
          </a:p>
        </p:txBody>
      </p:sp>
      <p:sp>
        <p:nvSpPr>
          <p:cNvPr id="933" name="Google Shape;933;p112"/>
          <p:cNvSpPr txBox="1"/>
          <p:nvPr/>
        </p:nvSpPr>
        <p:spPr>
          <a:xfrm>
            <a:off x="637225" y="5565000"/>
            <a:ext cx="5381700" cy="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Duplicate or similar tables can repeat the same Treanda - Preferred rows for another condition. Without table-level context, retrieval may return the wrong result. This failure is unlikely to appear in the current small dataset.</a:t>
            </a:r>
            <a:endParaRPr sz="1200"/>
          </a:p>
        </p:txBody>
      </p:sp>
      <p:sp>
        <p:nvSpPr>
          <p:cNvPr id="934" name="Google Shape;934;p112"/>
          <p:cNvSpPr txBox="1"/>
          <p:nvPr/>
        </p:nvSpPr>
        <p:spPr>
          <a:xfrm>
            <a:off x="6386275" y="5451700"/>
            <a:ext cx="5324400" cy="3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a:t>Lesson</a:t>
            </a:r>
            <a:endParaRPr b="1"/>
          </a:p>
        </p:txBody>
      </p:sp>
      <p:sp>
        <p:nvSpPr>
          <p:cNvPr id="935" name="Google Shape;935;p112"/>
          <p:cNvSpPr txBox="1"/>
          <p:nvPr/>
        </p:nvSpPr>
        <p:spPr>
          <a:xfrm>
            <a:off x="6386275" y="5819875"/>
            <a:ext cx="5305500" cy="6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t>Returning the parent adds useful context, but every added passage consumes tokens and reduces the remaining context-window budget.</a:t>
            </a:r>
            <a:endParaRPr sz="120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pic>
        <p:nvPicPr>
          <p:cNvPr id="941" name="Google Shape;941;p113"/>
          <p:cNvPicPr preferRelativeResize="0"/>
          <p:nvPr/>
        </p:nvPicPr>
        <p:blipFill>
          <a:blip r:embed="rId3">
            <a:alphaModFix/>
          </a:blip>
          <a:stretch>
            <a:fillRect/>
          </a:stretch>
        </p:blipFill>
        <p:spPr>
          <a:xfrm>
            <a:off x="209375" y="152400"/>
            <a:ext cx="8258525" cy="6553199"/>
          </a:xfrm>
          <a:prstGeom prst="rect">
            <a:avLst/>
          </a:prstGeom>
          <a:noFill/>
          <a:ln>
            <a:noFill/>
          </a:ln>
        </p:spPr>
      </p:pic>
      <p:sp>
        <p:nvSpPr>
          <p:cNvPr id="942" name="Google Shape;942;p113"/>
          <p:cNvSpPr txBox="1"/>
          <p:nvPr/>
        </p:nvSpPr>
        <p:spPr>
          <a:xfrm>
            <a:off x="8464100" y="576325"/>
            <a:ext cx="3029700" cy="243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US" sz="1500"/>
              <a:t>An error rate of 1.8–7% can remain invisible in prototypes and surface only at production scale.</a:t>
            </a:r>
            <a:endParaRPr b="1" sz="1500"/>
          </a:p>
          <a:p>
            <a:pPr indent="0" lvl="0" marL="0" rtl="0" algn="l">
              <a:spcBef>
                <a:spcPts val="0"/>
              </a:spcBef>
              <a:spcAft>
                <a:spcPts val="0"/>
              </a:spcAft>
              <a:buClr>
                <a:schemeClr val="dk1"/>
              </a:buClr>
              <a:buSzPts val="1100"/>
              <a:buFont typeface="Arial"/>
              <a:buNone/>
            </a:pPr>
            <a:r>
              <a:t/>
            </a:r>
            <a:endParaRPr b="1" sz="1500"/>
          </a:p>
          <a:p>
            <a:pPr indent="0" lvl="0" marL="0" rtl="0" algn="l">
              <a:spcBef>
                <a:spcPts val="0"/>
              </a:spcBef>
              <a:spcAft>
                <a:spcPts val="0"/>
              </a:spcAft>
              <a:buClr>
                <a:schemeClr val="dk1"/>
              </a:buClr>
              <a:buSzPts val="1100"/>
              <a:buFont typeface="Arial"/>
              <a:buNone/>
            </a:pPr>
            <a:r>
              <a:rPr b="1" lang="en-US" sz="1500"/>
              <a:t>These failures are difficult to simulate before launch.</a:t>
            </a:r>
            <a:endParaRPr b="1" sz="1500"/>
          </a:p>
          <a:p>
            <a:pPr indent="0" lvl="0" marL="0" rtl="0" algn="l">
              <a:spcBef>
                <a:spcPts val="0"/>
              </a:spcBef>
              <a:spcAft>
                <a:spcPts val="0"/>
              </a:spcAft>
              <a:buNone/>
            </a:pPr>
            <a:r>
              <a:t/>
            </a:r>
            <a:endParaRPr b="1" sz="1500"/>
          </a:p>
        </p:txBody>
      </p:sp>
      <p:pic>
        <p:nvPicPr>
          <p:cNvPr id="943" name="Google Shape;943;p113" title="context_window_error_risk.png"/>
          <p:cNvPicPr preferRelativeResize="0"/>
          <p:nvPr/>
        </p:nvPicPr>
        <p:blipFill>
          <a:blip r:embed="rId4">
            <a:alphaModFix/>
          </a:blip>
          <a:stretch>
            <a:fillRect/>
          </a:stretch>
        </p:blipFill>
        <p:spPr>
          <a:xfrm>
            <a:off x="8464100" y="4059350"/>
            <a:ext cx="3251202" cy="243840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7"/>
        </a:solidFill>
      </p:bgPr>
    </p:bg>
    <p:spTree>
      <p:nvGrpSpPr>
        <p:cNvPr id="948" name="Shape 948"/>
        <p:cNvGrpSpPr/>
        <p:nvPr/>
      </p:nvGrpSpPr>
      <p:grpSpPr>
        <a:xfrm>
          <a:off x="0" y="0"/>
          <a:ext cx="0" cy="0"/>
          <a:chOff x="0" y="0"/>
          <a:chExt cx="0" cy="0"/>
        </a:xfrm>
      </p:grpSpPr>
      <p:sp>
        <p:nvSpPr>
          <p:cNvPr id="949" name="Google Shape;949;p114"/>
          <p:cNvSpPr/>
          <p:nvPr/>
        </p:nvSpPr>
        <p:spPr>
          <a:xfrm>
            <a:off x="533400" y="333375"/>
            <a:ext cx="1112520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3000">
                <a:solidFill>
                  <a:srgbClr val="182524"/>
                </a:solidFill>
                <a:latin typeface="Helvetica Neue"/>
                <a:ea typeface="Helvetica Neue"/>
                <a:cs typeface="Helvetica Neue"/>
                <a:sym typeface="Helvetica Neue"/>
              </a:rPr>
              <a:t>Intrinsic and extrinsic hallucinations</a:t>
            </a:r>
            <a:endParaRPr/>
          </a:p>
        </p:txBody>
      </p:sp>
      <p:sp>
        <p:nvSpPr>
          <p:cNvPr id="950" name="Google Shape;950;p114"/>
          <p:cNvSpPr/>
          <p:nvPr/>
        </p:nvSpPr>
        <p:spPr>
          <a:xfrm>
            <a:off x="533400" y="838200"/>
            <a:ext cx="11125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500">
                <a:solidFill>
                  <a:srgbClr val="536463"/>
                </a:solidFill>
                <a:latin typeface="Helvetica Neue"/>
                <a:ea typeface="Helvetica Neue"/>
                <a:cs typeface="Helvetica Neue"/>
                <a:sym typeface="Helvetica Neue"/>
              </a:rPr>
              <a:t>Both are grounding failures, but they fail in different ways</a:t>
            </a:r>
            <a:endParaRPr/>
          </a:p>
        </p:txBody>
      </p:sp>
      <p:sp>
        <p:nvSpPr>
          <p:cNvPr id="951" name="Google Shape;951;p114"/>
          <p:cNvSpPr/>
          <p:nvPr/>
        </p:nvSpPr>
        <p:spPr>
          <a:xfrm>
            <a:off x="704850" y="1371600"/>
            <a:ext cx="4762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C62828"/>
                </a:solidFill>
                <a:latin typeface="Helvetica Neue"/>
                <a:ea typeface="Helvetica Neue"/>
                <a:cs typeface="Helvetica Neue"/>
                <a:sym typeface="Helvetica Neue"/>
              </a:rPr>
              <a:t>Intrinsic hallucination</a:t>
            </a:r>
            <a:endParaRPr/>
          </a:p>
        </p:txBody>
      </p:sp>
      <p:sp>
        <p:nvSpPr>
          <p:cNvPr id="952" name="Google Shape;952;p114"/>
          <p:cNvSpPr/>
          <p:nvPr/>
        </p:nvSpPr>
        <p:spPr>
          <a:xfrm>
            <a:off x="6724650" y="1371600"/>
            <a:ext cx="4762500" cy="3238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025">
                <a:solidFill>
                  <a:srgbClr val="C9780E"/>
                </a:solidFill>
                <a:latin typeface="Helvetica Neue"/>
                <a:ea typeface="Helvetica Neue"/>
                <a:cs typeface="Helvetica Neue"/>
                <a:sym typeface="Helvetica Neue"/>
              </a:rPr>
              <a:t>Extrinsic hallucination</a:t>
            </a:r>
            <a:endParaRPr/>
          </a:p>
        </p:txBody>
      </p:sp>
      <p:pic>
        <p:nvPicPr>
          <p:cNvPr id="953" name="Google Shape;953;p114"/>
          <p:cNvPicPr preferRelativeResize="0"/>
          <p:nvPr/>
        </p:nvPicPr>
        <p:blipFill rotWithShape="1">
          <a:blip r:embed="rId3">
            <a:alphaModFix/>
          </a:blip>
          <a:srcRect b="0" l="0" r="0" t="0"/>
          <a:stretch/>
        </p:blipFill>
        <p:spPr>
          <a:xfrm>
            <a:off x="3238500" y="1714500"/>
            <a:ext cx="5715000" cy="2857500"/>
          </a:xfrm>
          <a:prstGeom prst="rect">
            <a:avLst/>
          </a:prstGeom>
          <a:noFill/>
          <a:ln>
            <a:noFill/>
          </a:ln>
        </p:spPr>
      </p:pic>
      <p:sp>
        <p:nvSpPr>
          <p:cNvPr id="954" name="Google Shape;954;p114"/>
          <p:cNvSpPr/>
          <p:nvPr/>
        </p:nvSpPr>
        <p:spPr>
          <a:xfrm>
            <a:off x="704850" y="4524375"/>
            <a:ext cx="4857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243130"/>
                </a:solidFill>
                <a:latin typeface="Helvetica Neue"/>
                <a:ea typeface="Helvetica Neue"/>
                <a:cs typeface="Helvetica Neue"/>
                <a:sym typeface="Helvetica Neue"/>
              </a:rPr>
              <a:t>Contradicts the retrieved evidence</a:t>
            </a:r>
            <a:endParaRPr/>
          </a:p>
        </p:txBody>
      </p:sp>
      <p:sp>
        <p:nvSpPr>
          <p:cNvPr id="955" name="Google Shape;955;p114"/>
          <p:cNvSpPr/>
          <p:nvPr/>
        </p:nvSpPr>
        <p:spPr>
          <a:xfrm>
            <a:off x="704850" y="4857750"/>
            <a:ext cx="4762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536463"/>
                </a:solidFill>
                <a:latin typeface="Helvetica Neue"/>
                <a:ea typeface="Helvetica Neue"/>
                <a:cs typeface="Helvetica Neue"/>
                <a:sym typeface="Helvetica Neue"/>
              </a:rPr>
              <a:t>The answer changes a fact that appears in the source.</a:t>
            </a:r>
            <a:endParaRPr/>
          </a:p>
        </p:txBody>
      </p:sp>
      <p:sp>
        <p:nvSpPr>
          <p:cNvPr id="956" name="Google Shape;956;p114"/>
          <p:cNvSpPr/>
          <p:nvPr/>
        </p:nvSpPr>
        <p:spPr>
          <a:xfrm>
            <a:off x="704850" y="5305425"/>
            <a:ext cx="857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1E765E"/>
                </a:solidFill>
                <a:latin typeface="Helvetica Neue"/>
                <a:ea typeface="Helvetica Neue"/>
                <a:cs typeface="Helvetica Neue"/>
                <a:sym typeface="Helvetica Neue"/>
              </a:rPr>
              <a:t>Evidence</a:t>
            </a:r>
            <a:endParaRPr/>
          </a:p>
        </p:txBody>
      </p:sp>
      <p:sp>
        <p:nvSpPr>
          <p:cNvPr id="957" name="Google Shape;957;p114"/>
          <p:cNvSpPr/>
          <p:nvPr/>
        </p:nvSpPr>
        <p:spPr>
          <a:xfrm>
            <a:off x="1571625" y="5305425"/>
            <a:ext cx="3857625"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75">
                <a:solidFill>
                  <a:srgbClr val="243130"/>
                </a:solidFill>
                <a:latin typeface="Helvetica Neue"/>
                <a:ea typeface="Helvetica Neue"/>
                <a:cs typeface="Helvetica Neue"/>
                <a:sym typeface="Helvetica Neue"/>
              </a:rPr>
              <a:t>Coverage requires prior authorization.</a:t>
            </a:r>
            <a:endParaRPr/>
          </a:p>
        </p:txBody>
      </p:sp>
      <p:sp>
        <p:nvSpPr>
          <p:cNvPr id="958" name="Google Shape;958;p114"/>
          <p:cNvSpPr/>
          <p:nvPr/>
        </p:nvSpPr>
        <p:spPr>
          <a:xfrm>
            <a:off x="704850" y="5610225"/>
            <a:ext cx="857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C62828"/>
                </a:solidFill>
                <a:latin typeface="Helvetica Neue"/>
                <a:ea typeface="Helvetica Neue"/>
                <a:cs typeface="Helvetica Neue"/>
                <a:sym typeface="Helvetica Neue"/>
              </a:rPr>
              <a:t>Answer</a:t>
            </a:r>
            <a:endParaRPr/>
          </a:p>
        </p:txBody>
      </p:sp>
      <p:sp>
        <p:nvSpPr>
          <p:cNvPr id="959" name="Google Shape;959;p114"/>
          <p:cNvSpPr/>
          <p:nvPr/>
        </p:nvSpPr>
        <p:spPr>
          <a:xfrm>
            <a:off x="1571625" y="5610225"/>
            <a:ext cx="3857625"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C62828"/>
                </a:solidFill>
                <a:latin typeface="Helvetica Neue"/>
                <a:ea typeface="Helvetica Neue"/>
                <a:cs typeface="Helvetica Neue"/>
                <a:sym typeface="Helvetica Neue"/>
              </a:rPr>
              <a:t>No prior authorization is required.</a:t>
            </a:r>
            <a:endParaRPr/>
          </a:p>
        </p:txBody>
      </p:sp>
      <p:sp>
        <p:nvSpPr>
          <p:cNvPr id="960" name="Google Shape;960;p114"/>
          <p:cNvSpPr/>
          <p:nvPr/>
        </p:nvSpPr>
        <p:spPr>
          <a:xfrm>
            <a:off x="6724650" y="4524375"/>
            <a:ext cx="4762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650">
                <a:solidFill>
                  <a:srgbClr val="243130"/>
                </a:solidFill>
                <a:latin typeface="Helvetica Neue"/>
                <a:ea typeface="Helvetica Neue"/>
                <a:cs typeface="Helvetica Neue"/>
                <a:sym typeface="Helvetica Neue"/>
              </a:rPr>
              <a:t>Adds a claim absent from the evidence</a:t>
            </a:r>
            <a:endParaRPr/>
          </a:p>
        </p:txBody>
      </p:sp>
      <p:sp>
        <p:nvSpPr>
          <p:cNvPr id="961" name="Google Shape;961;p114"/>
          <p:cNvSpPr/>
          <p:nvPr/>
        </p:nvSpPr>
        <p:spPr>
          <a:xfrm>
            <a:off x="6724650" y="4857750"/>
            <a:ext cx="47625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350">
                <a:solidFill>
                  <a:srgbClr val="536463"/>
                </a:solidFill>
                <a:latin typeface="Helvetica Neue"/>
                <a:ea typeface="Helvetica Neue"/>
                <a:cs typeface="Helvetica Neue"/>
                <a:sym typeface="Helvetica Neue"/>
              </a:rPr>
              <a:t>The answer introduces a fact the source never establishes.</a:t>
            </a:r>
            <a:endParaRPr/>
          </a:p>
        </p:txBody>
      </p:sp>
      <p:sp>
        <p:nvSpPr>
          <p:cNvPr id="962" name="Google Shape;962;p114"/>
          <p:cNvSpPr/>
          <p:nvPr/>
        </p:nvSpPr>
        <p:spPr>
          <a:xfrm>
            <a:off x="6724650" y="5305425"/>
            <a:ext cx="857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1E765E"/>
                </a:solidFill>
                <a:latin typeface="Helvetica Neue"/>
                <a:ea typeface="Helvetica Neue"/>
                <a:cs typeface="Helvetica Neue"/>
                <a:sym typeface="Helvetica Neue"/>
              </a:rPr>
              <a:t>Evidence</a:t>
            </a:r>
            <a:endParaRPr/>
          </a:p>
        </p:txBody>
      </p:sp>
      <p:sp>
        <p:nvSpPr>
          <p:cNvPr id="963" name="Google Shape;963;p114"/>
          <p:cNvSpPr/>
          <p:nvPr/>
        </p:nvSpPr>
        <p:spPr>
          <a:xfrm>
            <a:off x="7591425" y="5305425"/>
            <a:ext cx="3857625"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1275">
                <a:solidFill>
                  <a:srgbClr val="243130"/>
                </a:solidFill>
                <a:latin typeface="Helvetica Neue"/>
                <a:ea typeface="Helvetica Neue"/>
                <a:cs typeface="Helvetica Neue"/>
                <a:sym typeface="Helvetica Neue"/>
              </a:rPr>
              <a:t>The policy lists covered drug codes.</a:t>
            </a:r>
            <a:endParaRPr/>
          </a:p>
        </p:txBody>
      </p:sp>
      <p:sp>
        <p:nvSpPr>
          <p:cNvPr id="964" name="Google Shape;964;p114"/>
          <p:cNvSpPr/>
          <p:nvPr/>
        </p:nvSpPr>
        <p:spPr>
          <a:xfrm>
            <a:off x="6724650" y="5610225"/>
            <a:ext cx="85725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C9780E"/>
                </a:solidFill>
                <a:latin typeface="Helvetica Neue"/>
                <a:ea typeface="Helvetica Neue"/>
                <a:cs typeface="Helvetica Neue"/>
                <a:sym typeface="Helvetica Neue"/>
              </a:rPr>
              <a:t>Answer</a:t>
            </a:r>
            <a:endParaRPr/>
          </a:p>
        </p:txBody>
      </p:sp>
      <p:sp>
        <p:nvSpPr>
          <p:cNvPr id="965" name="Google Shape;965;p114"/>
          <p:cNvSpPr/>
          <p:nvPr/>
        </p:nvSpPr>
        <p:spPr>
          <a:xfrm>
            <a:off x="7591425" y="5610225"/>
            <a:ext cx="3857625"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75">
                <a:solidFill>
                  <a:srgbClr val="C9780E"/>
                </a:solidFill>
                <a:latin typeface="Helvetica Neue"/>
                <a:ea typeface="Helvetica Neue"/>
                <a:cs typeface="Helvetica Neue"/>
                <a:sym typeface="Helvetica Neue"/>
              </a:rPr>
              <a:t>The policy guarantees same-day approval.</a:t>
            </a:r>
            <a:endParaRPr/>
          </a:p>
        </p:txBody>
      </p:sp>
      <p:cxnSp>
        <p:nvCxnSpPr>
          <p:cNvPr id="966" name="Google Shape;966;p114"/>
          <p:cNvCxnSpPr/>
          <p:nvPr/>
        </p:nvCxnSpPr>
        <p:spPr>
          <a:xfrm>
            <a:off x="533400" y="6181725"/>
            <a:ext cx="11125200" cy="0"/>
          </a:xfrm>
          <a:prstGeom prst="straightConnector1">
            <a:avLst/>
          </a:prstGeom>
          <a:noFill/>
          <a:ln cap="flat" cmpd="sng" w="9525">
            <a:solidFill>
              <a:srgbClr val="D2DCDA"/>
            </a:solidFill>
            <a:prstDash val="solid"/>
            <a:round/>
            <a:headEnd len="sm" w="sm" type="none"/>
            <a:tailEnd len="sm" w="sm" type="none"/>
          </a:ln>
        </p:spPr>
      </p:cxnSp>
      <p:sp>
        <p:nvSpPr>
          <p:cNvPr id="967" name="Google Shape;967;p114"/>
          <p:cNvSpPr/>
          <p:nvPr/>
        </p:nvSpPr>
        <p:spPr>
          <a:xfrm>
            <a:off x="533400" y="6362700"/>
            <a:ext cx="1112520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1200">
                <a:solidFill>
                  <a:srgbClr val="465856"/>
                </a:solidFill>
                <a:latin typeface="Helvetica Neue"/>
                <a:ea typeface="Helvetica Neue"/>
                <a:cs typeface="Helvetica Neue"/>
                <a:sym typeface="Helvetica Neue"/>
              </a:rPr>
              <a:t>Evaluation question: Does the answer contradict the context, or does it go beyond the context?</a:t>
            </a:r>
            <a:endParaRPr/>
          </a:p>
        </p:txBody>
      </p:sp>
      <p:pic>
        <p:nvPicPr>
          <p:cNvPr id="968" name="Google Shape;968;p114"/>
          <p:cNvPicPr preferRelativeResize="0"/>
          <p:nvPr/>
        </p:nvPicPr>
        <p:blipFill>
          <a:blip r:embed="rId4">
            <a:alphaModFix/>
          </a:blip>
          <a:stretch>
            <a:fillRect/>
          </a:stretch>
        </p:blipFill>
        <p:spPr>
          <a:xfrm>
            <a:off x="533400" y="8079525"/>
            <a:ext cx="2933701" cy="1894543"/>
          </a:xfrm>
          <a:prstGeom prst="rect">
            <a:avLst/>
          </a:prstGeom>
          <a:noFill/>
          <a:ln>
            <a:noFill/>
          </a:ln>
        </p:spPr>
      </p:pic>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7"/>
        </a:solidFill>
      </p:bgPr>
    </p:bg>
    <p:spTree>
      <p:nvGrpSpPr>
        <p:cNvPr id="973" name="Shape 973"/>
        <p:cNvGrpSpPr/>
        <p:nvPr/>
      </p:nvGrpSpPr>
      <p:grpSpPr>
        <a:xfrm>
          <a:off x="0" y="0"/>
          <a:ext cx="0" cy="0"/>
          <a:chOff x="0" y="0"/>
          <a:chExt cx="0" cy="0"/>
        </a:xfrm>
      </p:grpSpPr>
      <p:pic>
        <p:nvPicPr>
          <p:cNvPr id="974" name="Google Shape;974;p115"/>
          <p:cNvPicPr preferRelativeResize="0"/>
          <p:nvPr/>
        </p:nvPicPr>
        <p:blipFill rotWithShape="1">
          <a:blip r:embed="rId3">
            <a:alphaModFix/>
          </a:blip>
          <a:srcRect b="0" l="0" r="0" t="0"/>
          <a:stretch/>
        </p:blipFill>
        <p:spPr>
          <a:xfrm>
            <a:off x="485775" y="529"/>
            <a:ext cx="11220450" cy="6856942"/>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8F7"/>
        </a:solidFill>
      </p:bgPr>
    </p:bg>
    <p:spTree>
      <p:nvGrpSpPr>
        <p:cNvPr id="979" name="Shape 979"/>
        <p:cNvGrpSpPr/>
        <p:nvPr/>
      </p:nvGrpSpPr>
      <p:grpSpPr>
        <a:xfrm>
          <a:off x="0" y="0"/>
          <a:ext cx="0" cy="0"/>
          <a:chOff x="0" y="0"/>
          <a:chExt cx="0" cy="0"/>
        </a:xfrm>
      </p:grpSpPr>
      <p:sp>
        <p:nvSpPr>
          <p:cNvPr id="980" name="Google Shape;980;p116"/>
          <p:cNvSpPr/>
          <p:nvPr/>
        </p:nvSpPr>
        <p:spPr>
          <a:xfrm>
            <a:off x="533400" y="333375"/>
            <a:ext cx="11125200" cy="5143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82524"/>
              </a:buClr>
              <a:buSzPts val="3000"/>
              <a:buFont typeface="Helvetica Neue"/>
              <a:buNone/>
            </a:pPr>
            <a:r>
              <a:rPr b="1" lang="en-US" sz="3000">
                <a:solidFill>
                  <a:srgbClr val="182524"/>
                </a:solidFill>
                <a:latin typeface="Helvetica Neue"/>
                <a:ea typeface="Helvetica Neue"/>
                <a:cs typeface="Helvetica Neue"/>
                <a:sym typeface="Helvetica Neue"/>
              </a:rPr>
              <a:t>Cosine similarity in 384-dimensional space</a:t>
            </a:r>
            <a:endParaRPr/>
          </a:p>
        </p:txBody>
      </p:sp>
      <p:sp>
        <p:nvSpPr>
          <p:cNvPr id="981" name="Google Shape;981;p116"/>
          <p:cNvSpPr/>
          <p:nvPr/>
        </p:nvSpPr>
        <p:spPr>
          <a:xfrm>
            <a:off x="533400" y="838200"/>
            <a:ext cx="111252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36463"/>
              </a:buClr>
              <a:buSzPts val="1500"/>
              <a:buFont typeface="Helvetica Neue"/>
              <a:buNone/>
            </a:pPr>
            <a:r>
              <a:rPr b="0" lang="en-US" sz="1500">
                <a:solidFill>
                  <a:srgbClr val="536463"/>
                </a:solidFill>
                <a:latin typeface="Helvetica Neue"/>
                <a:ea typeface="Helvetica Neue"/>
                <a:cs typeface="Helvetica Neue"/>
                <a:sym typeface="Helvetica Neue"/>
              </a:rPr>
              <a:t>The embedding model maps a query and every chunk to 384 floating-point coordinates</a:t>
            </a:r>
            <a:endParaRPr/>
          </a:p>
        </p:txBody>
      </p:sp>
      <p:sp>
        <p:nvSpPr>
          <p:cNvPr id="982" name="Google Shape;982;p116"/>
          <p:cNvSpPr/>
          <p:nvPr/>
        </p:nvSpPr>
        <p:spPr>
          <a:xfrm>
            <a:off x="533400" y="1381125"/>
            <a:ext cx="27622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76D98"/>
              </a:buClr>
              <a:buSzPts val="1800"/>
              <a:buFont typeface="Helvetica Neue"/>
              <a:buNone/>
            </a:pPr>
            <a:r>
              <a:rPr b="1" lang="en-US" sz="1800">
                <a:solidFill>
                  <a:srgbClr val="176D98"/>
                </a:solidFill>
                <a:latin typeface="Helvetica Neue"/>
                <a:ea typeface="Helvetica Neue"/>
                <a:cs typeface="Helvetica Neue"/>
                <a:sym typeface="Helvetica Neue"/>
              </a:rPr>
              <a:t>1  Query embedding</a:t>
            </a:r>
            <a:endParaRPr/>
          </a:p>
        </p:txBody>
      </p:sp>
      <p:sp>
        <p:nvSpPr>
          <p:cNvPr id="983" name="Google Shape;983;p116"/>
          <p:cNvSpPr/>
          <p:nvPr/>
        </p:nvSpPr>
        <p:spPr>
          <a:xfrm>
            <a:off x="533400" y="1809750"/>
            <a:ext cx="285750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3130"/>
              </a:buClr>
              <a:buSzPts val="1650"/>
              <a:buFont typeface="Helvetica Neue"/>
              <a:buNone/>
            </a:pPr>
            <a:r>
              <a:rPr b="1" lang="en-US" sz="1650">
                <a:solidFill>
                  <a:srgbClr val="243130"/>
                </a:solidFill>
                <a:latin typeface="Helvetica Neue"/>
                <a:ea typeface="Helvetica Neue"/>
                <a:cs typeface="Helvetica Neue"/>
                <a:sym typeface="Helvetica Neue"/>
              </a:rPr>
              <a:t>“Which policy covers thrombocytopenia?”</a:t>
            </a:r>
            <a:endParaRPr/>
          </a:p>
        </p:txBody>
      </p:sp>
      <p:sp>
        <p:nvSpPr>
          <p:cNvPr id="984" name="Google Shape;984;p116"/>
          <p:cNvSpPr/>
          <p:nvPr/>
        </p:nvSpPr>
        <p:spPr>
          <a:xfrm>
            <a:off x="533400" y="2600325"/>
            <a:ext cx="2952750" cy="590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5B4CB2"/>
              </a:buClr>
              <a:buSzPts val="1500"/>
              <a:buFont typeface="Helvetica Neue"/>
              <a:buNone/>
            </a:pPr>
            <a:r>
              <a:rPr b="1" lang="en-US" sz="1500">
                <a:solidFill>
                  <a:srgbClr val="5B4CB2"/>
                </a:solidFill>
                <a:latin typeface="Helvetica Neue"/>
                <a:ea typeface="Helvetica Neue"/>
                <a:cs typeface="Helvetica Neue"/>
                <a:sym typeface="Helvetica Neue"/>
              </a:rPr>
              <a:t>Vector length = 384</a:t>
            </a:r>
            <a:endParaRPr/>
          </a:p>
          <a:p>
            <a:pPr indent="0" lvl="0" marL="0" marR="0" rtl="0" algn="l">
              <a:spcBef>
                <a:spcPts val="0"/>
              </a:spcBef>
              <a:spcAft>
                <a:spcPts val="0"/>
              </a:spcAft>
              <a:buClr>
                <a:srgbClr val="5B4CB2"/>
              </a:buClr>
              <a:buSzPts val="1500"/>
              <a:buFont typeface="Helvetica Neue"/>
              <a:buNone/>
            </a:pPr>
            <a:r>
              <a:rPr b="1" lang="en-US" sz="1500">
                <a:solidFill>
                  <a:srgbClr val="5B4CB2"/>
                </a:solidFill>
                <a:latin typeface="Helvetica Neue"/>
                <a:ea typeface="Helvetica Neue"/>
                <a:cs typeface="Helvetica Neue"/>
                <a:sym typeface="Helvetica Neue"/>
              </a:rPr>
              <a:t>One coordinate per dimension</a:t>
            </a:r>
            <a:endParaRPr/>
          </a:p>
        </p:txBody>
      </p:sp>
      <p:sp>
        <p:nvSpPr>
          <p:cNvPr id="985" name="Google Shape;985;p116"/>
          <p:cNvSpPr/>
          <p:nvPr/>
        </p:nvSpPr>
        <p:spPr>
          <a:xfrm>
            <a:off x="533400" y="3429000"/>
            <a:ext cx="2857500" cy="609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275"/>
              <a:buFont typeface="Helvetica Neue"/>
              <a:buNone/>
            </a:pPr>
            <a:r>
              <a:rPr b="0" lang="en-US" sz="1275">
                <a:solidFill>
                  <a:srgbClr val="62716F"/>
                </a:solidFill>
                <a:latin typeface="Helvetica Neue"/>
                <a:ea typeface="Helvetica Neue"/>
                <a:cs typeface="Helvetica Neue"/>
                <a:sym typeface="Helvetica Neue"/>
              </a:rPr>
              <a:t>The image shows three values.</a:t>
            </a:r>
            <a:endParaRPr/>
          </a:p>
          <a:p>
            <a:pPr indent="0" lvl="0" marL="0" marR="0" rtl="0" algn="l">
              <a:spcBef>
                <a:spcPts val="0"/>
              </a:spcBef>
              <a:spcAft>
                <a:spcPts val="0"/>
              </a:spcAft>
              <a:buClr>
                <a:srgbClr val="62716F"/>
              </a:buClr>
              <a:buSzPts val="1275"/>
              <a:buFont typeface="Helvetica Neue"/>
              <a:buNone/>
            </a:pPr>
            <a:r>
              <a:rPr b="0" lang="en-US" sz="1275">
                <a:solidFill>
                  <a:srgbClr val="62716F"/>
                </a:solidFill>
                <a:latin typeface="Helvetica Neue"/>
                <a:ea typeface="Helvetica Neue"/>
                <a:cs typeface="Helvetica Neue"/>
                <a:sym typeface="Helvetica Neue"/>
              </a:rPr>
              <a:t>The ellipsis represents the remaining 381.</a:t>
            </a:r>
            <a:endParaRPr/>
          </a:p>
        </p:txBody>
      </p:sp>
      <p:sp>
        <p:nvSpPr>
          <p:cNvPr id="986" name="Google Shape;986;p116"/>
          <p:cNvSpPr/>
          <p:nvPr/>
        </p:nvSpPr>
        <p:spPr>
          <a:xfrm>
            <a:off x="3857625" y="1381125"/>
            <a:ext cx="371475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E765E"/>
              </a:buClr>
              <a:buSzPts val="1800"/>
              <a:buFont typeface="Helvetica Neue"/>
              <a:buNone/>
            </a:pPr>
            <a:r>
              <a:rPr b="1" lang="en-US" sz="1800">
                <a:solidFill>
                  <a:srgbClr val="1E765E"/>
                </a:solidFill>
                <a:latin typeface="Helvetica Neue"/>
                <a:ea typeface="Helvetica Neue"/>
                <a:cs typeface="Helvetica Neue"/>
                <a:sym typeface="Helvetica Neue"/>
              </a:rPr>
              <a:t>2  Embedding space</a:t>
            </a:r>
            <a:endParaRPr/>
          </a:p>
        </p:txBody>
      </p:sp>
      <p:pic>
        <p:nvPicPr>
          <p:cNvPr id="987" name="Google Shape;987;p116"/>
          <p:cNvPicPr preferRelativeResize="0"/>
          <p:nvPr/>
        </p:nvPicPr>
        <p:blipFill rotWithShape="1">
          <a:blip r:embed="rId3">
            <a:alphaModFix/>
          </a:blip>
          <a:srcRect b="0" l="0" r="0" t="0"/>
          <a:stretch/>
        </p:blipFill>
        <p:spPr>
          <a:xfrm>
            <a:off x="3667125" y="1714500"/>
            <a:ext cx="4095750" cy="4095750"/>
          </a:xfrm>
          <a:prstGeom prst="rect">
            <a:avLst/>
          </a:prstGeom>
          <a:noFill/>
          <a:ln>
            <a:noFill/>
          </a:ln>
        </p:spPr>
      </p:pic>
      <p:cxnSp>
        <p:nvCxnSpPr>
          <p:cNvPr id="988" name="Google Shape;988;p116"/>
          <p:cNvCxnSpPr/>
          <p:nvPr/>
        </p:nvCxnSpPr>
        <p:spPr>
          <a:xfrm>
            <a:off x="5048250" y="3476625"/>
            <a:ext cx="666750" cy="619125"/>
          </a:xfrm>
          <a:prstGeom prst="straightConnector1">
            <a:avLst/>
          </a:prstGeom>
          <a:noFill/>
          <a:ln cap="flat" cmpd="sng" w="38100">
            <a:solidFill>
              <a:srgbClr val="D33A89"/>
            </a:solidFill>
            <a:prstDash val="solid"/>
            <a:round/>
            <a:headEnd len="sm" w="sm" type="none"/>
            <a:tailEnd len="sm" w="sm" type="none"/>
          </a:ln>
        </p:spPr>
      </p:cxnSp>
      <p:cxnSp>
        <p:nvCxnSpPr>
          <p:cNvPr id="989" name="Google Shape;989;p116"/>
          <p:cNvCxnSpPr/>
          <p:nvPr/>
        </p:nvCxnSpPr>
        <p:spPr>
          <a:xfrm>
            <a:off x="4810125" y="3333750"/>
            <a:ext cx="904875" cy="762000"/>
          </a:xfrm>
          <a:prstGeom prst="straightConnector1">
            <a:avLst/>
          </a:prstGeom>
          <a:noFill/>
          <a:ln cap="flat" cmpd="sng" w="28575">
            <a:solidFill>
              <a:srgbClr val="1D9A6C"/>
            </a:solidFill>
            <a:prstDash val="solid"/>
            <a:round/>
            <a:headEnd len="sm" w="sm" type="none"/>
            <a:tailEnd len="sm" w="sm" type="none"/>
          </a:ln>
        </p:spPr>
      </p:cxnSp>
      <p:cxnSp>
        <p:nvCxnSpPr>
          <p:cNvPr id="990" name="Google Shape;990;p116"/>
          <p:cNvCxnSpPr/>
          <p:nvPr/>
        </p:nvCxnSpPr>
        <p:spPr>
          <a:xfrm>
            <a:off x="5715000" y="2476500"/>
            <a:ext cx="0" cy="1619250"/>
          </a:xfrm>
          <a:prstGeom prst="straightConnector1">
            <a:avLst/>
          </a:prstGeom>
          <a:noFill/>
          <a:ln cap="flat" cmpd="sng" w="28575">
            <a:solidFill>
              <a:srgbClr val="257EB4"/>
            </a:solidFill>
            <a:prstDash val="solid"/>
            <a:round/>
            <a:headEnd len="sm" w="sm" type="none"/>
            <a:tailEnd len="sm" w="sm" type="none"/>
          </a:ln>
        </p:spPr>
      </p:cxnSp>
      <p:cxnSp>
        <p:nvCxnSpPr>
          <p:cNvPr id="991" name="Google Shape;991;p116"/>
          <p:cNvCxnSpPr/>
          <p:nvPr/>
        </p:nvCxnSpPr>
        <p:spPr>
          <a:xfrm>
            <a:off x="5715000" y="4095750"/>
            <a:ext cx="1143000" cy="857250"/>
          </a:xfrm>
          <a:prstGeom prst="straightConnector1">
            <a:avLst/>
          </a:prstGeom>
          <a:noFill/>
          <a:ln cap="flat" cmpd="sng" w="28575">
            <a:solidFill>
              <a:srgbClr val="C9780E"/>
            </a:solidFill>
            <a:prstDash val="solid"/>
            <a:round/>
            <a:headEnd len="sm" w="sm" type="none"/>
            <a:tailEnd len="sm" w="sm" type="none"/>
          </a:ln>
        </p:spPr>
      </p:cxnSp>
      <p:sp>
        <p:nvSpPr>
          <p:cNvPr id="992" name="Google Shape;992;p116"/>
          <p:cNvSpPr/>
          <p:nvPr/>
        </p:nvSpPr>
        <p:spPr>
          <a:xfrm>
            <a:off x="5657850" y="4038600"/>
            <a:ext cx="114300" cy="114300"/>
          </a:xfrm>
          <a:prstGeom prst="ellipse">
            <a:avLst/>
          </a:prstGeom>
          <a:solidFill>
            <a:srgbClr val="263837"/>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16"/>
          <p:cNvSpPr/>
          <p:nvPr/>
        </p:nvSpPr>
        <p:spPr>
          <a:xfrm>
            <a:off x="4972050" y="3400425"/>
            <a:ext cx="152400" cy="152400"/>
          </a:xfrm>
          <a:prstGeom prst="ellipse">
            <a:avLst/>
          </a:prstGeom>
          <a:solidFill>
            <a:srgbClr val="D33A89"/>
          </a:solidFill>
          <a:ln cap="flat" cmpd="sng" w="19050">
            <a:solidFill>
              <a:srgbClr val="FFFFFF"/>
            </a:solidFill>
            <a:prstDash val="solid"/>
            <a:round/>
            <a:headEnd len="sm" w="sm" type="none"/>
            <a:tailEnd len="sm" w="sm" type="none"/>
          </a:ln>
          <a:effectLst>
            <a:outerShdw blurRad="180975" dir="4443276" dist="69343">
              <a:srgbClr val="000000">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116"/>
          <p:cNvSpPr/>
          <p:nvPr/>
        </p:nvSpPr>
        <p:spPr>
          <a:xfrm>
            <a:off x="5162550" y="3238500"/>
            <a:ext cx="90487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D33A89"/>
              </a:buClr>
              <a:buSzPts val="1200"/>
              <a:buFont typeface="Helvetica Neue"/>
              <a:buNone/>
            </a:pPr>
            <a:r>
              <a:rPr b="1" lang="en-US" sz="1200">
                <a:solidFill>
                  <a:srgbClr val="D33A89"/>
                </a:solidFill>
                <a:latin typeface="Helvetica Neue"/>
                <a:ea typeface="Helvetica Neue"/>
                <a:cs typeface="Helvetica Neue"/>
                <a:sym typeface="Helvetica Neue"/>
              </a:rPr>
              <a:t>query q</a:t>
            </a:r>
            <a:endParaRPr/>
          </a:p>
        </p:txBody>
      </p:sp>
      <p:sp>
        <p:nvSpPr>
          <p:cNvPr id="995" name="Google Shape;995;p116"/>
          <p:cNvSpPr/>
          <p:nvPr/>
        </p:nvSpPr>
        <p:spPr>
          <a:xfrm>
            <a:off x="4733925" y="3257550"/>
            <a:ext cx="152400" cy="152400"/>
          </a:xfrm>
          <a:prstGeom prst="ellipse">
            <a:avLst/>
          </a:prstGeom>
          <a:solidFill>
            <a:srgbClr val="1D9A6C"/>
          </a:solidFill>
          <a:ln cap="flat" cmpd="sng" w="19050">
            <a:solidFill>
              <a:srgbClr val="FFFFFF"/>
            </a:solidFill>
            <a:prstDash val="solid"/>
            <a:round/>
            <a:headEnd len="sm" w="sm" type="none"/>
            <a:tailEnd len="sm" w="sm" type="none"/>
          </a:ln>
          <a:effectLst>
            <a:outerShdw blurRad="180975" dir="4443276" dist="69343">
              <a:srgbClr val="000000">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16"/>
          <p:cNvSpPr/>
          <p:nvPr/>
        </p:nvSpPr>
        <p:spPr>
          <a:xfrm>
            <a:off x="3933825" y="3352800"/>
            <a:ext cx="90487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D9A6C"/>
              </a:buClr>
              <a:buSzPts val="1200"/>
              <a:buFont typeface="Helvetica Neue"/>
              <a:buNone/>
            </a:pPr>
            <a:r>
              <a:rPr b="1" lang="en-US" sz="1200">
                <a:solidFill>
                  <a:srgbClr val="1D9A6C"/>
                </a:solidFill>
                <a:latin typeface="Helvetica Neue"/>
                <a:ea typeface="Helvetica Neue"/>
                <a:cs typeface="Helvetica Neue"/>
                <a:sym typeface="Helvetica Neue"/>
              </a:rPr>
              <a:t>chunk A</a:t>
            </a:r>
            <a:endParaRPr/>
          </a:p>
        </p:txBody>
      </p:sp>
      <p:sp>
        <p:nvSpPr>
          <p:cNvPr id="997" name="Google Shape;997;p116"/>
          <p:cNvSpPr/>
          <p:nvPr/>
        </p:nvSpPr>
        <p:spPr>
          <a:xfrm>
            <a:off x="5638800" y="2400300"/>
            <a:ext cx="152400" cy="152400"/>
          </a:xfrm>
          <a:prstGeom prst="ellipse">
            <a:avLst/>
          </a:prstGeom>
          <a:solidFill>
            <a:srgbClr val="257EB4"/>
          </a:solidFill>
          <a:ln cap="flat" cmpd="sng" w="19050">
            <a:solidFill>
              <a:srgbClr val="FFFFFF"/>
            </a:solidFill>
            <a:prstDash val="solid"/>
            <a:round/>
            <a:headEnd len="sm" w="sm" type="none"/>
            <a:tailEnd len="sm" w="sm" type="none"/>
          </a:ln>
          <a:effectLst>
            <a:outerShdw blurRad="180975" dir="4443276" dist="69343">
              <a:srgbClr val="000000">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116"/>
          <p:cNvSpPr/>
          <p:nvPr/>
        </p:nvSpPr>
        <p:spPr>
          <a:xfrm>
            <a:off x="5829300" y="2362200"/>
            <a:ext cx="90487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57EB4"/>
              </a:buClr>
              <a:buSzPts val="1200"/>
              <a:buFont typeface="Helvetica Neue"/>
              <a:buNone/>
            </a:pPr>
            <a:r>
              <a:rPr b="1" lang="en-US" sz="1200">
                <a:solidFill>
                  <a:srgbClr val="257EB4"/>
                </a:solidFill>
                <a:latin typeface="Helvetica Neue"/>
                <a:ea typeface="Helvetica Neue"/>
                <a:cs typeface="Helvetica Neue"/>
                <a:sym typeface="Helvetica Neue"/>
              </a:rPr>
              <a:t>chunk B</a:t>
            </a:r>
            <a:endParaRPr/>
          </a:p>
        </p:txBody>
      </p:sp>
      <p:sp>
        <p:nvSpPr>
          <p:cNvPr id="999" name="Google Shape;999;p116"/>
          <p:cNvSpPr/>
          <p:nvPr/>
        </p:nvSpPr>
        <p:spPr>
          <a:xfrm>
            <a:off x="6781800" y="4876800"/>
            <a:ext cx="152400" cy="152400"/>
          </a:xfrm>
          <a:prstGeom prst="ellipse">
            <a:avLst/>
          </a:prstGeom>
          <a:solidFill>
            <a:srgbClr val="C9780E"/>
          </a:solidFill>
          <a:ln cap="flat" cmpd="sng" w="19050">
            <a:solidFill>
              <a:srgbClr val="FFFFFF"/>
            </a:solidFill>
            <a:prstDash val="solid"/>
            <a:round/>
            <a:headEnd len="sm" w="sm" type="none"/>
            <a:tailEnd len="sm" w="sm" type="none"/>
          </a:ln>
          <a:effectLst>
            <a:outerShdw blurRad="180975" dir="4443276" dist="69343">
              <a:srgbClr val="000000">
                <a:alpha val="1411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116"/>
          <p:cNvSpPr/>
          <p:nvPr/>
        </p:nvSpPr>
        <p:spPr>
          <a:xfrm>
            <a:off x="6972300" y="4876800"/>
            <a:ext cx="904875"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9780E"/>
              </a:buClr>
              <a:buSzPts val="1200"/>
              <a:buFont typeface="Helvetica Neue"/>
              <a:buNone/>
            </a:pPr>
            <a:r>
              <a:rPr b="1" lang="en-US" sz="1200">
                <a:solidFill>
                  <a:srgbClr val="C9780E"/>
                </a:solidFill>
                <a:latin typeface="Helvetica Neue"/>
                <a:ea typeface="Helvetica Neue"/>
                <a:cs typeface="Helvetica Neue"/>
                <a:sym typeface="Helvetica Neue"/>
              </a:rPr>
              <a:t>chunk C</a:t>
            </a:r>
            <a:endParaRPr/>
          </a:p>
        </p:txBody>
      </p:sp>
      <p:sp>
        <p:nvSpPr>
          <p:cNvPr id="1001" name="Google Shape;1001;p116"/>
          <p:cNvSpPr/>
          <p:nvPr/>
        </p:nvSpPr>
        <p:spPr>
          <a:xfrm>
            <a:off x="3857625" y="5781675"/>
            <a:ext cx="3714750" cy="2095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62828"/>
              </a:buClr>
              <a:buSzPts val="1125"/>
              <a:buFont typeface="Helvetica Neue"/>
              <a:buNone/>
            </a:pPr>
            <a:r>
              <a:rPr b="1" lang="en-US" sz="1125">
                <a:solidFill>
                  <a:srgbClr val="C62828"/>
                </a:solidFill>
                <a:latin typeface="Helvetica Neue"/>
                <a:ea typeface="Helvetica Neue"/>
                <a:cs typeface="Helvetica Neue"/>
                <a:sym typeface="Helvetica Neue"/>
              </a:rPr>
              <a:t>Thin red shell: most probability mass</a:t>
            </a:r>
            <a:endParaRPr/>
          </a:p>
        </p:txBody>
      </p:sp>
      <p:sp>
        <p:nvSpPr>
          <p:cNvPr id="1002" name="Google Shape;1002;p116"/>
          <p:cNvSpPr/>
          <p:nvPr/>
        </p:nvSpPr>
        <p:spPr>
          <a:xfrm>
            <a:off x="3857625" y="6010275"/>
            <a:ext cx="3714750" cy="1905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050"/>
              <a:buFont typeface="Helvetica Neue"/>
              <a:buNone/>
            </a:pPr>
            <a:r>
              <a:rPr b="0" lang="en-US" sz="1050">
                <a:solidFill>
                  <a:srgbClr val="62716F"/>
                </a:solidFill>
                <a:latin typeface="Helvetica Neue"/>
                <a:ea typeface="Helvetica Neue"/>
                <a:cs typeface="Helvetica Neue"/>
                <a:sym typeface="Helvetica Neue"/>
              </a:rPr>
              <a:t>Pale center: very little probability mass</a:t>
            </a:r>
            <a:endParaRPr/>
          </a:p>
        </p:txBody>
      </p:sp>
      <p:sp>
        <p:nvSpPr>
          <p:cNvPr id="1003" name="Google Shape;1003;p116"/>
          <p:cNvSpPr/>
          <p:nvPr/>
        </p:nvSpPr>
        <p:spPr>
          <a:xfrm>
            <a:off x="8143875" y="1381125"/>
            <a:ext cx="3476625"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66008"/>
              </a:buClr>
              <a:buSzPts val="1800"/>
              <a:buFont typeface="Helvetica Neue"/>
              <a:buNone/>
            </a:pPr>
            <a:r>
              <a:rPr b="1" lang="en-US" sz="1800">
                <a:solidFill>
                  <a:srgbClr val="A66008"/>
                </a:solidFill>
                <a:latin typeface="Helvetica Neue"/>
                <a:ea typeface="Helvetica Neue"/>
                <a:cs typeface="Helvetica Neue"/>
                <a:sym typeface="Helvetica Neue"/>
              </a:rPr>
              <a:t>3  Compare direction</a:t>
            </a:r>
            <a:endParaRPr/>
          </a:p>
        </p:txBody>
      </p:sp>
      <p:sp>
        <p:nvSpPr>
          <p:cNvPr id="1004" name="Google Shape;1004;p116"/>
          <p:cNvSpPr/>
          <p:nvPr/>
        </p:nvSpPr>
        <p:spPr>
          <a:xfrm>
            <a:off x="8143875" y="1905000"/>
            <a:ext cx="3476625" cy="4000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3130"/>
              </a:buClr>
              <a:buSzPts val="1650"/>
              <a:buFont typeface="Helvetica Neue"/>
              <a:buNone/>
            </a:pPr>
            <a:r>
              <a:rPr b="1" lang="en-US" sz="1650">
                <a:solidFill>
                  <a:srgbClr val="243130"/>
                </a:solidFill>
                <a:latin typeface="Helvetica Neue"/>
                <a:ea typeface="Helvetica Neue"/>
                <a:cs typeface="Helvetica Neue"/>
                <a:sym typeface="Helvetica Neue"/>
              </a:rPr>
              <a:t>cos(q, c) = (q · c) / (‖q‖ × ‖c‖)</a:t>
            </a:r>
            <a:endParaRPr/>
          </a:p>
        </p:txBody>
      </p:sp>
      <p:sp>
        <p:nvSpPr>
          <p:cNvPr id="1005" name="Google Shape;1005;p116"/>
          <p:cNvSpPr/>
          <p:nvPr/>
        </p:nvSpPr>
        <p:spPr>
          <a:xfrm>
            <a:off x="8143875" y="2390775"/>
            <a:ext cx="323850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65856"/>
              </a:buClr>
              <a:buSzPts val="1200"/>
              <a:buFont typeface="Helvetica Neue"/>
              <a:buNone/>
            </a:pPr>
            <a:r>
              <a:rPr b="0" lang="en-US" sz="1200">
                <a:solidFill>
                  <a:srgbClr val="465856"/>
                </a:solidFill>
                <a:latin typeface="Helvetica Neue"/>
                <a:ea typeface="Helvetica Neue"/>
                <a:cs typeface="Helvetica Neue"/>
                <a:sym typeface="Helvetica Neue"/>
              </a:rPr>
              <a:t>dot product ÷ vector lengths</a:t>
            </a:r>
            <a:endParaRPr/>
          </a:p>
        </p:txBody>
      </p:sp>
      <p:sp>
        <p:nvSpPr>
          <p:cNvPr id="1006" name="Google Shape;1006;p116"/>
          <p:cNvSpPr/>
          <p:nvPr/>
        </p:nvSpPr>
        <p:spPr>
          <a:xfrm>
            <a:off x="8143875" y="2876550"/>
            <a:ext cx="3238500"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125"/>
              <a:buFont typeface="Helvetica Neue"/>
              <a:buNone/>
            </a:pPr>
            <a:r>
              <a:rPr b="0" lang="en-US" sz="1125">
                <a:solidFill>
                  <a:srgbClr val="62716F"/>
                </a:solidFill>
                <a:latin typeface="Helvetica Neue"/>
                <a:ea typeface="Helvetica Neue"/>
                <a:cs typeface="Helvetica Neue"/>
                <a:sym typeface="Helvetica Neue"/>
              </a:rPr>
              <a:t>Illustrative normalized vectors</a:t>
            </a:r>
            <a:endParaRPr/>
          </a:p>
        </p:txBody>
      </p:sp>
      <p:sp>
        <p:nvSpPr>
          <p:cNvPr id="1007" name="Google Shape;1007;p116"/>
          <p:cNvSpPr/>
          <p:nvPr/>
        </p:nvSpPr>
        <p:spPr>
          <a:xfrm>
            <a:off x="8143875" y="3324225"/>
            <a:ext cx="142875" cy="142875"/>
          </a:xfrm>
          <a:prstGeom prst="ellipse">
            <a:avLst/>
          </a:prstGeom>
          <a:solidFill>
            <a:srgbClr val="1D9A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16"/>
          <p:cNvSpPr/>
          <p:nvPr/>
        </p:nvSpPr>
        <p:spPr>
          <a:xfrm>
            <a:off x="8382000" y="3286125"/>
            <a:ext cx="23812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3130"/>
              </a:buClr>
              <a:buSzPts val="1275"/>
              <a:buFont typeface="Helvetica Neue"/>
              <a:buNone/>
            </a:pPr>
            <a:r>
              <a:rPr b="1" lang="en-US" sz="1275">
                <a:solidFill>
                  <a:srgbClr val="243130"/>
                </a:solidFill>
                <a:latin typeface="Helvetica Neue"/>
                <a:ea typeface="Helvetica Neue"/>
                <a:cs typeface="Helvetica Neue"/>
                <a:sym typeface="Helvetica Neue"/>
              </a:rPr>
              <a:t>Chunk A  Universal criteria</a:t>
            </a:r>
            <a:endParaRPr/>
          </a:p>
        </p:txBody>
      </p:sp>
      <p:sp>
        <p:nvSpPr>
          <p:cNvPr id="1009" name="Google Shape;1009;p116"/>
          <p:cNvSpPr/>
          <p:nvPr/>
        </p:nvSpPr>
        <p:spPr>
          <a:xfrm>
            <a:off x="10858500" y="3257550"/>
            <a:ext cx="666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D9A6C"/>
              </a:buClr>
              <a:buSzPts val="1800"/>
              <a:buFont typeface="Helvetica Neue"/>
              <a:buNone/>
            </a:pPr>
            <a:r>
              <a:rPr b="1" lang="en-US" sz="1800">
                <a:solidFill>
                  <a:srgbClr val="1D9A6C"/>
                </a:solidFill>
                <a:latin typeface="Helvetica Neue"/>
                <a:ea typeface="Helvetica Neue"/>
                <a:cs typeface="Helvetica Neue"/>
                <a:sym typeface="Helvetica Neue"/>
              </a:rPr>
              <a:t>0.92</a:t>
            </a:r>
            <a:endParaRPr/>
          </a:p>
        </p:txBody>
      </p:sp>
      <p:sp>
        <p:nvSpPr>
          <p:cNvPr id="1010" name="Google Shape;1010;p116"/>
          <p:cNvSpPr/>
          <p:nvPr/>
        </p:nvSpPr>
        <p:spPr>
          <a:xfrm>
            <a:off x="8382000" y="3552825"/>
            <a:ext cx="2333625"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125"/>
              <a:buFont typeface="Helvetica Neue"/>
              <a:buNone/>
            </a:pPr>
            <a:r>
              <a:rPr b="0" lang="en-US" sz="1125">
                <a:solidFill>
                  <a:srgbClr val="62716F"/>
                </a:solidFill>
                <a:latin typeface="Helvetica Neue"/>
                <a:ea typeface="Helvetica Neue"/>
                <a:cs typeface="Helvetica Neue"/>
                <a:sym typeface="Helvetica Neue"/>
              </a:rPr>
              <a:t>closest direction</a:t>
            </a:r>
            <a:endParaRPr/>
          </a:p>
        </p:txBody>
      </p:sp>
      <p:sp>
        <p:nvSpPr>
          <p:cNvPr id="1011" name="Google Shape;1011;p116"/>
          <p:cNvSpPr/>
          <p:nvPr/>
        </p:nvSpPr>
        <p:spPr>
          <a:xfrm>
            <a:off x="8143875" y="4086225"/>
            <a:ext cx="142875" cy="142875"/>
          </a:xfrm>
          <a:prstGeom prst="ellipse">
            <a:avLst/>
          </a:prstGeom>
          <a:solidFill>
            <a:srgbClr val="257EB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116"/>
          <p:cNvSpPr/>
          <p:nvPr/>
        </p:nvSpPr>
        <p:spPr>
          <a:xfrm>
            <a:off x="8382000" y="4048125"/>
            <a:ext cx="23812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3130"/>
              </a:buClr>
              <a:buSzPts val="1275"/>
              <a:buFont typeface="Helvetica Neue"/>
              <a:buNone/>
            </a:pPr>
            <a:r>
              <a:rPr b="1" lang="en-US" sz="1275">
                <a:solidFill>
                  <a:srgbClr val="243130"/>
                </a:solidFill>
                <a:latin typeface="Helvetica Neue"/>
                <a:ea typeface="Helvetica Neue"/>
                <a:cs typeface="Helvetica Neue"/>
                <a:sym typeface="Helvetica Neue"/>
              </a:rPr>
              <a:t>Chunk B  Billing codes</a:t>
            </a:r>
            <a:endParaRPr/>
          </a:p>
        </p:txBody>
      </p:sp>
      <p:sp>
        <p:nvSpPr>
          <p:cNvPr id="1013" name="Google Shape;1013;p116"/>
          <p:cNvSpPr/>
          <p:nvPr/>
        </p:nvSpPr>
        <p:spPr>
          <a:xfrm>
            <a:off x="10858500" y="4019550"/>
            <a:ext cx="666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57EB4"/>
              </a:buClr>
              <a:buSzPts val="1800"/>
              <a:buFont typeface="Helvetica Neue"/>
              <a:buNone/>
            </a:pPr>
            <a:r>
              <a:rPr b="1" lang="en-US" sz="1800">
                <a:solidFill>
                  <a:srgbClr val="257EB4"/>
                </a:solidFill>
                <a:latin typeface="Helvetica Neue"/>
                <a:ea typeface="Helvetica Neue"/>
                <a:cs typeface="Helvetica Neue"/>
                <a:sym typeface="Helvetica Neue"/>
              </a:rPr>
              <a:t>0.41</a:t>
            </a:r>
            <a:endParaRPr/>
          </a:p>
        </p:txBody>
      </p:sp>
      <p:sp>
        <p:nvSpPr>
          <p:cNvPr id="1014" name="Google Shape;1014;p116"/>
          <p:cNvSpPr/>
          <p:nvPr/>
        </p:nvSpPr>
        <p:spPr>
          <a:xfrm>
            <a:off x="8382000" y="4314825"/>
            <a:ext cx="2333625"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125"/>
              <a:buFont typeface="Helvetica Neue"/>
              <a:buNone/>
            </a:pPr>
            <a:r>
              <a:rPr b="0" lang="en-US" sz="1125">
                <a:solidFill>
                  <a:srgbClr val="62716F"/>
                </a:solidFill>
                <a:latin typeface="Helvetica Neue"/>
                <a:ea typeface="Helvetica Neue"/>
                <a:cs typeface="Helvetica Neue"/>
                <a:sym typeface="Helvetica Neue"/>
              </a:rPr>
              <a:t>partial relation</a:t>
            </a:r>
            <a:endParaRPr/>
          </a:p>
        </p:txBody>
      </p:sp>
      <p:sp>
        <p:nvSpPr>
          <p:cNvPr id="1015" name="Google Shape;1015;p116"/>
          <p:cNvSpPr/>
          <p:nvPr/>
        </p:nvSpPr>
        <p:spPr>
          <a:xfrm>
            <a:off x="8143875" y="4848225"/>
            <a:ext cx="142875" cy="142875"/>
          </a:xfrm>
          <a:prstGeom prst="ellipse">
            <a:avLst/>
          </a:prstGeom>
          <a:solidFill>
            <a:srgbClr val="C978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116"/>
          <p:cNvSpPr/>
          <p:nvPr/>
        </p:nvSpPr>
        <p:spPr>
          <a:xfrm>
            <a:off x="8382000" y="4810125"/>
            <a:ext cx="2381250" cy="23812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243130"/>
              </a:buClr>
              <a:buSzPts val="1275"/>
              <a:buFont typeface="Helvetica Neue"/>
              <a:buNone/>
            </a:pPr>
            <a:r>
              <a:rPr b="1" lang="en-US" sz="1275">
                <a:solidFill>
                  <a:srgbClr val="243130"/>
                </a:solidFill>
                <a:latin typeface="Helvetica Neue"/>
                <a:ea typeface="Helvetica Neue"/>
                <a:cs typeface="Helvetica Neue"/>
                <a:sym typeface="Helvetica Neue"/>
              </a:rPr>
              <a:t>Chunk C  Revision history</a:t>
            </a:r>
            <a:endParaRPr/>
          </a:p>
        </p:txBody>
      </p:sp>
      <p:sp>
        <p:nvSpPr>
          <p:cNvPr id="1017" name="Google Shape;1017;p116"/>
          <p:cNvSpPr/>
          <p:nvPr/>
        </p:nvSpPr>
        <p:spPr>
          <a:xfrm>
            <a:off x="10858500" y="4781550"/>
            <a:ext cx="666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9780E"/>
              </a:buClr>
              <a:buSzPts val="1800"/>
              <a:buFont typeface="Helvetica Neue"/>
              <a:buNone/>
            </a:pPr>
            <a:r>
              <a:rPr b="1" lang="en-US" sz="1800">
                <a:solidFill>
                  <a:srgbClr val="C9780E"/>
                </a:solidFill>
                <a:latin typeface="Helvetica Neue"/>
                <a:ea typeface="Helvetica Neue"/>
                <a:cs typeface="Helvetica Neue"/>
                <a:sym typeface="Helvetica Neue"/>
              </a:rPr>
              <a:t>0.08</a:t>
            </a:r>
            <a:endParaRPr/>
          </a:p>
        </p:txBody>
      </p:sp>
      <p:sp>
        <p:nvSpPr>
          <p:cNvPr id="1018" name="Google Shape;1018;p116"/>
          <p:cNvSpPr/>
          <p:nvPr/>
        </p:nvSpPr>
        <p:spPr>
          <a:xfrm>
            <a:off x="8382000" y="5076825"/>
            <a:ext cx="2333625" cy="21907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125"/>
              <a:buFont typeface="Helvetica Neue"/>
              <a:buNone/>
            </a:pPr>
            <a:r>
              <a:rPr b="0" lang="en-US" sz="1125">
                <a:solidFill>
                  <a:srgbClr val="62716F"/>
                </a:solidFill>
                <a:latin typeface="Helvetica Neue"/>
                <a:ea typeface="Helvetica Neue"/>
                <a:cs typeface="Helvetica Neue"/>
                <a:sym typeface="Helvetica Neue"/>
              </a:rPr>
              <a:t>weak relation</a:t>
            </a:r>
            <a:endParaRPr/>
          </a:p>
        </p:txBody>
      </p:sp>
      <p:cxnSp>
        <p:nvCxnSpPr>
          <p:cNvPr id="1019" name="Google Shape;1019;p116"/>
          <p:cNvCxnSpPr/>
          <p:nvPr/>
        </p:nvCxnSpPr>
        <p:spPr>
          <a:xfrm>
            <a:off x="8143875" y="5572125"/>
            <a:ext cx="3381375" cy="0"/>
          </a:xfrm>
          <a:prstGeom prst="straightConnector1">
            <a:avLst/>
          </a:prstGeom>
          <a:noFill/>
          <a:ln cap="flat" cmpd="sng" w="9525">
            <a:solidFill>
              <a:srgbClr val="D2DCDA"/>
            </a:solidFill>
            <a:prstDash val="solid"/>
            <a:round/>
            <a:headEnd len="sm" w="sm" type="none"/>
            <a:tailEnd len="sm" w="sm" type="none"/>
          </a:ln>
        </p:spPr>
      </p:cxnSp>
      <p:sp>
        <p:nvSpPr>
          <p:cNvPr id="1020" name="Google Shape;1020;p116"/>
          <p:cNvSpPr/>
          <p:nvPr/>
        </p:nvSpPr>
        <p:spPr>
          <a:xfrm>
            <a:off x="8143875" y="5715000"/>
            <a:ext cx="219075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82524"/>
              </a:buClr>
              <a:buSzPts val="1500"/>
              <a:buFont typeface="Helvetica Neue"/>
              <a:buNone/>
            </a:pPr>
            <a:r>
              <a:rPr b="1" lang="en-US" sz="1500">
                <a:solidFill>
                  <a:srgbClr val="182524"/>
                </a:solidFill>
                <a:latin typeface="Helvetica Neue"/>
                <a:ea typeface="Helvetica Neue"/>
                <a:cs typeface="Helvetica Neue"/>
                <a:sym typeface="Helvetica Neue"/>
              </a:rPr>
              <a:t>Highest cosine score</a:t>
            </a:r>
            <a:endParaRPr/>
          </a:p>
        </p:txBody>
      </p:sp>
      <p:sp>
        <p:nvSpPr>
          <p:cNvPr id="1021" name="Google Shape;1021;p116"/>
          <p:cNvSpPr/>
          <p:nvPr/>
        </p:nvSpPr>
        <p:spPr>
          <a:xfrm>
            <a:off x="8143875" y="6038850"/>
            <a:ext cx="3429000" cy="2857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65856"/>
              </a:buClr>
              <a:buSzPts val="1350"/>
              <a:buFont typeface="Helvetica Neue"/>
              <a:buNone/>
            </a:pPr>
            <a:r>
              <a:rPr b="0" lang="en-US" sz="1350">
                <a:solidFill>
                  <a:srgbClr val="465856"/>
                </a:solidFill>
                <a:latin typeface="Helvetica Neue"/>
                <a:ea typeface="Helvetica Neue"/>
                <a:cs typeface="Helvetica Neue"/>
                <a:sym typeface="Helvetica Neue"/>
              </a:rPr>
              <a:t>Chunk A becomes the top retrieval match</a:t>
            </a:r>
            <a:endParaRPr/>
          </a:p>
        </p:txBody>
      </p:sp>
      <p:sp>
        <p:nvSpPr>
          <p:cNvPr id="1022" name="Google Shape;1022;p116"/>
          <p:cNvSpPr/>
          <p:nvPr/>
        </p:nvSpPr>
        <p:spPr>
          <a:xfrm>
            <a:off x="533400" y="6477000"/>
            <a:ext cx="11125200" cy="22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2716F"/>
              </a:buClr>
              <a:buSzPts val="1050"/>
              <a:buFont typeface="Helvetica Neue"/>
              <a:buNone/>
            </a:pPr>
            <a:r>
              <a:rPr b="0" lang="en-US" sz="1050">
                <a:solidFill>
                  <a:srgbClr val="62716F"/>
                </a:solidFill>
                <a:latin typeface="Helvetica Neue"/>
                <a:ea typeface="Helvetica Neue"/>
                <a:cs typeface="Helvetica Neue"/>
                <a:sym typeface="Helvetica Neue"/>
              </a:rPr>
              <a:t>Cosine similarity ranges from -1 to 1. Higher values indicate more aligned vector directions.</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pic>
        <p:nvPicPr>
          <p:cNvPr id="1028" name="Google Shape;1028;p117" title="tokenizer_to_embedding.png"/>
          <p:cNvPicPr preferRelativeResize="0"/>
          <p:nvPr/>
        </p:nvPicPr>
        <p:blipFill>
          <a:blip r:embed="rId3">
            <a:alphaModFix/>
          </a:blip>
          <a:stretch>
            <a:fillRect/>
          </a:stretch>
        </p:blipFill>
        <p:spPr>
          <a:xfrm>
            <a:off x="152400" y="152400"/>
            <a:ext cx="11650132" cy="6553199"/>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3" name="Shape 1033"/>
        <p:cNvGrpSpPr/>
        <p:nvPr/>
      </p:nvGrpSpPr>
      <p:grpSpPr>
        <a:xfrm>
          <a:off x="0" y="0"/>
          <a:ext cx="0" cy="0"/>
          <a:chOff x="0" y="0"/>
          <a:chExt cx="0" cy="0"/>
        </a:xfrm>
      </p:grpSpPr>
      <p:sp>
        <p:nvSpPr>
          <p:cNvPr id="1034" name="Google Shape;1034;p118"/>
          <p:cNvSpPr txBox="1"/>
          <p:nvPr/>
        </p:nvSpPr>
        <p:spPr>
          <a:xfrm>
            <a:off x="508000" y="279400"/>
            <a:ext cx="8763000" cy="431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2400">
                <a:solidFill>
                  <a:srgbClr val="14171F"/>
                </a:solidFill>
              </a:rPr>
              <a:t>Match the tokenizer to the embedding checkpoint</a:t>
            </a:r>
            <a:endParaRPr b="1" sz="2400">
              <a:solidFill>
                <a:srgbClr val="14171F"/>
              </a:solidFill>
            </a:endParaRPr>
          </a:p>
        </p:txBody>
      </p:sp>
      <p:sp>
        <p:nvSpPr>
          <p:cNvPr id="1035" name="Google Shape;1035;p118"/>
          <p:cNvSpPr txBox="1"/>
          <p:nvPr/>
        </p:nvSpPr>
        <p:spPr>
          <a:xfrm>
            <a:off x="508000" y="762000"/>
            <a:ext cx="9906000" cy="25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1200">
                <a:solidFill>
                  <a:srgbClr val="575E6E"/>
                </a:solidFill>
              </a:rPr>
              <a:t>One model ID must govern subword segmentation, pooling, projection, and vector size.</a:t>
            </a:r>
            <a:endParaRPr sz="1200">
              <a:solidFill>
                <a:srgbClr val="575E6E"/>
              </a:solidFill>
            </a:endParaRPr>
          </a:p>
        </p:txBody>
      </p:sp>
      <p:sp>
        <p:nvSpPr>
          <p:cNvPr id="1036" name="Google Shape;1036;p118"/>
          <p:cNvSpPr/>
          <p:nvPr/>
        </p:nvSpPr>
        <p:spPr>
          <a:xfrm>
            <a:off x="9588500" y="266700"/>
            <a:ext cx="2095500" cy="381000"/>
          </a:xfrm>
          <a:prstGeom prst="roundRect">
            <a:avLst>
              <a:gd fmla="val 16667" name="adj"/>
            </a:avLst>
          </a:prstGeom>
          <a:solidFill>
            <a:srgbClr val="F0EBFC"/>
          </a:solidFill>
          <a:ln cap="flat" cmpd="sng" w="12700">
            <a:solidFill>
              <a:srgbClr val="7854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7" name="Google Shape;1037;p118"/>
          <p:cNvSpPr txBox="1"/>
          <p:nvPr/>
        </p:nvSpPr>
        <p:spPr>
          <a:xfrm>
            <a:off x="9690100" y="355600"/>
            <a:ext cx="1892400" cy="203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100">
                <a:solidFill>
                  <a:srgbClr val="4A2E80"/>
                </a:solidFill>
              </a:rPr>
              <a:t>EmbeddingGemma · 768D</a:t>
            </a:r>
            <a:endParaRPr b="1" sz="1100">
              <a:solidFill>
                <a:srgbClr val="4A2E80"/>
              </a:solidFill>
            </a:endParaRPr>
          </a:p>
        </p:txBody>
      </p:sp>
      <p:sp>
        <p:nvSpPr>
          <p:cNvPr id="1038" name="Google Shape;1038;p118"/>
          <p:cNvSpPr/>
          <p:nvPr/>
        </p:nvSpPr>
        <p:spPr>
          <a:xfrm>
            <a:off x="508000" y="1244600"/>
            <a:ext cx="5397600" cy="3098700"/>
          </a:xfrm>
          <a:prstGeom prst="roundRect">
            <a:avLst>
              <a:gd fmla="val 16667" name="adj"/>
            </a:avLst>
          </a:prstGeom>
          <a:solidFill>
            <a:srgbClr val="F9FAFC"/>
          </a:solidFill>
          <a:ln cap="flat" cmpd="sng" w="12700">
            <a:solidFill>
              <a:srgbClr val="BDC7D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118"/>
          <p:cNvSpPr/>
          <p:nvPr/>
        </p:nvSpPr>
        <p:spPr>
          <a:xfrm>
            <a:off x="508000" y="1244600"/>
            <a:ext cx="5397600" cy="431700"/>
          </a:xfrm>
          <a:prstGeom prst="rect">
            <a:avLst/>
          </a:prstGeom>
          <a:solidFill>
            <a:srgbClr val="E5F0FC"/>
          </a:solidFill>
          <a:ln cap="flat" cmpd="sng" w="12700">
            <a:solidFill>
              <a:srgbClr val="6E99D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0" name="Google Shape;1040;p118"/>
          <p:cNvSpPr txBox="1"/>
          <p:nvPr/>
        </p:nvSpPr>
        <p:spPr>
          <a:xfrm>
            <a:off x="685800" y="1358900"/>
            <a:ext cx="49530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a:solidFill>
                  <a:srgbClr val="1A4075"/>
                </a:solidFill>
              </a:rPr>
              <a:t>1  Pair AutoTokenizer with the exact checkpoint</a:t>
            </a:r>
            <a:endParaRPr b="1">
              <a:solidFill>
                <a:srgbClr val="1A4075"/>
              </a:solidFill>
            </a:endParaRPr>
          </a:p>
        </p:txBody>
      </p:sp>
      <p:sp>
        <p:nvSpPr>
          <p:cNvPr id="1041" name="Google Shape;1041;p118"/>
          <p:cNvSpPr txBox="1"/>
          <p:nvPr/>
        </p:nvSpPr>
        <p:spPr>
          <a:xfrm>
            <a:off x="723900" y="1841500"/>
            <a:ext cx="4978500" cy="196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MODEL_ID = "google/embeddinggemma-300m"</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from transformers import AutoTokenizer</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tokenizer = AutoTokenizer.from_pretrained(</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MODEL_ID,</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use_fast=True,</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ids = tokenizer(</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"Preferred: Treanda J9033",</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truncation=True,</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max_length=2048,</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)["input_ids"]</a:t>
            </a:r>
            <a:endParaRPr sz="950">
              <a:solidFill>
                <a:srgbClr val="1F242E"/>
              </a:solidFill>
              <a:latin typeface="Roboto Mono"/>
              <a:ea typeface="Roboto Mono"/>
              <a:cs typeface="Roboto Mono"/>
              <a:sym typeface="Roboto Mono"/>
            </a:endParaRPr>
          </a:p>
        </p:txBody>
      </p:sp>
      <p:sp>
        <p:nvSpPr>
          <p:cNvPr id="1042" name="Google Shape;1042;p118"/>
          <p:cNvSpPr txBox="1"/>
          <p:nvPr/>
        </p:nvSpPr>
        <p:spPr>
          <a:xfrm>
            <a:off x="723900" y="3924300"/>
            <a:ext cx="4978500" cy="26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150">
                <a:solidFill>
                  <a:srgbClr val="2E5C94"/>
                </a:solidFill>
              </a:rPr>
              <a:t>Vocabulary + SentencePiece rules come from MODEL_ID.</a:t>
            </a:r>
            <a:endParaRPr b="1" sz="1150">
              <a:solidFill>
                <a:srgbClr val="2E5C94"/>
              </a:solidFill>
            </a:endParaRPr>
          </a:p>
        </p:txBody>
      </p:sp>
      <p:sp>
        <p:nvSpPr>
          <p:cNvPr id="1043" name="Google Shape;1043;p118"/>
          <p:cNvSpPr/>
          <p:nvPr/>
        </p:nvSpPr>
        <p:spPr>
          <a:xfrm>
            <a:off x="6286500" y="1244600"/>
            <a:ext cx="5397600" cy="3098700"/>
          </a:xfrm>
          <a:prstGeom prst="roundRect">
            <a:avLst>
              <a:gd fmla="val 16667" name="adj"/>
            </a:avLst>
          </a:prstGeom>
          <a:solidFill>
            <a:srgbClr val="FAFBF9"/>
          </a:solidFill>
          <a:ln cap="flat" cmpd="sng" w="12700">
            <a:solidFill>
              <a:srgbClr val="BAD4B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4" name="Google Shape;1044;p118"/>
          <p:cNvSpPr/>
          <p:nvPr/>
        </p:nvSpPr>
        <p:spPr>
          <a:xfrm>
            <a:off x="6286500" y="1244600"/>
            <a:ext cx="5397600" cy="431700"/>
          </a:xfrm>
          <a:prstGeom prst="rect">
            <a:avLst/>
          </a:prstGeom>
          <a:solidFill>
            <a:srgbClr val="E5F7E8"/>
          </a:solidFill>
          <a:ln cap="flat" cmpd="sng" w="12700">
            <a:solidFill>
              <a:srgbClr val="5EA86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5" name="Google Shape;1045;p118"/>
          <p:cNvSpPr txBox="1"/>
          <p:nvPr/>
        </p:nvSpPr>
        <p:spPr>
          <a:xfrm>
            <a:off x="6464300" y="1358900"/>
            <a:ext cx="49530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a:solidFill>
                  <a:srgbClr val="1A612E"/>
                </a:solidFill>
              </a:rPr>
              <a:t>2  Load the complete embedding pipeline</a:t>
            </a:r>
            <a:endParaRPr b="1">
              <a:solidFill>
                <a:srgbClr val="1A612E"/>
              </a:solidFill>
            </a:endParaRPr>
          </a:p>
        </p:txBody>
      </p:sp>
      <p:sp>
        <p:nvSpPr>
          <p:cNvPr id="1046" name="Google Shape;1046;p118"/>
          <p:cNvSpPr txBox="1"/>
          <p:nvPr/>
        </p:nvSpPr>
        <p:spPr>
          <a:xfrm>
            <a:off x="6502400" y="1841500"/>
            <a:ext cx="4978500" cy="196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from sentence_transformers import SentenceTransformer</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embedder = SentenceTransformer(</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MODEL_ID,</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    truncate_dim=768,</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q = embedder.encode_query(question)</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docs = embedder.encode_document(chunks)</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scores = embedder.similarity(q, docs)</a:t>
            </a:r>
            <a:endParaRPr sz="950">
              <a:solidFill>
                <a:srgbClr val="1F242E"/>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US" sz="950">
                <a:solidFill>
                  <a:srgbClr val="1F242E"/>
                </a:solidFill>
                <a:latin typeface="Roboto Mono"/>
                <a:ea typeface="Roboto Mono"/>
                <a:cs typeface="Roboto Mono"/>
                <a:sym typeface="Roboto Mono"/>
              </a:rPr>
              <a:t>print(q.shape)               # (768,)</a:t>
            </a:r>
            <a:endParaRPr sz="950">
              <a:solidFill>
                <a:srgbClr val="1F242E"/>
              </a:solidFill>
              <a:latin typeface="Roboto Mono"/>
              <a:ea typeface="Roboto Mono"/>
              <a:cs typeface="Roboto Mono"/>
              <a:sym typeface="Roboto Mono"/>
            </a:endParaRPr>
          </a:p>
        </p:txBody>
      </p:sp>
      <p:sp>
        <p:nvSpPr>
          <p:cNvPr id="1047" name="Google Shape;1047;p118"/>
          <p:cNvSpPr txBox="1"/>
          <p:nvPr/>
        </p:nvSpPr>
        <p:spPr>
          <a:xfrm>
            <a:off x="6502400" y="3924300"/>
            <a:ext cx="4978500" cy="26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150">
                <a:solidFill>
                  <a:srgbClr val="296E38"/>
                </a:solidFill>
              </a:rPr>
              <a:t>Includes mean pooling → dense layers → L2 normalization.</a:t>
            </a:r>
            <a:endParaRPr b="1" sz="1150">
              <a:solidFill>
                <a:srgbClr val="296E38"/>
              </a:solidFill>
            </a:endParaRPr>
          </a:p>
        </p:txBody>
      </p:sp>
      <p:sp>
        <p:nvSpPr>
          <p:cNvPr id="1048" name="Google Shape;1048;p118"/>
          <p:cNvSpPr txBox="1"/>
          <p:nvPr/>
        </p:nvSpPr>
        <p:spPr>
          <a:xfrm>
            <a:off x="508000" y="4533900"/>
            <a:ext cx="2793900" cy="19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000">
                <a:solidFill>
                  <a:srgbClr val="545E7A"/>
                </a:solidFill>
              </a:rPr>
              <a:t>ONE MATCHED PIPELINE</a:t>
            </a:r>
            <a:endParaRPr b="1" sz="1000">
              <a:solidFill>
                <a:srgbClr val="545E7A"/>
              </a:solidFill>
            </a:endParaRPr>
          </a:p>
        </p:txBody>
      </p:sp>
      <p:sp>
        <p:nvSpPr>
          <p:cNvPr id="1049" name="Google Shape;1049;p118"/>
          <p:cNvSpPr/>
          <p:nvPr/>
        </p:nvSpPr>
        <p:spPr>
          <a:xfrm>
            <a:off x="508000" y="4787900"/>
            <a:ext cx="1841400" cy="673200"/>
          </a:xfrm>
          <a:prstGeom prst="roundRect">
            <a:avLst>
              <a:gd fmla="val 16667" name="adj"/>
            </a:avLst>
          </a:prstGeom>
          <a:solidFill>
            <a:srgbClr val="F0EBFC"/>
          </a:solidFill>
          <a:ln cap="flat" cmpd="sng" w="12700">
            <a:solidFill>
              <a:srgbClr val="9EA8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0" name="Google Shape;1050;p118"/>
          <p:cNvSpPr txBox="1"/>
          <p:nvPr/>
        </p:nvSpPr>
        <p:spPr>
          <a:xfrm>
            <a:off x="596900" y="4940300"/>
            <a:ext cx="1663800" cy="381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150">
                <a:solidFill>
                  <a:srgbClr val="212936"/>
                </a:solidFill>
              </a:rPr>
              <a:t>same MODEL_ID</a:t>
            </a:r>
            <a:endParaRPr b="1" sz="1150">
              <a:solidFill>
                <a:srgbClr val="212936"/>
              </a:solidFill>
            </a:endParaRPr>
          </a:p>
        </p:txBody>
      </p:sp>
      <p:sp>
        <p:nvSpPr>
          <p:cNvPr id="1051" name="Google Shape;1051;p118"/>
          <p:cNvSpPr txBox="1"/>
          <p:nvPr/>
        </p:nvSpPr>
        <p:spPr>
          <a:xfrm>
            <a:off x="2400300" y="4940300"/>
            <a:ext cx="279300" cy="355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2200">
                <a:solidFill>
                  <a:srgbClr val="5E6B85"/>
                </a:solidFill>
              </a:rPr>
              <a:t>→</a:t>
            </a:r>
            <a:endParaRPr b="1" sz="2200">
              <a:solidFill>
                <a:srgbClr val="5E6B85"/>
              </a:solidFill>
            </a:endParaRPr>
          </a:p>
        </p:txBody>
      </p:sp>
      <p:sp>
        <p:nvSpPr>
          <p:cNvPr id="1052" name="Google Shape;1052;p118"/>
          <p:cNvSpPr/>
          <p:nvPr/>
        </p:nvSpPr>
        <p:spPr>
          <a:xfrm>
            <a:off x="2755900" y="4787900"/>
            <a:ext cx="1841400" cy="673200"/>
          </a:xfrm>
          <a:prstGeom prst="roundRect">
            <a:avLst>
              <a:gd fmla="val 16667" name="adj"/>
            </a:avLst>
          </a:prstGeom>
          <a:solidFill>
            <a:srgbClr val="E8F2FF"/>
          </a:solidFill>
          <a:ln cap="flat" cmpd="sng" w="12700">
            <a:solidFill>
              <a:srgbClr val="9EA8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3" name="Google Shape;1053;p118"/>
          <p:cNvSpPr txBox="1"/>
          <p:nvPr/>
        </p:nvSpPr>
        <p:spPr>
          <a:xfrm>
            <a:off x="2844800" y="4940300"/>
            <a:ext cx="1663800" cy="381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150">
                <a:solidFill>
                  <a:srgbClr val="212936"/>
                </a:solidFill>
              </a:rPr>
              <a:t>subword tokenizer</a:t>
            </a:r>
            <a:endParaRPr b="1" sz="1150">
              <a:solidFill>
                <a:srgbClr val="212936"/>
              </a:solidFill>
            </a:endParaRPr>
          </a:p>
          <a:p>
            <a:pPr indent="0" lvl="0" marL="0" rtl="0" algn="ctr">
              <a:lnSpc>
                <a:spcPct val="100000"/>
              </a:lnSpc>
              <a:spcBef>
                <a:spcPts val="0"/>
              </a:spcBef>
              <a:spcAft>
                <a:spcPts val="0"/>
              </a:spcAft>
              <a:buNone/>
            </a:pPr>
            <a:r>
              <a:rPr b="1" lang="en-US" sz="1150">
                <a:solidFill>
                  <a:srgbClr val="212936"/>
                </a:solidFill>
              </a:rPr>
              <a:t>integer token IDs</a:t>
            </a:r>
            <a:endParaRPr b="1" sz="1150">
              <a:solidFill>
                <a:srgbClr val="212936"/>
              </a:solidFill>
            </a:endParaRPr>
          </a:p>
        </p:txBody>
      </p:sp>
      <p:sp>
        <p:nvSpPr>
          <p:cNvPr id="1054" name="Google Shape;1054;p118"/>
          <p:cNvSpPr txBox="1"/>
          <p:nvPr/>
        </p:nvSpPr>
        <p:spPr>
          <a:xfrm>
            <a:off x="4648200" y="4940300"/>
            <a:ext cx="279300" cy="355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2200">
                <a:solidFill>
                  <a:srgbClr val="5E6B85"/>
                </a:solidFill>
              </a:rPr>
              <a:t>→</a:t>
            </a:r>
            <a:endParaRPr b="1" sz="2200">
              <a:solidFill>
                <a:srgbClr val="5E6B85"/>
              </a:solidFill>
            </a:endParaRPr>
          </a:p>
        </p:txBody>
      </p:sp>
      <p:sp>
        <p:nvSpPr>
          <p:cNvPr id="1055" name="Google Shape;1055;p118"/>
          <p:cNvSpPr/>
          <p:nvPr/>
        </p:nvSpPr>
        <p:spPr>
          <a:xfrm>
            <a:off x="5003800" y="4787900"/>
            <a:ext cx="1841400" cy="673200"/>
          </a:xfrm>
          <a:prstGeom prst="roundRect">
            <a:avLst>
              <a:gd fmla="val 16667" name="adj"/>
            </a:avLst>
          </a:prstGeom>
          <a:solidFill>
            <a:srgbClr val="EBF5FF"/>
          </a:solidFill>
          <a:ln cap="flat" cmpd="sng" w="12700">
            <a:solidFill>
              <a:srgbClr val="9EA8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6" name="Google Shape;1056;p118"/>
          <p:cNvSpPr txBox="1"/>
          <p:nvPr/>
        </p:nvSpPr>
        <p:spPr>
          <a:xfrm>
            <a:off x="5092700" y="4940300"/>
            <a:ext cx="1663800" cy="381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150">
                <a:solidFill>
                  <a:srgbClr val="212936"/>
                </a:solidFill>
              </a:rPr>
              <a:t>Gemma 3 encoder</a:t>
            </a:r>
            <a:endParaRPr b="1" sz="1150">
              <a:solidFill>
                <a:srgbClr val="212936"/>
              </a:solidFill>
            </a:endParaRPr>
          </a:p>
          <a:p>
            <a:pPr indent="0" lvl="0" marL="0" rtl="0" algn="ctr">
              <a:lnSpc>
                <a:spcPct val="100000"/>
              </a:lnSpc>
              <a:spcBef>
                <a:spcPts val="0"/>
              </a:spcBef>
              <a:spcAft>
                <a:spcPts val="0"/>
              </a:spcAft>
              <a:buNone/>
            </a:pPr>
            <a:r>
              <a:rPr b="1" lang="en-US" sz="1150">
                <a:solidFill>
                  <a:srgbClr val="212936"/>
                </a:solidFill>
              </a:rPr>
              <a:t>token vectors</a:t>
            </a:r>
            <a:endParaRPr b="1" sz="1150">
              <a:solidFill>
                <a:srgbClr val="212936"/>
              </a:solidFill>
            </a:endParaRPr>
          </a:p>
        </p:txBody>
      </p:sp>
      <p:sp>
        <p:nvSpPr>
          <p:cNvPr id="1057" name="Google Shape;1057;p118"/>
          <p:cNvSpPr txBox="1"/>
          <p:nvPr/>
        </p:nvSpPr>
        <p:spPr>
          <a:xfrm>
            <a:off x="6896100" y="4940300"/>
            <a:ext cx="279300" cy="355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2200">
                <a:solidFill>
                  <a:srgbClr val="5E6B85"/>
                </a:solidFill>
              </a:rPr>
              <a:t>→</a:t>
            </a:r>
            <a:endParaRPr b="1" sz="2200">
              <a:solidFill>
                <a:srgbClr val="5E6B85"/>
              </a:solidFill>
            </a:endParaRPr>
          </a:p>
        </p:txBody>
      </p:sp>
      <p:sp>
        <p:nvSpPr>
          <p:cNvPr id="1058" name="Google Shape;1058;p118"/>
          <p:cNvSpPr/>
          <p:nvPr/>
        </p:nvSpPr>
        <p:spPr>
          <a:xfrm>
            <a:off x="7251700" y="4787900"/>
            <a:ext cx="1841400" cy="673200"/>
          </a:xfrm>
          <a:prstGeom prst="roundRect">
            <a:avLst>
              <a:gd fmla="val 16667" name="adj"/>
            </a:avLst>
          </a:prstGeom>
          <a:solidFill>
            <a:srgbClr val="E8FAED"/>
          </a:solidFill>
          <a:ln cap="flat" cmpd="sng" w="12700">
            <a:solidFill>
              <a:srgbClr val="9EA8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9" name="Google Shape;1059;p118"/>
          <p:cNvSpPr txBox="1"/>
          <p:nvPr/>
        </p:nvSpPr>
        <p:spPr>
          <a:xfrm>
            <a:off x="7340600" y="4940300"/>
            <a:ext cx="1663800" cy="381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150">
                <a:solidFill>
                  <a:srgbClr val="212936"/>
                </a:solidFill>
              </a:rPr>
              <a:t>mean pool + dense</a:t>
            </a:r>
            <a:endParaRPr b="1" sz="1150">
              <a:solidFill>
                <a:srgbClr val="212936"/>
              </a:solidFill>
            </a:endParaRPr>
          </a:p>
          <a:p>
            <a:pPr indent="0" lvl="0" marL="0" rtl="0" algn="ctr">
              <a:lnSpc>
                <a:spcPct val="100000"/>
              </a:lnSpc>
              <a:spcBef>
                <a:spcPts val="0"/>
              </a:spcBef>
              <a:spcAft>
                <a:spcPts val="0"/>
              </a:spcAft>
              <a:buNone/>
            </a:pPr>
            <a:r>
              <a:rPr b="1" lang="en-US" sz="1150">
                <a:solidFill>
                  <a:srgbClr val="212936"/>
                </a:solidFill>
              </a:rPr>
              <a:t>projection</a:t>
            </a:r>
            <a:endParaRPr b="1" sz="1150">
              <a:solidFill>
                <a:srgbClr val="212936"/>
              </a:solidFill>
            </a:endParaRPr>
          </a:p>
        </p:txBody>
      </p:sp>
      <p:sp>
        <p:nvSpPr>
          <p:cNvPr id="1060" name="Google Shape;1060;p118"/>
          <p:cNvSpPr txBox="1"/>
          <p:nvPr/>
        </p:nvSpPr>
        <p:spPr>
          <a:xfrm>
            <a:off x="9144000" y="4940300"/>
            <a:ext cx="279300" cy="3555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2200">
                <a:solidFill>
                  <a:srgbClr val="5E6B85"/>
                </a:solidFill>
              </a:rPr>
              <a:t>→</a:t>
            </a:r>
            <a:endParaRPr b="1" sz="2200">
              <a:solidFill>
                <a:srgbClr val="5E6B85"/>
              </a:solidFill>
            </a:endParaRPr>
          </a:p>
        </p:txBody>
      </p:sp>
      <p:sp>
        <p:nvSpPr>
          <p:cNvPr id="1061" name="Google Shape;1061;p118"/>
          <p:cNvSpPr/>
          <p:nvPr/>
        </p:nvSpPr>
        <p:spPr>
          <a:xfrm>
            <a:off x="9499600" y="4787900"/>
            <a:ext cx="1841400" cy="673200"/>
          </a:xfrm>
          <a:prstGeom prst="roundRect">
            <a:avLst>
              <a:gd fmla="val 16667" name="adj"/>
            </a:avLst>
          </a:prstGeom>
          <a:solidFill>
            <a:srgbClr val="E3F7E8"/>
          </a:solidFill>
          <a:ln cap="flat" cmpd="sng" w="12700">
            <a:solidFill>
              <a:srgbClr val="9EA8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2" name="Google Shape;1062;p118"/>
          <p:cNvSpPr txBox="1"/>
          <p:nvPr/>
        </p:nvSpPr>
        <p:spPr>
          <a:xfrm>
            <a:off x="9588500" y="4940300"/>
            <a:ext cx="1663800" cy="381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b="1" lang="en-US" sz="1150">
                <a:solidFill>
                  <a:srgbClr val="212936"/>
                </a:solidFill>
              </a:rPr>
              <a:t>L2-normalized</a:t>
            </a:r>
            <a:endParaRPr b="1" sz="1150">
              <a:solidFill>
                <a:srgbClr val="212936"/>
              </a:solidFill>
            </a:endParaRPr>
          </a:p>
          <a:p>
            <a:pPr indent="0" lvl="0" marL="0" rtl="0" algn="ctr">
              <a:lnSpc>
                <a:spcPct val="100000"/>
              </a:lnSpc>
              <a:spcBef>
                <a:spcPts val="0"/>
              </a:spcBef>
              <a:spcAft>
                <a:spcPts val="0"/>
              </a:spcAft>
              <a:buNone/>
            </a:pPr>
            <a:r>
              <a:rPr b="1" lang="en-US" sz="1150">
                <a:solidFill>
                  <a:srgbClr val="212936"/>
                </a:solidFill>
              </a:rPr>
              <a:t>768-D vector</a:t>
            </a:r>
            <a:endParaRPr b="1" sz="1150">
              <a:solidFill>
                <a:srgbClr val="212936"/>
              </a:solidFill>
            </a:endParaRPr>
          </a:p>
        </p:txBody>
      </p:sp>
      <p:sp>
        <p:nvSpPr>
          <p:cNvPr id="1063" name="Google Shape;1063;p118"/>
          <p:cNvSpPr/>
          <p:nvPr/>
        </p:nvSpPr>
        <p:spPr>
          <a:xfrm>
            <a:off x="508000" y="5676900"/>
            <a:ext cx="11175900" cy="609600"/>
          </a:xfrm>
          <a:prstGeom prst="roundRect">
            <a:avLst>
              <a:gd fmla="val 16667" name="adj"/>
            </a:avLst>
          </a:prstGeom>
          <a:solidFill>
            <a:srgbClr val="FFF2F2"/>
          </a:solidFill>
          <a:ln cap="flat" cmpd="sng" w="12700">
            <a:solidFill>
              <a:srgbClr val="DB333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4" name="Google Shape;1064;p118"/>
          <p:cNvSpPr txBox="1"/>
          <p:nvPr/>
        </p:nvSpPr>
        <p:spPr>
          <a:xfrm>
            <a:off x="698500" y="5803900"/>
            <a:ext cx="10794900" cy="35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US" sz="1200">
                <a:solidFill>
                  <a:srgbClr val="8C1212"/>
                </a:solidFill>
              </a:rPr>
              <a:t>Do not mix checkpoint IDs. AutoModel alone omits EmbeddingGemma’s pooling/projection head; use SentenceTransformer for retrieval embeddings.</a:t>
            </a:r>
            <a:endParaRPr b="1" sz="1200">
              <a:solidFill>
                <a:srgbClr val="8C1212"/>
              </a:solidFill>
            </a:endParaRPr>
          </a:p>
        </p:txBody>
      </p:sp>
      <p:sp>
        <p:nvSpPr>
          <p:cNvPr id="1065" name="Google Shape;1065;p118"/>
          <p:cNvSpPr txBox="1"/>
          <p:nvPr/>
        </p:nvSpPr>
        <p:spPr>
          <a:xfrm>
            <a:off x="508000" y="6477000"/>
            <a:ext cx="11175900" cy="177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sz="850">
                <a:solidFill>
                  <a:srgbClr val="6B707A"/>
                </a:solidFill>
              </a:rPr>
              <a:t>Source: Google DeepMind — google/embeddinggemma-300m · 2,048-token context · 768 dimensions (MRL: 512 / 256 / 128)</a:t>
            </a:r>
            <a:endParaRPr sz="850">
              <a:solidFill>
                <a:srgbClr val="6B707A"/>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HA Generator LoRA Finetuning">
  <a:themeElements>
    <a:clrScheme name="GEHA Generator LoRA Finetuning">
      <a:dk1>
        <a:srgbClr val="16202E"/>
      </a:dk1>
      <a:lt1>
        <a:srgbClr val="F6F5F0"/>
      </a:lt1>
      <a:dk2>
        <a:srgbClr val="4E555F"/>
      </a:dk2>
      <a:lt2>
        <a:srgbClr val="E0E0DD"/>
      </a:lt2>
      <a:accent1>
        <a:srgbClr val="B4481A"/>
      </a:accent1>
      <a:accent2>
        <a:srgbClr val="2F6DB5"/>
      </a:accent2>
      <a:accent3>
        <a:srgbClr val="F08A5D"/>
      </a:accent3>
      <a:accent4>
        <a:srgbClr val="D9622B"/>
      </a:accent4>
      <a:accent5>
        <a:srgbClr val="4A5568"/>
      </a:accent5>
      <a:accent6>
        <a:srgbClr val="6A728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