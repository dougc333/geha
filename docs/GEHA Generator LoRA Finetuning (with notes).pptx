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6764000" cy="6858000"/>
  <p:notesSz cx="6858000" cy="12192000"/>
  <p:embeddedFontLs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generator half of RAG finetuning: what we train, on what data, the Mac attempt and the Colab A100 run, what improved on an unseen document, and the answer to whether it is overfit.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retriever work changed which chunks reach the model. This work changes the model that writes the answer. The two are independent: the retriever result came from an earlier experiment in the finetuning folder; the generator number is the Colab A100 run, scored on the same held-out plan brochure.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each a script in finetuning_LLM_LORA. The base and tuned models are evaluated in the same process with the adapter switched off and on, so prompts and decoding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78 training questions produces a direct example and a chain-of-thought example: 156 in total. The rationale is extractive, not written by a model, which is cheaper but imperfect: in this very example the extracted evidence lines miss the line with the phone number, because that line shares few words with the answer. Worth improving with an LLM-written rationale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and validation come from the same guide but different sections, so validation loss tells us about unseen text in a familiar document. The test set is the plan brochure, a document the model never trains on, so it measures transfer. split_stats.py fails the run if any of the five checks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freezes the base model and learns low-rank updates on every attention and MLP projection. Only 18.5 million weights train, which is why the saved adapter is 74 MB. With only 156 examples, an epoch is just 20 optimizer steps, which matters for the question of how many epochs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Epoch 1 took 56 minutes, about 21 seconds per training example. Epoch 2 ran for three and a half hours without finishing because of battery throttling, a 12-minute hibernation and heavy swapping. That is why the full run moves to a Colab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code, same data, same hyperparameters. The A100 trains in bf16 and has far more compute and memory bandwidth, so a full epoch took 71 seconds including validation, against 56 minutes on the Mac. The eval is now the slow part, because it generates 164 answers one token at a time with batch size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loss is checked every 10 steps. It falls for the first 20 steps, an epoch, and then rises for the remaining 40 while training loss keeps dropping. That is the textbook overfitting pattern. The trainer saves only the lowest-validation checkpoint, so the adapter that was evaluated is the epoch-1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it overfits if you keep training: after epoch 1, validation loss rises every pass while training loss heads towards 0.1. But the run only keeps the lowest-validation adapter, so the model we use is the epoch-1 one, and on a document it never saw it still beats the base model. For the next run, train 1 epoch or turn on early stopping with patience 2 to save the wasted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saw identical prompts: the gold passage plus two distractors. Answer F1 rose about 0.06 in both formats, and the tuned model was better on 27 of 41 direct questions and 29 of 41 chain-of-thought ones. Citation precision rose 0.12. Quote grounding did not change, and the base model already followed the evidence format. Two cautions: the confidence intervals nearly reach zero with 41 questions and one seed, and the tuned answers are 26 words longer, closer to the 107-word references, which by itself lifts token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Produced by plot_metrics.py from train_log.jsonl and generator_comparison.json. Top row: loss, the generalization gap, which crosses zero just before epoch 1 and keeps rising, and the learning-rate schedule. Bottom row: gradient norm staying under the clip, wall clock at about 3.4 seconds per step on the A100, and the base-versus-tuned 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One epoch is the right length for this dataset; anything more memorizes. The improvement on an unseen document is genuine but small and comes from a single seed. Repeat the run over several seeds before relying on it. And grade answers for correctness, not just word overlap, since part of the F1 gain comes from longer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8A5D"/>
                </a:solidFill>
                <a:latin typeface="JetBrains Mono" pitchFamily="49" charset="0"/>
                <a:ea typeface="JetBrains Mono" pitchFamily="49" charset="-122"/>
                <a:cs typeface="JetBrains Mono" pitchFamily="49" charset="-120"/>
              </a:rPr>
              <a:t>GEHA DENTAL RAG · GENERATOR FINETUNING</a:t>
            </a:r>
            <a:endParaRPr lang="en-US" sz="1400" dirty="0"/>
          </a:p>
        </p:txBody>
      </p:sp>
      <p:sp>
        <p:nvSpPr>
          <p:cNvPr id="3" name="Text 1"/>
          <p:cNvSpPr/>
          <p:nvPr>
            <p:ph type="title"/>
          </p:nvPr>
        </p:nvSpPr>
        <p:spPr>
          <a:xfrm>
            <a:off x="812800" y="226571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1EA"/>
                </a:solidFill>
                <a:latin typeface="IBM Plex Sans" pitchFamily="34" charset="0"/>
                <a:ea typeface="IBM Plex Sans" pitchFamily="34" charset="-122"/>
                <a:cs typeface="IBM Plex Sans" pitchFamily="34" charset="-120"/>
              </a:rPr>
              <a:t>Teaching the answer model to read our passages</a:t>
            </a:r>
            <a:endParaRPr lang="en-US" sz="5200" dirty="0"/>
          </a:p>
        </p:txBody>
      </p:sp>
      <p:sp>
        <p:nvSpPr>
          <p:cNvPr id="4" name="Text 2"/>
          <p:cNvSpPr/>
          <p:nvPr/>
        </p:nvSpPr>
        <p:spPr>
          <a:xfrm>
            <a:off x="812800" y="390649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3D1"/>
                </a:solidFill>
                <a:latin typeface="IBM Plex Sans" pitchFamily="34" charset="0"/>
                <a:ea typeface="IBM Plex Sans" pitchFamily="34" charset="-122"/>
                <a:cs typeface="IBM Plex Sans" pitchFamily="34" charset="-120"/>
              </a:rPr>
              <a:t>LoRA instruction finetuning of Qwen2.5‑1.5B‑Instruct on direct and chain‑of‑thought examples</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C98A8"/>
                </a:solidFill>
                <a:latin typeface="IBM Plex Sans" pitchFamily="34" charset="0"/>
                <a:ea typeface="IBM Plex Sans" pitchFamily="34" charset="-122"/>
                <a:cs typeface="IBM Plex Sans" pitchFamily="34" charset="-120"/>
              </a:rPr>
              <a:t>October 2026 · experiment log · results from the Colab A100 run, 21 Oct</a:t>
            </a:r>
            <a:endParaRPr lang="en-US" sz="1400" dirty="0"/>
          </a:p>
        </p:txBody>
      </p:sp>
      <p:sp>
        <p:nvSpPr>
          <p:cNvPr id="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This deck covers the generator half of RAG finetuning: what we train, on what data, the Mac attempt and the Colab A100 run, what improved on an unseen document, and the answer to whether it is overfit.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Two places to finetune a RAG system</a:t>
            </a:r>
            <a:endParaRPr lang="en-US" sz="3200" dirty="0"/>
          </a:p>
        </p:txBody>
      </p:sp>
      <p:sp>
        <p:nvSpPr>
          <p:cNvPr id="3" name="Shape 1"/>
          <p:cNvSpPr/>
          <p:nvPr/>
        </p:nvSpPr>
        <p:spPr>
          <a:xfrm>
            <a:off x="819150" y="1621780"/>
            <a:ext cx="5143500" cy="4213870"/>
          </a:xfrm>
          <a:prstGeom prst="roundRect">
            <a:avLst>
              <a:gd name="adj" fmla="val 2863"/>
            </a:avLst>
          </a:prstGeom>
          <a:solidFill>
            <a:srgbClr val="FDFCF9"/>
          </a:solidFill>
          <a:ln w="12700">
            <a:solidFill>
              <a:srgbClr val="E2DED3"/>
            </a:solidFill>
            <a:prstDash val="solid"/>
          </a:ln>
        </p:spPr>
      </p:sp>
      <p:sp>
        <p:nvSpPr>
          <p:cNvPr id="4" name="Text 2"/>
          <p:cNvSpPr/>
          <p:nvPr/>
        </p:nvSpPr>
        <p:spPr>
          <a:xfrm>
            <a:off x="11303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6DB5"/>
                </a:solidFill>
                <a:latin typeface="JetBrains Mono" pitchFamily="49" charset="0"/>
                <a:ea typeface="JetBrains Mono" pitchFamily="49" charset="-122"/>
                <a:cs typeface="JetBrains Mono" pitchFamily="49" charset="-120"/>
              </a:rPr>
              <a:t>RETRIEVER · DONE EARLIER</a:t>
            </a:r>
            <a:endParaRPr lang="en-US" sz="1200" dirty="0"/>
          </a:p>
        </p:txBody>
      </p:sp>
      <p:sp>
        <p:nvSpPr>
          <p:cNvPr id="5" name="Text 3"/>
          <p:cNvSpPr/>
          <p:nvPr/>
        </p:nvSpPr>
        <p:spPr>
          <a:xfrm>
            <a:off x="11303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Which chunks the LLM sees</a:t>
            </a:r>
            <a:endParaRPr lang="en-US" sz="2200" dirty="0"/>
          </a:p>
        </p:txBody>
      </p:sp>
      <p:sp>
        <p:nvSpPr>
          <p:cNvPr id="6" name="Text 4"/>
          <p:cNvSpPr/>
          <p:nvPr/>
        </p:nvSpPr>
        <p:spPr>
          <a:xfrm>
            <a:off x="11303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bge‑base‑en‑v1.5 embedding model, contrastive loss on question → chunk pairs.</a:t>
            </a:r>
            <a:endParaRPr lang="en-US" sz="1500" dirty="0"/>
          </a:p>
        </p:txBody>
      </p:sp>
      <p:sp>
        <p:nvSpPr>
          <p:cNvPr id="7" name="Text 5"/>
          <p:cNvSpPr/>
          <p:nvPr/>
        </p:nvSpPr>
        <p:spPr>
          <a:xfrm>
            <a:off x="1130300" y="49911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IBM Plex Sans" pitchFamily="34" charset="0"/>
                <a:ea typeface="IBM Plex Sans" pitchFamily="34" charset="-122"/>
                <a:cs typeface="IBM Plex Sans" pitchFamily="34" charset="-120"/>
              </a:rPr>
              <a:t>Recall@5: 64.6% → 68.7%</a:t>
            </a:r>
            <a:r>
              <a:rPr lang="en-US" sz="1500" dirty="0">
                <a:solidFill>
                  <a:srgbClr val="16202E"/>
                </a:solidFill>
                <a:latin typeface="IBM Plex Sans" pitchFamily="34" charset="0"/>
                <a:ea typeface="IBM Plex Sans" pitchFamily="34" charset="-122"/>
                <a:cs typeface="IBM Plex Sans" pitchFamily="34" charset="-120"/>
              </a:rPr>
              <a:t> on the held‑out brochure</a:t>
            </a:r>
            <a:endParaRPr lang="en-US" sz="1500" dirty="0"/>
          </a:p>
        </p:txBody>
      </p:sp>
      <p:sp>
        <p:nvSpPr>
          <p:cNvPr id="8" name="Shape 6"/>
          <p:cNvSpPr/>
          <p:nvPr/>
        </p:nvSpPr>
        <p:spPr>
          <a:xfrm>
            <a:off x="6229350" y="1621780"/>
            <a:ext cx="5143500" cy="4213870"/>
          </a:xfrm>
          <a:prstGeom prst="roundRect">
            <a:avLst>
              <a:gd name="adj" fmla="val 2863"/>
            </a:avLst>
          </a:prstGeom>
          <a:solidFill>
            <a:srgbClr val="FDFCF9"/>
          </a:solidFill>
          <a:ln w="12700">
            <a:solidFill>
              <a:srgbClr val="D9622B"/>
            </a:solidFill>
            <a:prstDash val="solid"/>
          </a:ln>
        </p:spPr>
      </p:sp>
      <p:sp>
        <p:nvSpPr>
          <p:cNvPr id="9" name="Text 7"/>
          <p:cNvSpPr/>
          <p:nvPr/>
        </p:nvSpPr>
        <p:spPr>
          <a:xfrm>
            <a:off x="65405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4481A"/>
                </a:solidFill>
                <a:latin typeface="JetBrains Mono" pitchFamily="49" charset="0"/>
                <a:ea typeface="JetBrains Mono" pitchFamily="49" charset="-122"/>
                <a:cs typeface="JetBrains Mono" pitchFamily="49" charset="-120"/>
              </a:rPr>
              <a:t>GENERATOR · THIS DECK</a:t>
            </a:r>
            <a:endParaRPr lang="en-US" sz="1200" dirty="0"/>
          </a:p>
        </p:txBody>
      </p:sp>
      <p:sp>
        <p:nvSpPr>
          <p:cNvPr id="10" name="Text 8"/>
          <p:cNvSpPr/>
          <p:nvPr/>
        </p:nvSpPr>
        <p:spPr>
          <a:xfrm>
            <a:off x="65405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How the LLM answers from them</a:t>
            </a:r>
            <a:endParaRPr lang="en-US" sz="2200" dirty="0"/>
          </a:p>
        </p:txBody>
      </p:sp>
      <p:sp>
        <p:nvSpPr>
          <p:cNvPr id="11" name="Text 9"/>
          <p:cNvSpPr/>
          <p:nvPr/>
        </p:nvSpPr>
        <p:spPr>
          <a:xfrm>
            <a:off x="65405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Qwen2.5‑1.5B‑Instruct chat model, LoRA instruction finetuning on passage + question → answer.</a:t>
            </a:r>
            <a:endParaRPr lang="en-US" sz="1500" dirty="0"/>
          </a:p>
        </p:txBody>
      </p:sp>
      <p:sp>
        <p:nvSpPr>
          <p:cNvPr id="12" name="Text 10"/>
          <p:cNvSpPr/>
          <p:nvPr/>
        </p:nvSpPr>
        <p:spPr>
          <a:xfrm>
            <a:off x="6540500" y="5257800"/>
            <a:ext cx="46568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IBM Plex Sans" pitchFamily="34" charset="0"/>
                <a:ea typeface="IBM Plex Sans" pitchFamily="34" charset="-122"/>
                <a:cs typeface="IBM Plex Sans" pitchFamily="34" charset="-120"/>
              </a:rPr>
              <a:t>Answer F1: 0.51 → 0.57</a:t>
            </a:r>
            <a:r>
              <a:rPr lang="en-US" sz="1500" dirty="0">
                <a:solidFill>
                  <a:srgbClr val="16202E"/>
                </a:solidFill>
                <a:latin typeface="IBM Plex Sans" pitchFamily="34" charset="0"/>
                <a:ea typeface="IBM Plex Sans" pitchFamily="34" charset="-122"/>
                <a:cs typeface="IBM Plex Sans" pitchFamily="34" charset="-120"/>
              </a:rPr>
              <a:t> on the held‑out brochure</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The slide that started this: instruction finetuning with direct and chain‑of‑thought data (FLAN, arXiv 2210.11416)</a:t>
            </a:r>
            <a:endParaRPr lang="en-US" sz="1200" dirty="0"/>
          </a:p>
        </p:txBody>
      </p:sp>
      <p:sp>
        <p:nvSpPr>
          <p:cNvPr id="14"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The retriever work changed which chunks reach the model. This work changes the model that writes the answer. The two are independent: the retriever result came from an earlier experiment in the finetuning folder; the generator number is the Colab A100 run, scored on the same held-out plan brochure.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pipeline, end to end</a:t>
            </a:r>
            <a:endParaRPr lang="en-US" sz="3200" dirty="0"/>
          </a:p>
        </p:txBody>
      </p:sp>
      <p:sp>
        <p:nvSpPr>
          <p:cNvPr id="3" name="Shape 1"/>
          <p:cNvSpPr/>
          <p:nvPr/>
        </p:nvSpPr>
        <p:spPr>
          <a:xfrm>
            <a:off x="819150" y="1672580"/>
            <a:ext cx="2286000" cy="2316361"/>
          </a:xfrm>
          <a:prstGeom prst="roundRect">
            <a:avLst>
              <a:gd name="adj" fmla="val 5278"/>
            </a:avLst>
          </a:prstGeom>
          <a:solidFill>
            <a:srgbClr val="FDFCF9"/>
          </a:solidFill>
          <a:ln w="12700">
            <a:solidFill>
              <a:srgbClr val="E2DED3"/>
            </a:solidFill>
            <a:prstDash val="solid"/>
          </a:ln>
        </p:spPr>
      </p:sp>
      <p:sp>
        <p:nvSpPr>
          <p:cNvPr id="4" name="Text 2"/>
          <p:cNvSpPr/>
          <p:nvPr/>
        </p:nvSpPr>
        <p:spPr>
          <a:xfrm>
            <a:off x="10541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JetBrains Mono" pitchFamily="49" charset="0"/>
                <a:ea typeface="JetBrains Mono" pitchFamily="49" charset="-122"/>
                <a:cs typeface="JetBrains Mono" pitchFamily="49" charset="-120"/>
              </a:rPr>
              <a:t>01</a:t>
            </a:r>
            <a:endParaRPr lang="en-US" sz="1200" dirty="0"/>
          </a:p>
        </p:txBody>
      </p:sp>
      <p:sp>
        <p:nvSpPr>
          <p:cNvPr id="5" name="Text 3"/>
          <p:cNvSpPr/>
          <p:nvPr/>
        </p:nvSpPr>
        <p:spPr>
          <a:xfrm>
            <a:off x="10541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QA pairs</a:t>
            </a:r>
            <a:endParaRPr lang="en-US" sz="1800" dirty="0"/>
          </a:p>
        </p:txBody>
      </p:sp>
      <p:sp>
        <p:nvSpPr>
          <p:cNvPr id="6" name="Text 4"/>
          <p:cNvSpPr/>
          <p:nvPr/>
        </p:nvSpPr>
        <p:spPr>
          <a:xfrm>
            <a:off x="1054100" y="2598341"/>
            <a:ext cx="187058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Synthetic RAGAS questions + reference answers from the GEHA dental PDFs</a:t>
            </a:r>
            <a:endParaRPr lang="en-US" sz="1300" dirty="0"/>
          </a:p>
        </p:txBody>
      </p:sp>
      <p:pic>
        <p:nvPicPr>
          <p:cNvPr id="7" name="Image 0" descr="connector">    </p:cNvPr>
          <p:cNvPicPr>
            <a:picLocks noChangeAspect="1"/>
          </p:cNvPicPr>
          <p:nvPr/>
        </p:nvPicPr>
        <p:blipFill>
          <a:blip r:embed="rId1"/>
          <a:srcRect l="0" r="0" t="0" b="0"/>
          <a:stretch/>
        </p:blipFill>
        <p:spPr>
          <a:xfrm>
            <a:off x="3213100" y="1666230"/>
            <a:ext cx="254000" cy="101600"/>
          </a:xfrm>
          <a:prstGeom prst="rect">
            <a:avLst/>
          </a:prstGeom>
        </p:spPr>
      </p:pic>
      <p:sp>
        <p:nvSpPr>
          <p:cNvPr id="8" name="Shape 5"/>
          <p:cNvSpPr/>
          <p:nvPr/>
        </p:nvSpPr>
        <p:spPr>
          <a:xfrm>
            <a:off x="3575050" y="1672580"/>
            <a:ext cx="2286000" cy="2316361"/>
          </a:xfrm>
          <a:prstGeom prst="roundRect">
            <a:avLst>
              <a:gd name="adj" fmla="val 5278"/>
            </a:avLst>
          </a:prstGeom>
          <a:solidFill>
            <a:srgbClr val="FDFCF9"/>
          </a:solidFill>
          <a:ln w="12700">
            <a:solidFill>
              <a:srgbClr val="E2DED3"/>
            </a:solidFill>
            <a:prstDash val="solid"/>
          </a:ln>
        </p:spPr>
      </p:sp>
      <p:sp>
        <p:nvSpPr>
          <p:cNvPr id="9" name="Text 6"/>
          <p:cNvSpPr/>
          <p:nvPr/>
        </p:nvSpPr>
        <p:spPr>
          <a:xfrm>
            <a:off x="38100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JetBrains Mono" pitchFamily="49" charset="0"/>
                <a:ea typeface="JetBrains Mono" pitchFamily="49" charset="-122"/>
                <a:cs typeface="JetBrains Mono" pitchFamily="49" charset="-120"/>
              </a:rPr>
              <a:t>02</a:t>
            </a:r>
            <a:endParaRPr lang="en-US" sz="1200" dirty="0"/>
          </a:p>
        </p:txBody>
      </p:sp>
      <p:sp>
        <p:nvSpPr>
          <p:cNvPr id="10" name="Text 7"/>
          <p:cNvSpPr/>
          <p:nvPr/>
        </p:nvSpPr>
        <p:spPr>
          <a:xfrm>
            <a:off x="38100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SFT builder</a:t>
            </a:r>
            <a:endParaRPr lang="en-US" sz="1800" dirty="0"/>
          </a:p>
        </p:txBody>
      </p:sp>
      <p:sp>
        <p:nvSpPr>
          <p:cNvPr id="11" name="Text 8"/>
          <p:cNvSpPr/>
          <p:nvPr/>
        </p:nvSpPr>
        <p:spPr>
          <a:xfrm>
            <a:off x="3810000" y="2598341"/>
            <a:ext cx="1870583"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Gold passage + 2 distractors, shuffled. One direct and one chain‑of‑thought target each</a:t>
            </a:r>
            <a:endParaRPr lang="en-US" sz="1300" dirty="0"/>
          </a:p>
        </p:txBody>
      </p:sp>
      <p:pic>
        <p:nvPicPr>
          <p:cNvPr id="12" name="Image 1" descr="connector">    </p:cNvPr>
          <p:cNvPicPr>
            <a:picLocks noChangeAspect="1"/>
          </p:cNvPicPr>
          <p:nvPr/>
        </p:nvPicPr>
        <p:blipFill>
          <a:blip r:embed="rId2"/>
          <a:srcRect l="0" r="0" t="0" b="0"/>
          <a:stretch/>
        </p:blipFill>
        <p:spPr>
          <a:xfrm>
            <a:off x="5969000" y="1666230"/>
            <a:ext cx="254000" cy="101600"/>
          </a:xfrm>
          <a:prstGeom prst="rect">
            <a:avLst/>
          </a:prstGeom>
        </p:spPr>
      </p:pic>
      <p:sp>
        <p:nvSpPr>
          <p:cNvPr id="13" name="Shape 9"/>
          <p:cNvSpPr/>
          <p:nvPr/>
        </p:nvSpPr>
        <p:spPr>
          <a:xfrm>
            <a:off x="6330950" y="1672580"/>
            <a:ext cx="2286000" cy="2316361"/>
          </a:xfrm>
          <a:prstGeom prst="roundRect">
            <a:avLst>
              <a:gd name="adj" fmla="val 5278"/>
            </a:avLst>
          </a:prstGeom>
          <a:solidFill>
            <a:srgbClr val="FDFCF9"/>
          </a:solidFill>
          <a:ln w="12700">
            <a:solidFill>
              <a:srgbClr val="D9622B"/>
            </a:solidFill>
            <a:prstDash val="solid"/>
          </a:ln>
        </p:spPr>
      </p:sp>
      <p:sp>
        <p:nvSpPr>
          <p:cNvPr id="14" name="Text 10"/>
          <p:cNvSpPr/>
          <p:nvPr/>
        </p:nvSpPr>
        <p:spPr>
          <a:xfrm>
            <a:off x="65659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81A"/>
                </a:solidFill>
                <a:latin typeface="JetBrains Mono" pitchFamily="49" charset="0"/>
                <a:ea typeface="JetBrains Mono" pitchFamily="49" charset="-122"/>
                <a:cs typeface="JetBrains Mono" pitchFamily="49" charset="-120"/>
              </a:rPr>
              <a:t>03</a:t>
            </a:r>
            <a:endParaRPr lang="en-US" sz="1200" dirty="0"/>
          </a:p>
        </p:txBody>
      </p:sp>
      <p:sp>
        <p:nvSpPr>
          <p:cNvPr id="15" name="Text 11"/>
          <p:cNvSpPr/>
          <p:nvPr/>
        </p:nvSpPr>
        <p:spPr>
          <a:xfrm>
            <a:off x="65659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LoRA training</a:t>
            </a:r>
            <a:endParaRPr lang="en-US" sz="1800" dirty="0"/>
          </a:p>
        </p:txBody>
      </p:sp>
      <p:sp>
        <p:nvSpPr>
          <p:cNvPr id="16" name="Text 12"/>
          <p:cNvSpPr/>
          <p:nvPr/>
        </p:nvSpPr>
        <p:spPr>
          <a:xfrm>
            <a:off x="6565900" y="2598341"/>
            <a:ext cx="187058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Loss on answer tokens only. Keep the adapter with the lowest validation loss</a:t>
            </a:r>
            <a:endParaRPr lang="en-US" sz="1300" dirty="0"/>
          </a:p>
        </p:txBody>
      </p:sp>
      <p:pic>
        <p:nvPicPr>
          <p:cNvPr id="17" name="Image 2" descr="connector">    </p:cNvPr>
          <p:cNvPicPr>
            <a:picLocks noChangeAspect="1"/>
          </p:cNvPicPr>
          <p:nvPr/>
        </p:nvPicPr>
        <p:blipFill>
          <a:blip r:embed="rId3"/>
          <a:srcRect l="0" r="0" t="0" b="0"/>
          <a:stretch/>
        </p:blipFill>
        <p:spPr>
          <a:xfrm>
            <a:off x="8724900" y="1666230"/>
            <a:ext cx="254000" cy="101600"/>
          </a:xfrm>
          <a:prstGeom prst="rect">
            <a:avLst/>
          </a:prstGeom>
        </p:spPr>
      </p:pic>
      <p:sp>
        <p:nvSpPr>
          <p:cNvPr id="18" name="Shape 13"/>
          <p:cNvSpPr/>
          <p:nvPr/>
        </p:nvSpPr>
        <p:spPr>
          <a:xfrm>
            <a:off x="9086850" y="1672580"/>
            <a:ext cx="2286000" cy="2316361"/>
          </a:xfrm>
          <a:prstGeom prst="roundRect">
            <a:avLst>
              <a:gd name="adj" fmla="val 5278"/>
            </a:avLst>
          </a:prstGeom>
          <a:solidFill>
            <a:srgbClr val="FDFCF9"/>
          </a:solidFill>
          <a:ln w="12700">
            <a:solidFill>
              <a:srgbClr val="E2DED3"/>
            </a:solidFill>
            <a:prstDash val="solid"/>
          </a:ln>
        </p:spPr>
      </p:sp>
      <p:sp>
        <p:nvSpPr>
          <p:cNvPr id="19" name="Text 14"/>
          <p:cNvSpPr/>
          <p:nvPr/>
        </p:nvSpPr>
        <p:spPr>
          <a:xfrm>
            <a:off x="93218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JetBrains Mono" pitchFamily="49" charset="0"/>
                <a:ea typeface="JetBrains Mono" pitchFamily="49" charset="-122"/>
                <a:cs typeface="JetBrains Mono" pitchFamily="49" charset="-120"/>
              </a:rPr>
              <a:t>04</a:t>
            </a:r>
            <a:endParaRPr lang="en-US" sz="1200" dirty="0"/>
          </a:p>
        </p:txBody>
      </p:sp>
      <p:sp>
        <p:nvSpPr>
          <p:cNvPr id="20" name="Text 15"/>
          <p:cNvSpPr/>
          <p:nvPr/>
        </p:nvSpPr>
        <p:spPr>
          <a:xfrm>
            <a:off x="93218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Held‑out eval</a:t>
            </a:r>
            <a:endParaRPr lang="en-US" sz="1800" dirty="0"/>
          </a:p>
        </p:txBody>
      </p:sp>
      <p:sp>
        <p:nvSpPr>
          <p:cNvPr id="21" name="Text 16"/>
          <p:cNvSpPr/>
          <p:nvPr/>
        </p:nvSpPr>
        <p:spPr>
          <a:xfrm>
            <a:off x="9321800" y="2598341"/>
            <a:ext cx="187058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Unseen plan brochure. Base vs tuned, same prompts; only the adapter differs</a:t>
            </a:r>
            <a:endParaRPr lang="en-US" sz="1300" dirty="0"/>
          </a:p>
        </p:txBody>
      </p:sp>
      <p:sp>
        <p:nvSpPr>
          <p:cNvPr id="22" name="Text 17"/>
          <p:cNvSpPr/>
          <p:nvPr/>
        </p:nvSpPr>
        <p:spPr>
          <a:xfrm>
            <a:off x="812800" y="4401691"/>
            <a:ext cx="528472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Why distractors:</a:t>
            </a:r>
            <a:r>
              <a:rPr lang="en-US" sz="1400" dirty="0">
                <a:solidFill>
                  <a:srgbClr val="4A5568"/>
                </a:solidFill>
                <a:latin typeface="IBM Plex Sans" pitchFamily="34" charset="0"/>
                <a:ea typeface="IBM Plex Sans" pitchFamily="34" charset="-122"/>
                <a:cs typeface="IBM Plex Sans" pitchFamily="34" charset="-120"/>
              </a:rPr>
              <a:t> retrieval is never perfect, so the model must learn to ignore irrelevant chunks (the RAFT recipe).</a:t>
            </a:r>
            <a:endParaRPr lang="en-US" sz="1400" dirty="0"/>
          </a:p>
        </p:txBody>
      </p:sp>
      <p:sp>
        <p:nvSpPr>
          <p:cNvPr id="23" name="Text 18"/>
          <p:cNvSpPr/>
          <p:nvPr/>
        </p:nvSpPr>
        <p:spPr>
          <a:xfrm>
            <a:off x="6248400" y="4401691"/>
            <a:ext cx="528472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Why two formats:</a:t>
            </a:r>
            <a:r>
              <a:rPr lang="en-US" sz="1400" dirty="0">
                <a:solidFill>
                  <a:srgbClr val="4A5568"/>
                </a:solidFill>
                <a:latin typeface="IBM Plex Sans" pitchFamily="34" charset="0"/>
                <a:ea typeface="IBM Plex Sans" pitchFamily="34" charset="-122"/>
                <a:cs typeface="IBM Plex Sans" pitchFamily="34" charset="-120"/>
              </a:rPr>
              <a:t> mixing direct and chain‑of‑thought targets in one run is the FLAN multi‑task recipe.</a:t>
            </a:r>
            <a:endParaRPr lang="en-US" sz="14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JetBrains Mono" pitchFamily="49" charset="0"/>
                <a:ea typeface="JetBrains Mono" pitchFamily="49" charset="-122"/>
                <a:cs typeface="JetBrains Mono" pitchFamily="49" charset="-120"/>
              </a:rPr>
              <a:t>prepare_sft.py → train_lora.py → plot_loss.py → eval_generator.py</a:t>
            </a:r>
            <a:endParaRPr lang="en-US" sz="1200" dirty="0"/>
          </a:p>
        </p:txBody>
      </p:sp>
      <p:sp>
        <p:nvSpPr>
          <p:cNvPr id="25"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Four steps, each a script in finetuning_LLM_LORA. The base and tuned models are evaluated in the same process with the adapter switched off and on, so prompts and decoding are identical.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One question becomes two training examples</a:t>
            </a:r>
            <a:endParaRPr lang="en-US" sz="3200" dirty="0"/>
          </a:p>
        </p:txBody>
      </p:sp>
      <p:sp>
        <p:nvSpPr>
          <p:cNvPr id="3" name="Shape 1"/>
          <p:cNvSpPr/>
          <p:nvPr/>
        </p:nvSpPr>
        <p:spPr>
          <a:xfrm>
            <a:off x="812800" y="1564630"/>
            <a:ext cx="5410200" cy="4277370"/>
          </a:xfrm>
          <a:prstGeom prst="roundRect">
            <a:avLst>
              <a:gd name="adj" fmla="val 2969"/>
            </a:avLst>
          </a:prstGeom>
          <a:solidFill>
            <a:srgbClr val="16202E"/>
          </a:solidFill>
          <a:ln/>
        </p:spPr>
      </p:sp>
      <p:sp>
        <p:nvSpPr>
          <p:cNvPr id="4" name="Text 2"/>
          <p:cNvSpPr/>
          <p:nvPr/>
        </p:nvSpPr>
        <p:spPr>
          <a:xfrm>
            <a:off x="1066800" y="1818630"/>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8"/>
                </a:solidFill>
                <a:latin typeface="JetBrains Mono" pitchFamily="49" charset="0"/>
                <a:ea typeface="JetBrains Mono" pitchFamily="49" charset="-122"/>
                <a:cs typeface="JetBrains Mono" pitchFamily="49" charset="-120"/>
              </a:rPr>
              <a:t>PROMPT · masked, not trained on</a:t>
            </a:r>
            <a:endParaRPr lang="en-US" sz="1200" dirty="0"/>
          </a:p>
        </p:txBody>
      </p:sp>
      <p:sp>
        <p:nvSpPr>
          <p:cNvPr id="5" name="Text 3"/>
          <p:cNvSpPr/>
          <p:nvPr/>
        </p:nvSpPr>
        <p:spPr>
          <a:xfrm>
            <a:off x="1066800" y="2158950"/>
            <a:ext cx="504926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DCE4"/>
                </a:solidFill>
                <a:latin typeface="JetBrains Mono" pitchFamily="49" charset="0"/>
                <a:ea typeface="JetBrains Mono" pitchFamily="49" charset="-122"/>
                <a:cs typeface="JetBrains Mono" pitchFamily="49" charset="-120"/>
              </a:rPr>
              <a:t>[1] guide p.6 · Plan features </a:t>
            </a:r>
            <a:r>
              <a:rPr lang="en-US" sz="1200" dirty="0">
                <a:solidFill>
                  <a:srgbClr val="8C98A8"/>
                </a:solidFill>
                <a:latin typeface="JetBrains Mono" pitchFamily="49" charset="0"/>
                <a:ea typeface="JetBrains Mono" pitchFamily="49" charset="-122"/>
                <a:cs typeface="JetBrains Mono" pitchFamily="49" charset="-120"/>
              </a:rPr>
              <a:t>(distractor)</a:t>
            </a:r>
            <a:endParaRPr lang="en-US" sz="1200" dirty="0"/>
          </a:p>
          <a:p>
            <a:pPr algn="l" indent="0" marL="0">
              <a:lnSpc>
                <a:spcPts val="1800"/>
              </a:lnSpc>
              <a:buNone/>
            </a:pPr>
            <a:r>
              <a:rPr lang="en-US" sz="1200" dirty="0">
                <a:solidFill>
                  <a:srgbClr val="D6DCE4"/>
                </a:solidFill>
                <a:latin typeface="JetBrains Mono" pitchFamily="49" charset="0"/>
                <a:ea typeface="JetBrains Mono" pitchFamily="49" charset="-122"/>
                <a:cs typeface="JetBrains Mono" pitchFamily="49" charset="-120"/>
              </a:rPr>
              <a:t>[2] guide p.2 · Contact us </a:t>
            </a:r>
            <a:r>
              <a:rPr lang="en-US" sz="1200" dirty="0">
                <a:solidFill>
                  <a:srgbClr val="F08A5D"/>
                </a:solidFill>
                <a:latin typeface="JetBrains Mono" pitchFamily="49" charset="0"/>
                <a:ea typeface="JetBrains Mono" pitchFamily="49" charset="-122"/>
                <a:cs typeface="JetBrains Mono" pitchFamily="49" charset="-120"/>
              </a:rPr>
              <a:t>(gold)</a:t>
            </a:r>
            <a:endParaRPr lang="en-US" sz="1200" dirty="0"/>
          </a:p>
          <a:p>
            <a:pPr algn="l" indent="0" marL="0">
              <a:lnSpc>
                <a:spcPts val="1800"/>
              </a:lnSpc>
              <a:buNone/>
            </a:pPr>
            <a:r>
              <a:rPr lang="en-US" sz="1200" dirty="0">
                <a:solidFill>
                  <a:srgbClr val="D6DCE4"/>
                </a:solidFill>
                <a:latin typeface="JetBrains Mono" pitchFamily="49" charset="0"/>
                <a:ea typeface="JetBrains Mono" pitchFamily="49" charset="-122"/>
                <a:cs typeface="JetBrains Mono" pitchFamily="49" charset="-120"/>
              </a:rPr>
              <a:t>[3] guide p.4 · Both plans include </a:t>
            </a:r>
            <a:r>
              <a:rPr lang="en-US" sz="1200" dirty="0">
                <a:solidFill>
                  <a:srgbClr val="8C98A8"/>
                </a:solidFill>
                <a:latin typeface="JetBrains Mono" pitchFamily="49" charset="0"/>
                <a:ea typeface="JetBrains Mono" pitchFamily="49" charset="-122"/>
                <a:cs typeface="JetBrains Mono" pitchFamily="49" charset="-120"/>
              </a:rPr>
              <a:t>(distractor)</a:t>
            </a:r>
            <a:endParaRPr lang="en-US" sz="1200" dirty="0"/>
          </a:p>
        </p:txBody>
      </p:sp>
      <p:sp>
        <p:nvSpPr>
          <p:cNvPr id="6" name="Text 4"/>
          <p:cNvSpPr/>
          <p:nvPr/>
        </p:nvSpPr>
        <p:spPr>
          <a:xfrm>
            <a:off x="1066800" y="2971750"/>
            <a:ext cx="504926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3F1EA"/>
                </a:solidFill>
                <a:latin typeface="JetBrains Mono" pitchFamily="49" charset="0"/>
                <a:ea typeface="JetBrains Mono" pitchFamily="49" charset="-122"/>
                <a:cs typeface="JetBrains Mono" pitchFamily="49" charset="-120"/>
              </a:rPr>
              <a:t>Question: What is the phone number to contact a FedViser for GEHA dental benefits?</a:t>
            </a:r>
            <a:endParaRPr lang="en-US" sz="1200" dirty="0"/>
          </a:p>
        </p:txBody>
      </p:sp>
      <p:sp>
        <p:nvSpPr>
          <p:cNvPr id="7" name="Shape 5"/>
          <p:cNvSpPr/>
          <p:nvPr/>
        </p:nvSpPr>
        <p:spPr>
          <a:xfrm>
            <a:off x="6483350" y="1570980"/>
            <a:ext cx="4889500" cy="1170880"/>
          </a:xfrm>
          <a:prstGeom prst="roundRect">
            <a:avLst>
              <a:gd name="adj" fmla="val 10304"/>
            </a:avLst>
          </a:prstGeom>
          <a:solidFill>
            <a:srgbClr val="FDFCF9"/>
          </a:solidFill>
          <a:ln w="12700">
            <a:solidFill>
              <a:srgbClr val="E2DED3"/>
            </a:solidFill>
            <a:prstDash val="solid"/>
          </a:ln>
        </p:spPr>
      </p:sp>
      <p:sp>
        <p:nvSpPr>
          <p:cNvPr id="8" name="Text 6"/>
          <p:cNvSpPr/>
          <p:nvPr/>
        </p:nvSpPr>
        <p:spPr>
          <a:xfrm>
            <a:off x="6692900" y="1780530"/>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JetBrains Mono" pitchFamily="49" charset="0"/>
                <a:ea typeface="JetBrains Mono" pitchFamily="49" charset="-122"/>
                <a:cs typeface="JetBrains Mono" pitchFamily="49" charset="-120"/>
              </a:rPr>
              <a:t>DIRECT TARGET · trained on</a:t>
            </a:r>
            <a:endParaRPr lang="en-US" sz="1200" dirty="0"/>
          </a:p>
        </p:txBody>
      </p:sp>
      <p:sp>
        <p:nvSpPr>
          <p:cNvPr id="9" name="Text 7"/>
          <p:cNvSpPr/>
          <p:nvPr/>
        </p:nvSpPr>
        <p:spPr>
          <a:xfrm>
            <a:off x="6692900" y="2070050"/>
            <a:ext cx="460451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You can reach a FedViser … by calling 1‑855‑572‑1636 Monday through Friday from 8 a.m. to 8 p.m. Eastern time.</a:t>
            </a:r>
            <a:endParaRPr lang="en-US" sz="1300" dirty="0"/>
          </a:p>
        </p:txBody>
      </p:sp>
      <p:sp>
        <p:nvSpPr>
          <p:cNvPr id="10" name="Shape 8"/>
          <p:cNvSpPr/>
          <p:nvPr/>
        </p:nvSpPr>
        <p:spPr>
          <a:xfrm>
            <a:off x="6483350" y="2906961"/>
            <a:ext cx="4889500" cy="1851620"/>
          </a:xfrm>
          <a:prstGeom prst="roundRect">
            <a:avLst>
              <a:gd name="adj" fmla="val 6516"/>
            </a:avLst>
          </a:prstGeom>
          <a:solidFill>
            <a:srgbClr val="FDFCF9"/>
          </a:solidFill>
          <a:ln w="12700">
            <a:solidFill>
              <a:srgbClr val="D9622B"/>
            </a:solidFill>
            <a:prstDash val="solid"/>
          </a:ln>
        </p:spPr>
      </p:sp>
      <p:sp>
        <p:nvSpPr>
          <p:cNvPr id="11" name="Text 9"/>
          <p:cNvSpPr/>
          <p:nvPr/>
        </p:nvSpPr>
        <p:spPr>
          <a:xfrm>
            <a:off x="6692900" y="3116511"/>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81A"/>
                </a:solidFill>
                <a:latin typeface="JetBrains Mono" pitchFamily="49" charset="0"/>
                <a:ea typeface="JetBrains Mono" pitchFamily="49" charset="-122"/>
                <a:cs typeface="JetBrains Mono" pitchFamily="49" charset="-120"/>
              </a:rPr>
              <a:t>CHAIN‑OF‑THOUGHT TARGET · trained on</a:t>
            </a:r>
            <a:endParaRPr lang="en-US" sz="1200" dirty="0"/>
          </a:p>
        </p:txBody>
      </p:sp>
      <p:sp>
        <p:nvSpPr>
          <p:cNvPr id="12" name="Text 10"/>
          <p:cNvSpPr/>
          <p:nvPr/>
        </p:nvSpPr>
        <p:spPr>
          <a:xfrm>
            <a:off x="6692900" y="3406031"/>
            <a:ext cx="4604512"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02E"/>
                </a:solidFill>
                <a:latin typeface="JetBrains Mono" pitchFamily="49" charset="0"/>
                <a:ea typeface="JetBrains Mono" pitchFamily="49" charset="-122"/>
                <a:cs typeface="JetBrains Mono" pitchFamily="49" charset="-120"/>
              </a:rPr>
              <a:t>Evidence:</a:t>
            </a:r>
            <a:endParaRPr lang="en-US" sz="1200" dirty="0"/>
          </a:p>
          <a:p>
            <a:pPr algn="l" indent="0" marL="0">
              <a:lnSpc>
                <a:spcPts val="1800"/>
              </a:lnSpc>
              <a:buNone/>
            </a:pPr>
            <a:r>
              <a:rPr lang="en-US" sz="1200" dirty="0">
                <a:solidFill>
                  <a:srgbClr val="16202E"/>
                </a:solidFill>
                <a:latin typeface="JetBrains Mono" pitchFamily="49" charset="0"/>
                <a:ea typeface="JetBrains Mono" pitchFamily="49" charset="-122"/>
                <a:cs typeface="JetBrains Mono" pitchFamily="49" charset="-120"/>
              </a:rPr>
              <a:t>- [2] “Reach a FedViser Monday‑Friday from 8 a.m.‑8 p.m.”</a:t>
            </a:r>
            <a:endParaRPr lang="en-US" sz="1200" dirty="0"/>
          </a:p>
          <a:p>
            <a:pPr algn="l" indent="0" marL="0">
              <a:lnSpc>
                <a:spcPts val="1800"/>
              </a:lnSpc>
              <a:buNone/>
            </a:pPr>
            <a:r>
              <a:rPr lang="en-US" sz="1200" dirty="0">
                <a:solidFill>
                  <a:srgbClr val="16202E"/>
                </a:solidFill>
                <a:latin typeface="JetBrains Mono" pitchFamily="49" charset="0"/>
                <a:ea typeface="JetBrains Mono" pitchFamily="49" charset="-122"/>
                <a:cs typeface="JetBrains Mono" pitchFamily="49" charset="-120"/>
              </a:rPr>
              <a:t>Answer: You can reach a FedViser … 1‑855‑572‑1636 …</a:t>
            </a:r>
            <a:endParaRPr lang="en-US" sz="1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Real example ragas‑0002 (abridged). Evidence is extractive: the gold sentences that overlap the reference answer most.</a:t>
            </a:r>
            <a:endParaRPr lang="en-US" sz="1200" dirty="0"/>
          </a:p>
        </p:txBody>
      </p:sp>
      <p:sp>
        <p:nvSpPr>
          <p:cNvPr id="14"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Each of the 78 training questions produces a direct example and a chain-of-thought example: 156 in total. The rationale is extractive, not written by a model, which is cheaper but imperfect: in this very example the extracted evidence lines miss the line with the phone number, because that line shares few words with the answer. Worth improving with an LLM-written rationale later.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Data splits: the test set is a different document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28130"/>
          <a:ext cx="6443117" cy="3088084"/>
        </p:xfrm>
        <a:graphic>
          <a:graphicData uri="http://schemas.openxmlformats.org/drawingml/2006/table">
            <a:tbl>
              <a:tblPr/>
              <a:tblGrid>
                <a:gridCol w="2190660"/>
                <a:gridCol w="1417486"/>
                <a:gridCol w="1417486"/>
                <a:gridCol w="1417486"/>
              </a:tblGrid>
              <a:tr h="38601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train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validation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Document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guide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guide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brochure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Sections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QA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SFT examples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156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Distractor pool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Prompt tokens, mean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990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1,251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Answer tokens, mean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4" name="Shape 1"/>
          <p:cNvSpPr/>
          <p:nvPr/>
        </p:nvSpPr>
        <p:spPr>
          <a:xfrm>
            <a:off x="7630567" y="1621780"/>
            <a:ext cx="3742283" cy="3088084"/>
          </a:xfrm>
          <a:prstGeom prst="roundRect">
            <a:avLst>
              <a:gd name="adj" fmla="val 3907"/>
            </a:avLst>
          </a:prstGeom>
          <a:solidFill>
            <a:srgbClr val="FDFCF9"/>
          </a:solidFill>
          <a:ln w="12700">
            <a:solidFill>
              <a:srgbClr val="E2DED3"/>
            </a:solidFill>
            <a:prstDash val="solid"/>
          </a:ln>
        </p:spPr>
      </p:sp>
      <p:sp>
        <p:nvSpPr>
          <p:cNvPr id="5" name="Text 2"/>
          <p:cNvSpPr/>
          <p:nvPr/>
        </p:nvSpPr>
        <p:spPr>
          <a:xfrm>
            <a:off x="7890917" y="1882130"/>
            <a:ext cx="3318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Leakage checks: 5 of 5 pass</a:t>
            </a:r>
            <a:endParaRPr lang="en-US" sz="1600" dirty="0"/>
          </a:p>
        </p:txBody>
      </p:sp>
      <p:pic>
        <p:nvPicPr>
          <p:cNvPr id="6" name="Image 0" descr="CheckCircle">    </p:cNvPr>
          <p:cNvPicPr>
            <a:picLocks noChangeAspect="1"/>
          </p:cNvPicPr>
          <p:nvPr/>
        </p:nvPicPr>
        <p:blipFill>
          <a:blip r:embed="rId1"/>
          <a:srcRect l="0" r="0" t="0" b="0"/>
          <a:stretch/>
        </p:blipFill>
        <p:spPr>
          <a:xfrm>
            <a:off x="7890917" y="2266900"/>
            <a:ext cx="203200" cy="203200"/>
          </a:xfrm>
          <a:prstGeom prst="rect">
            <a:avLst/>
          </a:prstGeom>
        </p:spPr>
      </p:pic>
      <p:sp>
        <p:nvSpPr>
          <p:cNvPr id="7" name="Text 3"/>
          <p:cNvSpPr/>
          <p:nvPr/>
        </p:nvSpPr>
        <p:spPr>
          <a:xfrm>
            <a:off x="8195717" y="2252960"/>
            <a:ext cx="185183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No shared chunk IDs</a:t>
            </a:r>
            <a:endParaRPr lang="en-US" sz="1300" dirty="0"/>
          </a:p>
        </p:txBody>
      </p:sp>
      <p:pic>
        <p:nvPicPr>
          <p:cNvPr id="8" name="Image 1" descr="CheckCircle">    </p:cNvPr>
          <p:cNvPicPr>
            <a:picLocks noChangeAspect="1"/>
          </p:cNvPicPr>
          <p:nvPr/>
        </p:nvPicPr>
        <p:blipFill>
          <a:blip r:embed="rId2"/>
          <a:srcRect l="0" r="0" t="0" b="0"/>
          <a:stretch/>
        </p:blipFill>
        <p:spPr>
          <a:xfrm>
            <a:off x="7890917" y="2625030"/>
            <a:ext cx="203200" cy="203200"/>
          </a:xfrm>
          <a:prstGeom prst="rect">
            <a:avLst/>
          </a:prstGeom>
        </p:spPr>
      </p:pic>
      <p:sp>
        <p:nvSpPr>
          <p:cNvPr id="9" name="Text 4"/>
          <p:cNvSpPr/>
          <p:nvPr/>
        </p:nvSpPr>
        <p:spPr>
          <a:xfrm>
            <a:off x="8195717" y="2611090"/>
            <a:ext cx="22659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Train/val sections disjoint</a:t>
            </a:r>
            <a:endParaRPr lang="en-US" sz="1300" dirty="0"/>
          </a:p>
        </p:txBody>
      </p:sp>
      <p:pic>
        <p:nvPicPr>
          <p:cNvPr id="10" name="Image 2" descr="CheckCircle">    </p:cNvPr>
          <p:cNvPicPr>
            <a:picLocks noChangeAspect="1"/>
          </p:cNvPicPr>
          <p:nvPr/>
        </p:nvPicPr>
        <p:blipFill>
          <a:blip r:embed="rId3"/>
          <a:srcRect l="0" r="0" t="0" b="0"/>
          <a:stretch/>
        </p:blipFill>
        <p:spPr>
          <a:xfrm>
            <a:off x="7890917" y="2983161"/>
            <a:ext cx="203200" cy="203200"/>
          </a:xfrm>
          <a:prstGeom prst="rect">
            <a:avLst/>
          </a:prstGeom>
        </p:spPr>
      </p:pic>
      <p:sp>
        <p:nvSpPr>
          <p:cNvPr id="11" name="Text 5"/>
          <p:cNvSpPr/>
          <p:nvPr/>
        </p:nvSpPr>
        <p:spPr>
          <a:xfrm>
            <a:off x="8195717" y="2969220"/>
            <a:ext cx="202084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Test document unseen</a:t>
            </a:r>
            <a:endParaRPr lang="en-US" sz="1300" dirty="0"/>
          </a:p>
        </p:txBody>
      </p:sp>
      <p:pic>
        <p:nvPicPr>
          <p:cNvPr id="12" name="Image 3" descr="CheckCircle">    </p:cNvPr>
          <p:cNvPicPr>
            <a:picLocks noChangeAspect="1"/>
          </p:cNvPicPr>
          <p:nvPr/>
        </p:nvPicPr>
        <p:blipFill>
          <a:blip r:embed="rId4"/>
          <a:srcRect l="0" r="0" t="0" b="0"/>
          <a:stretch/>
        </p:blipFill>
        <p:spPr>
          <a:xfrm>
            <a:off x="7890917" y="3341291"/>
            <a:ext cx="203200" cy="203200"/>
          </a:xfrm>
          <a:prstGeom prst="rect">
            <a:avLst/>
          </a:prstGeom>
        </p:spPr>
      </p:pic>
      <p:sp>
        <p:nvSpPr>
          <p:cNvPr id="13" name="Text 6"/>
          <p:cNvSpPr/>
          <p:nvPr/>
        </p:nvSpPr>
        <p:spPr>
          <a:xfrm>
            <a:off x="8195717" y="3327350"/>
            <a:ext cx="201727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No repeated questions</a:t>
            </a:r>
            <a:endParaRPr lang="en-US" sz="1300" dirty="0"/>
          </a:p>
        </p:txBody>
      </p:sp>
      <p:pic>
        <p:nvPicPr>
          <p:cNvPr id="14" name="Image 4" descr="CheckCircle">    </p:cNvPr>
          <p:cNvPicPr>
            <a:picLocks noChangeAspect="1"/>
          </p:cNvPicPr>
          <p:nvPr/>
        </p:nvPicPr>
        <p:blipFill>
          <a:blip r:embed="rId5"/>
          <a:srcRect l="0" r="0" t="0" b="0"/>
          <a:stretch/>
        </p:blipFill>
        <p:spPr>
          <a:xfrm>
            <a:off x="7890917" y="3699421"/>
            <a:ext cx="203200" cy="203200"/>
          </a:xfrm>
          <a:prstGeom prst="rect">
            <a:avLst/>
          </a:prstGeom>
        </p:spPr>
      </p:pic>
      <p:sp>
        <p:nvSpPr>
          <p:cNvPr id="15" name="Text 7"/>
          <p:cNvSpPr/>
          <p:nvPr/>
        </p:nvSpPr>
        <p:spPr>
          <a:xfrm>
            <a:off x="8195717" y="3685480"/>
            <a:ext cx="214509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Sources inside own split</a:t>
            </a:r>
            <a:endParaRPr lang="en-US" sz="1300" dirty="0"/>
          </a:p>
        </p:txBody>
      </p:sp>
      <p:sp>
        <p:nvSpPr>
          <p:cNvPr id="16"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Guide = 2026 GEHA dental benefits guide · Brochure = 2026 plan brochure · Report: results/data_splits.md</a:t>
            </a:r>
            <a:endParaRPr lang="en-US" sz="1200" dirty="0"/>
          </a:p>
        </p:txBody>
      </p:sp>
      <p:sp>
        <p:nvSpPr>
          <p:cNvPr id="17"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Train and validation come from the same guide but different sections, so validation loss tells us about unseen text in a familiar document. The test set is the plan brochure, a document the model never trains on, so it measures transfer. split_stats.py fails the run if any of the five checks fails.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model: a frozen 1.5B base with a small adapter</a:t>
            </a:r>
            <a:endParaRPr lang="en-US" sz="3200" dirty="0"/>
          </a:p>
        </p:txBody>
      </p:sp>
      <p:sp>
        <p:nvSpPr>
          <p:cNvPr id="3" name="Shape 1"/>
          <p:cNvSpPr/>
          <p:nvPr/>
        </p:nvSpPr>
        <p:spPr>
          <a:xfrm>
            <a:off x="819150" y="1621780"/>
            <a:ext cx="2476500" cy="1931591"/>
          </a:xfrm>
          <a:prstGeom prst="roundRect">
            <a:avLst>
              <a:gd name="adj" fmla="val 6246"/>
            </a:avLst>
          </a:prstGeom>
          <a:solidFill>
            <a:srgbClr val="FDFCF9"/>
          </a:solidFill>
          <a:ln w="12700">
            <a:solidFill>
              <a:srgbClr val="E2DED3"/>
            </a:solidFill>
            <a:prstDash val="solid"/>
          </a:ln>
        </p:spPr>
      </p:sp>
      <p:sp>
        <p:nvSpPr>
          <p:cNvPr id="4" name="Text 2"/>
          <p:cNvSpPr/>
          <p:nvPr/>
        </p:nvSpPr>
        <p:spPr>
          <a:xfrm>
            <a:off x="10795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1.5B</a:t>
            </a:r>
            <a:endParaRPr lang="en-US" sz="4400" dirty="0"/>
          </a:p>
        </p:txBody>
      </p:sp>
      <p:sp>
        <p:nvSpPr>
          <p:cNvPr id="5" name="Text 3"/>
          <p:cNvSpPr/>
          <p:nvPr/>
        </p:nvSpPr>
        <p:spPr>
          <a:xfrm>
            <a:off x="10795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frozen weights in Qwen2.5‑1.5B‑Instruct</a:t>
            </a:r>
            <a:endParaRPr lang="en-US" sz="1400" dirty="0"/>
          </a:p>
        </p:txBody>
      </p:sp>
      <p:sp>
        <p:nvSpPr>
          <p:cNvPr id="6" name="Shape 4"/>
          <p:cNvSpPr/>
          <p:nvPr/>
        </p:nvSpPr>
        <p:spPr>
          <a:xfrm>
            <a:off x="3511550" y="1621780"/>
            <a:ext cx="2476500" cy="1931591"/>
          </a:xfrm>
          <a:prstGeom prst="roundRect">
            <a:avLst>
              <a:gd name="adj" fmla="val 6246"/>
            </a:avLst>
          </a:prstGeom>
          <a:solidFill>
            <a:srgbClr val="FDFCF9"/>
          </a:solidFill>
          <a:ln w="12700">
            <a:solidFill>
              <a:srgbClr val="D9622B"/>
            </a:solidFill>
            <a:prstDash val="solid"/>
          </a:ln>
        </p:spPr>
      </p:sp>
      <p:sp>
        <p:nvSpPr>
          <p:cNvPr id="7" name="Text 5"/>
          <p:cNvSpPr/>
          <p:nvPr/>
        </p:nvSpPr>
        <p:spPr>
          <a:xfrm>
            <a:off x="37719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B4481A"/>
                </a:solidFill>
                <a:latin typeface="IBM Plex Sans" pitchFamily="34" charset="0"/>
                <a:ea typeface="IBM Plex Sans" pitchFamily="34" charset="-122"/>
                <a:cs typeface="IBM Plex Sans" pitchFamily="34" charset="-120"/>
              </a:rPr>
              <a:t>18.5M</a:t>
            </a:r>
            <a:endParaRPr lang="en-US" sz="4400" dirty="0"/>
          </a:p>
        </p:txBody>
      </p:sp>
      <p:sp>
        <p:nvSpPr>
          <p:cNvPr id="8" name="Text 6"/>
          <p:cNvSpPr/>
          <p:nvPr/>
        </p:nvSpPr>
        <p:spPr>
          <a:xfrm>
            <a:off x="3771900" y="2572990"/>
            <a:ext cx="201447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trainable LoRA weights, about 1.2% of the model</a:t>
            </a:r>
            <a:endParaRPr lang="en-US" sz="1400" dirty="0"/>
          </a:p>
        </p:txBody>
      </p:sp>
      <p:sp>
        <p:nvSpPr>
          <p:cNvPr id="9" name="Shape 7"/>
          <p:cNvSpPr/>
          <p:nvPr/>
        </p:nvSpPr>
        <p:spPr>
          <a:xfrm>
            <a:off x="6203950" y="1621780"/>
            <a:ext cx="2476500" cy="1931591"/>
          </a:xfrm>
          <a:prstGeom prst="roundRect">
            <a:avLst>
              <a:gd name="adj" fmla="val 6246"/>
            </a:avLst>
          </a:prstGeom>
          <a:solidFill>
            <a:srgbClr val="FDFCF9"/>
          </a:solidFill>
          <a:ln w="12700">
            <a:solidFill>
              <a:srgbClr val="E2DED3"/>
            </a:solidFill>
            <a:prstDash val="solid"/>
          </a:ln>
        </p:spPr>
      </p:sp>
      <p:sp>
        <p:nvSpPr>
          <p:cNvPr id="10" name="Text 8"/>
          <p:cNvSpPr/>
          <p:nvPr/>
        </p:nvSpPr>
        <p:spPr>
          <a:xfrm>
            <a:off x="64643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20</a:t>
            </a:r>
            <a:endParaRPr lang="en-US" sz="4400" dirty="0"/>
          </a:p>
        </p:txBody>
      </p:sp>
      <p:sp>
        <p:nvSpPr>
          <p:cNvPr id="11" name="Text 9"/>
          <p:cNvSpPr/>
          <p:nvPr/>
        </p:nvSpPr>
        <p:spPr>
          <a:xfrm>
            <a:off x="6464300" y="2572990"/>
            <a:ext cx="201447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optimizer steps per epoch (156 examples ÷ batch 8)</a:t>
            </a:r>
            <a:endParaRPr lang="en-US" sz="1400" dirty="0"/>
          </a:p>
        </p:txBody>
      </p:sp>
      <p:sp>
        <p:nvSpPr>
          <p:cNvPr id="12" name="Shape 10"/>
          <p:cNvSpPr/>
          <p:nvPr/>
        </p:nvSpPr>
        <p:spPr>
          <a:xfrm>
            <a:off x="8896350" y="1621780"/>
            <a:ext cx="2476500" cy="1931591"/>
          </a:xfrm>
          <a:prstGeom prst="roundRect">
            <a:avLst>
              <a:gd name="adj" fmla="val 6246"/>
            </a:avLst>
          </a:prstGeom>
          <a:solidFill>
            <a:srgbClr val="FDFCF9"/>
          </a:solidFill>
          <a:ln w="12700">
            <a:solidFill>
              <a:srgbClr val="E2DED3"/>
            </a:solidFill>
            <a:prstDash val="solid"/>
          </a:ln>
        </p:spPr>
      </p:sp>
      <p:sp>
        <p:nvSpPr>
          <p:cNvPr id="13" name="Text 11"/>
          <p:cNvSpPr/>
          <p:nvPr/>
        </p:nvSpPr>
        <p:spPr>
          <a:xfrm>
            <a:off x="91567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74 MB</a:t>
            </a:r>
            <a:endParaRPr lang="en-US" sz="4400" dirty="0"/>
          </a:p>
        </p:txBody>
      </p:sp>
      <p:sp>
        <p:nvSpPr>
          <p:cNvPr id="14" name="Text 12"/>
          <p:cNvSpPr/>
          <p:nvPr/>
        </p:nvSpPr>
        <p:spPr>
          <a:xfrm>
            <a:off x="91567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adapter file on disk, vs about 3 GB for the base</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928021"/>
          <a:ext cx="10553700" cy="718641"/>
        </p:xfrm>
        <a:graphic>
          <a:graphicData uri="http://schemas.openxmlformats.org/drawingml/2006/table">
            <a:tbl>
              <a:tblPr/>
              <a:tblGrid>
                <a:gridCol w="2638425"/>
                <a:gridCol w="2638425"/>
                <a:gridCol w="2638425"/>
                <a:gridCol w="2638425"/>
              </a:tblGrid>
              <a:tr h="359321">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LoRA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Targets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Optimizer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Selection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rank 16, alpha 32, dropout 0.05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q, k, v, o, gate, up, down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AdamW 2e‑4, warmup + cosine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lowest validation loss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Adapter size measured from adapter_model.safetensors (fp32); base size is the bf16 checkpoint</a:t>
            </a:r>
            <a:endParaRPr lang="en-US" sz="1200" dirty="0"/>
          </a:p>
        </p:txBody>
      </p:sp>
      <p:sp>
        <p:nvSpPr>
          <p:cNvPr id="17"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LoRA freezes the base model and learns low-rank updates on every attention and MLP projection. Only 18.5 million weights train, which is why the saved adapter is 74 MB. With only 156 examples, an epoch is just 20 optimizer steps, which matters for the question of how many epochs to 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 the Mac: 4 h 41 min, one finished epoch</a:t>
            </a:r>
            <a:endParaRPr lang="en-US" sz="3200" dirty="0"/>
          </a:p>
        </p:txBody>
      </p:sp>
      <p:pic>
        <p:nvPicPr>
          <p:cNvPr id="3" name="Image 0" descr="ellipse">    </p:cNvPr>
          <p:cNvPicPr>
            <a:picLocks noChangeAspect="1"/>
          </p:cNvPicPr>
          <p:nvPr/>
        </p:nvPicPr>
        <p:blipFill>
          <a:blip r:embed="rId1"/>
          <a:srcRect l="0" r="0" t="0" b="0"/>
          <a:stretch/>
        </p:blipFill>
        <p:spPr>
          <a:xfrm>
            <a:off x="812800" y="1920230"/>
            <a:ext cx="203200" cy="203200"/>
          </a:xfrm>
          <a:prstGeom prst="rect">
            <a:avLst/>
          </a:prstGeom>
        </p:spPr>
      </p:pic>
      <p:sp>
        <p:nvSpPr>
          <p:cNvPr id="4" name="Text 1"/>
          <p:cNvSpPr/>
          <p:nvPr/>
        </p:nvSpPr>
        <p:spPr>
          <a:xfrm>
            <a:off x="8128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JetBrains Mono" pitchFamily="49" charset="0"/>
                <a:ea typeface="JetBrains Mono" pitchFamily="49" charset="-122"/>
                <a:cs typeface="JetBrains Mono" pitchFamily="49" charset="-120"/>
              </a:rPr>
              <a:t>02:53</a:t>
            </a:r>
            <a:endParaRPr lang="en-US" sz="1600" dirty="0"/>
          </a:p>
        </p:txBody>
      </p:sp>
      <p:sp>
        <p:nvSpPr>
          <p:cNvPr id="5" name="Text 2"/>
          <p:cNvSpPr/>
          <p:nvPr/>
        </p:nvSpPr>
        <p:spPr>
          <a:xfrm>
            <a:off x="812800" y="256029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Start on an M1 Pro, 32 GB, fp32 on the GPU (MPS)</a:t>
            </a:r>
            <a:endParaRPr lang="en-US" sz="1400" dirty="0"/>
          </a:p>
        </p:txBody>
      </p:sp>
      <p:pic>
        <p:nvPicPr>
          <p:cNvPr id="6" name="Image 1" descr="ellipse">    </p:cNvPr>
          <p:cNvPicPr>
            <a:picLocks noChangeAspect="1"/>
          </p:cNvPicPr>
          <p:nvPr/>
        </p:nvPicPr>
        <p:blipFill>
          <a:blip r:embed="rId2"/>
          <a:srcRect l="0" r="0" t="0" b="0"/>
          <a:stretch/>
        </p:blipFill>
        <p:spPr>
          <a:xfrm>
            <a:off x="3505200" y="1920230"/>
            <a:ext cx="203200" cy="203200"/>
          </a:xfrm>
          <a:prstGeom prst="rect">
            <a:avLst/>
          </a:prstGeom>
        </p:spPr>
      </p:pic>
      <p:sp>
        <p:nvSpPr>
          <p:cNvPr id="7" name="Text 3"/>
          <p:cNvSpPr/>
          <p:nvPr/>
        </p:nvSpPr>
        <p:spPr>
          <a:xfrm>
            <a:off x="35052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JetBrains Mono" pitchFamily="49" charset="0"/>
                <a:ea typeface="JetBrains Mono" pitchFamily="49" charset="-122"/>
                <a:cs typeface="JetBrains Mono" pitchFamily="49" charset="-120"/>
              </a:rPr>
              <a:t>03:57</a:t>
            </a:r>
            <a:endParaRPr lang="en-US" sz="1600" dirty="0"/>
          </a:p>
        </p:txBody>
      </p:sp>
      <p:sp>
        <p:nvSpPr>
          <p:cNvPr id="8" name="Text 4"/>
          <p:cNvSpPr/>
          <p:nvPr/>
        </p:nvSpPr>
        <p:spPr>
          <a:xfrm>
            <a:off x="3505200" y="2560290"/>
            <a:ext cx="256387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Epoch 1 done in 56 min. Validation loss 0.626 → 0.517; adapter saved</a:t>
            </a:r>
            <a:endParaRPr lang="en-US" sz="1400" dirty="0"/>
          </a:p>
        </p:txBody>
      </p:sp>
      <p:pic>
        <p:nvPicPr>
          <p:cNvPr id="9" name="Image 2" descr="ellipse">    </p:cNvPr>
          <p:cNvPicPr>
            <a:picLocks noChangeAspect="1"/>
          </p:cNvPicPr>
          <p:nvPr/>
        </p:nvPicPr>
        <p:blipFill>
          <a:blip r:embed="rId3"/>
          <a:srcRect l="0" r="0" t="0" b="0"/>
          <a:stretch/>
        </p:blipFill>
        <p:spPr>
          <a:xfrm>
            <a:off x="6197600" y="1920230"/>
            <a:ext cx="203200" cy="203200"/>
          </a:xfrm>
          <a:prstGeom prst="rect">
            <a:avLst/>
          </a:prstGeom>
        </p:spPr>
      </p:pic>
      <p:sp>
        <p:nvSpPr>
          <p:cNvPr id="10" name="Text 5"/>
          <p:cNvSpPr/>
          <p:nvPr/>
        </p:nvSpPr>
        <p:spPr>
          <a:xfrm>
            <a:off x="61976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JetBrains Mono" pitchFamily="49" charset="0"/>
                <a:ea typeface="JetBrains Mono" pitchFamily="49" charset="-122"/>
                <a:cs typeface="JetBrains Mono" pitchFamily="49" charset="-120"/>
              </a:rPr>
              <a:t>06:39</a:t>
            </a:r>
            <a:endParaRPr lang="en-US" sz="1600" dirty="0"/>
          </a:p>
        </p:txBody>
      </p:sp>
      <p:sp>
        <p:nvSpPr>
          <p:cNvPr id="11" name="Text 6"/>
          <p:cNvSpPr/>
          <p:nvPr/>
        </p:nvSpPr>
        <p:spPr>
          <a:xfrm>
            <a:off x="6197600" y="2560290"/>
            <a:ext cx="256387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Battery at 1%: the Mac hibernates for 12 min, epoch 2 still unfinished</a:t>
            </a:r>
            <a:endParaRPr lang="en-US" sz="1400" dirty="0"/>
          </a:p>
        </p:txBody>
      </p:sp>
      <p:pic>
        <p:nvPicPr>
          <p:cNvPr id="12" name="Image 3" descr="ellipse">    </p:cNvPr>
          <p:cNvPicPr>
            <a:picLocks noChangeAspect="1"/>
          </p:cNvPicPr>
          <p:nvPr/>
        </p:nvPicPr>
        <p:blipFill>
          <a:blip r:embed="rId4"/>
          <a:srcRect l="0" r="0" t="0" b="0"/>
          <a:stretch/>
        </p:blipFill>
        <p:spPr>
          <a:xfrm>
            <a:off x="8890000" y="1920230"/>
            <a:ext cx="203200" cy="203200"/>
          </a:xfrm>
          <a:prstGeom prst="rect">
            <a:avLst/>
          </a:prstGeom>
        </p:spPr>
      </p:pic>
      <p:sp>
        <p:nvSpPr>
          <p:cNvPr id="13" name="Text 7"/>
          <p:cNvSpPr/>
          <p:nvPr/>
        </p:nvSpPr>
        <p:spPr>
          <a:xfrm>
            <a:off x="88900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JetBrains Mono" pitchFamily="49" charset="0"/>
                <a:ea typeface="JetBrains Mono" pitchFamily="49" charset="-122"/>
                <a:cs typeface="JetBrains Mono" pitchFamily="49" charset="-120"/>
              </a:rPr>
              <a:t>07:34</a:t>
            </a:r>
            <a:endParaRPr lang="en-US" sz="1600" dirty="0"/>
          </a:p>
        </p:txBody>
      </p:sp>
      <p:sp>
        <p:nvSpPr>
          <p:cNvPr id="14" name="Text 8"/>
          <p:cNvSpPr/>
          <p:nvPr/>
        </p:nvSpPr>
        <p:spPr>
          <a:xfrm>
            <a:off x="8890000" y="256029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Stopped. Full run moves to a Colab GPU</a:t>
            </a:r>
            <a:endParaRPr lang="en-US" sz="1400" dirty="0"/>
          </a:p>
        </p:txBody>
      </p:sp>
      <p:pic>
        <p:nvPicPr>
          <p:cNvPr id="15" name="Image 4" descr="line">    </p:cNvPr>
          <p:cNvPicPr>
            <a:picLocks noChangeAspect="1"/>
          </p:cNvPicPr>
          <p:nvPr/>
        </p:nvPicPr>
        <p:blipFill>
          <a:blip r:embed="rId5"/>
          <a:srcRect l="0" r="0" t="0" b="0"/>
          <a:stretch/>
        </p:blipFill>
        <p:spPr>
          <a:xfrm>
            <a:off x="812800" y="1717030"/>
            <a:ext cx="10566400" cy="50800"/>
          </a:xfrm>
          <a:prstGeom prst="rect">
            <a:avLst/>
          </a:prstGeom>
        </p:spPr>
      </p:pic>
      <p:sp>
        <p:nvSpPr>
          <p:cNvPr id="16" name="Text 9"/>
          <p:cNvSpPr/>
          <p:nvPr/>
        </p:nvSpPr>
        <p:spPr>
          <a:xfrm>
            <a:off x="819150" y="3642271"/>
            <a:ext cx="3373934" cy="1165771"/>
          </a:xfrm>
          <a:prstGeom prst="roundRect">
            <a:avLst>
              <a:gd name="adj" fmla="val 10349"/>
            </a:avLst>
          </a:prstGeom>
          <a:solidFill>
            <a:srgbClr val="FDFCF9"/>
          </a:solidFill>
          <a:ln w="12700">
            <a:solidFill>
              <a:srgbClr val="E2DED3"/>
            </a:solidFill>
            <a:prstDash val="solid"/>
          </a:ln>
        </p:spPr>
        <p:txBody>
          <a:bodyPr wrap="square" lIns="174213" tIns="174213" rIns="85568"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No bf16 on M1.</a:t>
            </a:r>
            <a:r>
              <a:rPr lang="en-US" sz="1400" dirty="0">
                <a:solidFill>
                  <a:srgbClr val="16202E"/>
                </a:solidFill>
                <a:latin typeface="IBM Plex Sans" pitchFamily="34" charset="0"/>
                <a:ea typeface="IBM Plex Sans" pitchFamily="34" charset="-122"/>
                <a:cs typeface="IBM Plex Sans" pitchFamily="34" charset="-120"/>
              </a:rPr>
              <a:t> fp32 doubles memory and compute compared with a bf16 GPU.</a:t>
            </a:r>
            <a:endParaRPr lang="en-US" sz="1400" dirty="0"/>
          </a:p>
        </p:txBody>
      </p:sp>
      <p:sp>
        <p:nvSpPr>
          <p:cNvPr id="17" name="Text 10"/>
          <p:cNvSpPr/>
          <p:nvPr/>
        </p:nvSpPr>
        <p:spPr>
          <a:xfrm>
            <a:off x="4408984" y="3642271"/>
            <a:ext cx="3373983" cy="1165771"/>
          </a:xfrm>
          <a:prstGeom prst="roundRect">
            <a:avLst>
              <a:gd name="adj" fmla="val 10349"/>
            </a:avLst>
          </a:prstGeom>
          <a:solidFill>
            <a:srgbClr val="FDFCF9"/>
          </a:solidFill>
          <a:ln w="12700">
            <a:solidFill>
              <a:srgbClr val="E2DED3"/>
            </a:solidFill>
            <a:prstDash val="solid"/>
          </a:ln>
        </p:spPr>
        <p:txBody>
          <a:bodyPr wrap="square" lIns="174213" tIns="174213" rIns="85566" bIns="1742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Ran on battery.</a:t>
            </a:r>
            <a:r>
              <a:rPr lang="en-US" sz="1400" dirty="0">
                <a:solidFill>
                  <a:srgbClr val="16202E"/>
                </a:solidFill>
                <a:latin typeface="IBM Plex Sans" pitchFamily="34" charset="0"/>
                <a:ea typeface="IBM Plex Sans" pitchFamily="34" charset="-122"/>
                <a:cs typeface="IBM Plex Sans" pitchFamily="34" charset="-120"/>
              </a:rPr>
              <a:t> macOS throttled the job, then hibernated it.</a:t>
            </a:r>
            <a:endParaRPr lang="en-US" sz="1400" dirty="0"/>
          </a:p>
        </p:txBody>
      </p:sp>
      <p:sp>
        <p:nvSpPr>
          <p:cNvPr id="18" name="Text 11"/>
          <p:cNvSpPr/>
          <p:nvPr/>
        </p:nvSpPr>
        <p:spPr>
          <a:xfrm>
            <a:off x="7998867" y="3642271"/>
            <a:ext cx="3373983" cy="1165771"/>
          </a:xfrm>
          <a:prstGeom prst="roundRect">
            <a:avLst>
              <a:gd name="adj" fmla="val 10349"/>
            </a:avLst>
          </a:prstGeom>
          <a:solidFill>
            <a:srgbClr val="FDFCF9"/>
          </a:solidFill>
          <a:ln w="12700">
            <a:solidFill>
              <a:srgbClr val="E2DED3"/>
            </a:solidFill>
            <a:prstDash val="solid"/>
          </a:ln>
        </p:spPr>
        <p:txBody>
          <a:bodyPr wrap="square" lIns="174213" tIns="174213" rIns="85566" bIns="1742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Memory pressure.</a:t>
            </a:r>
            <a:r>
              <a:rPr lang="en-US" sz="1400" dirty="0">
                <a:solidFill>
                  <a:srgbClr val="16202E"/>
                </a:solidFill>
                <a:latin typeface="IBM Plex Sans" pitchFamily="34" charset="0"/>
                <a:ea typeface="IBM Plex Sans" pitchFamily="34" charset="-122"/>
                <a:cs typeface="IBM Plex Sans" pitchFamily="34" charset="-120"/>
              </a:rPr>
              <a:t> 15.8 of 17 GB swap in use slowed every step.</a:t>
            </a:r>
            <a:endParaRPr lang="en-US" sz="14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Times are local (PDT), 21 Oct 2026, from the training log and macOS power log</a:t>
            </a:r>
            <a:endParaRPr lang="en-US" sz="1200" dirty="0"/>
          </a:p>
        </p:txBody>
      </p:sp>
      <p:sp>
        <p:nvSpPr>
          <p:cNvPr id="20"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Epoch 1 took 56 minutes, about 21 seconds per training example. Epoch 2 ran for three and a half hours without finishing because of battery throttling, a 12-minute hibernation and heavy swapping. That is why the full run moves to a Colab GPU.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 a Colab A100: all 3 epochs in 3.5 minutes</a:t>
            </a:r>
            <a:endParaRPr lang="en-US" sz="3200" dirty="0"/>
          </a:p>
        </p:txBody>
      </p:sp>
      <p:sp>
        <p:nvSpPr>
          <p:cNvPr id="3" name="Shape 1"/>
          <p:cNvSpPr/>
          <p:nvPr/>
        </p:nvSpPr>
        <p:spPr>
          <a:xfrm>
            <a:off x="819150" y="1621780"/>
            <a:ext cx="3373934" cy="1931591"/>
          </a:xfrm>
          <a:prstGeom prst="roundRect">
            <a:avLst>
              <a:gd name="adj" fmla="val 6246"/>
            </a:avLst>
          </a:prstGeom>
          <a:solidFill>
            <a:srgbClr val="FDFCF9"/>
          </a:solidFill>
          <a:ln w="12700">
            <a:solidFill>
              <a:srgbClr val="E2DED3"/>
            </a:solidFill>
            <a:prstDash val="solid"/>
          </a:ln>
        </p:spPr>
      </p:sp>
      <p:sp>
        <p:nvSpPr>
          <p:cNvPr id="4" name="Text 2"/>
          <p:cNvSpPr/>
          <p:nvPr/>
        </p:nvSpPr>
        <p:spPr>
          <a:xfrm>
            <a:off x="1079500" y="1882130"/>
            <a:ext cx="2938831"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56 min</a:t>
            </a:r>
            <a:endParaRPr lang="en-US" sz="4400" dirty="0"/>
          </a:p>
        </p:txBody>
      </p:sp>
      <p:sp>
        <p:nvSpPr>
          <p:cNvPr id="5" name="Text 3"/>
          <p:cNvSpPr/>
          <p:nvPr/>
        </p:nvSpPr>
        <p:spPr>
          <a:xfrm>
            <a:off x="1079500" y="2572990"/>
            <a:ext cx="293883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one epoch on the M1 Pro, fp32 on MPS</a:t>
            </a:r>
            <a:endParaRPr lang="en-US" sz="1400" dirty="0"/>
          </a:p>
        </p:txBody>
      </p:sp>
      <p:sp>
        <p:nvSpPr>
          <p:cNvPr id="6" name="Shape 4"/>
          <p:cNvSpPr/>
          <p:nvPr/>
        </p:nvSpPr>
        <p:spPr>
          <a:xfrm>
            <a:off x="4408984" y="1621780"/>
            <a:ext cx="3373983" cy="1931591"/>
          </a:xfrm>
          <a:prstGeom prst="roundRect">
            <a:avLst>
              <a:gd name="adj" fmla="val 6246"/>
            </a:avLst>
          </a:prstGeom>
          <a:solidFill>
            <a:srgbClr val="FDFCF9"/>
          </a:solidFill>
          <a:ln w="12700">
            <a:solidFill>
              <a:srgbClr val="D9622B"/>
            </a:solidFill>
            <a:prstDash val="solid"/>
          </a:ln>
        </p:spPr>
      </p:sp>
      <p:sp>
        <p:nvSpPr>
          <p:cNvPr id="7" name="Text 5"/>
          <p:cNvSpPr/>
          <p:nvPr/>
        </p:nvSpPr>
        <p:spPr>
          <a:xfrm>
            <a:off x="4669334" y="1882130"/>
            <a:ext cx="2938882"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B4481A"/>
                </a:solidFill>
                <a:latin typeface="IBM Plex Sans" pitchFamily="34" charset="0"/>
                <a:ea typeface="IBM Plex Sans" pitchFamily="34" charset="-122"/>
                <a:cs typeface="IBM Plex Sans" pitchFamily="34" charset="-120"/>
              </a:rPr>
              <a:t>71 s</a:t>
            </a:r>
            <a:endParaRPr lang="en-US" sz="4400" dirty="0"/>
          </a:p>
        </p:txBody>
      </p:sp>
      <p:sp>
        <p:nvSpPr>
          <p:cNvPr id="8" name="Text 6"/>
          <p:cNvSpPr/>
          <p:nvPr/>
        </p:nvSpPr>
        <p:spPr>
          <a:xfrm>
            <a:off x="4669334" y="2572990"/>
            <a:ext cx="293888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one epoch on an A100‑SXM4‑40GB, bf16, validation included</a:t>
            </a:r>
            <a:endParaRPr lang="en-US" sz="1400" dirty="0"/>
          </a:p>
        </p:txBody>
      </p:sp>
      <p:sp>
        <p:nvSpPr>
          <p:cNvPr id="9" name="Shape 7"/>
          <p:cNvSpPr/>
          <p:nvPr/>
        </p:nvSpPr>
        <p:spPr>
          <a:xfrm>
            <a:off x="7998867" y="1621780"/>
            <a:ext cx="3373983" cy="1931591"/>
          </a:xfrm>
          <a:prstGeom prst="roundRect">
            <a:avLst>
              <a:gd name="adj" fmla="val 6246"/>
            </a:avLst>
          </a:prstGeom>
          <a:solidFill>
            <a:srgbClr val="FDFCF9"/>
          </a:solidFill>
          <a:ln w="12700">
            <a:solidFill>
              <a:srgbClr val="E2DED3"/>
            </a:solidFill>
            <a:prstDash val="solid"/>
          </a:ln>
        </p:spPr>
      </p:sp>
      <p:sp>
        <p:nvSpPr>
          <p:cNvPr id="10" name="Text 8"/>
          <p:cNvSpPr/>
          <p:nvPr/>
        </p:nvSpPr>
        <p:spPr>
          <a:xfrm>
            <a:off x="8259217" y="1882130"/>
            <a:ext cx="2938882"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≈47×</a:t>
            </a:r>
            <a:endParaRPr lang="en-US" sz="4400" dirty="0"/>
          </a:p>
        </p:txBody>
      </p:sp>
      <p:sp>
        <p:nvSpPr>
          <p:cNvPr id="11" name="Text 9"/>
          <p:cNvSpPr/>
          <p:nvPr/>
        </p:nvSpPr>
        <p:spPr>
          <a:xfrm>
            <a:off x="8259217" y="2572990"/>
            <a:ext cx="293888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faster per epoch, same code and data</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3928021"/>
          <a:ext cx="10553700" cy="1158032"/>
        </p:xfrm>
        <a:graphic>
          <a:graphicData uri="http://schemas.openxmlformats.org/drawingml/2006/table">
            <a:tbl>
              <a:tblPr/>
              <a:tblGrid>
                <a:gridCol w="4221480"/>
                <a:gridCol w="2110740"/>
                <a:gridCol w="4221480"/>
              </a:tblGrid>
              <a:tr h="386011">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Colab stage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Training: 60 steps, 7 validation passes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train_log.jsonl, best adapter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Eval: 82 examples × 2 models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≈23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generator_comparison.json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Training time from train_log.jsonl (elapsed_s = 212); eval time from result file timestamps</a:t>
            </a:r>
            <a:endParaRPr lang="en-US" sz="1200" dirty="0"/>
          </a:p>
        </p:txBody>
      </p:sp>
      <p:sp>
        <p:nvSpPr>
          <p:cNvPr id="14"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Same code, same data, same hyperparameters. The A100 trains in bf16 and has far more compute and memory bandwidth, so a full epoch took 71 seconds including validation, against 56 minutes on the Mac. The eval is now the slow part, because it generates 164 answers one token at a time with batch size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Validation loss bottoms out after one epoch, then climbs</a:t>
            </a:r>
            <a:endParaRPr lang="en-US" sz="3200" dirty="0"/>
          </a:p>
        </p:txBody>
      </p:sp>
      <p:sp>
        <p:nvSpPr>
          <p:cNvPr id="3" name="Shape 1"/>
          <p:cNvSpPr/>
          <p:nvPr/>
        </p:nvSpPr>
        <p:spPr>
          <a:xfrm>
            <a:off x="812800" y="5253434"/>
            <a:ext cx="6096000" cy="0"/>
          </a:xfrm>
          <a:prstGeom prst="line">
            <a:avLst/>
          </a:prstGeom>
          <a:noFill/>
          <a:ln w="19050">
            <a:solidFill>
              <a:srgbClr val="C9C3B5"/>
            </a:solidFill>
            <a:prstDash val="solid"/>
          </a:ln>
        </p:spPr>
      </p:sp>
      <p:sp>
        <p:nvSpPr>
          <p:cNvPr id="4" name="Text 2"/>
          <p:cNvSpPr/>
          <p:nvPr/>
        </p:nvSpPr>
        <p:spPr>
          <a:xfrm>
            <a:off x="1300480" y="178573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JetBrains Mono" pitchFamily="49" charset="0"/>
                <a:ea typeface="JetBrains Mono" pitchFamily="49" charset="-122"/>
                <a:cs typeface="JetBrains Mono" pitchFamily="49" charset="-120"/>
              </a:rPr>
              <a:t>0.627</a:t>
            </a:r>
            <a:endParaRPr lang="en-US" sz="1200" dirty="0"/>
          </a:p>
        </p:txBody>
      </p:sp>
      <p:sp>
        <p:nvSpPr>
          <p:cNvPr id="5" name="Shape 3"/>
          <p:cNvSpPr/>
          <p:nvPr/>
        </p:nvSpPr>
        <p:spPr>
          <a:xfrm>
            <a:off x="1270000" y="2062559"/>
            <a:ext cx="609600" cy="3181350"/>
          </a:xfrm>
          <a:custGeom>
            <a:avLst/>
            <a:gdLst/>
            <a:ahLst/>
            <a:cxnLst/>
            <a:rect l="l" t="t" r="r" b="b"/>
            <a:pathLst>
              <a:path w="609600" h="3181350">
                <a:moveTo>
                  <a:pt x="50800" y="0"/>
                </a:moveTo>
                <a:lnTo>
                  <a:pt x="558800" y="0"/>
                </a:lnTo>
                <a:arcTo hR="50800" wR="50800" stAng="16200000" swAng="5400000"/>
                <a:lnTo>
                  <a:pt x="609600" y="3181350"/>
                </a:lnTo>
                <a:lnTo>
                  <a:pt x="0" y="3181350"/>
                </a:lnTo>
                <a:lnTo>
                  <a:pt x="0" y="50800"/>
                </a:lnTo>
                <a:arcTo hR="50800" wR="50800" stAng="10800000" swAng="5400000"/>
                <a:close/>
              </a:path>
            </a:pathLst>
          </a:custGeom>
          <a:solidFill>
            <a:srgbClr val="C9C3B5"/>
          </a:solidFill>
          <a:ln/>
        </p:spPr>
      </p:sp>
      <p:sp>
        <p:nvSpPr>
          <p:cNvPr id="6" name="Text 4"/>
          <p:cNvSpPr/>
          <p:nvPr/>
        </p:nvSpPr>
        <p:spPr>
          <a:xfrm>
            <a:off x="2062480" y="224928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JetBrains Mono" pitchFamily="49" charset="0"/>
                <a:ea typeface="JetBrains Mono" pitchFamily="49" charset="-122"/>
                <a:cs typeface="JetBrains Mono" pitchFamily="49" charset="-120"/>
              </a:rPr>
              <a:t>0.535</a:t>
            </a:r>
            <a:endParaRPr lang="en-US" sz="1200" dirty="0"/>
          </a:p>
        </p:txBody>
      </p:sp>
      <p:sp>
        <p:nvSpPr>
          <p:cNvPr id="7" name="Shape 5"/>
          <p:cNvSpPr/>
          <p:nvPr/>
        </p:nvSpPr>
        <p:spPr>
          <a:xfrm>
            <a:off x="2032000" y="2526109"/>
            <a:ext cx="609600" cy="2717800"/>
          </a:xfrm>
          <a:custGeom>
            <a:avLst/>
            <a:gdLst/>
            <a:ahLst/>
            <a:cxnLst/>
            <a:rect l="l" t="t" r="r" b="b"/>
            <a:pathLst>
              <a:path w="609600" h="2717800">
                <a:moveTo>
                  <a:pt x="50800" y="0"/>
                </a:moveTo>
                <a:lnTo>
                  <a:pt x="558800" y="0"/>
                </a:lnTo>
                <a:arcTo hR="50800" wR="50800" stAng="16200000" swAng="5400000"/>
                <a:lnTo>
                  <a:pt x="609600" y="2717800"/>
                </a:lnTo>
                <a:lnTo>
                  <a:pt x="0" y="2717800"/>
                </a:lnTo>
                <a:lnTo>
                  <a:pt x="0" y="50800"/>
                </a:lnTo>
                <a:arcTo hR="50800" wR="50800" stAng="10800000" swAng="5400000"/>
                <a:close/>
              </a:path>
            </a:pathLst>
          </a:custGeom>
          <a:solidFill>
            <a:srgbClr val="C9C3B5"/>
          </a:solidFill>
          <a:ln/>
        </p:spPr>
      </p:sp>
      <p:sp>
        <p:nvSpPr>
          <p:cNvPr id="8" name="Text 6"/>
          <p:cNvSpPr/>
          <p:nvPr/>
        </p:nvSpPr>
        <p:spPr>
          <a:xfrm>
            <a:off x="2824480" y="233818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481A"/>
                </a:solidFill>
                <a:latin typeface="JetBrains Mono" pitchFamily="49" charset="0"/>
                <a:ea typeface="JetBrains Mono" pitchFamily="49" charset="-122"/>
                <a:cs typeface="JetBrains Mono" pitchFamily="49" charset="-120"/>
              </a:rPr>
              <a:t>0.517</a:t>
            </a:r>
            <a:endParaRPr lang="en-US" sz="1200" dirty="0"/>
          </a:p>
        </p:txBody>
      </p:sp>
      <p:sp>
        <p:nvSpPr>
          <p:cNvPr id="9" name="Shape 7"/>
          <p:cNvSpPr/>
          <p:nvPr/>
        </p:nvSpPr>
        <p:spPr>
          <a:xfrm>
            <a:off x="2794000" y="2615009"/>
            <a:ext cx="609600" cy="2628900"/>
          </a:xfrm>
          <a:custGeom>
            <a:avLst/>
            <a:gdLst/>
            <a:ahLst/>
            <a:cxnLst/>
            <a:rect l="l" t="t" r="r" b="b"/>
            <a:pathLst>
              <a:path w="609600" h="2628900">
                <a:moveTo>
                  <a:pt x="50800" y="0"/>
                </a:moveTo>
                <a:lnTo>
                  <a:pt x="558800" y="0"/>
                </a:lnTo>
                <a:arcTo hR="50800" wR="50800" stAng="16200000" swAng="5400000"/>
                <a:lnTo>
                  <a:pt x="609600" y="2628900"/>
                </a:lnTo>
                <a:lnTo>
                  <a:pt x="0" y="2628900"/>
                </a:lnTo>
                <a:lnTo>
                  <a:pt x="0" y="50800"/>
                </a:lnTo>
                <a:arcTo hR="50800" wR="50800" stAng="10800000" swAng="5400000"/>
                <a:close/>
              </a:path>
            </a:pathLst>
          </a:custGeom>
          <a:solidFill>
            <a:srgbClr val="D9622B"/>
          </a:solidFill>
          <a:ln/>
        </p:spPr>
      </p:sp>
      <p:sp>
        <p:nvSpPr>
          <p:cNvPr id="10" name="Text 8"/>
          <p:cNvSpPr/>
          <p:nvPr/>
        </p:nvSpPr>
        <p:spPr>
          <a:xfrm>
            <a:off x="3586480" y="221753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JetBrains Mono" pitchFamily="49" charset="0"/>
                <a:ea typeface="JetBrains Mono" pitchFamily="49" charset="-122"/>
                <a:cs typeface="JetBrains Mono" pitchFamily="49" charset="-120"/>
              </a:rPr>
              <a:t>0.541</a:t>
            </a:r>
            <a:endParaRPr lang="en-US" sz="1200" dirty="0"/>
          </a:p>
        </p:txBody>
      </p:sp>
      <p:sp>
        <p:nvSpPr>
          <p:cNvPr id="11" name="Shape 9"/>
          <p:cNvSpPr/>
          <p:nvPr/>
        </p:nvSpPr>
        <p:spPr>
          <a:xfrm>
            <a:off x="3556000" y="2494359"/>
            <a:ext cx="609600" cy="2749550"/>
          </a:xfrm>
          <a:custGeom>
            <a:avLst/>
            <a:gdLst/>
            <a:ahLst/>
            <a:cxnLst/>
            <a:rect l="l" t="t" r="r" b="b"/>
            <a:pathLst>
              <a:path w="609600" h="2749550">
                <a:moveTo>
                  <a:pt x="50800" y="0"/>
                </a:moveTo>
                <a:lnTo>
                  <a:pt x="558800" y="0"/>
                </a:lnTo>
                <a:arcTo hR="50800" wR="50800" stAng="16200000" swAng="5400000"/>
                <a:lnTo>
                  <a:pt x="609600" y="2749550"/>
                </a:lnTo>
                <a:lnTo>
                  <a:pt x="0" y="2749550"/>
                </a:lnTo>
                <a:lnTo>
                  <a:pt x="0" y="50800"/>
                </a:lnTo>
                <a:arcTo hR="50800" wR="50800" stAng="10800000" swAng="5400000"/>
                <a:close/>
              </a:path>
            </a:pathLst>
          </a:custGeom>
          <a:solidFill>
            <a:srgbClr val="C9C3B5"/>
          </a:solidFill>
          <a:ln/>
        </p:spPr>
      </p:sp>
      <p:sp>
        <p:nvSpPr>
          <p:cNvPr id="12" name="Text 10"/>
          <p:cNvSpPr/>
          <p:nvPr/>
        </p:nvSpPr>
        <p:spPr>
          <a:xfrm>
            <a:off x="4348480" y="203973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JetBrains Mono" pitchFamily="49" charset="0"/>
                <a:ea typeface="JetBrains Mono" pitchFamily="49" charset="-122"/>
                <a:cs typeface="JetBrains Mono" pitchFamily="49" charset="-120"/>
              </a:rPr>
              <a:t>0.576</a:t>
            </a:r>
            <a:endParaRPr lang="en-US" sz="1200" dirty="0"/>
          </a:p>
        </p:txBody>
      </p:sp>
      <p:sp>
        <p:nvSpPr>
          <p:cNvPr id="13" name="Shape 11"/>
          <p:cNvSpPr/>
          <p:nvPr/>
        </p:nvSpPr>
        <p:spPr>
          <a:xfrm>
            <a:off x="4318000" y="2316559"/>
            <a:ext cx="609600" cy="2927350"/>
          </a:xfrm>
          <a:custGeom>
            <a:avLst/>
            <a:gdLst/>
            <a:ahLst/>
            <a:cxnLst/>
            <a:rect l="l" t="t" r="r" b="b"/>
            <a:pathLst>
              <a:path w="609600" h="2927350">
                <a:moveTo>
                  <a:pt x="50800" y="0"/>
                </a:moveTo>
                <a:lnTo>
                  <a:pt x="558800" y="0"/>
                </a:lnTo>
                <a:arcTo hR="50800" wR="50800" stAng="16200000" swAng="5400000"/>
                <a:lnTo>
                  <a:pt x="609600" y="2927350"/>
                </a:lnTo>
                <a:lnTo>
                  <a:pt x="0" y="2927350"/>
                </a:lnTo>
                <a:lnTo>
                  <a:pt x="0" y="50800"/>
                </a:lnTo>
                <a:arcTo hR="50800" wR="50800" stAng="10800000" swAng="5400000"/>
                <a:close/>
              </a:path>
            </a:pathLst>
          </a:custGeom>
          <a:solidFill>
            <a:srgbClr val="C9C3B5"/>
          </a:solidFill>
          <a:ln/>
        </p:spPr>
      </p:sp>
      <p:sp>
        <p:nvSpPr>
          <p:cNvPr id="14" name="Text 12"/>
          <p:cNvSpPr/>
          <p:nvPr/>
        </p:nvSpPr>
        <p:spPr>
          <a:xfrm>
            <a:off x="5110480" y="191273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JetBrains Mono" pitchFamily="49" charset="0"/>
                <a:ea typeface="JetBrains Mono" pitchFamily="49" charset="-122"/>
                <a:cs typeface="JetBrains Mono" pitchFamily="49" charset="-120"/>
              </a:rPr>
              <a:t>0.601</a:t>
            </a:r>
            <a:endParaRPr lang="en-US" sz="1200" dirty="0"/>
          </a:p>
        </p:txBody>
      </p:sp>
      <p:sp>
        <p:nvSpPr>
          <p:cNvPr id="15" name="Shape 13"/>
          <p:cNvSpPr/>
          <p:nvPr/>
        </p:nvSpPr>
        <p:spPr>
          <a:xfrm>
            <a:off x="5080000" y="2189559"/>
            <a:ext cx="609600" cy="3054350"/>
          </a:xfrm>
          <a:custGeom>
            <a:avLst/>
            <a:gdLst/>
            <a:ahLst/>
            <a:cxnLst/>
            <a:rect l="l" t="t" r="r" b="b"/>
            <a:pathLst>
              <a:path w="609600" h="3054350">
                <a:moveTo>
                  <a:pt x="50800" y="0"/>
                </a:moveTo>
                <a:lnTo>
                  <a:pt x="558800" y="0"/>
                </a:lnTo>
                <a:arcTo hR="50800" wR="50800" stAng="16200000" swAng="5400000"/>
                <a:lnTo>
                  <a:pt x="609600" y="3054350"/>
                </a:lnTo>
                <a:lnTo>
                  <a:pt x="0" y="3054350"/>
                </a:lnTo>
                <a:lnTo>
                  <a:pt x="0" y="50800"/>
                </a:lnTo>
                <a:arcTo hR="50800" wR="50800" stAng="10800000" swAng="5400000"/>
                <a:close/>
              </a:path>
            </a:pathLst>
          </a:custGeom>
          <a:solidFill>
            <a:srgbClr val="C9C3B5"/>
          </a:solidFill>
          <a:ln/>
        </p:spPr>
      </p:sp>
      <p:sp>
        <p:nvSpPr>
          <p:cNvPr id="16" name="Text 14"/>
          <p:cNvSpPr/>
          <p:nvPr/>
        </p:nvSpPr>
        <p:spPr>
          <a:xfrm>
            <a:off x="5872480" y="1880989"/>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JetBrains Mono" pitchFamily="49" charset="0"/>
                <a:ea typeface="JetBrains Mono" pitchFamily="49" charset="-122"/>
                <a:cs typeface="JetBrains Mono" pitchFamily="49" charset="-120"/>
              </a:rPr>
              <a:t>0.607</a:t>
            </a:r>
            <a:endParaRPr lang="en-US" sz="1200" dirty="0"/>
          </a:p>
        </p:txBody>
      </p:sp>
      <p:sp>
        <p:nvSpPr>
          <p:cNvPr id="17" name="Shape 15"/>
          <p:cNvSpPr/>
          <p:nvPr/>
        </p:nvSpPr>
        <p:spPr>
          <a:xfrm>
            <a:off x="5842000" y="2157809"/>
            <a:ext cx="609600" cy="3086100"/>
          </a:xfrm>
          <a:custGeom>
            <a:avLst/>
            <a:gdLst/>
            <a:ahLst/>
            <a:cxnLst/>
            <a:rect l="l" t="t" r="r" b="b"/>
            <a:pathLst>
              <a:path w="609600" h="3086100">
                <a:moveTo>
                  <a:pt x="50800" y="0"/>
                </a:moveTo>
                <a:lnTo>
                  <a:pt x="558800" y="0"/>
                </a:lnTo>
                <a:arcTo hR="50800" wR="50800" stAng="16200000" swAng="5400000"/>
                <a:lnTo>
                  <a:pt x="609600" y="3086100"/>
                </a:lnTo>
                <a:lnTo>
                  <a:pt x="0" y="3086100"/>
                </a:lnTo>
                <a:lnTo>
                  <a:pt x="0" y="50800"/>
                </a:lnTo>
                <a:arcTo hR="50800" wR="50800" stAng="10800000" swAng="5400000"/>
                <a:close/>
              </a:path>
            </a:pathLst>
          </a:custGeom>
          <a:solidFill>
            <a:srgbClr val="C9C3B5"/>
          </a:solidFill>
          <a:ln/>
        </p:spPr>
      </p:sp>
      <p:sp>
        <p:nvSpPr>
          <p:cNvPr id="18" name="Text 16"/>
          <p:cNvSpPr/>
          <p:nvPr/>
        </p:nvSpPr>
        <p:spPr>
          <a:xfrm>
            <a:off x="1244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19" name="Text 17"/>
          <p:cNvSpPr/>
          <p:nvPr/>
        </p:nvSpPr>
        <p:spPr>
          <a:xfrm>
            <a:off x="2006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0.5</a:t>
            </a:r>
            <a:endParaRPr lang="en-US" sz="1200" dirty="0"/>
          </a:p>
        </p:txBody>
      </p:sp>
      <p:sp>
        <p:nvSpPr>
          <p:cNvPr id="20" name="Text 18"/>
          <p:cNvSpPr/>
          <p:nvPr/>
        </p:nvSpPr>
        <p:spPr>
          <a:xfrm>
            <a:off x="2768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481A"/>
                </a:solidFill>
                <a:latin typeface="IBM Plex Sans" pitchFamily="34" charset="0"/>
                <a:ea typeface="IBM Plex Sans" pitchFamily="34" charset="-122"/>
                <a:cs typeface="IBM Plex Sans" pitchFamily="34" charset="-120"/>
              </a:rPr>
              <a:t>1</a:t>
            </a:r>
            <a:endParaRPr lang="en-US" sz="1200" dirty="0"/>
          </a:p>
        </p:txBody>
      </p:sp>
      <p:sp>
        <p:nvSpPr>
          <p:cNvPr id="21" name="Text 19"/>
          <p:cNvSpPr/>
          <p:nvPr/>
        </p:nvSpPr>
        <p:spPr>
          <a:xfrm>
            <a:off x="3530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1.5</a:t>
            </a:r>
            <a:endParaRPr lang="en-US" sz="1200" dirty="0"/>
          </a:p>
        </p:txBody>
      </p:sp>
      <p:sp>
        <p:nvSpPr>
          <p:cNvPr id="22" name="Text 20"/>
          <p:cNvSpPr/>
          <p:nvPr/>
        </p:nvSpPr>
        <p:spPr>
          <a:xfrm>
            <a:off x="4292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23" name="Text 21"/>
          <p:cNvSpPr/>
          <p:nvPr/>
        </p:nvSpPr>
        <p:spPr>
          <a:xfrm>
            <a:off x="5054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2.5</a:t>
            </a:r>
            <a:endParaRPr lang="en-US" sz="1200" dirty="0"/>
          </a:p>
        </p:txBody>
      </p:sp>
      <p:sp>
        <p:nvSpPr>
          <p:cNvPr id="24" name="Text 22"/>
          <p:cNvSpPr/>
          <p:nvPr/>
        </p:nvSpPr>
        <p:spPr>
          <a:xfrm>
            <a:off x="5816600" y="5339159"/>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a:t>
            </a:r>
            <a:endParaRPr lang="en-US" sz="1200" dirty="0"/>
          </a:p>
        </p:txBody>
      </p:sp>
      <p:sp>
        <p:nvSpPr>
          <p:cNvPr id="25" name="Text 23"/>
          <p:cNvSpPr/>
          <p:nvPr/>
        </p:nvSpPr>
        <p:spPr>
          <a:xfrm>
            <a:off x="721360" y="5628680"/>
            <a:ext cx="62788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epoch</a:t>
            </a:r>
            <a:endParaRPr lang="en-US" sz="1200" dirty="0"/>
          </a:p>
        </p:txBody>
      </p:sp>
      <p:sp>
        <p:nvSpPr>
          <p:cNvPr id="26" name="Text 24"/>
          <p:cNvSpPr/>
          <p:nvPr/>
        </p:nvSpPr>
        <p:spPr>
          <a:xfrm>
            <a:off x="7315200" y="3009900"/>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81A"/>
                </a:solidFill>
                <a:latin typeface="IBM Plex Sans" pitchFamily="34" charset="0"/>
                <a:ea typeface="IBM Plex Sans" pitchFamily="34" charset="-122"/>
                <a:cs typeface="IBM Plex Sans" pitchFamily="34" charset="-120"/>
              </a:rPr>
              <a:t>Best at epoch 1 (step 20):</a:t>
            </a:r>
            <a:r>
              <a:rPr lang="en-US" sz="1500" dirty="0">
                <a:solidFill>
                  <a:srgbClr val="4A5568"/>
                </a:solidFill>
                <a:latin typeface="IBM Plex Sans" pitchFamily="34" charset="0"/>
                <a:ea typeface="IBM Plex Sans" pitchFamily="34" charset="-122"/>
                <a:cs typeface="IBM Plex Sans" pitchFamily="34" charset="-120"/>
              </a:rPr>
              <a:t> 0.517, down 17% from 0.627 before training.</a:t>
            </a:r>
            <a:endParaRPr lang="en-US" sz="1500" dirty="0"/>
          </a:p>
        </p:txBody>
      </p:sp>
      <p:sp>
        <p:nvSpPr>
          <p:cNvPr id="27" name="Text 25"/>
          <p:cNvSpPr/>
          <p:nvPr/>
        </p:nvSpPr>
        <p:spPr>
          <a:xfrm>
            <a:off x="7315200" y="3721100"/>
            <a:ext cx="418592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IBM Plex Sans" pitchFamily="34" charset="0"/>
                <a:ea typeface="IBM Plex Sans" pitchFamily="34" charset="-122"/>
                <a:cs typeface="IBM Plex Sans" pitchFamily="34" charset="-120"/>
              </a:rPr>
              <a:t>Epochs 2–3:</a:t>
            </a:r>
            <a:r>
              <a:rPr lang="en-US" sz="1500" dirty="0">
                <a:solidFill>
                  <a:srgbClr val="4A5568"/>
                </a:solidFill>
                <a:latin typeface="IBM Plex Sans" pitchFamily="34" charset="0"/>
                <a:ea typeface="IBM Plex Sans" pitchFamily="34" charset="-122"/>
                <a:cs typeface="IBM Plex Sans" pitchFamily="34" charset="-120"/>
              </a:rPr>
              <a:t> validation loss climbs back to 0.607 while train loss keeps falling to about 0.11.</a:t>
            </a:r>
            <a:endParaRPr lang="en-US" sz="1500" dirty="0"/>
          </a:p>
        </p:txBody>
      </p:sp>
      <p:sp>
        <p:nvSpPr>
          <p:cNvPr id="28" name="Text 26"/>
          <p:cNvSpPr/>
          <p:nvPr/>
        </p:nvSpPr>
        <p:spPr>
          <a:xfrm>
            <a:off x="7315200" y="4699000"/>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IBM Plex Sans" pitchFamily="34" charset="0"/>
                <a:ea typeface="IBM Plex Sans" pitchFamily="34" charset="-122"/>
                <a:cs typeface="IBM Plex Sans" pitchFamily="34" charset="-120"/>
              </a:rPr>
              <a:t>Kept:</a:t>
            </a:r>
            <a:r>
              <a:rPr lang="en-US" sz="1500" dirty="0">
                <a:solidFill>
                  <a:srgbClr val="4A5568"/>
                </a:solidFill>
                <a:latin typeface="IBM Plex Sans" pitchFamily="34" charset="0"/>
                <a:ea typeface="IBM Plex Sans" pitchFamily="34" charset="-122"/>
                <a:cs typeface="IBM Plex Sans" pitchFamily="34" charset="-120"/>
              </a:rPr>
              <a:t> only the epoch‑1 adapter, so the later epochs never reach the eval.</a:t>
            </a:r>
            <a:endParaRPr lang="en-US" sz="15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Validation = 24 questions × 2 formats from guide sections never trained on · Colab A100 run · bars start at zero</a:t>
            </a:r>
            <a:endParaRPr lang="en-US" sz="1200" dirty="0"/>
          </a:p>
        </p:txBody>
      </p:sp>
      <p:sp>
        <p:nvSpPr>
          <p:cNvPr id="30"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Validation loss is checked every 10 steps. It falls for the first 20 steps, an epoch, and then rises for the remaining 40 while training loss keeps dropping. That is the textbook overfitting pattern. The trainer saves only the lowest-validation checkpoint, so the adapter that was evaluated is the epoch-1 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1EA"/>
                </a:solidFill>
                <a:latin typeface="IBM Plex Sans" pitchFamily="34" charset="0"/>
                <a:ea typeface="IBM Plex Sans" pitchFamily="34" charset="-122"/>
                <a:cs typeface="IBM Plex Sans" pitchFamily="34" charset="-120"/>
              </a:rPr>
              <a:t>Is it overfit? Yes after epoch 1, and the kept adapter avoids it</a:t>
            </a:r>
            <a:endParaRPr lang="en-US" sz="3200" dirty="0"/>
          </a:p>
        </p:txBody>
      </p:sp>
      <p:sp>
        <p:nvSpPr>
          <p:cNvPr id="3" name="Shape 1"/>
          <p:cNvSpPr/>
          <p:nvPr/>
        </p:nvSpPr>
        <p:spPr>
          <a:xfrm>
            <a:off x="812800" y="2011660"/>
            <a:ext cx="3352800" cy="3830340"/>
          </a:xfrm>
          <a:prstGeom prst="roundRect">
            <a:avLst>
              <a:gd name="adj" fmla="val 3788"/>
            </a:avLst>
          </a:prstGeom>
          <a:solidFill>
            <a:srgbClr val="1F2B3C"/>
          </a:solidFill>
          <a:ln/>
        </p:spPr>
      </p:sp>
      <p:sp>
        <p:nvSpPr>
          <p:cNvPr id="4" name="Text 2"/>
          <p:cNvSpPr/>
          <p:nvPr/>
        </p:nvSpPr>
        <p:spPr>
          <a:xfrm>
            <a:off x="1066800" y="226566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5D"/>
                </a:solidFill>
                <a:latin typeface="JetBrains Mono" pitchFamily="49" charset="0"/>
                <a:ea typeface="JetBrains Mono" pitchFamily="49" charset="-122"/>
                <a:cs typeface="JetBrains Mono" pitchFamily="49" charset="-120"/>
              </a:rPr>
              <a:t>EPOCH 3</a:t>
            </a:r>
            <a:endParaRPr lang="en-US" sz="1200" dirty="0"/>
          </a:p>
        </p:txBody>
      </p:sp>
      <p:sp>
        <p:nvSpPr>
          <p:cNvPr id="5" name="Text 3"/>
          <p:cNvSpPr/>
          <p:nvPr/>
        </p:nvSpPr>
        <p:spPr>
          <a:xfrm>
            <a:off x="1066800" y="2605980"/>
            <a:ext cx="2930144" cy="75178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3F1EA"/>
                </a:solidFill>
                <a:latin typeface="JetBrains Mono" pitchFamily="49" charset="0"/>
                <a:ea typeface="JetBrains Mono" pitchFamily="49" charset="-122"/>
                <a:cs typeface="JetBrains Mono" pitchFamily="49" charset="-120"/>
              </a:rPr>
              <a:t>train ≈0.11</a:t>
            </a:r>
            <a:endParaRPr lang="en-US" sz="2200" dirty="0"/>
          </a:p>
          <a:p>
            <a:pPr algn="l" indent="0" marL="0">
              <a:lnSpc>
                <a:spcPts val="2860"/>
              </a:lnSpc>
              <a:buNone/>
            </a:pPr>
            <a:r>
              <a:rPr lang="en-US" sz="2200" b="1" dirty="0">
                <a:solidFill>
                  <a:srgbClr val="F3F1EA"/>
                </a:solidFill>
                <a:latin typeface="JetBrains Mono" pitchFamily="49" charset="0"/>
                <a:ea typeface="JetBrains Mono" pitchFamily="49" charset="-122"/>
                <a:cs typeface="JetBrains Mono" pitchFamily="49" charset="-120"/>
              </a:rPr>
              <a:t>val   0.607</a:t>
            </a:r>
            <a:endParaRPr lang="en-US" sz="2200" dirty="0"/>
          </a:p>
        </p:txBody>
      </p:sp>
      <p:sp>
        <p:nvSpPr>
          <p:cNvPr id="6" name="Text 4"/>
          <p:cNvSpPr/>
          <p:nvPr/>
        </p:nvSpPr>
        <p:spPr>
          <a:xfrm>
            <a:off x="1066800" y="3459361"/>
            <a:ext cx="2930144"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D1"/>
                </a:solidFill>
                <a:latin typeface="IBM Plex Sans" pitchFamily="34" charset="0"/>
                <a:ea typeface="IBM Plex Sans" pitchFamily="34" charset="-122"/>
                <a:cs typeface="IBM Plex Sans" pitchFamily="34" charset="-120"/>
              </a:rPr>
              <a:t>The gap between validation and recent training loss grows from −0.07 to +0.48: the model memorizes the 78 training answers.</a:t>
            </a:r>
            <a:endParaRPr lang="en-US" sz="1400" dirty="0"/>
          </a:p>
        </p:txBody>
      </p:sp>
      <p:sp>
        <p:nvSpPr>
          <p:cNvPr id="7" name="Shape 5"/>
          <p:cNvSpPr/>
          <p:nvPr/>
        </p:nvSpPr>
        <p:spPr>
          <a:xfrm>
            <a:off x="4419600" y="2011660"/>
            <a:ext cx="3352800" cy="3830340"/>
          </a:xfrm>
          <a:prstGeom prst="roundRect">
            <a:avLst>
              <a:gd name="adj" fmla="val 3788"/>
            </a:avLst>
          </a:prstGeom>
          <a:solidFill>
            <a:srgbClr val="1F2B3C"/>
          </a:solidFill>
          <a:ln/>
        </p:spPr>
      </p:sp>
      <p:sp>
        <p:nvSpPr>
          <p:cNvPr id="8" name="Text 6"/>
          <p:cNvSpPr/>
          <p:nvPr/>
        </p:nvSpPr>
        <p:spPr>
          <a:xfrm>
            <a:off x="4673600" y="226566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5D"/>
                </a:solidFill>
                <a:latin typeface="JetBrains Mono" pitchFamily="49" charset="0"/>
                <a:ea typeface="JetBrains Mono" pitchFamily="49" charset="-122"/>
                <a:cs typeface="JetBrains Mono" pitchFamily="49" charset="-120"/>
              </a:rPr>
              <a:t>EPOCH 1 (KEPT)</a:t>
            </a:r>
            <a:endParaRPr lang="en-US" sz="1200" dirty="0"/>
          </a:p>
        </p:txBody>
      </p:sp>
      <p:sp>
        <p:nvSpPr>
          <p:cNvPr id="9" name="Text 7"/>
          <p:cNvSpPr/>
          <p:nvPr/>
        </p:nvSpPr>
        <p:spPr>
          <a:xfrm>
            <a:off x="4673600" y="2605980"/>
            <a:ext cx="2930144" cy="38859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3F1EA"/>
                </a:solidFill>
                <a:latin typeface="JetBrains Mono" pitchFamily="49" charset="0"/>
                <a:ea typeface="JetBrains Mono" pitchFamily="49" charset="-122"/>
                <a:cs typeface="JetBrains Mono" pitchFamily="49" charset="-120"/>
              </a:rPr>
              <a:t>val 0.517</a:t>
            </a:r>
            <a:endParaRPr lang="en-US" sz="2200" dirty="0"/>
          </a:p>
        </p:txBody>
      </p:sp>
      <p:sp>
        <p:nvSpPr>
          <p:cNvPr id="10" name="Text 8"/>
          <p:cNvSpPr/>
          <p:nvPr/>
        </p:nvSpPr>
        <p:spPr>
          <a:xfrm>
            <a:off x="4673600" y="3096171"/>
            <a:ext cx="2930144"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D1"/>
                </a:solidFill>
                <a:latin typeface="IBM Plex Sans" pitchFamily="34" charset="0"/>
                <a:ea typeface="IBM Plex Sans" pitchFamily="34" charset="-122"/>
                <a:cs typeface="IBM Plex Sans" pitchFamily="34" charset="-120"/>
              </a:rPr>
              <a:t>Lowest validation loss of the run. Best‑checkpoint selection saved this adapter, and it is the one evaluated.</a:t>
            </a:r>
            <a:endParaRPr lang="en-US" sz="1400" dirty="0"/>
          </a:p>
        </p:txBody>
      </p:sp>
      <p:sp>
        <p:nvSpPr>
          <p:cNvPr id="11" name="Shape 9"/>
          <p:cNvSpPr/>
          <p:nvPr/>
        </p:nvSpPr>
        <p:spPr>
          <a:xfrm>
            <a:off x="8026400" y="2011660"/>
            <a:ext cx="3352800" cy="3830340"/>
          </a:xfrm>
          <a:prstGeom prst="roundRect">
            <a:avLst>
              <a:gd name="adj" fmla="val 3788"/>
            </a:avLst>
          </a:prstGeom>
          <a:solidFill>
            <a:srgbClr val="1F2B3C"/>
          </a:solidFill>
          <a:ln/>
        </p:spPr>
      </p:sp>
      <p:sp>
        <p:nvSpPr>
          <p:cNvPr id="12" name="Text 10"/>
          <p:cNvSpPr/>
          <p:nvPr/>
        </p:nvSpPr>
        <p:spPr>
          <a:xfrm>
            <a:off x="8280400" y="226566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5D"/>
                </a:solidFill>
                <a:latin typeface="JetBrains Mono" pitchFamily="49" charset="0"/>
                <a:ea typeface="JetBrains Mono" pitchFamily="49" charset="-122"/>
                <a:cs typeface="JetBrains Mono" pitchFamily="49" charset="-120"/>
              </a:rPr>
              <a:t>UNSEEN DOCUMENT</a:t>
            </a:r>
            <a:endParaRPr lang="en-US" sz="1200" dirty="0"/>
          </a:p>
        </p:txBody>
      </p:sp>
      <p:sp>
        <p:nvSpPr>
          <p:cNvPr id="13" name="Text 11"/>
          <p:cNvSpPr/>
          <p:nvPr/>
        </p:nvSpPr>
        <p:spPr>
          <a:xfrm>
            <a:off x="8280400" y="2605980"/>
            <a:ext cx="293014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IBM Plex Sans" pitchFamily="34" charset="0"/>
                <a:ea typeface="IBM Plex Sans" pitchFamily="34" charset="-122"/>
                <a:cs typeface="IBM Plex Sans" pitchFamily="34" charset="-120"/>
              </a:rPr>
              <a:t>On the brochure the kept adapter beats the base model: answer F1 +0.06, gold citations +0.12.</a:t>
            </a:r>
            <a:endParaRPr lang="en-US" sz="1400" dirty="0"/>
          </a:p>
        </p:txBody>
      </p:sp>
      <p:sp>
        <p:nvSpPr>
          <p:cNvPr id="14" name="Text 12"/>
          <p:cNvSpPr/>
          <p:nvPr/>
        </p:nvSpPr>
        <p:spPr>
          <a:xfrm>
            <a:off x="8280400" y="3479651"/>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IBM Plex Sans" pitchFamily="34" charset="0"/>
                <a:ea typeface="IBM Plex Sans" pitchFamily="34" charset="-122"/>
                <a:cs typeface="IBM Plex Sans" pitchFamily="34" charset="-120"/>
              </a:rPr>
              <a:t>So it generalizes, but the margin is small and part of it is style.</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8"/>
                </a:solidFill>
                <a:latin typeface="IBM Plex Sans" pitchFamily="34" charset="0"/>
                <a:ea typeface="IBM Plex Sans" pitchFamily="34" charset="-122"/>
                <a:cs typeface="IBM Plex Sans" pitchFamily="34" charset="-120"/>
              </a:rPr>
              <a:t>Your 1–2 epoch instinct was right for this data: 20 optimizer steps were enough</a:t>
            </a:r>
            <a:endParaRPr lang="en-US" sz="1200" dirty="0"/>
          </a:p>
        </p:txBody>
      </p:sp>
      <p:sp>
        <p:nvSpPr>
          <p:cNvPr id="1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Yes, it overfits if you keep training: after epoch 1, validation loss rises every pass while training loss heads towards 0.1. But the run only keeps the lowest-validation adapter, so the model we use is the epoch-1 one, and on a document it never saw it still beats the base model. For the next run, train 1 epoch or turn on early stopping with patience 2 to save the wasted compute.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895995"/>
          </a:xfrm>
          <a:prstGeom prst="rect">
            <a:avLst/>
          </a:prstGeom>
          <a:noFill/>
          <a:ln/>
        </p:spPr>
        <p:txBody>
          <a:bodyPr wrap="square" lIns="0" tIns="0" rIns="0" bIns="0" rtlCol="0" anchor="t">
            <a:normAutofit/>
          </a:bodyPr>
          <a:lstStyle/>
          <a:p>
            <a:pPr algn="l" indent="0" marL="0">
              <a:lnSpc>
                <a:spcPts val="3454"/>
              </a:lnSpc>
              <a:buNone/>
            </a:pPr>
            <a:r>
              <a:rPr lang="en-US" sz="3140" b="1" i="0" dirty="0">
                <a:solidFill>
                  <a:srgbClr val="16202E"/>
                </a:solidFill>
                <a:latin typeface="IBM Plex Sans" pitchFamily="34" charset="0"/>
                <a:ea typeface="IBM Plex Sans" pitchFamily="34" charset="-122"/>
                <a:cs typeface="IBM Plex Sans" pitchFamily="34" charset="-120"/>
              </a:rPr>
              <a:t>On the unseen brochure, the tuned model answers better</a:t>
            </a:r>
            <a:endParaRPr lang="en-US" sz="314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00895"/>
          <a:ext cx="10553700" cy="2631182"/>
        </p:xfrm>
        <a:graphic>
          <a:graphicData uri="http://schemas.openxmlformats.org/drawingml/2006/table">
            <a:tbl>
              <a:tblPr/>
              <a:tblGrid>
                <a:gridCol w="3271647"/>
                <a:gridCol w="1160907"/>
                <a:gridCol w="1371981"/>
                <a:gridCol w="1160907"/>
                <a:gridCol w="2110740"/>
                <a:gridCol w="1477518"/>
              </a:tblGrid>
              <a:tr h="375841">
                <a:tc>
                  <a:txBody>
                    <a:bodyPr/>
                    <a:lstStyle/>
                    <a:p>
                      <a:pPr indent="0" marL="0">
                        <a:lnSpc>
                          <a:spcPts val="1905"/>
                        </a:lnSpc>
                        <a:buNone/>
                      </a:pPr>
                      <a:r>
                        <a:rPr lang="en-US" sz="1361" b="1" dirty="0">
                          <a:solidFill>
                            <a:srgbClr val="16202E"/>
                          </a:solidFill>
                          <a:latin typeface="IBM Plex Sans" pitchFamily="34" charset="0"/>
                          <a:ea typeface="IBM Plex Sans" pitchFamily="34" charset="-122"/>
                          <a:cs typeface="IBM Plex Sans" pitchFamily="34" charset="-120"/>
                        </a:rPr>
                        <a:t>Metric (41 questions each)</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05"/>
                        </a:lnSpc>
                        <a:buNone/>
                      </a:pPr>
                      <a:r>
                        <a:rPr lang="en-US" sz="1361" b="1" dirty="0">
                          <a:solidFill>
                            <a:srgbClr val="16202E"/>
                          </a:solidFill>
                          <a:latin typeface="IBM Plex Sans" pitchFamily="34" charset="0"/>
                          <a:ea typeface="IBM Plex Sans" pitchFamily="34" charset="-122"/>
                          <a:cs typeface="IBM Plex Sans" pitchFamily="34" charset="-120"/>
                        </a:rPr>
                        <a:t>Base</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05"/>
                        </a:lnSpc>
                        <a:buNone/>
                      </a:pPr>
                      <a:r>
                        <a:rPr lang="en-US" sz="1361" b="1" dirty="0">
                          <a:solidFill>
                            <a:srgbClr val="16202E"/>
                          </a:solidFill>
                          <a:latin typeface="IBM Plex Sans" pitchFamily="34" charset="0"/>
                          <a:ea typeface="IBM Plex Sans" pitchFamily="34" charset="-122"/>
                          <a:cs typeface="IBM Plex Sans" pitchFamily="34" charset="-120"/>
                        </a:rPr>
                        <a:t>Tuned</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05"/>
                        </a:lnSpc>
                        <a:buNone/>
                      </a:pPr>
                      <a:r>
                        <a:rPr lang="en-US" sz="1361" b="1" dirty="0">
                          <a:solidFill>
                            <a:srgbClr val="16202E"/>
                          </a:solidFill>
                          <a:latin typeface="IBM Plex Sans" pitchFamily="34" charset="0"/>
                          <a:ea typeface="IBM Plex Sans" pitchFamily="34" charset="-122"/>
                          <a:cs typeface="IBM Plex Sans" pitchFamily="34" charset="-120"/>
                        </a:rPr>
                        <a:t>Change</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05"/>
                        </a:lnSpc>
                        <a:buNone/>
                      </a:pPr>
                      <a:r>
                        <a:rPr lang="en-US" sz="1361" b="1" dirty="0">
                          <a:solidFill>
                            <a:srgbClr val="16202E"/>
                          </a:solidFill>
                          <a:latin typeface="IBM Plex Sans" pitchFamily="34" charset="0"/>
                          <a:ea typeface="IBM Plex Sans" pitchFamily="34" charset="-122"/>
                          <a:cs typeface="IBM Plex Sans" pitchFamily="34" charset="-120"/>
                        </a:rPr>
                        <a:t>95% CI</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05"/>
                        </a:lnSpc>
                        <a:buNone/>
                      </a:pPr>
                      <a:r>
                        <a:rPr lang="en-US" sz="1361" b="1" dirty="0">
                          <a:solidFill>
                            <a:srgbClr val="16202E"/>
                          </a:solidFill>
                          <a:latin typeface="IBM Plex Sans" pitchFamily="34" charset="0"/>
                          <a:ea typeface="IBM Plex Sans" pitchFamily="34" charset="-122"/>
                          <a:cs typeface="IBM Plex Sans" pitchFamily="34" charset="-120"/>
                        </a:rPr>
                        <a:t>Better / worse</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5890">
                <a:tc>
                  <a:txBody>
                    <a:bodyPr/>
                    <a:lstStyle/>
                    <a:p>
                      <a:pP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Answer F1, direct</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0.51</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0.57</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+0.06</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+0.002 to +0.109</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27 / 14</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5890">
                <a:tc>
                  <a:txBody>
                    <a:bodyPr/>
                    <a:lstStyle/>
                    <a:p>
                      <a:pP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Answer F1, chain of thought</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0.49</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0.54</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+0.06</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+0.000 to +0.108</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29 / 11</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75890">
                <a:tc>
                  <a:txBody>
                    <a:bodyPr/>
                    <a:lstStyle/>
                    <a:p>
                      <a:pP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Cites the gold passage</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0.72</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0.84</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+0.12</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−0.008 to +0.240</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15 / 4</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5890">
                <a:tc>
                  <a:txBody>
                    <a:bodyPr/>
                    <a:lstStyle/>
                    <a:p>
                      <a:pP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Quotes found in passages</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0.87</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0.87</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0.00</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−0.104 to +0.097</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7 / 7</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75890">
                <a:tc>
                  <a:txBody>
                    <a:bodyPr/>
                    <a:lstStyle/>
                    <a:p>
                      <a:pP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CoT format followed</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1.00</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1.00</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0.00</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5890">
                <a:tc>
                  <a:txBody>
                    <a:bodyPr/>
                    <a:lstStyle/>
                    <a:p>
                      <a:pP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Answer length, words</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62</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88</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+26</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reference: 107</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05"/>
                        </a:lnSpc>
                        <a:buNone/>
                      </a:pPr>
                      <a:r>
                        <a:rPr lang="en-US" sz="1361" dirty="0">
                          <a:solidFill>
                            <a:srgbClr val="16202E"/>
                          </a:solidFill>
                          <a:latin typeface="IBM Plex Sans" pitchFamily="34" charset="0"/>
                          <a:ea typeface="IBM Plex Sans" pitchFamily="34" charset="-122"/>
                          <a:cs typeface="IBM Plex Sans" pitchFamily="34" charset="-120"/>
                        </a:rPr>
                        <a:t>–</a:t>
                      </a:r>
                      <a:endParaRPr lang="en-US" sz="1361" dirty="0">
                        <a:latin typeface="IBM Plex Sans" charset="0"/>
                        <a:ea typeface="IBM Plex Sans" charset="0"/>
                        <a:cs typeface="IBM Plex Sans" charset="0"/>
                      </a:endParaRPr>
                    </a:p>
                  </a:txBody>
                  <a:tcPr marL="60480" marR="60480" marT="60480" marB="6048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4" name="Shape 1"/>
          <p:cNvSpPr/>
          <p:nvPr/>
        </p:nvSpPr>
        <p:spPr>
          <a:xfrm>
            <a:off x="819150" y="4943227"/>
            <a:ext cx="5168900" cy="892423"/>
          </a:xfrm>
          <a:prstGeom prst="roundRect">
            <a:avLst>
              <a:gd name="adj" fmla="val 13519"/>
            </a:avLst>
          </a:prstGeom>
          <a:solidFill>
            <a:srgbClr val="FDFCF9"/>
          </a:solidFill>
          <a:ln w="12700">
            <a:solidFill>
              <a:srgbClr val="D9622B"/>
            </a:solidFill>
            <a:prstDash val="solid"/>
          </a:ln>
        </p:spPr>
      </p:sp>
      <p:sp>
        <p:nvSpPr>
          <p:cNvPr id="5" name="Text 2"/>
          <p:cNvSpPr/>
          <p:nvPr/>
        </p:nvSpPr>
        <p:spPr>
          <a:xfrm>
            <a:off x="1028700" y="5152777"/>
            <a:ext cx="4892294" cy="498723"/>
          </a:xfrm>
          <a:prstGeom prst="rect">
            <a:avLst/>
          </a:prstGeom>
          <a:noFill/>
          <a:ln/>
        </p:spPr>
        <p:txBody>
          <a:bodyPr wrap="square" lIns="0" tIns="0" rIns="0" bIns="0" rtlCol="0" anchor="t">
            <a:normAutofit/>
          </a:bodyPr>
          <a:lstStyle/>
          <a:p>
            <a:pPr algn="l" indent="0" marL="0">
              <a:lnSpc>
                <a:spcPts val="1886"/>
              </a:lnSpc>
              <a:buNone/>
            </a:pPr>
            <a:r>
              <a:rPr lang="en-US" sz="1347" b="1" dirty="0">
                <a:solidFill>
                  <a:srgbClr val="16202E"/>
                </a:solidFill>
                <a:latin typeface="IBM Plex Sans" pitchFamily="34" charset="0"/>
                <a:ea typeface="IBM Plex Sans" pitchFamily="34" charset="-122"/>
                <a:cs typeface="IBM Plex Sans" pitchFamily="34" charset="-120"/>
              </a:rPr>
              <a:t>Real gain:</a:t>
            </a:r>
            <a:r>
              <a:rPr lang="en-US" sz="1347" dirty="0">
                <a:solidFill>
                  <a:srgbClr val="16202E"/>
                </a:solidFill>
                <a:latin typeface="IBM Plex Sans" pitchFamily="34" charset="0"/>
                <a:ea typeface="IBM Plex Sans" pitchFamily="34" charset="-122"/>
                <a:cs typeface="IBM Plex Sans" pitchFamily="34" charset="-120"/>
              </a:rPr>
              <a:t> better on about two‑thirds of questions, and cites the gold passage over a distractor more often.</a:t>
            </a:r>
            <a:endParaRPr lang="en-US" sz="1347" dirty="0"/>
          </a:p>
        </p:txBody>
      </p:sp>
      <p:sp>
        <p:nvSpPr>
          <p:cNvPr id="6" name="Shape 3"/>
          <p:cNvSpPr/>
          <p:nvPr/>
        </p:nvSpPr>
        <p:spPr>
          <a:xfrm>
            <a:off x="6203950" y="4943227"/>
            <a:ext cx="5168900" cy="892423"/>
          </a:xfrm>
          <a:prstGeom prst="roundRect">
            <a:avLst>
              <a:gd name="adj" fmla="val 13519"/>
            </a:avLst>
          </a:prstGeom>
          <a:solidFill>
            <a:srgbClr val="FDFCF9"/>
          </a:solidFill>
          <a:ln w="12700">
            <a:solidFill>
              <a:srgbClr val="E2DED3"/>
            </a:solidFill>
            <a:prstDash val="solid"/>
          </a:ln>
        </p:spPr>
      </p:sp>
      <p:sp>
        <p:nvSpPr>
          <p:cNvPr id="7" name="Text 4"/>
          <p:cNvSpPr/>
          <p:nvPr/>
        </p:nvSpPr>
        <p:spPr>
          <a:xfrm>
            <a:off x="6413500" y="5152777"/>
            <a:ext cx="4892294" cy="498723"/>
          </a:xfrm>
          <a:prstGeom prst="rect">
            <a:avLst/>
          </a:prstGeom>
          <a:noFill/>
          <a:ln/>
        </p:spPr>
        <p:txBody>
          <a:bodyPr wrap="square" lIns="0" tIns="0" rIns="0" bIns="0" rtlCol="0" anchor="t">
            <a:normAutofit/>
          </a:bodyPr>
          <a:lstStyle/>
          <a:p>
            <a:pPr algn="l" indent="0" marL="0">
              <a:lnSpc>
                <a:spcPts val="1886"/>
              </a:lnSpc>
              <a:buNone/>
            </a:pPr>
            <a:r>
              <a:rPr lang="en-US" sz="1347" b="1" dirty="0">
                <a:solidFill>
                  <a:srgbClr val="16202E"/>
                </a:solidFill>
                <a:latin typeface="IBM Plex Sans" pitchFamily="34" charset="0"/>
                <a:ea typeface="IBM Plex Sans" pitchFamily="34" charset="-122"/>
                <a:cs typeface="IBM Plex Sans" pitchFamily="34" charset="-120"/>
              </a:rPr>
              <a:t>Read with care:</a:t>
            </a:r>
            <a:r>
              <a:rPr lang="en-US" sz="1347" dirty="0">
                <a:solidFill>
                  <a:srgbClr val="16202E"/>
                </a:solidFill>
                <a:latin typeface="IBM Plex Sans" pitchFamily="34" charset="0"/>
                <a:ea typeface="IBM Plex Sans" pitchFamily="34" charset="-122"/>
                <a:cs typeface="IBM Plex Sans" pitchFamily="34" charset="-120"/>
              </a:rPr>
              <a:t> the intervals almost touch zero, and longer answers closer to the reference length also raise F1.</a:t>
            </a:r>
            <a:endParaRPr lang="en-US" sz="1347"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Epoch‑1 adapter vs base, same prompts, greedy decoding · paired bootstrap over questions, 5,000 resamples · one training seed</a:t>
            </a:r>
            <a:endParaRPr lang="en-US" sz="1200" dirty="0"/>
          </a:p>
        </p:txBody>
      </p:sp>
      <p:sp>
        <p:nvSpPr>
          <p:cNvPr id="9"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Both models saw identical prompts: the gold passage plus two distractors. Answer F1 rose about 0.06 in both formats, and the tuned model was better on 27 of 41 direct questions and 29 of 41 chain-of-thought ones. Citation precision rose 0.12. Quote grounding did not change, and the base model already followed the evidence format. Two cautions: the confidence intervals nearly reach zero with 41 questions and one seed, and the tuned answers are 26 words longer, closer to the 107-word references, which by itself lifts token F1.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E"/>
                </a:solidFill>
                <a:latin typeface="IBM Plex Sans" pitchFamily="34" charset="0"/>
                <a:ea typeface="IBM Plex Sans" pitchFamily="34" charset="-122"/>
                <a:cs typeface="IBM Plex Sans" pitchFamily="34" charset="-120"/>
              </a:rPr>
              <a:t>The whole run on one page</a:t>
            </a:r>
            <a:endParaRPr lang="en-US" sz="2800" dirty="0"/>
          </a:p>
        </p:txBody>
      </p:sp>
      <p:pic>
        <p:nvPicPr>
          <p:cNvPr id="3" name="Image 0" descr="Six-panel training dashboard for the Colab A100 run: train and validation loss, generalization gap, learning rate, gradient norm, wall clock, and base versus finetuned eval scores">    </p:cNvPr>
          <p:cNvPicPr>
            <a:picLocks noChangeAspect="1"/>
          </p:cNvPicPr>
          <p:nvPr/>
        </p:nvPicPr>
        <p:blipFill>
          <a:blip r:embed="rId1"/>
          <a:srcRect l="-11176" r="-11176" t="0" b="0"/>
          <a:stretch/>
        </p:blipFill>
        <p:spPr>
          <a:xfrm>
            <a:off x="812800" y="1203920"/>
            <a:ext cx="10566400" cy="4826000"/>
          </a:xfrm>
          <a:prstGeom prst="rect">
            <a:avLst/>
          </a:prstGeom>
        </p:spPr>
      </p:pic>
      <p:sp>
        <p:nvSpPr>
          <p:cNvPr id="4"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Produced by plot_metrics.py from train_log.jsonl and generator_comparison.json. Top row: loss, the generalization gap, which crosses zero just before epoch 1 and keeps rising, and the learning-rate schedule. Bottom row: gradient norm staying under the clip, wall clock at about 3.4 seconds per step on the A100, and the base-versus-tuned eval.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What we learned, and what to run next</a:t>
            </a:r>
            <a:endParaRPr lang="en-US" sz="3200" dirty="0"/>
          </a:p>
        </p:txBody>
      </p:sp>
      <p:sp>
        <p:nvSpPr>
          <p:cNvPr id="3" name="Shape 1"/>
          <p:cNvSpPr/>
          <p:nvPr/>
        </p:nvSpPr>
        <p:spPr>
          <a:xfrm>
            <a:off x="819150" y="1570980"/>
            <a:ext cx="5168900" cy="1302941"/>
          </a:xfrm>
          <a:prstGeom prst="roundRect">
            <a:avLst>
              <a:gd name="adj" fmla="val 9260"/>
            </a:avLst>
          </a:prstGeom>
          <a:solidFill>
            <a:srgbClr val="FDFCF9"/>
          </a:solidFill>
          <a:ln w="12700">
            <a:solidFill>
              <a:srgbClr val="D9622B"/>
            </a:solidFill>
            <a:prstDash val="solid"/>
          </a:ln>
        </p:spPr>
      </p:sp>
      <p:sp>
        <p:nvSpPr>
          <p:cNvPr id="4" name="Text 2"/>
          <p:cNvSpPr/>
          <p:nvPr/>
        </p:nvSpPr>
        <p:spPr>
          <a:xfrm>
            <a:off x="1054100" y="180593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One epoch is enough here</a:t>
            </a:r>
            <a:endParaRPr lang="en-US" sz="1700" dirty="0"/>
          </a:p>
        </p:txBody>
      </p:sp>
      <p:sp>
        <p:nvSpPr>
          <p:cNvPr id="5" name="Text 3"/>
          <p:cNvSpPr/>
          <p:nvPr/>
        </p:nvSpPr>
        <p:spPr>
          <a:xfrm>
            <a:off x="1054100" y="214119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With 156 examples, 20 steps reach the best validation loss. Next run: --epochs 1, or --patience 2.</a:t>
            </a:r>
            <a:endParaRPr lang="en-US" sz="1400" dirty="0"/>
          </a:p>
        </p:txBody>
      </p:sp>
      <p:sp>
        <p:nvSpPr>
          <p:cNvPr id="6" name="Shape 4"/>
          <p:cNvSpPr/>
          <p:nvPr/>
        </p:nvSpPr>
        <p:spPr>
          <a:xfrm>
            <a:off x="6203950" y="1570980"/>
            <a:ext cx="5168900" cy="1302941"/>
          </a:xfrm>
          <a:prstGeom prst="roundRect">
            <a:avLst>
              <a:gd name="adj" fmla="val 9260"/>
            </a:avLst>
          </a:prstGeom>
          <a:solidFill>
            <a:srgbClr val="FDFCF9"/>
          </a:solidFill>
          <a:ln w="12700">
            <a:solidFill>
              <a:srgbClr val="E2DED3"/>
            </a:solidFill>
            <a:prstDash val="solid"/>
          </a:ln>
        </p:spPr>
      </p:sp>
      <p:sp>
        <p:nvSpPr>
          <p:cNvPr id="7" name="Text 5"/>
          <p:cNvSpPr/>
          <p:nvPr/>
        </p:nvSpPr>
        <p:spPr>
          <a:xfrm>
            <a:off x="6438900" y="180593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The gain is real but modest</a:t>
            </a:r>
            <a:endParaRPr lang="en-US" sz="1700" dirty="0"/>
          </a:p>
        </p:txBody>
      </p:sp>
      <p:sp>
        <p:nvSpPr>
          <p:cNvPr id="8" name="Text 6"/>
          <p:cNvSpPr/>
          <p:nvPr/>
        </p:nvSpPr>
        <p:spPr>
          <a:xfrm>
            <a:off x="6438900" y="214119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+0.06 answer F1 and +0.12 gold citations on an unseen document, from one seed and 41 questions.</a:t>
            </a:r>
            <a:endParaRPr lang="en-US" sz="1400" dirty="0"/>
          </a:p>
        </p:txBody>
      </p:sp>
      <p:sp>
        <p:nvSpPr>
          <p:cNvPr id="9" name="Shape 7"/>
          <p:cNvSpPr/>
          <p:nvPr/>
        </p:nvSpPr>
        <p:spPr>
          <a:xfrm>
            <a:off x="819150" y="3089821"/>
            <a:ext cx="5168900" cy="1302941"/>
          </a:xfrm>
          <a:prstGeom prst="roundRect">
            <a:avLst>
              <a:gd name="adj" fmla="val 9260"/>
            </a:avLst>
          </a:prstGeom>
          <a:solidFill>
            <a:srgbClr val="FDFCF9"/>
          </a:solidFill>
          <a:ln w="12700">
            <a:solidFill>
              <a:srgbClr val="E2DED3"/>
            </a:solidFill>
            <a:prstDash val="solid"/>
          </a:ln>
        </p:spPr>
      </p:sp>
      <p:sp>
        <p:nvSpPr>
          <p:cNvPr id="10" name="Text 8"/>
          <p:cNvSpPr/>
          <p:nvPr/>
        </p:nvSpPr>
        <p:spPr>
          <a:xfrm>
            <a:off x="1054100" y="3324771"/>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Repeat across seeds</a:t>
            </a:r>
            <a:endParaRPr lang="en-US" sz="1700" dirty="0"/>
          </a:p>
        </p:txBody>
      </p:sp>
      <p:sp>
        <p:nvSpPr>
          <p:cNvPr id="11" name="Text 9"/>
          <p:cNvSpPr/>
          <p:nvPr/>
        </p:nvSpPr>
        <p:spPr>
          <a:xfrm>
            <a:off x="1054100" y="3660031"/>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Three to five seeds at about 30 minutes each on an A100 tell us whether +0.06 holds.</a:t>
            </a:r>
            <a:endParaRPr lang="en-US" sz="1400" dirty="0"/>
          </a:p>
        </p:txBody>
      </p:sp>
      <p:sp>
        <p:nvSpPr>
          <p:cNvPr id="12" name="Shape 10"/>
          <p:cNvSpPr/>
          <p:nvPr/>
        </p:nvSpPr>
        <p:spPr>
          <a:xfrm>
            <a:off x="6203950" y="3089821"/>
            <a:ext cx="5168900" cy="1302941"/>
          </a:xfrm>
          <a:prstGeom prst="roundRect">
            <a:avLst>
              <a:gd name="adj" fmla="val 9260"/>
            </a:avLst>
          </a:prstGeom>
          <a:solidFill>
            <a:srgbClr val="FDFCF9"/>
          </a:solidFill>
          <a:ln w="12700">
            <a:solidFill>
              <a:srgbClr val="E2DED3"/>
            </a:solidFill>
            <a:prstDash val="solid"/>
          </a:ln>
        </p:spPr>
      </p:sp>
      <p:sp>
        <p:nvSpPr>
          <p:cNvPr id="13" name="Text 11"/>
          <p:cNvSpPr/>
          <p:nvPr/>
        </p:nvSpPr>
        <p:spPr>
          <a:xfrm>
            <a:off x="6438900" y="3324771"/>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Grade beyond token F1</a:t>
            </a:r>
            <a:endParaRPr lang="en-US" sz="1700" dirty="0"/>
          </a:p>
        </p:txBody>
      </p:sp>
      <p:sp>
        <p:nvSpPr>
          <p:cNvPr id="14" name="Text 12"/>
          <p:cNvSpPr/>
          <p:nvPr/>
        </p:nvSpPr>
        <p:spPr>
          <a:xfrm>
            <a:off x="6438900" y="3660031"/>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Add an LLM‑judge or human check for correctness, and LLM‑written rationales instead of extractive ones.</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JetBrains Mono" pitchFamily="49" charset="0"/>
                <a:ea typeface="JetBrains Mono" pitchFamily="49" charset="-122"/>
                <a:cs typeface="JetBrains Mono" pitchFamily="49" charset="-120"/>
              </a:rPr>
              <a:t>finetuning_LLM_LORA/ · results/ · PR dougc333/geha#101</a:t>
            </a:r>
            <a:endParaRPr lang="en-US" sz="1200" dirty="0"/>
          </a:p>
        </p:txBody>
      </p:sp>
      <p:sp>
        <p:nvSpPr>
          <p:cNvPr id="1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Four points. One epoch is the right length for this dataset; anything more memorizes. The improvement on an unseen document is genuine but small and comes from a single seed. Repeat the run over several seeds before relying on it. And grade answers for correctness, not just word overlap, since part of the F1 gain comes from longer answers.</a:t>
            </a:r>
          </a:p>
        </p:txBody>
      </p:sp>
    </p:spTree>
  </p:cSld>
  <p:clrMapOvr>
    <a:masterClrMapping/>
  </p:clrMapOvr>
</p:sld>
</file>

<file path=ppt/theme/theme1.xml><?xml version="1.0" encoding="utf-8"?>
<a:theme xmlns:a="http://schemas.openxmlformats.org/drawingml/2006/main" name="GEHA Generator LoRA Finetuning">
  <a:themeElements>
    <a:clrScheme name="GEHA Generator LoRA Finetuning">
      <a:dk1>
        <a:srgbClr val="16202E"/>
      </a:dk1>
      <a:lt1>
        <a:srgbClr val="F6F5F0"/>
      </a:lt1>
      <a:dk2>
        <a:srgbClr val="4E555F"/>
      </a:dk2>
      <a:lt2>
        <a:srgbClr val="E0E0DD"/>
      </a:lt2>
      <a:accent1>
        <a:srgbClr val="B4481A"/>
      </a:accent1>
      <a:accent2>
        <a:srgbClr val="2F6DB5"/>
      </a:accent2>
      <a:accent3>
        <a:srgbClr val="F08A5D"/>
      </a:accent3>
      <a:accent4>
        <a:srgbClr val="D9622B"/>
      </a:accent4>
      <a:accent5>
        <a:srgbClr val="4A5568"/>
      </a:accent5>
      <a:accent6>
        <a:srgbClr val="6A7280"/>
      </a:accent6>
      <a:hlink>
        <a:srgbClr val="0563C1"/>
      </a:hlink>
      <a:folHlink>
        <a:srgbClr val="954F72"/>
      </a:folHlink>
    </a:clrScheme>
    <a:fontScheme name="GEHA Generator LoRA Finetun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GEHA Generator LoRA Finetuning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2026-10-21T15:58:12Z</dcterms:created>
  <dcterms:modified xsi:type="dcterms:W3CDTF">2026-10-21T15:58:12Z</dcterms:modified>
</cp:coreProperties>
</file>