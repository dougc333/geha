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3546994c634cfd" /><Relationship Type="http://schemas.openxmlformats.org/officeDocument/2006/relationships/extended-properties" Target="/docProps/app.xml" Id="R8d3b2cdb7aa24d9d" /><Relationship Type="http://schemas.openxmlformats.org/officeDocument/2006/relationships/officeDocument" Target="/ppt/presentation.xml" Id="R66e266f4c0c544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9ac9a86cbc43e5"/>
  </p:sldMasterIdLst>
  <p:notesMasterIdLst>
    <p:notesMasterId xmlns:r="http://schemas.openxmlformats.org/officeDocument/2006/relationships" r:id="R9d4a9791f01f4bd0"/>
  </p:notesMasterIdLst>
  <p:sldIdLst>
    <p:sldId xmlns:r="http://schemas.openxmlformats.org/officeDocument/2006/relationships" id="256" r:id="Rc9349c494c764eb6"/>
    <p:sldId xmlns:r="http://schemas.openxmlformats.org/officeDocument/2006/relationships" id="257" r:id="Ra9b0dd4563264e76"/>
    <p:sldId xmlns:r="http://schemas.openxmlformats.org/officeDocument/2006/relationships" id="258" r:id="Rd58eccd1422b4332"/>
    <p:sldId xmlns:r="http://schemas.openxmlformats.org/officeDocument/2006/relationships" id="259" r:id="R8f868742dbd94bdf"/>
    <p:sldId xmlns:r="http://schemas.openxmlformats.org/officeDocument/2006/relationships" id="260" r:id="R2513616c220849d8"/>
    <p:sldId xmlns:r="http://schemas.openxmlformats.org/officeDocument/2006/relationships" id="261" r:id="R53fe7dd954ab4f07"/>
    <p:sldId xmlns:r="http://schemas.openxmlformats.org/officeDocument/2006/relationships" id="262" r:id="R23a2335ba269466e"/>
    <p:sldId xmlns:r="http://schemas.openxmlformats.org/officeDocument/2006/relationships" id="263" r:id="R259790fbf246421a"/>
    <p:sldId xmlns:r="http://schemas.openxmlformats.org/officeDocument/2006/relationships" id="264" r:id="R0f4f344309534569"/>
    <p:sldId xmlns:r="http://schemas.openxmlformats.org/officeDocument/2006/relationships" id="265" r:id="R430f8209bada40d7"/>
    <p:sldId xmlns:r="http://schemas.openxmlformats.org/officeDocument/2006/relationships" id="266" r:id="Refb3eeb4a8a54db2"/>
    <p:sldId xmlns:r="http://schemas.openxmlformats.org/officeDocument/2006/relationships" id="267" r:id="R0448d7da06f54d87"/>
    <p:sldId xmlns:r="http://schemas.openxmlformats.org/officeDocument/2006/relationships" id="268" r:id="R08502b39cfb8490a"/>
    <p:sldId xmlns:r="http://schemas.openxmlformats.org/officeDocument/2006/relationships" id="269" r:id="R9e62050b34ac4214"/>
    <p:sldId xmlns:r="http://schemas.openxmlformats.org/officeDocument/2006/relationships" id="270" r:id="Rbacee7b980f149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3657d1b8d0433f" /><Relationship Type="http://schemas.openxmlformats.org/officeDocument/2006/relationships/slideMaster" Target="/ppt/slideMasters/slideMaster1.xml" Id="R639ac9a86cbc43e5" /><Relationship Type="http://schemas.openxmlformats.org/officeDocument/2006/relationships/notesMaster" Target="/ppt/notesMasters/notesMaster1.xml" Id="R9d4a9791f01f4bd0" /><Relationship Type="http://schemas.openxmlformats.org/officeDocument/2006/relationships/presProps" Target="/ppt/presProps.xml" Id="R25ecc917ad964a07" /><Relationship Type="http://schemas.openxmlformats.org/officeDocument/2006/relationships/tableStyles" Target="/ppt/tableStyles.xml" Id="Rd142c35d6eba4837" /><Relationship Type="http://schemas.openxmlformats.org/officeDocument/2006/relationships/slide" Target="/ppt/slides/slide1.xml" Id="Rc9349c494c764eb6" /><Relationship Type="http://schemas.openxmlformats.org/officeDocument/2006/relationships/slide" Target="/ppt/slides/slide2.xml" Id="Ra9b0dd4563264e76" /><Relationship Type="http://schemas.openxmlformats.org/officeDocument/2006/relationships/slide" Target="/ppt/slides/slide3.xml" Id="Rd58eccd1422b4332" /><Relationship Type="http://schemas.openxmlformats.org/officeDocument/2006/relationships/slide" Target="/ppt/slides/slide4.xml" Id="R8f868742dbd94bdf" /><Relationship Type="http://schemas.openxmlformats.org/officeDocument/2006/relationships/slide" Target="/ppt/slides/slide5.xml" Id="R2513616c220849d8" /><Relationship Type="http://schemas.openxmlformats.org/officeDocument/2006/relationships/slide" Target="/ppt/slides/slide6.xml" Id="R53fe7dd954ab4f07" /><Relationship Type="http://schemas.openxmlformats.org/officeDocument/2006/relationships/slide" Target="/ppt/slides/slide7.xml" Id="R23a2335ba269466e" /><Relationship Type="http://schemas.openxmlformats.org/officeDocument/2006/relationships/slide" Target="/ppt/slides/slide8.xml" Id="R259790fbf246421a" /><Relationship Type="http://schemas.openxmlformats.org/officeDocument/2006/relationships/slide" Target="/ppt/slides/slide9.xml" Id="R0f4f344309534569" /><Relationship Type="http://schemas.openxmlformats.org/officeDocument/2006/relationships/slide" Target="/ppt/slides/slide10.xml" Id="R430f8209bada40d7" /><Relationship Type="http://schemas.openxmlformats.org/officeDocument/2006/relationships/slide" Target="/ppt/slides/slide11.xml" Id="Refb3eeb4a8a54db2" /><Relationship Type="http://schemas.openxmlformats.org/officeDocument/2006/relationships/slide" Target="/ppt/slides/slide12.xml" Id="R0448d7da06f54d87" /><Relationship Type="http://schemas.openxmlformats.org/officeDocument/2006/relationships/slide" Target="/ppt/slides/slide13.xml" Id="R08502b39cfb8490a" /><Relationship Type="http://schemas.openxmlformats.org/officeDocument/2006/relationships/slide" Target="/ppt/slides/slide14.xml" Id="R9e62050b34ac4214" /><Relationship Type="http://schemas.openxmlformats.org/officeDocument/2006/relationships/slide" Target="/ppt/slides/slide15.xml" Id="Rbacee7b980f149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3843d6b1e34a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1904df6a214678" /><Relationship Type="http://schemas.openxmlformats.org/officeDocument/2006/relationships/notesMaster" Target="/ppt/notesMasters/notesMaster1.xml" Id="R4a555a7821854f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d6140a83eb4354" /><Relationship Type="http://schemas.openxmlformats.org/officeDocument/2006/relationships/notesMaster" Target="/ppt/notesMasters/notesMaster1.xml" Id="Rf5529985923b43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afd971021c4a48" /><Relationship Type="http://schemas.openxmlformats.org/officeDocument/2006/relationships/notesMaster" Target="/ppt/notesMasters/notesMaster1.xml" Id="R111e96b8c6f84a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a1bcd82e964d29" /><Relationship Type="http://schemas.openxmlformats.org/officeDocument/2006/relationships/notesMaster" Target="/ppt/notesMasters/notesMaster1.xml" Id="R4bd7ec83487f4f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8da5f740374feb" /><Relationship Type="http://schemas.openxmlformats.org/officeDocument/2006/relationships/notesMaster" Target="/ppt/notesMasters/notesMaster1.xml" Id="R7077e42ab89942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225e5766934f02" /><Relationship Type="http://schemas.openxmlformats.org/officeDocument/2006/relationships/notesMaster" Target="/ppt/notesMasters/notesMaster1.xml" Id="R0211a2b9369c4e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c0b7cb19d54a96" /><Relationship Type="http://schemas.openxmlformats.org/officeDocument/2006/relationships/notesMaster" Target="/ppt/notesMasters/notesMaster1.xml" Id="R31d5ec6906d247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d773b4a92e4af7" /><Relationship Type="http://schemas.openxmlformats.org/officeDocument/2006/relationships/notesMaster" Target="/ppt/notesMasters/notesMaster1.xml" Id="Rb07c6dfa4edf44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79c5cee2cb4daa" /><Relationship Type="http://schemas.openxmlformats.org/officeDocument/2006/relationships/notesMaster" Target="/ppt/notesMasters/notesMaster1.xml" Id="Rc02c07a91e7940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fd919c13b84639" /><Relationship Type="http://schemas.openxmlformats.org/officeDocument/2006/relationships/notesMaster" Target="/ppt/notesMasters/notesMaster1.xml" Id="Rd4e27219dcc845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6ccc06b06e4456" /><Relationship Type="http://schemas.openxmlformats.org/officeDocument/2006/relationships/notesMaster" Target="/ppt/notesMasters/notesMaster1.xml" Id="Rd3163f32c43949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fe675c0e124c9f" /><Relationship Type="http://schemas.openxmlformats.org/officeDocument/2006/relationships/notesMaster" Target="/ppt/notesMasters/notesMaster1.xml" Id="R6451c8b177a247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715c360dd8410b" /><Relationship Type="http://schemas.openxmlformats.org/officeDocument/2006/relationships/notesMaster" Target="/ppt/notesMasters/notesMaster1.xml" Id="R09b7ee762b15487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40eab3bf767402d" /><Relationship Type="http://schemas.openxmlformats.org/officeDocument/2006/relationships/notesMaster" Target="/ppt/notesMasters/notesMaster1.xml" Id="R5164ccfdeda244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f27e0b8a4634536" /><Relationship Type="http://schemas.openxmlformats.org/officeDocument/2006/relationships/notesMaster" Target="/ppt/notesMasters/notesMaster1.xml" Id="Raf043d0ca3fb47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outcome: each demo exposes a different boundary in an evidence-grounded system. Visual style adapted from /Users/dc/cs329z/lecture07.pdf.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talk is a systems walkthrough, not a claim that one framework solves every stage.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run-of-show. If time is short, skip demos 2 and 3 and move directly from ingestion to context assembly.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path: /Users/dc/geha/document_ingestion_workflow. Start with ./docker-up.sh --build. Show the document selector, the source-versus-HTML panel, and the SSE trace. Source: document_ingestion_workflow/README.md.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path: /Users/dc/geha/bounding_box. Run python -m bounding_box.figure_bbox_app.backend --port 8511 and open http://127.0.0.1:8511/. Show one saved box and the normalized JSON. Source: bounding_box/README.md.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path: /Users/dc/geha/contextual_retrieval_dashboard. Run docker compose up --build and open http://127.0.0.1:8511/. Show the prompt/cache drawer and one original-versus-contextual chunk. Source: contextual_retrieval_dashboard/README.md.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path: /Users/dc/geha/context_assembly_benchmarks. Run docker compose up --build. Open Streamlit at http://127.0.0.1:8507 and the React results dashboard at http://127.0.0.1:5174. The benchmark compares flat, table-aware, and compact table-aware assembly while holding retrieval constant. Source: context_assembly_benchmarks/README.md.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path: /Users/dc/geha/dspy_dental_chatbot. Run docker compose up --build and open http://localhost:8506. Show the evidence panel, citation path, and one bounded unsupported-claim repair. Source: dspy_dental_chatbot/README.md.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path: /Users/dc/geha/hapi. Run docker compose up -d, load synthetic records with ./load_synthea.sh 50 Missouri, and verify http://localhost:8080/fhir/metadata. Then run mcp_agent_demo.py. Source: hapi/README.md.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path: /Users/dc/geha/agent_permissions. Show one ALLOW, one DENY, and one ASK without an approver. Stress that this is application-level authorization, not an OS sandbox or server-side FHIR authorization. Source: agent_permissions/README.md.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the talk: build Docker images, load synthetic FHIR data, confirm ports, and open each browser tab. Keep saved artifact runs available so the talk does not depend on live model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tying each demo back to a distinct system boundary. Avoid presenting the prototypes as production or HIPAA-ready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d085e4825840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6d5936eef04a3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9a557b155d4f6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3327b616ba4c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fcdc22c1d3449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9fb0edbf347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86907C-F7DF-4B02-ABA5-25CB3BFECA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CA3DAFE-A637-4804-8548-DB4ED7E5AE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77644E5-0C9A-4635-914D-02727C1D49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0CEEA6-B5B9-4BFF-A4A0-BC530D2EFD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5D56133-0804-42A5-8126-5C29A4B5EC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45B32FA-714E-45DD-B47F-A7A0DAC79A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A6BBCD-31DE-4177-A79B-A386E00612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0961777-40C4-4A81-B8D0-AACB59A896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AB94F4-C5F8-442C-B989-B6A5FFD90D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663C25-AC2E-441B-AFA6-9A9AEAD537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5a0883217c4a07" /><Relationship Type="http://schemas.openxmlformats.org/officeDocument/2006/relationships/slideLayout" Target="/ppt/slideLayouts/slideLayout1.xml" Id="R3001fe77548f4863" /><Relationship Type="http://schemas.openxmlformats.org/officeDocument/2006/relationships/slideLayout" Target="/ppt/slideLayouts/slideLayout2.xml" Id="R39d58a4cebe94965" /><Relationship Type="http://schemas.openxmlformats.org/officeDocument/2006/relationships/slideLayout" Target="/ppt/slideLayouts/slideLayout3.xml" Id="R6399b6bdfaa34856" /><Relationship Type="http://schemas.openxmlformats.org/officeDocument/2006/relationships/slideLayout" Target="/ppt/slideLayouts/slideLayout4.xml" Id="R43f6259047d842bd" /><Relationship Type="http://schemas.openxmlformats.org/officeDocument/2006/relationships/slideLayout" Target="/ppt/slideLayouts/slideLayout5.xml" Id="Rfc031e1c1c9f4752" /><Relationship Type="http://schemas.openxmlformats.org/officeDocument/2006/relationships/slideLayout" Target="/ppt/slideLayouts/slideLayout6.xml" Id="R4f3d7436faf240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01fe77548f4863"/>
    <p:sldLayoutId xmlns:r="http://schemas.openxmlformats.org/officeDocument/2006/relationships" id="2147483650" r:id="R39d58a4cebe94965"/>
    <p:sldLayoutId xmlns:r="http://schemas.openxmlformats.org/officeDocument/2006/relationships" id="2147483651" r:id="R6399b6bdfaa34856"/>
    <p:sldLayoutId xmlns:r="http://schemas.openxmlformats.org/officeDocument/2006/relationships" id="2147483652" r:id="R43f6259047d842bd"/>
    <p:sldLayoutId xmlns:r="http://schemas.openxmlformats.org/officeDocument/2006/relationships" id="2147483653" r:id="Rfc031e1c1c9f4752"/>
    <p:sldLayoutId xmlns:r="http://schemas.openxmlformats.org/officeDocument/2006/relationships" id="2147483654" r:id="R4f3d7436faf240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6d30672cef4f0a" /><Relationship Type="http://schemas.openxmlformats.org/officeDocument/2006/relationships/notesSlide" Target="/ppt/notesSlides/notesSlide1.xml" Id="R2eb5297a88984a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a11a63c3ac4cfc" /><Relationship Type="http://schemas.openxmlformats.org/officeDocument/2006/relationships/notesSlide" Target="/ppt/notesSlides/notesSlide2.xml" Id="Re7c08f79a22c47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325f2da0fa4cb7" /><Relationship Type="http://schemas.openxmlformats.org/officeDocument/2006/relationships/notesSlide" Target="/ppt/notesSlides/notesSlide3.xml" Id="R19b54564c22849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8ed085cb87497c" /><Relationship Type="http://schemas.openxmlformats.org/officeDocument/2006/relationships/notesSlide" Target="/ppt/notesSlides/notesSlide4.xml" Id="Re4cf067611384b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0ac7b8cb1f4641" /><Relationship Type="http://schemas.openxmlformats.org/officeDocument/2006/relationships/notesSlide" Target="/ppt/notesSlides/notesSlide5.xml" Id="Rfad4dff3ae8247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ac812152ee43d3" /><Relationship Type="http://schemas.openxmlformats.org/officeDocument/2006/relationships/notesSlide" Target="/ppt/notesSlides/notesSlide6.xml" Id="Raa2c706fc4474d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d80ff051f5496e" /><Relationship Type="http://schemas.openxmlformats.org/officeDocument/2006/relationships/notesSlide" Target="/ppt/notesSlides/notesSlide7.xml" Id="R763db36adede47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5d83a9a3ad4eeb" /><Relationship Type="http://schemas.openxmlformats.org/officeDocument/2006/relationships/notesSlide" Target="/ppt/notesSlides/notesSlide8.xml" Id="R177e115ff57349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80970020fe43a1" /><Relationship Type="http://schemas.openxmlformats.org/officeDocument/2006/relationships/notesSlide" Target="/ppt/notesSlides/notesSlide9.xml" Id="R74edae14a31b47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6ffb3a276a4733" /><Relationship Type="http://schemas.openxmlformats.org/officeDocument/2006/relationships/notesSlide" Target="/ppt/notesSlides/notesSlide10.xml" Id="Rb3f371fd7bba43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d61e3a8e144c32" /><Relationship Type="http://schemas.openxmlformats.org/officeDocument/2006/relationships/notesSlide" Target="/ppt/notesSlides/notesSlide11.xml" Id="R78f00b7198604dd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88347f4ac54cef" /><Relationship Type="http://schemas.openxmlformats.org/officeDocument/2006/relationships/notesSlide" Target="/ppt/notesSlides/notesSlide12.xml" Id="R6033b23843db41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8841a274724c72" /><Relationship Type="http://schemas.openxmlformats.org/officeDocument/2006/relationships/notesSlide" Target="/ppt/notesSlides/notesSlide13.xml" Id="Re5767d121a8844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774e7356514466" /><Relationship Type="http://schemas.openxmlformats.org/officeDocument/2006/relationships/notesSlide" Target="/ppt/notesSlides/notesSlide14.xml" Id="R80df676bedae4cd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1dfee292df4eed" /><Relationship Type="http://schemas.openxmlformats.org/officeDocument/2006/relationships/notesSlide" Target="/ppt/notesSlides/notesSlide15.xml" Id="Rbe3b17d8e3f24d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D5824-B3F5-43C9-8485-BB8F63C4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AEC2C-84F2-4C4F-8981-07B628DB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923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40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40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40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40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40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40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40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40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40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rPr>
              <a:t>Evidence-grounded AI demos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A71EF-5CF9-4664-A240-9DD6CD52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From document ingestion to governed agents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89686-45C1-4DE8-BDE8-E48C66EB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Live demo talk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87072-D8D6-4175-864B-AA1CFDCE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52450"/>
            <a:ext cx="990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8C1515"/>
          </a:solidFill>
          <a:ln xmlns:a="http://schemas.openxmlformats.org/drawingml/2006/main" w="19050">
            <a:solidFill>
              <a:srgbClr val="6F0F0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6647892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566DF-B150-4392-9857-C40F8B28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What this talk demonstrates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CDD66-8779-44FD-887F-0865E564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81125"/>
            <a:ext cx="9525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270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70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70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70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70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70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70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70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70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70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95000"/>
              </a:lnSpc>
              <a:buNone/>
              <a:defRPr sz="270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Preserve</a:t>
            </a:r>
            <a:r>
              <a:rPr sz="270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 source evidence across text, tables, and figures.</a:t>
            </a:r>
            <a:br>
              <a:rPr sz="270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</a:br>
            <a:br>
              <a:rPr sz="270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</a:br>
            <a:r>
              <a:rPr sz="27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Measure</a:t>
            </a:r>
            <a:r>
              <a:rPr sz="270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 failures at retrieval, context assembly, and answer generation.</a:t>
            </a:r>
            <a:br>
              <a:rPr sz="270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</a:br>
            <a:br>
              <a:rPr sz="270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</a:br>
            <a:r>
              <a:rPr sz="27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Constrain</a:t>
            </a:r>
            <a:r>
              <a:rPr sz="270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 tool-using agents with explicit permissions and audit trails.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6C152-4A7A-45A1-AFFB-6C8D1A2F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solidFill>
              <a:srgbClr val="8C151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41866-9CF3-4FA6-84F8-6390B125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</p:spTree>
    <p:extLst>
      <p:ext uri="{BB962C8B-B14F-4D97-AF65-F5344CB8AC3E}">
        <p14:creationId xmlns:p14="http://schemas.microsoft.com/office/powerpoint/2010/main" val="16423267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D0A1DD-3DC5-4944-988F-F9CB2CB6D396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0115550" y="29908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F6368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4236FB-D00E-43D4-8F4D-5588237FEED5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439150" y="29908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F6368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5C93C3-793D-4D06-A26E-C06DEEAFFA12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762750" y="29908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F6368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EF09FC-AA3B-4F87-BD17-432FD7C0E76D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86350" y="29908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F6368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0F7CAB-1922-4F60-8838-D01F038A133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09950" y="29908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F6368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73D819-B25C-4714-B251-30C6BB1AB195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733550" y="29908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F6368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BDF20D-BCA2-4DD9-82E8-BC874794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Demo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5A145-F583-4F99-B5C4-356D117C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Seven demos, one evidence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C7063-4003-44BD-A67E-6A12ACC8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05050"/>
            <a:ext cx="1352550" cy="137160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7ECEB"/>
          </a:solidFill>
          <a:ln xmlns:a="http://schemas.openxmlformats.org/drawingml/2006/main" w="19050">
            <a:solidFill>
              <a:srgbClr val="8C151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19C4A-71E5-4A90-8FCB-266AA51F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100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4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4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4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4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4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4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4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4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4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rPr>
              <a:t>1. Ingest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FC0AC-66B9-414A-A016-298A5649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971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document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ACC56-930C-42BC-8132-888F88E7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05050"/>
            <a:ext cx="1352550" cy="137160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7ECEB"/>
          </a:solidFill>
          <a:ln xmlns:a="http://schemas.openxmlformats.org/drawingml/2006/main" w="19050">
            <a:solidFill>
              <a:srgbClr val="8C151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E331A-C7B4-4B89-BD18-F99E6A5F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57450"/>
            <a:ext cx="100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4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4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4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4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4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4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4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4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4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rPr>
              <a:t>2. Locate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1B1B1D-6DC5-47E1-82FA-6C75E7A0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95600"/>
            <a:ext cx="971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bounding boxes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AC2BE-4592-4DE0-B4D5-AF5A4276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05050"/>
            <a:ext cx="1352550" cy="137160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19050">
            <a:solidFill>
              <a:srgbClr val="176B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D200D1-8FE1-4E93-BEBF-5B751E28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100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3. Enrich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12789-B523-4F44-AAE5-03558E15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95600"/>
            <a:ext cx="971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contextual retrieval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2E720-F930-478D-A2B1-B4C50939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05050"/>
            <a:ext cx="1352550" cy="137160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19050">
            <a:solidFill>
              <a:srgbClr val="176B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F7551-3350-4B64-86F7-BB1F2B5C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57450"/>
            <a:ext cx="100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329"/>
          </a:bodyPr>
          <a:lstStyle xmlns:a="http://schemas.openxmlformats.org/drawingml/2006/main">
            <a:def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4. Assemble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9ABB5-E288-4F7F-959C-900F0A9B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95600"/>
            <a:ext cx="971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table-aware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627E9-B302-4141-BA31-676E3CE0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05050"/>
            <a:ext cx="1352550" cy="137160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19050">
            <a:solidFill>
              <a:srgbClr val="176B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FE3D8-9565-4747-943B-2948708B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57450"/>
            <a:ext cx="100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5.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A9E435-CA71-477A-8D68-DDE789E2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95600"/>
            <a:ext cx="971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dental chatbot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123CA5-27A0-439B-AA2B-D646E96B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05050"/>
            <a:ext cx="1352550" cy="137160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9F1F8"/>
          </a:solidFill>
          <a:ln xmlns:a="http://schemas.openxmlformats.org/drawingml/2006/main" w="19050">
            <a:solidFill>
              <a:srgbClr val="2769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8BC14D-C9EE-4EB6-AC8B-1FD6AB98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57450"/>
            <a:ext cx="100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42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42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42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42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42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42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42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42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42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rPr>
              <a:t>6. Connect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CB16B9-6F88-4BEE-A3AE-81151024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971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FHIR tools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F831D3-B6D8-4703-85A7-75C84DF2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305050"/>
            <a:ext cx="1352550" cy="137160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9F1F8"/>
          </a:solidFill>
          <a:ln xmlns:a="http://schemas.openxmlformats.org/drawingml/2006/main" w="19050">
            <a:solidFill>
              <a:srgbClr val="2769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875295-CF6E-4759-841C-D22207B5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457450"/>
            <a:ext cx="100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42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42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42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42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42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42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42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42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42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rPr>
              <a:t>7. Govern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A50F5E-BA6D-4A2D-A932-2DB87FB4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895600"/>
            <a:ext cx="971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permissions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4BDE32-7F08-43BB-8EDF-BF937CF3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>
            <a:def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rPr>
              <a:t>The same evidence becomes progressively more structured, retrievable, usable, and controlled.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943083-C326-4604-9F27-9D3B6811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solidFill>
              <a:srgbClr val="8C151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DA023E-D16E-476E-8353-DFBE60C0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</p:spTree>
    <p:extLst>
      <p:ext uri="{BB962C8B-B14F-4D97-AF65-F5344CB8AC3E}">
        <p14:creationId xmlns:p14="http://schemas.microsoft.com/office/powerpoint/2010/main" val="2704961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C0CAB-0778-4A4F-9D81-4E438AC5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9075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C151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3A6D8-0E18-47EE-AC9B-7E9F4B9A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Part I: Build trustworthy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56089-8A9D-4BD9-A56C-FA3074E0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Recover meaning before indexing begins.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6570C-DD86-4287-87AE-2DE4D15F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solidFill>
              <a:srgbClr val="8C151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CB44A-F70B-4FF1-9F8E-36B41FF5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</p:spTree>
    <p:extLst>
      <p:ext uri="{BB962C8B-B14F-4D97-AF65-F5344CB8AC3E}">
        <p14:creationId xmlns:p14="http://schemas.microsoft.com/office/powerpoint/2010/main" val="3751487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FD3FED-91B8-4A0F-93CD-5462B94C90F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572500" y="24193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368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85737B-BD39-448A-B97C-43E735C31B5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534025" y="241935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368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4DF0E-82E8-497D-8440-08FC24637CF1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05075" y="241935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368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4D8D4B-78B9-4B44-A8C4-7409741A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Demo 1: Auditable document ingestion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8263F-5A8C-4285-BD71-61DD43A5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Route each layout to the extraction method that preserves its meaning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38EBA-FC2E-41CC-B392-88CA4A12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952625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7ECEB"/>
          </a:solidFill>
          <a:ln xmlns:a="http://schemas.openxmlformats.org/drawingml/2006/main" w="19050">
            <a:solidFill>
              <a:srgbClr val="8C151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FC8C1-7B8C-474E-BA13-3C7029AB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rPr>
              <a:t>Curated PDF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D2D19-0DAD-4AA8-B670-EDB5B6C5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policy, form, or research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CA4B0-2768-4225-9847-FD59C8BE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476375"/>
            <a:ext cx="2428875" cy="1885950"/>
          </a:xfrm>
          <a:prstGeom xmlns:a="http://schemas.openxmlformats.org/drawingml/2006/main" prst="roundRect">
            <a:avLst>
              <a:gd name="adj" fmla="val 5051"/>
            </a:avLst>
          </a:prstGeom>
          <a:solidFill xmlns:a="http://schemas.openxmlformats.org/drawingml/2006/main">
            <a:srgbClr val="F4F4F1"/>
          </a:solidFill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A695D-F5BE-499F-AB52-58F44CBC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28775"/>
            <a:ext cx="2085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Layout router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86E90-0DCE-4EFA-8C11-BE28B85C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66925"/>
            <a:ext cx="2047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native text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authored figure spec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bounded vision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43360-6242-41CA-A013-5B4FC60B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2381250" cy="1885950"/>
          </a:xfrm>
          <a:prstGeom xmlns:a="http://schemas.openxmlformats.org/drawingml/2006/main" prst="roundRect">
            <a:avLst>
              <a:gd name="adj" fmla="val 5051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19050">
            <a:solidFill>
              <a:srgbClr val="176B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3585E-5264-4530-AFF2-AAE923EE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287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Render and verify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72DAC-C4CF-4A78-8DCD-4D440F31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66925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source page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candidate HTML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immutable iterations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AECBA-DE24-4211-943E-B9007AC1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2190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9F1F8"/>
          </a:solidFill>
          <a:ln xmlns:a="http://schemas.openxmlformats.org/drawingml/2006/main" w="19050">
            <a:solidFill>
              <a:srgbClr val="2769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4E686-D5F7-4618-A656-A49D52D2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6215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rPr>
              <a:t>Candidate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D00C5D-7073-4217-95A9-FAF3739D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003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Markdown, HTML, QC report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A47F9-28D2-42C3-9006-790BEE02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10001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54000" indent="-127000" algn="l">
              <a:lnSpc>
                <a:spcPct val="100000"/>
              </a:lnSpc>
              <a:spcAft>
                <a:spcPts val="800"/>
              </a:spcAft>
              <a:buNone/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React comparison UI shows the source beside the generated representation.</a:t>
            </a:r>
          </a:p>
          <a:p xmlns:a="http://schemas.openxmlformats.org/drawingml/2006/main">
            <a:pPr marL="254000" indent="-127000" algn="l">
              <a:lnSpc>
                <a:spcPct val="100000"/>
              </a:lnSpc>
              <a:spcAft>
                <a:spcPts val="800"/>
              </a:spcAft>
              <a:buNone/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Server-Sent Events expose routing, rendering, review, and correction.</a:t>
            </a:r>
          </a:p>
          <a:p xmlns:a="http://schemas.openxmlformats.org/drawingml/2006/main">
            <a:pPr marL="254000" indent="-127000" algn="l">
              <a:lnSpc>
                <a:spcPct val="100000"/>
              </a:lnSpc>
              <a:spcAft>
                <a:spcPts val="800"/>
              </a:spcAft>
              <a:buNone/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Generated candidates are saved for inspection and are not promoted automatically.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6053D2-B9F3-4807-9EDF-6EF0FDC1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solidFill>
              <a:srgbClr val="8C151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E6A90D-28EE-4AF0-B14D-0C3BA96A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</p:spTree>
    <p:extLst>
      <p:ext uri="{BB962C8B-B14F-4D97-AF65-F5344CB8AC3E}">
        <p14:creationId xmlns:p14="http://schemas.microsoft.com/office/powerpoint/2010/main" val="5442074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14989-1022-47BC-9D6F-0726BF3E296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58075" y="3000375"/>
            <a:ext cx="1228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368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08B9C-BDCB-49FC-B7CF-5778BA42FEAC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467100" y="3000375"/>
            <a:ext cx="1228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368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1BAE2-87C3-45A3-BB0A-44477925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Demo 2: Figures become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0CF41-21C6-4D57-A4B1-513D25AC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Annotation and reconstruction are separate, inspectable stages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1FE60-6F07-40B3-971B-93F339AD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2762250" cy="31432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7ECEB"/>
          </a:solidFill>
          <a:ln xmlns:a="http://schemas.openxmlformats.org/drawingml/2006/main" w="19050">
            <a:solidFill>
              <a:srgbClr val="8C151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C04A5-1EC2-4520-AD9D-0621E3FE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rPr>
              <a:t>Locate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6AB42-A12A-42D1-B74D-DBA60AF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23812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Render PDF pages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Draw normalized boxes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Label chart, table, image, or other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94388-3505-4459-B2DF-D0CCB7BF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428750"/>
            <a:ext cx="2762250" cy="31432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4F1"/>
          </a:solidFill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F808B-10B3-4820-95E8-ECC1B70A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58115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Interpret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42A13-0632-40DC-AEFF-5C8A123D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019300"/>
            <a:ext cx="23812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Attach native PDF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Generate a structured figure prompt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Preserve region provenance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F1A1F-87C7-4528-B4AE-EB893987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28750"/>
            <a:ext cx="2762250" cy="31432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19050">
            <a:solidFill>
              <a:srgbClr val="176B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D3EF3-70FB-49C9-A2B6-C9990A96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Reconstruct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F0DBB-A6D8-424B-999D-4BD5571F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19300"/>
            <a:ext cx="23812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Create semantic 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Render in a browser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Review and correct within a bounded 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D1121-CCFB-4D35-9829-A486816A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rPr>
              <a:t>The source PDF never changes. Every box and iteration remains auditable.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FAECF-4518-4674-A2B7-E5CE362A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solidFill>
              <a:srgbClr val="8C151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28F28-9F48-4AAE-AEA7-7BEDF795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</p:spTree>
    <p:extLst>
      <p:ext uri="{BB962C8B-B14F-4D97-AF65-F5344CB8AC3E}">
        <p14:creationId xmlns:p14="http://schemas.microsoft.com/office/powerpoint/2010/main" val="6889554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BD430-C33D-42A9-9F4F-A67E63C8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9075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C151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7BD2D-FF99-48D9-A8BD-2DDEDBB2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651"/>
          </a:bodyPr>
          <a:lstStyle xmlns:a="http://schemas.openxmlformats.org/drawingml/2006/main">
            <a:def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Part II: Retrieve and assemble the right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09B29-19F6-4104-9217-58A83501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 relevant chunk is useful only if the model receives the evidence it needs.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DAA0E-B8A4-4E3F-B429-15A52EE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solidFill>
              <a:srgbClr val="8C151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FC73B-82CF-498B-A6B7-742F9B3D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</p:spTree>
    <p:extLst>
      <p:ext uri="{BB962C8B-B14F-4D97-AF65-F5344CB8AC3E}">
        <p14:creationId xmlns:p14="http://schemas.microsoft.com/office/powerpoint/2010/main" val="11550460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0681C3-D70A-4407-99F0-AEF354CFB1C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952750" y="4452938"/>
            <a:ext cx="519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1515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32C327-618D-47CA-9489-9AE2077DFA0D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6877050" y="2452688"/>
            <a:ext cx="126682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368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657FF4-39BA-405E-9AE4-33C044D7C52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952750" y="3386138"/>
            <a:ext cx="125730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368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A19800-7330-44C0-A551-DE95D6B192A6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52750" y="2452688"/>
            <a:ext cx="125730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368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E2E5FF-65EF-4F4B-87D2-E24B8552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Demo 3: Contextual 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B8565-C36D-4917-BBB4-D678CBD5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Add document identity for indexing while preserving the source chunk for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E74EB-BFF7-4D01-956B-730D537E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9F1F8"/>
          </a:solidFill>
          <a:ln xmlns:a="http://schemas.openxmlformats.org/drawingml/2006/main" w="19050">
            <a:solidFill>
              <a:srgbClr val="2769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40093-D2A0-4ED3-82EE-FD9A60C9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rPr>
              <a:t>Whole document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AC7A1-DE05-4763-8554-BA383D39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1905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title, section, plan, population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25BA9-B115-4203-8510-01A69A5C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2860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7ECEB"/>
          </a:solidFill>
          <a:ln xmlns:a="http://schemas.openxmlformats.org/drawingml/2006/main" w="19050">
            <a:solidFill>
              <a:srgbClr val="8C151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8C87D-981E-4C43-A294-922E1718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rPr>
              <a:t>Target chunk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2EB57-A378-4282-8106-261A018A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1905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unaltered source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F1E7E-7912-4E08-8AD3-ED68BB22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57450"/>
            <a:ext cx="2667000" cy="1857375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4F4F1"/>
          </a:solidFill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AFFBD-20AC-4486-AA3E-A49DF55E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098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Contextualize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B46B2-619B-4E20-AF16-35D61BBE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48000"/>
            <a:ext cx="2286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short retrieval-oriented description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2F061-3DA1-4A4F-A075-79215921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14500"/>
            <a:ext cx="3190875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19050">
            <a:solidFill>
              <a:srgbClr val="176B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D19BC-9FB7-47D9-B99C-B1ECF967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866900"/>
            <a:ext cx="2847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Index representation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9C4D2-205A-4B8F-83BE-2A1C7375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05050"/>
            <a:ext cx="2809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retrieval context + original chunk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20477D-ADB0-42A5-A491-95AF385B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14750"/>
            <a:ext cx="3190875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7ECEB"/>
          </a:solidFill>
          <a:ln xmlns:a="http://schemas.openxmlformats.org/drawingml/2006/main" w="19050">
            <a:solidFill>
              <a:srgbClr val="8C151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61F0AD-D1B9-4854-AE23-FC7AF52F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867150"/>
            <a:ext cx="2847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rPr>
              <a:t>Evidence representation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B965B-101E-4BC9-B8B0-A59FD854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05300"/>
            <a:ext cx="2809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original chunk + provenance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58D064-3BE7-48D8-BDCF-3C6CE131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721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20"/>
          </a:bodyPr>
          <a:lstStyle xmlns:a="http://schemas.openxmlformats.org/drawingml/2006/main">
            <a:def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rPr>
              <a:t>Generated context helps search. It does not replace authoritative evidence.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4DA093-7FE1-449E-83CF-9CEC3068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solidFill>
              <a:srgbClr val="8C151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DFE326-3676-4E6A-9C7A-0F41C006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</p:spTree>
    <p:extLst>
      <p:ext uri="{BB962C8B-B14F-4D97-AF65-F5344CB8AC3E}">
        <p14:creationId xmlns:p14="http://schemas.microsoft.com/office/powerpoint/2010/main" val="3234608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A3712-E3A5-48D1-BE4B-F0E43C87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Demo 4: Context assembly is its own failure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9EF25-C498-4156-8423-2A3FEE68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Hold retrieval constant, then compare what reaches 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802B7-1AE4-49A4-9C00-1C3C8F76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25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25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25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25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25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25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25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25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25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rPr>
              <a:t>Flat row chunks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AA59E-E315-4425-83B2-F28CF734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2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2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2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2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2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2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2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2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2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Table-aware expansion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463F7-4451-4A72-B667-280A66CD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335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171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EEDCB-5490-4EBF-9C10-F0486546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43338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54000" indent="-127000" algn="l">
              <a:lnSpc>
                <a:spcPct val="100000"/>
              </a:lnSpc>
              <a:spcAft>
                <a:spcPts val="1000"/>
              </a:spcAft>
              <a:buNone/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Search rows independently</a:t>
            </a:r>
          </a:p>
          <a:p xmlns:a="http://schemas.openxmlformats.org/drawingml/2006/main">
            <a:pPr marL="254000" indent="-127000" algn="l">
              <a:lnSpc>
                <a:spcPct val="100000"/>
              </a:lnSpc>
              <a:spcAft>
                <a:spcPts val="1000"/>
              </a:spcAft>
              <a:buNone/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Send only the top-k rows</a:t>
            </a:r>
          </a:p>
          <a:p xmlns:a="http://schemas.openxmlformats.org/drawingml/2006/main">
            <a:pPr marL="254000" indent="-127000" algn="l">
              <a:lnSpc>
                <a:spcPct val="100000"/>
              </a:lnSpc>
              <a:spcAft>
                <a:spcPts val="1000"/>
              </a:spcAft>
              <a:buNone/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Lower token cost</a:t>
            </a:r>
          </a:p>
          <a:p xmlns:a="http://schemas.openxmlformats.org/drawingml/2006/main">
            <a:pPr marL="254000" indent="-127000" algn="l">
              <a:lnSpc>
                <a:spcPct val="100000"/>
              </a:lnSpc>
              <a:spcAft>
                <a:spcPts val="1000"/>
              </a:spcAft>
              <a:buNone/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May omit headers, qualifiers, or related 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910D0-ABFC-4877-AA41-3B68D07C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43125"/>
            <a:ext cx="43338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54000" indent="-127000" algn="l">
              <a:lnSpc>
                <a:spcPct val="100000"/>
              </a:lnSpc>
              <a:spcAft>
                <a:spcPts val="1000"/>
              </a:spcAft>
              <a:buNone/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Search child rows</a:t>
            </a:r>
          </a:p>
          <a:p xmlns:a="http://schemas.openxmlformats.org/drawingml/2006/main">
            <a:pPr marL="254000" indent="-127000" algn="l">
              <a:lnSpc>
                <a:spcPct val="100000"/>
              </a:lnSpc>
              <a:spcAft>
                <a:spcPts val="1000"/>
              </a:spcAft>
              <a:buNone/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Resolve each row to its parent table</a:t>
            </a:r>
          </a:p>
          <a:p xmlns:a="http://schemas.openxmlformats.org/drawingml/2006/main">
            <a:pPr marL="254000" indent="-127000" algn="l">
              <a:lnSpc>
                <a:spcPct val="100000"/>
              </a:lnSpc>
              <a:spcAft>
                <a:spcPts val="1000"/>
              </a:spcAft>
              <a:buNone/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Send the complete table once</a:t>
            </a:r>
          </a:p>
          <a:p xmlns:a="http://schemas.openxmlformats.org/drawingml/2006/main">
            <a:pPr marL="254000" indent="-127000" algn="l">
              <a:lnSpc>
                <a:spcPct val="100000"/>
              </a:lnSpc>
              <a:spcAft>
                <a:spcPts val="1000"/>
              </a:spcAft>
              <a:buNone/>
              <a:defRPr sz="17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More structure, with a larger token budget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D00C42-9097-48BF-ABF5-5E14EACA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34000"/>
            <a:ext cx="904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519"/>
          </a:bodyPr>
          <a:lstStyle xmlns:a="http://schemas.openxmlformats.org/drawingml/2006/main">
            <a:def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rPr>
              <a:t>Question for the demo: does the assembled context contain every fact needed to answer?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B0227-13CD-42F1-82CE-1FB5C74D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solidFill>
              <a:srgbClr val="8C151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A79C5B-06E6-4063-AE85-A7F6E59E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</p:spTree>
    <p:extLst>
      <p:ext uri="{BB962C8B-B14F-4D97-AF65-F5344CB8AC3E}">
        <p14:creationId xmlns:p14="http://schemas.microsoft.com/office/powerpoint/2010/main" val="8866308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BE808A-5BDD-4360-AB7A-13E76404B57C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086850" y="2833688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368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9AF18B-C16B-461D-B5F1-B465FC5F0672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858000" y="2833688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368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BD8AED-0B25-41C8-8AA9-7532DE997E0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48150" y="2833688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368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55C5DB-9D67-4E30-BA40-B9D092C01FE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19300" y="2833688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368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50F985-60E7-4A13-A3E5-AE8176E2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Demo 5: Grounded dental benefit answers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83977-CD27-487F-8B08-889CB5C9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Use retrieval for evidence, structured data for exact values, and guards for release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6D97B-373D-4E96-B580-46101660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1619250" cy="100012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7ECEB"/>
          </a:solidFill>
          <a:ln xmlns:a="http://schemas.openxmlformats.org/drawingml/2006/main" w="19050">
            <a:solidFill>
              <a:srgbClr val="8C151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82183-0B90-4720-8AF6-9434908F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8602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5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5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5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5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5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5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5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5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5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rPr>
              <a:t>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B668D-B077-4982-BB68-7487EC10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24175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4744"/>
          </a:bodyPr>
          <a:lstStyle xmlns:a="http://schemas.openxmlformats.org/drawingml/2006/main">
            <a:def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member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75B8D-2728-480D-B7EC-F4328FC2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43125"/>
            <a:ext cx="18097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2E2"/>
          </a:solidFill>
          <a:ln xmlns:a="http://schemas.openxmlformats.org/drawingml/2006/main" w="19050">
            <a:solidFill>
              <a:srgbClr val="A56B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2ECF1-5893-446B-B843-BB3E9FF3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95525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56B00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575" b="1">
                <a:solidFill>
                  <a:srgbClr val="A56B00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575" b="1">
                <a:solidFill>
                  <a:srgbClr val="A56B00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575" b="1">
                <a:solidFill>
                  <a:srgbClr val="A56B00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575" b="1">
                <a:solidFill>
                  <a:srgbClr val="A56B00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575" b="1">
                <a:solidFill>
                  <a:srgbClr val="A56B00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575" b="1">
                <a:solidFill>
                  <a:srgbClr val="A56B00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575" b="1">
                <a:solidFill>
                  <a:srgbClr val="A56B00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575" b="1">
                <a:solidFill>
                  <a:srgbClr val="A56B00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575" b="1">
                <a:solidFill>
                  <a:srgbClr val="A56B0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A56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A56B00"/>
                </a:solidFill>
                <a:latin typeface="Helvetica Neue"/>
                <a:ea typeface="Helvetica Neue"/>
                <a:cs typeface="Helvetica Neue"/>
              </a:rPr>
              <a:t>Input guard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02CC0-8498-47C7-9DBA-35E658DE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33675"/>
            <a:ext cx="1428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classify or refuse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EAB5D-5E02-4D21-84AF-961E92BC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52625"/>
            <a:ext cx="2190750" cy="1762125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9F1F8"/>
          </a:solidFill>
          <a:ln xmlns:a="http://schemas.openxmlformats.org/drawingml/2006/main" w="19050">
            <a:solidFill>
              <a:srgbClr val="2769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1B900-B34D-4C95-95C2-3BD71C79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0502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57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57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57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57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57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57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57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57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57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rPr>
              <a:t>Evidence assembly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D0498-EF6A-4944-A005-76450D5A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43175"/>
            <a:ext cx="1809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BM25 + BGE vector + hybrid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SQLite exact lookup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5F56F-BB67-4FA7-B02A-56548A10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43125"/>
            <a:ext cx="18097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19050">
            <a:solidFill>
              <a:srgbClr val="176B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FB3B9-6619-4610-82C6-1A26DDD8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95525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5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5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5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5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5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5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5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5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5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DSPy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4F62E-1A49-49CD-A99C-86816755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33675"/>
            <a:ext cx="1428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draft with citations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7DBA9-7316-4667-86A7-743EC3B8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952625"/>
            <a:ext cx="2190750" cy="1762125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2E2"/>
          </a:solidFill>
          <a:ln xmlns:a="http://schemas.openxmlformats.org/drawingml/2006/main" w="19050">
            <a:solidFill>
              <a:srgbClr val="A56B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B7660-F673-466B-BA89-6154E34F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0502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56B00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575" b="1">
                <a:solidFill>
                  <a:srgbClr val="A56B00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575" b="1">
                <a:solidFill>
                  <a:srgbClr val="A56B00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575" b="1">
                <a:solidFill>
                  <a:srgbClr val="A56B00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575" b="1">
                <a:solidFill>
                  <a:srgbClr val="A56B00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575" b="1">
                <a:solidFill>
                  <a:srgbClr val="A56B00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575" b="1">
                <a:solidFill>
                  <a:srgbClr val="A56B00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575" b="1">
                <a:solidFill>
                  <a:srgbClr val="A56B00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575" b="1">
                <a:solidFill>
                  <a:srgbClr val="A56B00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575" b="1">
                <a:solidFill>
                  <a:srgbClr val="A56B0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A56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A56B00"/>
                </a:solidFill>
                <a:latin typeface="Helvetica Neue"/>
                <a:ea typeface="Helvetica Neue"/>
                <a:cs typeface="Helvetica Neue"/>
              </a:rPr>
              <a:t>Output guard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EE2E4C-3469-4020-BD66-89677FFC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43175"/>
            <a:ext cx="1809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safe → release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unsupported claim → repair once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other unsafe → refuse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39E17F-2379-48A8-A1A6-31D813A8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81500"/>
            <a:ext cx="923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54000" indent="-127000" algn="l">
              <a:lnSpc>
                <a:spcPct val="100000"/>
              </a:lnSpc>
              <a:spcAft>
                <a:spcPts val="1000"/>
              </a:spcAft>
              <a:buNone/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Enrollment uses deterministic state and authoritative tables.</a:t>
            </a:r>
          </a:p>
          <a:p xmlns:a="http://schemas.openxmlformats.org/drawingml/2006/main">
            <a:pPr marL="254000" indent="-127000" algn="l">
              <a:lnSpc>
                <a:spcPct val="100000"/>
              </a:lnSpc>
              <a:spcAft>
                <a:spcPts val="1000"/>
              </a:spcAft>
              <a:buNone/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Policy Q&amp;A exposes retrieved evidence and guard verdicts.</a:t>
            </a:r>
          </a:p>
          <a:p xmlns:a="http://schemas.openxmlformats.org/drawingml/2006/main">
            <a:pPr marL="254000" indent="-127000" algn="l">
              <a:lnSpc>
                <a:spcPct val="100000"/>
              </a:lnSpc>
              <a:spcAft>
                <a:spcPts val="1000"/>
              </a:spcAft>
              <a:buNone/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Unknown guard outcomes fail closed.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856683-E6E6-4E36-A2B0-7DF64344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solidFill>
              <a:srgbClr val="8C151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C07D5B-0683-4A4E-A506-DC5E4F3E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</p:spTree>
    <p:extLst>
      <p:ext uri="{BB962C8B-B14F-4D97-AF65-F5344CB8AC3E}">
        <p14:creationId xmlns:p14="http://schemas.microsoft.com/office/powerpoint/2010/main" val="1132347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64673-824D-429F-83BE-04AA36FE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9075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C151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F4570-295E-481B-AB1C-42BB888B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Part III: Connect agents to tools safely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5C905-F775-4391-B344-D7F087E9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Synthetic healthcare data makes the tool boundary visible without using real patient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99324-B3F5-46FB-B3FB-AD3A6A80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solidFill>
              <a:srgbClr val="8C151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006E5-FD75-4F1C-B293-F062B857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</p:spTree>
    <p:extLst>
      <p:ext uri="{BB962C8B-B14F-4D97-AF65-F5344CB8AC3E}">
        <p14:creationId xmlns:p14="http://schemas.microsoft.com/office/powerpoint/2010/main" val="17996527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0D210-FE6B-42A6-AF52-90E4CD5045C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572500" y="278606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368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D77E9F-21F6-4388-80E7-D167691D66B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524500" y="278606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368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6BC04-641C-440B-B309-C799FC4BCB44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76500" y="278606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368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A227CC-D0CF-46CA-8CBE-63E20250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Demo 6: FHIR tools over synthetic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4C9AF-8EFD-4BC5-87B8-8BC33E36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The model calls read-only tools; it does not connect directly to PostgreSQL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DB787-12D8-4103-98C6-8697D392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9050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7ECEB"/>
          </a:solidFill>
          <a:ln xmlns:a="http://schemas.openxmlformats.org/drawingml/2006/main" w="19050">
            <a:solidFill>
              <a:srgbClr val="8C151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1E61F-276E-408E-8F16-415A5AD4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rPr>
              <a:t>Synthea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1EE72-7368-41F7-805E-B905438D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1524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repeatable synthetic records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DD0AB-CADC-4AF4-A49E-E09C4BA8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2381250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19050">
            <a:solidFill>
              <a:srgbClr val="176B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C32A9-FB15-4D04-8B5B-78525B2D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621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HAPI FHIR R4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39340-6132-441D-AD3F-881AF6D3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20002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FHIR JSON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local PostgreSQL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localhost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4D0BE-ED16-44D9-B94B-C49AC0D4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381250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9F1F8"/>
          </a:solidFill>
          <a:ln xmlns:a="http://schemas.openxmlformats.org/drawingml/2006/main" w="19050">
            <a:solidFill>
              <a:srgbClr val="2769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5FC32-AB9A-4487-B1D2-2C1C08C2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621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rPr>
              <a:t>MCP bridge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DD0CA-500E-4ACE-8921-28818452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20002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fhir_search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fhir_read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2BADD-AA6B-4DC3-9A75-9637505C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2860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4F1"/>
          </a:solidFill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6BA85-21EF-4031-8FDB-219985F7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479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2EE97-3C89-4CE6-B52E-51F7F3C0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86050"/>
            <a:ext cx="190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answers from returned FHIR resources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EEFAF-B764-416E-8BD7-CBE29F80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6725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rPr>
              <a:t>Example: find members with type 2 diabetes and report their latest HbA1c observation.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756AD3-C553-4EF7-A0A7-483B6FD2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solidFill>
              <a:srgbClr val="8C151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18F5F5-2FFE-446E-AD5D-BE1E596D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</p:spTree>
    <p:extLst>
      <p:ext uri="{BB962C8B-B14F-4D97-AF65-F5344CB8AC3E}">
        <p14:creationId xmlns:p14="http://schemas.microsoft.com/office/powerpoint/2010/main" val="2430496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76C756-9224-443D-807A-3677BA48A41F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620125" y="2857500"/>
            <a:ext cx="666750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368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CF87B3-8523-4ED2-8B1F-5FEC80CAB9F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572125" y="28575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368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7B47A3-1FF6-486E-86AE-F62DEE74ED61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524125" y="2857500"/>
            <a:ext cx="666750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368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AD7A1A-5E3B-42FE-A06F-9EC0BEC3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Demo 7: Every tool call passes a policy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4386D-0F71-4B84-BF4E-FCCB15D8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Fail closed, inspect arguments, and write an audit record before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94F93-1C19-4FD0-B9FA-4ACC2878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1905000" cy="11906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F1F8"/>
          </a:solidFill>
          <a:ln xmlns:a="http://schemas.openxmlformats.org/drawingml/2006/main" w="19050">
            <a:solidFill>
              <a:srgbClr val="2769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E459B-2303-4174-8B5B-1F627463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193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769A8"/>
                </a:solidFill>
                <a:latin typeface="Helvetica Neue"/>
                <a:ea typeface="Helvetica Neue"/>
                <a:cs typeface="Helvetica Neue"/>
              </a:rPr>
              <a:t>Tool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F62F7-8B57-423C-AAF8-D2D1BA95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152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name + arguments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1C9EE-4A5F-4AA4-B7C4-79F2BFB7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857375"/>
            <a:ext cx="23812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F4F1"/>
          </a:solidFill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3FCF6-5D9D-4BFF-B00B-1AD7E4B9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0097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Ordered 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A51BF-E6AF-4E61-9DAD-24983161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47925"/>
            <a:ext cx="200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DENY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ALLOW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ASK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first match wins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DD5B3-AD49-4B32-89AE-438D31A2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57375"/>
            <a:ext cx="23812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7ECEB"/>
          </a:solidFill>
          <a:ln xmlns:a="http://schemas.openxmlformats.org/drawingml/2006/main" w="19050">
            <a:solidFill>
              <a:srgbClr val="8C151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C71A3-A36A-4BA6-8EFD-8ED5FD82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0097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077"/>
          </a:bodyPr>
          <a:lstStyle xmlns:a="http://schemas.openxmlformats.org/drawingml/2006/main">
            <a:def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rPr>
              <a:t>Argument inspection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52044-5675-462D-8138-8529293A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47925"/>
            <a:ext cx="200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secret paths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command text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script findings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EBBCB-46DE-4036-9720-157F6791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66950"/>
            <a:ext cx="2238375" cy="11906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19050">
            <a:solidFill>
              <a:srgbClr val="176B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E2203B-27BC-4FBF-9852-D54F3A6F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419350"/>
            <a:ext cx="1895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Outcome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A5835-B2B6-4243-A243-1A1CCA44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57500"/>
            <a:ext cx="1857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run, deny, or request approval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0DEB29-93DB-44B5-9296-D7117219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62500"/>
            <a:ext cx="923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rPr>
              <a:t>Audit-write failure denies execution. Unattended ASK decisions also deny by default.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B9A931-9785-4524-9B24-373E53C8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solidFill>
              <a:srgbClr val="8C151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D0DBA-A4F5-429A-9C05-690A0AB8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</p:spTree>
    <p:extLst>
      <p:ext uri="{BB962C8B-B14F-4D97-AF65-F5344CB8AC3E}">
        <p14:creationId xmlns:p14="http://schemas.microsoft.com/office/powerpoint/2010/main" val="18378503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F10A6-C39F-4E29-9A75-EC97D392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Live demo run sheet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CB7C3-CD6D-4657-83A1-AEAA4139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Keep every service prebuilt and every fallback local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0C63E-7290-4F43-89E6-290A3290B267}"/>
              </a:ext>
            </a:extLst>
          </p:cNvPr>
          <p:cNvGraphicFramePr/>
          <p:nvPr/>
        </p:nvGraphicFramePr>
        <p:xfrm>
          <a:off xmlns:a="http://schemas.openxmlformats.org/drawingml/2006/main" x="552450" y="1333500"/>
          <a:ext xmlns:a="http://schemas.openxmlformats.org/drawingml/2006/main" cx="110871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857500"/>
                <a:gridCol w="2381250"/>
                <a:gridCol w="3752850"/>
              </a:tblGrid>
              <a:tr h="50006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Demo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9C9C4"/>
                      </a:solidFill>
                      <a:prstDash val="solid"/>
                    </a:lnL>
                    <a:lnR w="9525">
                      <a:solidFill>
                        <a:srgbClr val="C9C9C4"/>
                      </a:solidFill>
                      <a:prstDash val="solid"/>
                    </a:lnR>
                    <a:lnT w="9525">
                      <a:solidFill>
                        <a:srgbClr val="C9C9C4"/>
                      </a:solidFill>
                      <a:prstDash val="solid"/>
                    </a:lnT>
                    <a:lnB w="9525">
                      <a:solidFill>
                        <a:srgbClr val="C9C9C4"/>
                      </a:solidFill>
                      <a:prstDash val="solid"/>
                    </a:lnB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Start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C9C9C4"/>
                      </a:solidFill>
                      <a:prstDash val="solid"/>
                    </a:lnR>
                    <a:lnT w="9525">
                      <a:solidFill>
                        <a:srgbClr val="C9C9C4"/>
                      </a:solidFill>
                      <a:prstDash val="solid"/>
                    </a:lnT>
                    <a:lnB w="9525">
                      <a:solidFill>
                        <a:srgbClr val="C9C9C4"/>
                      </a:solidFill>
                      <a:prstDash val="solid"/>
                    </a:lnB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Open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C9C9C4"/>
                      </a:solidFill>
                      <a:prstDash val="solid"/>
                    </a:lnR>
                    <a:lnT w="9525">
                      <a:solidFill>
                        <a:srgbClr val="C9C9C4"/>
                      </a:solidFill>
                      <a:prstDash val="solid"/>
                    </a:lnT>
                    <a:lnB w="9525">
                      <a:solidFill>
                        <a:srgbClr val="C9C9C4"/>
                      </a:solidFill>
                      <a:prstDash val="solid"/>
                    </a:lnB>
                    <a:solidFill>
                      <a:srgbClr val="8C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Show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C9C9C4"/>
                      </a:solidFill>
                      <a:prstDash val="solid"/>
                    </a:lnR>
                    <a:lnT w="9525">
                      <a:solidFill>
                        <a:srgbClr val="C9C9C4"/>
                      </a:solidFill>
                      <a:prstDash val="solid"/>
                    </a:lnT>
                    <a:lnB w="9525">
                      <a:solidFill>
                        <a:srgbClr val="C9C9C4"/>
                      </a:solidFill>
                      <a:prstDash val="solid"/>
                    </a:lnB>
                    <a:solidFill>
                      <a:srgbClr val="8C1515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Ingestion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9C9C4"/>
                      </a:solidFill>
                      <a:prstDash val="solid"/>
                    </a:lnL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./docker-up.sh --build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 URL from script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 vs HTML + trace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  <a:solidFill>
                      <a:srgbClr val="F7F7F5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Bounding boxes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9C9C4"/>
                      </a:solidFill>
                      <a:prstDash val="solid"/>
                    </a:lnL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Python backend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127.0.0.1:8511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 box + JSON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Contextual retrieval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9C9C4"/>
                      </a:solidFill>
                      <a:prstDash val="solid"/>
                    </a:lnL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docker compose up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127.0.0.1:8511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+ retrieval context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  <a:solidFill>
                      <a:srgbClr val="F7F7F5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Context assembly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9C9C4"/>
                      </a:solidFill>
                      <a:prstDash val="solid"/>
                    </a:lnL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docker compose up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8507 / 5174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flat vs table-aware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Dental chatbot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9C9C4"/>
                      </a:solidFill>
                      <a:prstDash val="solid"/>
                    </a:lnL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docker compose up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localhost:8506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+ guard verdict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  <a:solidFill>
                      <a:srgbClr val="F7F7F5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FHIR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9C9C4"/>
                      </a:solidFill>
                      <a:prstDash val="solid"/>
                    </a:lnL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docker compose up -d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localhost:8080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read-only tool call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Permissions</a:t>
                      </a:r>
                    </a:p>
                  </a:txBody>
                  <a:tcPr marL="66675" marR="66675" marT="66675" marB="66675" anchor="ctr">
                    <a:lnL w="9525">
                      <a:solidFill>
                        <a:srgbClr val="C9C9C4"/>
                      </a:solidFill>
                      <a:prstDash val="solid"/>
                    </a:lnL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unit or agent demo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terminal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ALLOW / DENY / ASK</a:t>
                      </a:r>
                    </a:p>
                  </a:txBody>
                  <a:tcPr marL="66675" marR="66675" marT="66675" marB="66675" anchor="ctr">
                    <a:lnR w="9525">
                      <a:solidFill>
                        <a:srgbClr val="C9C9C4"/>
                      </a:solidFill>
                      <a:prstDash val="solid"/>
                    </a:lnR>
                    <a:lnB w="9525">
                      <a:solidFill>
                        <a:srgbClr val="C9C9C4"/>
                      </a:solidFill>
                      <a:prstDash val="solid"/>
                    </a:lnB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40BAB-4F09-4200-B9CB-C96B377A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5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5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5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5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5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5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5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5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5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rPr>
              <a:t>Fallback: use saved runs and checked-in result snapshots if a live model or network call fails.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DE829-300B-4E60-806D-6AFA0256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solidFill>
              <a:srgbClr val="8C151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21827-7FD6-4F72-BD57-A0861ADD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</p:spTree>
    <p:extLst>
      <p:ext uri="{BB962C8B-B14F-4D97-AF65-F5344CB8AC3E}">
        <p14:creationId xmlns:p14="http://schemas.microsoft.com/office/powerpoint/2010/main" val="11013499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D42E0-BB8B-4186-92A4-40DEE5EA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What the demos establish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74D1C-8CF7-457A-8F45-5E9DEC5B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76375"/>
            <a:ext cx="9810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54000" indent="-127000" algn="l">
              <a:lnSpc>
                <a:spcPct val="100000"/>
              </a:lnSpc>
              <a:spcAft>
                <a:spcPts val="1300"/>
              </a:spcAft>
              <a:buNone/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Evidence quality starts at ingestion, before embeddings or prompts.</a:t>
            </a:r>
          </a:p>
          <a:p xmlns:a="http://schemas.openxmlformats.org/drawingml/2006/main">
            <a:pPr marL="254000" indent="-127000" algn="l">
              <a:lnSpc>
                <a:spcPct val="100000"/>
              </a:lnSpc>
              <a:spcAft>
                <a:spcPts val="1300"/>
              </a:spcAft>
              <a:buNone/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Retrieval quality and context assembly quality must be measured separately.</a:t>
            </a:r>
          </a:p>
          <a:p xmlns:a="http://schemas.openxmlformats.org/drawingml/2006/main">
            <a:pPr marL="254000" indent="-127000" algn="l">
              <a:lnSpc>
                <a:spcPct val="100000"/>
              </a:lnSpc>
              <a:spcAft>
                <a:spcPts val="1300"/>
              </a:spcAft>
              <a:buNone/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Exact benefits and clinical facts need structured sources and visible provenance.</a:t>
            </a:r>
          </a:p>
          <a:p xmlns:a="http://schemas.openxmlformats.org/drawingml/2006/main">
            <a:pPr marL="254000" indent="-127000" algn="l">
              <a:lnSpc>
                <a:spcPct val="100000"/>
              </a:lnSpc>
              <a:spcAft>
                <a:spcPts val="1300"/>
              </a:spcAft>
              <a:buNone/>
              <a:defRPr sz="2025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Tool access needs explicit policy, argument checks, approvals, and audit records.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7F190-E1DA-4ABE-A61E-619B0DBA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482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33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33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33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33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33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33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33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33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33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33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3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8C1515"/>
                </a:solidFill>
                <a:latin typeface="Helvetica Neue"/>
                <a:ea typeface="Helvetica Neue"/>
                <a:cs typeface="Helvetica Neue"/>
              </a:rPr>
              <a:t>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0F94C-5F34-4C59-9156-38CA7053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solidFill>
              <a:srgbClr val="8C151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62FB2-6550-4656-8131-5C214603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GEHA AI Engineering</a:t>
            </a:r>
          </a:p>
        </p:txBody>
      </p:sp>
    </p:spTree>
    <p:extLst>
      <p:ext uri="{BB962C8B-B14F-4D97-AF65-F5344CB8AC3E}">
        <p14:creationId xmlns:p14="http://schemas.microsoft.com/office/powerpoint/2010/main" val="13466634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2026-10-20T04:32:09.9660000Z</dcterms:created>
  <dcterms:modified xsi:type="dcterms:W3CDTF">2026-10-20T04:32:09.9660000Z</dcterms:modified>
</coreProperties>
</file>