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6764000" cy="6858000"/>
  <p:notesSz cx="6858000" cy="12192000"/>
  <p:embeddedFontLst>
    <p:embeddedFont>
      <p:font typeface="JetBrains Mono" panose="02000009000000000000" pitchFamily="49" charset="0"/>
      <p:regular r:id="rId18"/>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covers the retriever half of RAG finetuning: why it matters, how contrastive training works, the data and splits, the training run, held-out results with confidence intervals, whether it overfits, and how it compares with the generator finetuning.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errors cap answer quality: if the chunk holding the answer never reaches the prompt, no amount of generator tuning recovers it. That is why the retriever was finetuned first. The base model, bge-base-en-v1.5, is a strong general embedding model but has never seen dental-plan terms like FedViser, Self Plus One or premium rating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training example is a question paired with the chunk that answers it. The loss treats a batch as a ranking problem: for each question, its own chunk should score highest among all 16 chunks in the batch. Over training, the encoder learns that GEHA questions and the policy text that answers them belong close together. The bge query prefix is kept for training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question can cite up to three source chunks, so 78 training questions give 135 question-to-chunk pairs. Validation searches the 42 guide chunks; the test searches all 167 brochure chunks, which is a much harder, more realistic setting. These are the same splits the generator experiment later reused.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110 million parameters the encoder is small enough to train every weight, unlike the 1.5-billion-parameter generator, which needed LoRA. 135 pairs in batches of 16 make 9 steps per epoch, 27 in total, and the run fit comfortably on the Mac. Query latency stayed the same: about 13 to 15 milliseconds median per question, since the architecture is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runs once per epoch. Before training the base model already scores well on this small 42-chunk corpus. Epoch 1 brings the big jump on every metric. After that, recall at 5 keeps creeping up, but nDCG is flat and the top-ranked hit gets slightly worse: the model is getting more relevant chunks into the top five while getting a little less sure about the very first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test that matters: a different document with a 167-chunk search space. Recall at 5 went from 64.6 to 68.7 percent. Four questions whose answer chunk was missing from the top five now find it, and no question lost its chunk, so that gain is solid even at this small size. The ordering metrics are less clear: nDCG improves on average but helps 13 questions and hurts 8, and MRR barely moves. I recomputed every per-question score from the saved model; the averages match results/comparison.json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finetune moved recall at 5 from about 65 to about 69 percent on the unseen brochure. That is real progress, but it also means roughly three out of ten answer chunks are still not retrieved into a five-chunk context. This is the biggest remaining lever for end-to-end answer quality, bigger than anything the generator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answer: no clear overfitting. Recall keeps rising on validation and the model still generalizes to a different document. But beyond epoch 1 the ranking quality stops improving, and the small dip in the top-ranked hit is a single question out of 24, so it is within noise. With this little data, training one epoch, or adding early stopping on nDCG, would give the same result for a third of the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finetunes used the same synthetic questions and the same splits, and both were judged on the same unseen brochure. The retriever is small enough for a full finetune on a laptop; the generator needed LoRA and a GPU. Both got most of their benefit in the first epoch. Neither has yet been tested together in one end-to-end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next steps. Hard negatives are the standard way to push retrieval further, and the finetuning README already calls for verified ones before the next round. More questions and repeated seeds will tell us how stable the 4-point gain is. Training one epoch saves compute with no loss. And the real goal is end to end: running both finetuned models together and checking whether answers on the brochure actually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0"/>
            <a:ext cx="10566400" cy="4480570"/>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30"/>
            <a:ext cx="10566400" cy="4480570"/>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7FB0EA"/>
                </a:solidFill>
                <a:latin typeface="JetBrains Mono" pitchFamily="49" charset="0"/>
                <a:ea typeface="JetBrains Mono" pitchFamily="49" charset="-122"/>
                <a:cs typeface="JetBrains Mono" pitchFamily="49" charset="-120"/>
              </a:rPr>
              <a:t>GEHA DENTAL RAG · RETRIEVER FINETUNING</a:t>
            </a:r>
            <a:endParaRPr lang="en-US" sz="1400" dirty="0"/>
          </a:p>
        </p:txBody>
      </p:sp>
      <p:sp>
        <p:nvSpPr>
          <p:cNvPr id="3" name="Text 1"/>
          <p:cNvSpPr/>
          <p:nvPr>
            <p:ph type="title"/>
          </p:nvPr>
        </p:nvSpPr>
        <p:spPr>
          <a:xfrm>
            <a:off x="812800" y="2265710"/>
            <a:ext cx="10883392" cy="141218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3F1EA"/>
                </a:solidFill>
                <a:latin typeface="IBM Plex Sans" pitchFamily="34" charset="0"/>
                <a:ea typeface="IBM Plex Sans" pitchFamily="34" charset="-122"/>
                <a:cs typeface="IBM Plex Sans" pitchFamily="34" charset="-120"/>
              </a:rPr>
              <a:t>Teaching the search model what dental‑plan questions mean</a:t>
            </a:r>
            <a:endParaRPr lang="en-US" sz="5200" dirty="0"/>
          </a:p>
        </p:txBody>
      </p:sp>
      <p:sp>
        <p:nvSpPr>
          <p:cNvPr id="4" name="Text 2"/>
          <p:cNvSpPr/>
          <p:nvPr/>
        </p:nvSpPr>
        <p:spPr>
          <a:xfrm>
            <a:off x="812800" y="3906490"/>
            <a:ext cx="10883392"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9C3D1"/>
                </a:solidFill>
                <a:latin typeface="IBM Plex Sans" pitchFamily="34" charset="0"/>
                <a:ea typeface="IBM Plex Sans" pitchFamily="34" charset="-122"/>
                <a:cs typeface="IBM Plex Sans" pitchFamily="34" charset="-120"/>
              </a:rPr>
              <a:t>Contrastive finetuning of the bge‑base‑en‑v1.5 embedding model on GEHA question → chunk pairs</a:t>
            </a:r>
            <a:endParaRPr lang="en-US" sz="2000" dirty="0"/>
          </a:p>
        </p:txBody>
      </p:sp>
      <p:sp>
        <p:nvSpPr>
          <p:cNvPr id="5" name="Text 3"/>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C98A8"/>
                </a:solidFill>
                <a:latin typeface="IBM Plex Sans" pitchFamily="34" charset="0"/>
                <a:ea typeface="IBM Plex Sans" pitchFamily="34" charset="-122"/>
                <a:cs typeface="IBM Plex Sans" pitchFamily="34" charset="-120"/>
              </a:rPr>
              <a:t>October 2026 · experiment log · companion to the generator LoRA deck</a:t>
            </a:r>
            <a:endParaRPr lang="en-US" sz="1400" dirty="0"/>
          </a:p>
        </p:txBody>
      </p:sp>
      <p:sp>
        <p:nvSpPr>
          <p:cNvPr id="6"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This deck covers the retriever half of RAG finetuning: why it matters, how contrastive training works, the data and splits, the training run, held-out results with confidence intervals, whether it overfits, and how it compares with the generator finetuning.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The answer model can only use what retrieval finds</a:t>
            </a:r>
            <a:endParaRPr lang="en-US" sz="3200" dirty="0"/>
          </a:p>
        </p:txBody>
      </p:sp>
      <p:sp>
        <p:nvSpPr>
          <p:cNvPr id="3" name="Shape 1"/>
          <p:cNvSpPr/>
          <p:nvPr/>
        </p:nvSpPr>
        <p:spPr>
          <a:xfrm>
            <a:off x="819150" y="1621780"/>
            <a:ext cx="5143500" cy="4213870"/>
          </a:xfrm>
          <a:prstGeom prst="roundRect">
            <a:avLst>
              <a:gd name="adj" fmla="val 2863"/>
            </a:avLst>
          </a:prstGeom>
          <a:solidFill>
            <a:srgbClr val="FDFCF9"/>
          </a:solidFill>
          <a:ln w="12700">
            <a:solidFill>
              <a:srgbClr val="2F6DB5"/>
            </a:solidFill>
            <a:prstDash val="solid"/>
          </a:ln>
        </p:spPr>
      </p:sp>
      <p:sp>
        <p:nvSpPr>
          <p:cNvPr id="4" name="Text 2"/>
          <p:cNvSpPr/>
          <p:nvPr/>
        </p:nvSpPr>
        <p:spPr>
          <a:xfrm>
            <a:off x="1130300" y="1932930"/>
            <a:ext cx="4656836"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6DB5"/>
                </a:solidFill>
                <a:latin typeface="JetBrains Mono" pitchFamily="49" charset="0"/>
                <a:ea typeface="JetBrains Mono" pitchFamily="49" charset="-122"/>
                <a:cs typeface="JetBrains Mono" pitchFamily="49" charset="-120"/>
              </a:rPr>
              <a:t>RETRIEVER · THIS DECK</a:t>
            </a:r>
            <a:endParaRPr lang="en-US" sz="1200" dirty="0"/>
          </a:p>
        </p:txBody>
      </p:sp>
      <p:sp>
        <p:nvSpPr>
          <p:cNvPr id="5" name="Text 3"/>
          <p:cNvSpPr/>
          <p:nvPr/>
        </p:nvSpPr>
        <p:spPr>
          <a:xfrm>
            <a:off x="1130300" y="2298650"/>
            <a:ext cx="465683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E"/>
                </a:solidFill>
                <a:latin typeface="IBM Plex Sans" pitchFamily="34" charset="0"/>
                <a:ea typeface="IBM Plex Sans" pitchFamily="34" charset="-122"/>
                <a:cs typeface="IBM Plex Sans" pitchFamily="34" charset="-120"/>
              </a:rPr>
              <a:t>Which chunks the LLM sees</a:t>
            </a:r>
            <a:endParaRPr lang="en-US" sz="2200" dirty="0"/>
          </a:p>
        </p:txBody>
      </p:sp>
      <p:sp>
        <p:nvSpPr>
          <p:cNvPr id="6" name="Text 4"/>
          <p:cNvSpPr/>
          <p:nvPr/>
        </p:nvSpPr>
        <p:spPr>
          <a:xfrm>
            <a:off x="1130300" y="2786311"/>
            <a:ext cx="465683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Turns each question and each chunk into a vector; the nearest chunks go into the prompt.</a:t>
            </a:r>
            <a:endParaRPr lang="en-US" sz="1500" dirty="0"/>
          </a:p>
        </p:txBody>
      </p:sp>
      <p:sp>
        <p:nvSpPr>
          <p:cNvPr id="7" name="Text 5"/>
          <p:cNvSpPr/>
          <p:nvPr/>
        </p:nvSpPr>
        <p:spPr>
          <a:xfrm>
            <a:off x="1130300" y="5257800"/>
            <a:ext cx="48260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E"/>
                </a:solidFill>
                <a:latin typeface="IBM Plex Sans" pitchFamily="34" charset="0"/>
                <a:ea typeface="IBM Plex Sans" pitchFamily="34" charset="-122"/>
                <a:cs typeface="IBM Plex Sans" pitchFamily="34" charset="-120"/>
              </a:rPr>
              <a:t>A missed chunk is an answer the model </a:t>
            </a:r>
            <a:r>
              <a:rPr lang="en-US" sz="1500" b="1" dirty="0">
                <a:solidFill>
                  <a:srgbClr val="16202E"/>
                </a:solidFill>
                <a:latin typeface="IBM Plex Sans" pitchFamily="34" charset="0"/>
                <a:ea typeface="IBM Plex Sans" pitchFamily="34" charset="-122"/>
                <a:cs typeface="IBM Plex Sans" pitchFamily="34" charset="-120"/>
              </a:rPr>
              <a:t>cannot</a:t>
            </a:r>
            <a:r>
              <a:rPr lang="en-US" sz="1500" dirty="0">
                <a:solidFill>
                  <a:srgbClr val="16202E"/>
                </a:solidFill>
                <a:latin typeface="IBM Plex Sans" pitchFamily="34" charset="0"/>
                <a:ea typeface="IBM Plex Sans" pitchFamily="34" charset="-122"/>
                <a:cs typeface="IBM Plex Sans" pitchFamily="34" charset="-120"/>
              </a:rPr>
              <a:t> give.</a:t>
            </a:r>
            <a:endParaRPr lang="en-US" sz="1500" dirty="0"/>
          </a:p>
        </p:txBody>
      </p:sp>
      <p:sp>
        <p:nvSpPr>
          <p:cNvPr id="8" name="Shape 6"/>
          <p:cNvSpPr/>
          <p:nvPr/>
        </p:nvSpPr>
        <p:spPr>
          <a:xfrm>
            <a:off x="6229350" y="1621780"/>
            <a:ext cx="5143500" cy="4213870"/>
          </a:xfrm>
          <a:prstGeom prst="roundRect">
            <a:avLst>
              <a:gd name="adj" fmla="val 2863"/>
            </a:avLst>
          </a:prstGeom>
          <a:solidFill>
            <a:srgbClr val="FDFCF9"/>
          </a:solidFill>
          <a:ln w="12700">
            <a:solidFill>
              <a:srgbClr val="E2DED3"/>
            </a:solidFill>
            <a:prstDash val="solid"/>
          </a:ln>
        </p:spPr>
      </p:sp>
      <p:sp>
        <p:nvSpPr>
          <p:cNvPr id="9" name="Text 7"/>
          <p:cNvSpPr/>
          <p:nvPr/>
        </p:nvSpPr>
        <p:spPr>
          <a:xfrm>
            <a:off x="6540500" y="1932930"/>
            <a:ext cx="4656836"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4481A"/>
                </a:solidFill>
                <a:latin typeface="JetBrains Mono" pitchFamily="49" charset="0"/>
                <a:ea typeface="JetBrains Mono" pitchFamily="49" charset="-122"/>
                <a:cs typeface="JetBrains Mono" pitchFamily="49" charset="-120"/>
              </a:rPr>
              <a:t>GENERATOR · OTHER DECK</a:t>
            </a:r>
            <a:endParaRPr lang="en-US" sz="1200" dirty="0"/>
          </a:p>
        </p:txBody>
      </p:sp>
      <p:sp>
        <p:nvSpPr>
          <p:cNvPr id="10" name="Text 8"/>
          <p:cNvSpPr/>
          <p:nvPr/>
        </p:nvSpPr>
        <p:spPr>
          <a:xfrm>
            <a:off x="6540500" y="2298650"/>
            <a:ext cx="4656836"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E"/>
                </a:solidFill>
                <a:latin typeface="IBM Plex Sans" pitchFamily="34" charset="0"/>
                <a:ea typeface="IBM Plex Sans" pitchFamily="34" charset="-122"/>
                <a:cs typeface="IBM Plex Sans" pitchFamily="34" charset="-120"/>
              </a:rPr>
              <a:t>How the LLM answers from them</a:t>
            </a:r>
            <a:endParaRPr lang="en-US" sz="2200" dirty="0"/>
          </a:p>
        </p:txBody>
      </p:sp>
      <p:sp>
        <p:nvSpPr>
          <p:cNvPr id="11" name="Text 9"/>
          <p:cNvSpPr/>
          <p:nvPr/>
        </p:nvSpPr>
        <p:spPr>
          <a:xfrm>
            <a:off x="6540500" y="2786311"/>
            <a:ext cx="465683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LoRA on Qwen2.5‑1.5B‑Instruct, trained to answer and cite from passages.</a:t>
            </a:r>
            <a:endParaRPr lang="en-US" sz="1500" dirty="0"/>
          </a:p>
        </p:txBody>
      </p:sp>
      <p:sp>
        <p:nvSpPr>
          <p:cNvPr id="12" name="Text 10"/>
          <p:cNvSpPr/>
          <p:nvPr/>
        </p:nvSpPr>
        <p:spPr>
          <a:xfrm>
            <a:off x="6540500" y="5257800"/>
            <a:ext cx="465683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02E"/>
                </a:solidFill>
                <a:latin typeface="IBM Plex Sans" pitchFamily="34" charset="0"/>
                <a:ea typeface="IBM Plex Sans" pitchFamily="34" charset="-122"/>
                <a:cs typeface="IBM Plex Sans" pitchFamily="34" charset="-120"/>
              </a:rPr>
              <a:t>Only as good as the passages it is handed.</a:t>
            </a:r>
            <a:endParaRPr lang="en-US" sz="15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The off‑the‑shelf encoder was trained on general web text, not FEDVIP plan language</a:t>
            </a:r>
            <a:endParaRPr lang="en-US" sz="1200" dirty="0"/>
          </a:p>
        </p:txBody>
      </p:sp>
      <p:sp>
        <p:nvSpPr>
          <p:cNvPr id="14"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Retrieval errors cap answer quality: if the chunk holding the answer never reaches the prompt, no amount of generator tuning recovers it. That is why the retriever was finetuned first. The base model, bge-base-en-v1.5, is a strong general embedding model but has never seen dental-plan terms like FedViser, Self Plus One or premium rating areas.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Contrastive training: pull the right chunk closer</a:t>
            </a:r>
            <a:endParaRPr lang="en-US" sz="3200" dirty="0"/>
          </a:p>
        </p:txBody>
      </p:sp>
      <p:sp>
        <p:nvSpPr>
          <p:cNvPr id="3" name="Shape 1"/>
          <p:cNvSpPr/>
          <p:nvPr/>
        </p:nvSpPr>
        <p:spPr>
          <a:xfrm>
            <a:off x="812800" y="1752550"/>
            <a:ext cx="3225800" cy="1244501"/>
          </a:xfrm>
          <a:prstGeom prst="roundRect">
            <a:avLst>
              <a:gd name="adj" fmla="val 10205"/>
            </a:avLst>
          </a:prstGeom>
          <a:solidFill>
            <a:srgbClr val="16202E"/>
          </a:solidFill>
          <a:ln/>
        </p:spPr>
      </p:sp>
      <p:sp>
        <p:nvSpPr>
          <p:cNvPr id="4" name="Text 2"/>
          <p:cNvSpPr/>
          <p:nvPr/>
        </p:nvSpPr>
        <p:spPr>
          <a:xfrm>
            <a:off x="1041400" y="1981150"/>
            <a:ext cx="28516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8A8"/>
                </a:solidFill>
                <a:latin typeface="JetBrains Mono" pitchFamily="49" charset="0"/>
                <a:ea typeface="JetBrains Mono" pitchFamily="49" charset="-122"/>
                <a:cs typeface="JetBrains Mono" pitchFamily="49" charset="-120"/>
              </a:rPr>
              <a:t>QUESTION</a:t>
            </a:r>
            <a:endParaRPr lang="en-US" sz="1200" dirty="0"/>
          </a:p>
        </p:txBody>
      </p:sp>
      <p:sp>
        <p:nvSpPr>
          <p:cNvPr id="5" name="Text 3"/>
          <p:cNvSpPr/>
          <p:nvPr/>
        </p:nvSpPr>
        <p:spPr>
          <a:xfrm>
            <a:off x="1041400" y="2270671"/>
            <a:ext cx="285165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“What is the phone number to contact a FedViser?”</a:t>
            </a:r>
            <a:endParaRPr lang="en-US" sz="1400" dirty="0"/>
          </a:p>
        </p:txBody>
      </p:sp>
      <p:pic>
        <p:nvPicPr>
          <p:cNvPr id="6" name="Image 0" descr="connector">    </p:cNvPr>
          <p:cNvPicPr>
            <a:picLocks noChangeAspect="1"/>
          </p:cNvPicPr>
          <p:nvPr/>
        </p:nvPicPr>
        <p:blipFill>
          <a:blip r:embed="rId1"/>
          <a:srcRect l="0" r="0" t="0" b="0"/>
          <a:stretch/>
        </p:blipFill>
        <p:spPr>
          <a:xfrm>
            <a:off x="4191000" y="2324001"/>
            <a:ext cx="355600" cy="101600"/>
          </a:xfrm>
          <a:prstGeom prst="rect">
            <a:avLst/>
          </a:prstGeom>
        </p:spPr>
      </p:pic>
      <p:sp>
        <p:nvSpPr>
          <p:cNvPr id="7" name="Shape 4"/>
          <p:cNvSpPr/>
          <p:nvPr/>
        </p:nvSpPr>
        <p:spPr>
          <a:xfrm>
            <a:off x="4705350" y="1621780"/>
            <a:ext cx="3238500" cy="1506091"/>
          </a:xfrm>
          <a:prstGeom prst="roundRect">
            <a:avLst>
              <a:gd name="adj" fmla="val 8011"/>
            </a:avLst>
          </a:prstGeom>
          <a:solidFill>
            <a:srgbClr val="FDFCF9"/>
          </a:solidFill>
          <a:ln w="12700">
            <a:solidFill>
              <a:srgbClr val="E2DED3"/>
            </a:solidFill>
            <a:prstDash val="solid"/>
          </a:ln>
        </p:spPr>
      </p:sp>
      <p:sp>
        <p:nvSpPr>
          <p:cNvPr id="8" name="Text 5"/>
          <p:cNvSpPr/>
          <p:nvPr/>
        </p:nvSpPr>
        <p:spPr>
          <a:xfrm>
            <a:off x="4940300" y="1856730"/>
            <a:ext cx="28516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DB5"/>
                </a:solidFill>
                <a:latin typeface="JetBrains Mono" pitchFamily="49" charset="0"/>
                <a:ea typeface="JetBrains Mono" pitchFamily="49" charset="-122"/>
                <a:cs typeface="JetBrains Mono" pitchFamily="49" charset="-120"/>
              </a:rPr>
              <a:t>ONE SHARED ENCODER</a:t>
            </a:r>
            <a:endParaRPr lang="en-US" sz="1200" dirty="0"/>
          </a:p>
        </p:txBody>
      </p:sp>
      <p:sp>
        <p:nvSpPr>
          <p:cNvPr id="9" name="Text 6"/>
          <p:cNvSpPr/>
          <p:nvPr/>
        </p:nvSpPr>
        <p:spPr>
          <a:xfrm>
            <a:off x="4940300" y="2146250"/>
            <a:ext cx="2851658"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bge‑base turns question and chunks into 768‑d vectors; cosine similarity ranks them</a:t>
            </a:r>
            <a:endParaRPr lang="en-US" sz="1400" dirty="0"/>
          </a:p>
        </p:txBody>
      </p:sp>
      <p:pic>
        <p:nvPicPr>
          <p:cNvPr id="10" name="Image 1" descr="connector">    </p:cNvPr>
          <p:cNvPicPr>
            <a:picLocks noChangeAspect="1"/>
          </p:cNvPicPr>
          <p:nvPr/>
        </p:nvPicPr>
        <p:blipFill>
          <a:blip r:embed="rId2"/>
          <a:srcRect l="0" r="0" t="0" b="0"/>
          <a:stretch/>
        </p:blipFill>
        <p:spPr>
          <a:xfrm>
            <a:off x="8102600" y="2324001"/>
            <a:ext cx="355600" cy="101600"/>
          </a:xfrm>
          <a:prstGeom prst="rect">
            <a:avLst/>
          </a:prstGeom>
        </p:spPr>
      </p:pic>
      <p:sp>
        <p:nvSpPr>
          <p:cNvPr id="11" name="Text 7"/>
          <p:cNvSpPr/>
          <p:nvPr/>
        </p:nvSpPr>
        <p:spPr>
          <a:xfrm>
            <a:off x="8620125" y="1636961"/>
            <a:ext cx="2749550" cy="563860"/>
          </a:xfrm>
          <a:prstGeom prst="roundRect">
            <a:avLst>
              <a:gd name="adj" fmla="val 16329"/>
            </a:avLst>
          </a:prstGeom>
          <a:solidFill>
            <a:srgbClr val="FDFCF9"/>
          </a:solidFill>
          <a:ln w="19050">
            <a:solidFill>
              <a:srgbClr val="2F6DB5"/>
            </a:solidFill>
            <a:prstDash val="solid"/>
          </a:ln>
        </p:spPr>
        <p:txBody>
          <a:bodyPr wrap="square" lIns="134957" tIns="134957" rIns="62186" bIns="109557" rtlCol="0" anchor="t">
            <a:normAutofit/>
          </a:bodyPr>
          <a:lstStyle/>
          <a:p>
            <a:pPr algn="l" indent="0" marL="0">
              <a:lnSpc>
                <a:spcPts val="1890"/>
              </a:lnSpc>
              <a:buNone/>
            </a:pPr>
            <a:r>
              <a:rPr lang="en-US" sz="1400" b="1" dirty="0">
                <a:solidFill>
                  <a:srgbClr val="2F6DB5"/>
                </a:solidFill>
                <a:latin typeface="IBM Plex Sans" pitchFamily="34" charset="0"/>
                <a:ea typeface="IBM Plex Sans" pitchFamily="34" charset="-122"/>
                <a:cs typeface="IBM Plex Sans" pitchFamily="34" charset="-120"/>
              </a:rPr>
              <a:t>Gold chunk</a:t>
            </a:r>
            <a:r>
              <a:rPr lang="en-US" sz="1400" dirty="0">
                <a:solidFill>
                  <a:srgbClr val="16202E"/>
                </a:solidFill>
                <a:latin typeface="IBM Plex Sans" pitchFamily="34" charset="0"/>
                <a:ea typeface="IBM Plex Sans" pitchFamily="34" charset="-122"/>
                <a:cs typeface="IBM Plex Sans" pitchFamily="34" charset="-120"/>
              </a:rPr>
              <a:t>, pulled closer</a:t>
            </a:r>
            <a:endParaRPr lang="en-US" sz="1400" dirty="0"/>
          </a:p>
        </p:txBody>
      </p:sp>
      <p:sp>
        <p:nvSpPr>
          <p:cNvPr id="12" name="Text 8"/>
          <p:cNvSpPr/>
          <p:nvPr/>
        </p:nvSpPr>
        <p:spPr>
          <a:xfrm>
            <a:off x="8616950" y="2318296"/>
            <a:ext cx="2755900" cy="797520"/>
          </a:xfrm>
          <a:prstGeom prst="roundRect">
            <a:avLst>
              <a:gd name="adj" fmla="val 11943"/>
            </a:avLst>
          </a:prstGeom>
          <a:solidFill>
            <a:srgbClr val="FDFCF9"/>
          </a:solidFill>
          <a:ln w="12700">
            <a:solidFill>
              <a:srgbClr val="C9C3B5"/>
            </a:solidFill>
            <a:prstDash val="dash"/>
          </a:ln>
        </p:spPr>
        <p:txBody>
          <a:bodyPr wrap="square" lIns="130852" tIns="130852" rIns="57700" bIns="105452" rtlCol="0" anchor="t">
            <a:normAutofit/>
          </a:bodyPr>
          <a:lstStyle/>
          <a:p>
            <a:pPr algn="l" indent="0" marL="0">
              <a:lnSpc>
                <a:spcPts val="1890"/>
              </a:lnSpc>
              <a:buNone/>
            </a:pPr>
            <a:r>
              <a:rPr lang="en-US" sz="1400" b="1" dirty="0">
                <a:solidFill>
                  <a:srgbClr val="4A5568"/>
                </a:solidFill>
                <a:latin typeface="IBM Plex Sans" pitchFamily="34" charset="0"/>
                <a:ea typeface="IBM Plex Sans" pitchFamily="34" charset="-122"/>
                <a:cs typeface="IBM Plex Sans" pitchFamily="34" charset="-120"/>
              </a:rPr>
              <a:t>15 other chunks</a:t>
            </a:r>
            <a:r>
              <a:rPr lang="en-US" sz="1400" dirty="0">
                <a:solidFill>
                  <a:srgbClr val="4A5568"/>
                </a:solidFill>
                <a:latin typeface="IBM Plex Sans" pitchFamily="34" charset="0"/>
                <a:ea typeface="IBM Plex Sans" pitchFamily="34" charset="-122"/>
                <a:cs typeface="IBM Plex Sans" pitchFamily="34" charset="-120"/>
              </a:rPr>
              <a:t> in the batch, pushed away</a:t>
            </a:r>
            <a:endParaRPr lang="en-US" sz="1400" dirty="0"/>
          </a:p>
        </p:txBody>
      </p:sp>
      <p:sp>
        <p:nvSpPr>
          <p:cNvPr id="13" name="Text 9"/>
          <p:cNvSpPr/>
          <p:nvPr/>
        </p:nvSpPr>
        <p:spPr>
          <a:xfrm>
            <a:off x="812800" y="3489821"/>
            <a:ext cx="10883392"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16202E"/>
                </a:solidFill>
                <a:latin typeface="IBM Plex Sans" pitchFamily="34" charset="0"/>
                <a:ea typeface="IBM Plex Sans" pitchFamily="34" charset="-122"/>
                <a:cs typeface="IBM Plex Sans" pitchFamily="34" charset="-120"/>
              </a:rPr>
              <a:t>MultipleNegativesRankingLoss:</a:t>
            </a:r>
            <a:r>
              <a:rPr lang="en-US" sz="1500" dirty="0">
                <a:solidFill>
                  <a:srgbClr val="4A5568"/>
                </a:solidFill>
                <a:latin typeface="IBM Plex Sans" pitchFamily="34" charset="0"/>
                <a:ea typeface="IBM Plex Sans" pitchFamily="34" charset="-122"/>
                <a:cs typeface="IBM Plex Sans" pitchFamily="34" charset="-120"/>
              </a:rPr>
              <a:t> every other question’s chunk in a batch of 16 acts as a free negative, so no negative mining is needed to start.</a:t>
            </a:r>
            <a:endParaRPr lang="en-US" sz="1500" dirty="0"/>
          </a:p>
        </p:txBody>
      </p:sp>
      <p:sp>
        <p:nvSpPr>
          <p:cNvPr id="14"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JetBrains Mono" pitchFamily="49" charset="0"/>
                <a:ea typeface="JetBrains Mono" pitchFamily="49" charset="-122"/>
                <a:cs typeface="JetBrains Mono" pitchFamily="49" charset="-120"/>
              </a:rPr>
              <a:t>query prefix: “Represent this sentence for searching relevant passages: ”</a:t>
            </a:r>
            <a:endParaRPr lang="en-US" sz="1200" dirty="0"/>
          </a:p>
        </p:txBody>
      </p:sp>
      <p:sp>
        <p:nvSpPr>
          <p:cNvPr id="15"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Each training example is a question paired with the chunk that answers it. The loss treats a batch as a ranking problem: for each question, its own chunk should score highest among all 16 chunks in the batch. Over training, the encoder learns that GEHA questions and the policy text that answers them belong close together. The bge query prefix is kept for training and evaluation.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Data: synthetic questions, and a test set from another document</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2075160"/>
          <a:ext cx="6443117" cy="2702074"/>
        </p:xfrm>
        <a:graphic>
          <a:graphicData uri="http://schemas.openxmlformats.org/drawingml/2006/table">
            <a:tbl>
              <a:tblPr/>
              <a:tblGrid>
                <a:gridCol w="2190660"/>
                <a:gridCol w="1417486"/>
                <a:gridCol w="1417486"/>
                <a:gridCol w="1417486"/>
              </a:tblGrid>
              <a:tr h="386011">
                <a:tc>
                  <a:txBody>
                    <a:bodyPr/>
                    <a:lstStyle/>
                    <a:p>
                      <a:pP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train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validation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test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Document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guide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guide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brochure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Sections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72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Chunks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34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167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QA pairs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78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41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Question → chunk pairs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135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Search corpus at eval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42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167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bl>
          </a:graphicData>
        </a:graphic>
      </p:graphicFrame>
      <p:sp>
        <p:nvSpPr>
          <p:cNvPr id="4" name="Shape 1"/>
          <p:cNvSpPr/>
          <p:nvPr/>
        </p:nvSpPr>
        <p:spPr>
          <a:xfrm>
            <a:off x="7630567" y="2068810"/>
            <a:ext cx="3742283" cy="2702074"/>
          </a:xfrm>
          <a:prstGeom prst="roundRect">
            <a:avLst>
              <a:gd name="adj" fmla="val 4465"/>
            </a:avLst>
          </a:prstGeom>
          <a:solidFill>
            <a:srgbClr val="FDFCF9"/>
          </a:solidFill>
          <a:ln w="12700">
            <a:solidFill>
              <a:srgbClr val="E2DED3"/>
            </a:solidFill>
            <a:prstDash val="solid"/>
          </a:ln>
        </p:spPr>
      </p:sp>
      <p:sp>
        <p:nvSpPr>
          <p:cNvPr id="5" name="Text 2"/>
          <p:cNvSpPr/>
          <p:nvPr/>
        </p:nvSpPr>
        <p:spPr>
          <a:xfrm>
            <a:off x="7890917" y="2329160"/>
            <a:ext cx="331823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How it was built</a:t>
            </a:r>
            <a:endParaRPr lang="en-US" sz="1600" dirty="0"/>
          </a:p>
        </p:txBody>
      </p:sp>
      <p:sp>
        <p:nvSpPr>
          <p:cNvPr id="6" name="Text 3"/>
          <p:cNvSpPr/>
          <p:nvPr/>
        </p:nvSpPr>
        <p:spPr>
          <a:xfrm>
            <a:off x="7890917" y="2699990"/>
            <a:ext cx="3318231"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RAGAS + gpt‑4.1‑mini wrote questions from Docling chunks</a:t>
            </a:r>
            <a:endParaRPr lang="en-US" sz="1300" dirty="0"/>
          </a:p>
        </p:txBody>
      </p:sp>
      <p:sp>
        <p:nvSpPr>
          <p:cNvPr id="7" name="Text 4"/>
          <p:cNvSpPr/>
          <p:nvPr/>
        </p:nvSpPr>
        <p:spPr>
          <a:xfrm>
            <a:off x="7890917" y="3289250"/>
            <a:ext cx="3318231"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Table‑of‑contents chunks removed</a:t>
            </a:r>
            <a:endParaRPr lang="en-US" sz="1300" dirty="0"/>
          </a:p>
        </p:txBody>
      </p:sp>
      <p:sp>
        <p:nvSpPr>
          <p:cNvPr id="8" name="Text 5"/>
          <p:cNvSpPr/>
          <p:nvPr/>
        </p:nvSpPr>
        <p:spPr>
          <a:xfrm>
            <a:off x="7890917" y="3647380"/>
            <a:ext cx="3318231"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Train and validation split by section</a:t>
            </a:r>
            <a:endParaRPr lang="en-US" sz="1300" dirty="0"/>
          </a:p>
        </p:txBody>
      </p:sp>
      <p:sp>
        <p:nvSpPr>
          <p:cNvPr id="9" name="Text 6"/>
          <p:cNvSpPr/>
          <p:nvPr/>
        </p:nvSpPr>
        <p:spPr>
          <a:xfrm>
            <a:off x="7890917" y="4005511"/>
            <a:ext cx="3318231"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Test = the plan brochure, never trained on</a:t>
            </a:r>
            <a:endParaRPr lang="en-US" sz="13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Guide = 2026 GEHA dental benefits guide · Brochure = 2026 plan brochure · prepare_retriever_splits.py, generate_ragas_qa.py</a:t>
            </a:r>
            <a:endParaRPr lang="en-US" sz="1200" dirty="0"/>
          </a:p>
        </p:txBody>
      </p:sp>
      <p:sp>
        <p:nvSpPr>
          <p:cNvPr id="11"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A question can cite up to three source chunks, so 78 training questions give 135 question-to-chunk pairs. Validation searches the 42 guide chunks; the test searches all 167 brochure chunks, which is a much harder, more realistic setting. These are the same splits the generator experiment later reused.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The run: a full finetune in 27 steps</a:t>
            </a:r>
            <a:endParaRPr lang="en-US" sz="3200" dirty="0"/>
          </a:p>
        </p:txBody>
      </p:sp>
      <p:sp>
        <p:nvSpPr>
          <p:cNvPr id="3" name="Shape 1"/>
          <p:cNvSpPr/>
          <p:nvPr/>
        </p:nvSpPr>
        <p:spPr>
          <a:xfrm>
            <a:off x="819150" y="1621780"/>
            <a:ext cx="2476500" cy="1931591"/>
          </a:xfrm>
          <a:prstGeom prst="roundRect">
            <a:avLst>
              <a:gd name="adj" fmla="val 6246"/>
            </a:avLst>
          </a:prstGeom>
          <a:solidFill>
            <a:srgbClr val="FDFCF9"/>
          </a:solidFill>
          <a:ln w="12700">
            <a:solidFill>
              <a:srgbClr val="2F6DB5"/>
            </a:solidFill>
            <a:prstDash val="solid"/>
          </a:ln>
        </p:spPr>
      </p:sp>
      <p:sp>
        <p:nvSpPr>
          <p:cNvPr id="4" name="Text 2"/>
          <p:cNvSpPr/>
          <p:nvPr/>
        </p:nvSpPr>
        <p:spPr>
          <a:xfrm>
            <a:off x="1079500" y="1882130"/>
            <a:ext cx="2014474"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2F6DB5"/>
                </a:solidFill>
                <a:latin typeface="IBM Plex Sans" pitchFamily="34" charset="0"/>
                <a:ea typeface="IBM Plex Sans" pitchFamily="34" charset="-122"/>
                <a:cs typeface="IBM Plex Sans" pitchFamily="34" charset="-120"/>
              </a:rPr>
              <a:t>110M</a:t>
            </a:r>
            <a:endParaRPr lang="en-US" sz="4400" dirty="0"/>
          </a:p>
        </p:txBody>
      </p:sp>
      <p:sp>
        <p:nvSpPr>
          <p:cNvPr id="5" name="Text 3"/>
          <p:cNvSpPr/>
          <p:nvPr/>
        </p:nvSpPr>
        <p:spPr>
          <a:xfrm>
            <a:off x="1079500" y="2572990"/>
            <a:ext cx="201447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weights, all trained: no LoRA needed at this size</a:t>
            </a:r>
            <a:endParaRPr lang="en-US" sz="1400" dirty="0"/>
          </a:p>
        </p:txBody>
      </p:sp>
      <p:sp>
        <p:nvSpPr>
          <p:cNvPr id="6" name="Shape 4"/>
          <p:cNvSpPr/>
          <p:nvPr/>
        </p:nvSpPr>
        <p:spPr>
          <a:xfrm>
            <a:off x="3511550" y="1621780"/>
            <a:ext cx="2476500" cy="1931591"/>
          </a:xfrm>
          <a:prstGeom prst="roundRect">
            <a:avLst>
              <a:gd name="adj" fmla="val 6246"/>
            </a:avLst>
          </a:prstGeom>
          <a:solidFill>
            <a:srgbClr val="FDFCF9"/>
          </a:solidFill>
          <a:ln w="12700">
            <a:solidFill>
              <a:srgbClr val="E2DED3"/>
            </a:solidFill>
            <a:prstDash val="solid"/>
          </a:ln>
        </p:spPr>
      </p:sp>
      <p:sp>
        <p:nvSpPr>
          <p:cNvPr id="7" name="Text 5"/>
          <p:cNvSpPr/>
          <p:nvPr/>
        </p:nvSpPr>
        <p:spPr>
          <a:xfrm>
            <a:off x="3771900" y="1882130"/>
            <a:ext cx="2014474"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16202E"/>
                </a:solidFill>
                <a:latin typeface="IBM Plex Sans" pitchFamily="34" charset="0"/>
                <a:ea typeface="IBM Plex Sans" pitchFamily="34" charset="-122"/>
                <a:cs typeface="IBM Plex Sans" pitchFamily="34" charset="-120"/>
              </a:rPr>
              <a:t>16</a:t>
            </a:r>
            <a:endParaRPr lang="en-US" sz="4400" dirty="0"/>
          </a:p>
        </p:txBody>
      </p:sp>
      <p:sp>
        <p:nvSpPr>
          <p:cNvPr id="8" name="Text 6"/>
          <p:cNvSpPr/>
          <p:nvPr/>
        </p:nvSpPr>
        <p:spPr>
          <a:xfrm>
            <a:off x="3771900" y="2572990"/>
            <a:ext cx="201447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pairs per batch, so 15 in‑batch negatives each</a:t>
            </a:r>
            <a:endParaRPr lang="en-US" sz="1400" dirty="0"/>
          </a:p>
        </p:txBody>
      </p:sp>
      <p:sp>
        <p:nvSpPr>
          <p:cNvPr id="9" name="Shape 7"/>
          <p:cNvSpPr/>
          <p:nvPr/>
        </p:nvSpPr>
        <p:spPr>
          <a:xfrm>
            <a:off x="6203950" y="1621780"/>
            <a:ext cx="2476500" cy="1931591"/>
          </a:xfrm>
          <a:prstGeom prst="roundRect">
            <a:avLst>
              <a:gd name="adj" fmla="val 6246"/>
            </a:avLst>
          </a:prstGeom>
          <a:solidFill>
            <a:srgbClr val="FDFCF9"/>
          </a:solidFill>
          <a:ln w="12700">
            <a:solidFill>
              <a:srgbClr val="E2DED3"/>
            </a:solidFill>
            <a:prstDash val="solid"/>
          </a:ln>
        </p:spPr>
      </p:sp>
      <p:sp>
        <p:nvSpPr>
          <p:cNvPr id="10" name="Text 8"/>
          <p:cNvSpPr/>
          <p:nvPr/>
        </p:nvSpPr>
        <p:spPr>
          <a:xfrm>
            <a:off x="6464300" y="1882130"/>
            <a:ext cx="2014474"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16202E"/>
                </a:solidFill>
                <a:latin typeface="IBM Plex Sans" pitchFamily="34" charset="0"/>
                <a:ea typeface="IBM Plex Sans" pitchFamily="34" charset="-122"/>
                <a:cs typeface="IBM Plex Sans" pitchFamily="34" charset="-120"/>
              </a:rPr>
              <a:t>9 × 3</a:t>
            </a:r>
            <a:endParaRPr lang="en-US" sz="4400" dirty="0"/>
          </a:p>
        </p:txBody>
      </p:sp>
      <p:sp>
        <p:nvSpPr>
          <p:cNvPr id="11" name="Text 9"/>
          <p:cNvSpPr/>
          <p:nvPr/>
        </p:nvSpPr>
        <p:spPr>
          <a:xfrm>
            <a:off x="6464300" y="2572990"/>
            <a:ext cx="2014474"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steps per epoch × epochs = 27 optimizer steps</a:t>
            </a:r>
            <a:endParaRPr lang="en-US" sz="1400" dirty="0"/>
          </a:p>
        </p:txBody>
      </p:sp>
      <p:sp>
        <p:nvSpPr>
          <p:cNvPr id="12" name="Shape 10"/>
          <p:cNvSpPr/>
          <p:nvPr/>
        </p:nvSpPr>
        <p:spPr>
          <a:xfrm>
            <a:off x="8896350" y="1621780"/>
            <a:ext cx="2476500" cy="1931591"/>
          </a:xfrm>
          <a:prstGeom prst="roundRect">
            <a:avLst>
              <a:gd name="adj" fmla="val 6246"/>
            </a:avLst>
          </a:prstGeom>
          <a:solidFill>
            <a:srgbClr val="FDFCF9"/>
          </a:solidFill>
          <a:ln w="12700">
            <a:solidFill>
              <a:srgbClr val="E2DED3"/>
            </a:solidFill>
            <a:prstDash val="solid"/>
          </a:ln>
        </p:spPr>
      </p:sp>
      <p:sp>
        <p:nvSpPr>
          <p:cNvPr id="13" name="Text 11"/>
          <p:cNvSpPr/>
          <p:nvPr/>
        </p:nvSpPr>
        <p:spPr>
          <a:xfrm>
            <a:off x="9156700" y="1882130"/>
            <a:ext cx="2014474" cy="64006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16202E"/>
                </a:solidFill>
                <a:latin typeface="IBM Plex Sans" pitchFamily="34" charset="0"/>
                <a:ea typeface="IBM Plex Sans" pitchFamily="34" charset="-122"/>
                <a:cs typeface="IBM Plex Sans" pitchFamily="34" charset="-120"/>
              </a:rPr>
              <a:t>Mac</a:t>
            </a:r>
            <a:endParaRPr lang="en-US" sz="4400" dirty="0"/>
          </a:p>
        </p:txBody>
      </p:sp>
      <p:sp>
        <p:nvSpPr>
          <p:cNvPr id="14" name="Text 12"/>
          <p:cNvSpPr/>
          <p:nvPr/>
        </p:nvSpPr>
        <p:spPr>
          <a:xfrm>
            <a:off x="9156700" y="2572990"/>
            <a:ext cx="2014474"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M1 Pro, MPS; small enough to train locally</a:t>
            </a:r>
            <a:endParaRPr lang="en-US" sz="1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25500" y="3928021"/>
          <a:ext cx="10553700" cy="718641"/>
        </p:xfrm>
        <a:graphic>
          <a:graphicData uri="http://schemas.openxmlformats.org/drawingml/2006/table">
            <a:tbl>
              <a:tblPr/>
              <a:tblGrid>
                <a:gridCol w="2638425"/>
                <a:gridCol w="2638425"/>
                <a:gridCol w="2638425"/>
                <a:gridCol w="2638425"/>
              </a:tblGrid>
              <a:tr h="359321">
                <a:tc>
                  <a:txBody>
                    <a:bodyPr/>
                    <a:lstStyle/>
                    <a:p>
                      <a:pPr indent="0" marL="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Base model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Loss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Checkpointing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16202E"/>
                          </a:solidFill>
                          <a:latin typeface="IBM Plex Sans" pitchFamily="34" charset="0"/>
                          <a:ea typeface="IBM Plex Sans" pitchFamily="34" charset="-122"/>
                          <a:cs typeface="IBM Plex Sans" pitchFamily="34" charset="-120"/>
                        </a:rPr>
                        <a:t>Code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59321">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BAAI/bge‑base‑en‑v1.5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MultipleNegativesRanking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best validation score kept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6202E"/>
                          </a:solidFill>
                          <a:latin typeface="IBM Plex Sans" pitchFamily="34" charset="0"/>
                          <a:ea typeface="IBM Plex Sans" pitchFamily="34" charset="-122"/>
                          <a:cs typeface="IBM Plex Sans" pitchFamily="34" charset="-120"/>
                        </a:rPr>
                        <a:t>train_retriever.py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sentence‑transformers 5.7 · warmup = 10% of an epoch · validation once per epoch · finetuning.ipynb</a:t>
            </a:r>
            <a:endParaRPr lang="en-US" sz="1200" dirty="0"/>
          </a:p>
        </p:txBody>
      </p:sp>
      <p:sp>
        <p:nvSpPr>
          <p:cNvPr id="17"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At 110 million parameters the encoder is small enough to train every weight, unlike the 1.5-billion-parameter generator, which needed LoRA. 135 pairs in batches of 16 make 9 steps per epoch, 27 in total, and the run fit comfortably on the Mac. Query latency stayed the same: about 13 to 15 milliseconds median per question, since the architecture is unchanged.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Validation: most of the gain arrives in epoch 1</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77330"/>
          <a:ext cx="10553700" cy="2196703"/>
        </p:xfrm>
        <a:graphic>
          <a:graphicData uri="http://schemas.openxmlformats.org/drawingml/2006/table">
            <a:tbl>
              <a:tblPr/>
              <a:tblGrid>
                <a:gridCol w="2955036"/>
                <a:gridCol w="1899666"/>
                <a:gridCol w="1899666"/>
                <a:gridCol w="1899666"/>
                <a:gridCol w="1899666"/>
              </a:tblGrid>
              <a:tr h="439341">
                <a:tc>
                  <a:txBody>
                    <a:bodyPr/>
                    <a:lstStyle/>
                    <a:p>
                      <a:pPr indent="0" marL="0">
                        <a:lnSpc>
                          <a:spcPts val="2240"/>
                        </a:lnSpc>
                        <a:buNone/>
                      </a:pPr>
                      <a:r>
                        <a:rPr lang="en-US" sz="1600" b="1" dirty="0">
                          <a:solidFill>
                            <a:srgbClr val="16202E"/>
                          </a:solidFill>
                          <a:latin typeface="IBM Plex Sans" pitchFamily="34" charset="0"/>
                          <a:ea typeface="IBM Plex Sans" pitchFamily="34" charset="-122"/>
                          <a:cs typeface="IBM Plex Sans" pitchFamily="34" charset="-120"/>
                        </a:rPr>
                        <a:t>Validation (24 questions)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240"/>
                        </a:lnSpc>
                        <a:buNone/>
                      </a:pPr>
                      <a:r>
                        <a:rPr lang="en-US" sz="1600" b="1" dirty="0">
                          <a:solidFill>
                            <a:srgbClr val="16202E"/>
                          </a:solidFill>
                          <a:latin typeface="IBM Plex Sans" pitchFamily="34" charset="0"/>
                          <a:ea typeface="IBM Plex Sans" pitchFamily="34" charset="-122"/>
                          <a:cs typeface="IBM Plex Sans" pitchFamily="34" charset="-120"/>
                        </a:rPr>
                        <a:t>Before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240"/>
                        </a:lnSpc>
                        <a:buNone/>
                      </a:pPr>
                      <a:r>
                        <a:rPr lang="en-US" sz="1600" b="1" dirty="0">
                          <a:solidFill>
                            <a:srgbClr val="16202E"/>
                          </a:solidFill>
                          <a:latin typeface="IBM Plex Sans" pitchFamily="34" charset="0"/>
                          <a:ea typeface="IBM Plex Sans" pitchFamily="34" charset="-122"/>
                          <a:cs typeface="IBM Plex Sans" pitchFamily="34" charset="-120"/>
                        </a:rPr>
                        <a:t>Epoch 1</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240"/>
                        </a:lnSpc>
                        <a:buNone/>
                      </a:pPr>
                      <a:r>
                        <a:rPr lang="en-US" sz="1600" b="1" dirty="0">
                          <a:solidFill>
                            <a:srgbClr val="16202E"/>
                          </a:solidFill>
                          <a:latin typeface="IBM Plex Sans" pitchFamily="34" charset="0"/>
                          <a:ea typeface="IBM Plex Sans" pitchFamily="34" charset="-122"/>
                          <a:cs typeface="IBM Plex Sans" pitchFamily="34" charset="-120"/>
                        </a:rPr>
                        <a:t>Epoch 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2240"/>
                        </a:lnSpc>
                        <a:buNone/>
                      </a:pPr>
                      <a:r>
                        <a:rPr lang="en-US" sz="1600" b="1" dirty="0">
                          <a:solidFill>
                            <a:srgbClr val="16202E"/>
                          </a:solidFill>
                          <a:latin typeface="IBM Plex Sans" pitchFamily="34" charset="0"/>
                          <a:ea typeface="IBM Plex Sans" pitchFamily="34" charset="-122"/>
                          <a:cs typeface="IBM Plex Sans" pitchFamily="34" charset="-120"/>
                        </a:rPr>
                        <a:t>Epoch 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439341">
                <a:tc>
                  <a:txBody>
                    <a:bodyPr/>
                    <a:lstStyle/>
                    <a:p>
                      <a:pP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Recall@5</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0.743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0.812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0.847</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0.868</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39341">
                <a:tc>
                  <a:txBody>
                    <a:bodyPr/>
                    <a:lstStyle/>
                    <a:p>
                      <a:pP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nDCG@10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0.754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0.822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0.822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0.818</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439341">
                <a:tc>
                  <a:txBody>
                    <a:bodyPr/>
                    <a:lstStyle/>
                    <a:p>
                      <a:pP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MRR@10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0.832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0.896</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0.878</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0.878</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39341">
                <a:tc>
                  <a:txBody>
                    <a:bodyPr/>
                    <a:lstStyle/>
                    <a:p>
                      <a:pP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Top‑1 hit rate</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0.833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0.792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2240"/>
                        </a:lnSpc>
                        <a:buNone/>
                      </a:pPr>
                      <a:r>
                        <a:rPr lang="en-US" sz="1600" dirty="0">
                          <a:solidFill>
                            <a:srgbClr val="16202E"/>
                          </a:solidFill>
                          <a:latin typeface="IBM Plex Sans" pitchFamily="34" charset="0"/>
                          <a:ea typeface="IBM Plex Sans" pitchFamily="34" charset="-122"/>
                          <a:cs typeface="IBM Plex Sans" pitchFamily="34" charset="-120"/>
                        </a:rPr>
                        <a:t>0.792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bl>
          </a:graphicData>
        </a:graphic>
      </p:graphicFrame>
      <p:sp>
        <p:nvSpPr>
          <p:cNvPr id="4" name="Text 1"/>
          <p:cNvSpPr/>
          <p:nvPr/>
        </p:nvSpPr>
        <p:spPr>
          <a:xfrm>
            <a:off x="819150" y="4085183"/>
            <a:ext cx="5168900" cy="916880"/>
          </a:xfrm>
          <a:prstGeom prst="roundRect">
            <a:avLst>
              <a:gd name="adj" fmla="val 13159"/>
            </a:avLst>
          </a:prstGeom>
          <a:solidFill>
            <a:srgbClr val="FDFCF9"/>
          </a:solidFill>
          <a:ln w="12700">
            <a:solidFill>
              <a:srgbClr val="2F6DB5"/>
            </a:solidFill>
            <a:prstDash val="solid"/>
          </a:ln>
        </p:spPr>
        <p:txBody>
          <a:bodyPr wrap="square" lIns="174213" tIns="174213" rIns="31719" bIns="148813"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Epoch 1:</a:t>
            </a:r>
            <a:r>
              <a:rPr lang="en-US" sz="1400" dirty="0">
                <a:solidFill>
                  <a:srgbClr val="16202E"/>
                </a:solidFill>
                <a:latin typeface="IBM Plex Sans" pitchFamily="34" charset="0"/>
                <a:ea typeface="IBM Plex Sans" pitchFamily="34" charset="-122"/>
                <a:cs typeface="IBM Plex Sans" pitchFamily="34" charset="-120"/>
              </a:rPr>
              <a:t> every ranking metric jumps; nDCG +0.07, MRR +0.06.</a:t>
            </a:r>
            <a:endParaRPr lang="en-US" sz="1400" dirty="0"/>
          </a:p>
        </p:txBody>
      </p:sp>
      <p:sp>
        <p:nvSpPr>
          <p:cNvPr id="5" name="Text 2"/>
          <p:cNvSpPr/>
          <p:nvPr/>
        </p:nvSpPr>
        <p:spPr>
          <a:xfrm>
            <a:off x="6203950" y="4085183"/>
            <a:ext cx="5168900" cy="916880"/>
          </a:xfrm>
          <a:prstGeom prst="roundRect">
            <a:avLst>
              <a:gd name="adj" fmla="val 13159"/>
            </a:avLst>
          </a:prstGeom>
          <a:solidFill>
            <a:srgbClr val="FDFCF9"/>
          </a:solidFill>
          <a:ln w="12700">
            <a:solidFill>
              <a:srgbClr val="E2DED3"/>
            </a:solidFill>
            <a:prstDash val="solid"/>
          </a:ln>
        </p:spPr>
        <p:txBody>
          <a:bodyPr wrap="square" lIns="174213" tIns="174213" rIns="31719" bIns="148813"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Epochs 2–3:</a:t>
            </a:r>
            <a:r>
              <a:rPr lang="en-US" sz="1400" dirty="0">
                <a:solidFill>
                  <a:srgbClr val="16202E"/>
                </a:solidFill>
                <a:latin typeface="IBM Plex Sans" pitchFamily="34" charset="0"/>
                <a:ea typeface="IBM Plex Sans" pitchFamily="34" charset="-122"/>
                <a:cs typeface="IBM Plex Sans" pitchFamily="34" charset="-120"/>
              </a:rPr>
              <a:t> recall keeps rising, but nDCG flattens and the top‑1 hit slips.</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Search corpus = 42 guide chunks · bold = best per row · from the evaluator’s per‑epoch CSV and the notebook</a:t>
            </a:r>
            <a:endParaRPr lang="en-US" sz="1200" dirty="0"/>
          </a:p>
        </p:txBody>
      </p:sp>
      <p:sp>
        <p:nvSpPr>
          <p:cNvPr id="7"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Validation runs once per epoch. Before training the base model already scores well on this small 42-chunk corpus. Epoch 1 brings the big jump on every metric. After that, recall at 5 keeps creeping up, but nDCG is flat and the top-ranked hit gets slightly worse: the model is getting more relevant chunks into the top five while getting a little less sure about the very first one.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On the unseen brochure, more right chunks reach the top 5</a:t>
            </a:r>
            <a:endParaRPr lang="en-US" sz="3200" dirty="0"/>
          </a:p>
        </p:txBody>
      </p:sp>
      <p:sp>
        <p:nvSpPr>
          <p:cNvPr id="3" name="Text 1"/>
          <p:cNvSpPr/>
          <p:nvPr/>
        </p:nvSpPr>
        <p:spPr>
          <a:xfrm>
            <a:off x="812800" y="2134741"/>
            <a:ext cx="1916807"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2F6DB5"/>
                </a:solidFill>
                <a:latin typeface="IBM Plex Sans" pitchFamily="34" charset="0"/>
                <a:ea typeface="IBM Plex Sans" pitchFamily="34" charset="-122"/>
                <a:cs typeface="IBM Plex Sans" pitchFamily="34" charset="-120"/>
              </a:rPr>
              <a:t>+4.1</a:t>
            </a:r>
            <a:endParaRPr lang="en-US" sz="6000" dirty="0"/>
          </a:p>
        </p:txBody>
      </p:sp>
      <p:sp>
        <p:nvSpPr>
          <p:cNvPr id="4" name="Text 2"/>
          <p:cNvSpPr/>
          <p:nvPr/>
        </p:nvSpPr>
        <p:spPr>
          <a:xfrm>
            <a:off x="812800" y="2947541"/>
            <a:ext cx="1650107"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points Recall@5</a:t>
            </a:r>
            <a:endParaRPr lang="en-US" sz="1400" dirty="0"/>
          </a:p>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64.6% → 68.7%</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29607" y="2024360"/>
          <a:ext cx="8649593" cy="1544042"/>
        </p:xfrm>
        <a:graphic>
          <a:graphicData uri="http://schemas.openxmlformats.org/drawingml/2006/table">
            <a:tbl>
              <a:tblPr/>
              <a:tblGrid>
                <a:gridCol w="1729919"/>
                <a:gridCol w="1124447"/>
                <a:gridCol w="1124447"/>
                <a:gridCol w="2421886"/>
                <a:gridCol w="2248894"/>
              </a:tblGrid>
              <a:tr h="386011">
                <a:tc>
                  <a:txBody>
                    <a:bodyPr/>
                    <a:lstStyle/>
                    <a:p>
                      <a:pP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Metric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Base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Tuned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95% CI of change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algn="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Better / worse / tie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Recall@5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0.646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0.687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+0.008 to +0.081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4 / 0 / 37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nDCG@10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0.677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0.700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−0.009 to +0.057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13 / 8 / 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MRR@10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0.726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0.727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−0.054 to +0.057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8 / 5 / 28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6" name="Text 3"/>
          <p:cNvSpPr/>
          <p:nvPr/>
        </p:nvSpPr>
        <p:spPr>
          <a:xfrm>
            <a:off x="819150" y="3879552"/>
            <a:ext cx="5168900" cy="916880"/>
          </a:xfrm>
          <a:prstGeom prst="roundRect">
            <a:avLst>
              <a:gd name="adj" fmla="val 13159"/>
            </a:avLst>
          </a:prstGeom>
          <a:solidFill>
            <a:srgbClr val="FDFCF9"/>
          </a:solidFill>
          <a:ln w="12700">
            <a:solidFill>
              <a:srgbClr val="2F6DB5"/>
            </a:solidFill>
            <a:prstDash val="solid"/>
          </a:ln>
        </p:spPr>
        <p:txBody>
          <a:bodyPr wrap="square" lIns="174213" tIns="174213" rIns="31719" bIns="148813"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Recall@5 is the clear win:</a:t>
            </a:r>
            <a:r>
              <a:rPr lang="en-US" sz="1400" dirty="0">
                <a:solidFill>
                  <a:srgbClr val="16202E"/>
                </a:solidFill>
                <a:latin typeface="IBM Plex Sans" pitchFamily="34" charset="0"/>
                <a:ea typeface="IBM Plex Sans" pitchFamily="34" charset="-122"/>
                <a:cs typeface="IBM Plex Sans" pitchFamily="34" charset="-120"/>
              </a:rPr>
              <a:t> 4 questions newly found, none lost, and the interval stays above zero.</a:t>
            </a:r>
            <a:endParaRPr lang="en-US" sz="1400" dirty="0"/>
          </a:p>
        </p:txBody>
      </p:sp>
      <p:sp>
        <p:nvSpPr>
          <p:cNvPr id="7" name="Text 4"/>
          <p:cNvSpPr/>
          <p:nvPr/>
        </p:nvSpPr>
        <p:spPr>
          <a:xfrm>
            <a:off x="6203950" y="3879552"/>
            <a:ext cx="5168900" cy="916880"/>
          </a:xfrm>
          <a:prstGeom prst="roundRect">
            <a:avLst>
              <a:gd name="adj" fmla="val 13159"/>
            </a:avLst>
          </a:prstGeom>
          <a:solidFill>
            <a:srgbClr val="FDFCF9"/>
          </a:solidFill>
          <a:ln w="12700">
            <a:solidFill>
              <a:srgbClr val="E2DED3"/>
            </a:solidFill>
            <a:prstDash val="solid"/>
          </a:ln>
        </p:spPr>
        <p:txBody>
          <a:bodyPr wrap="square" lIns="174213" tIns="174213" rIns="31719" bIns="148813" rtlCol="0" anchor="t">
            <a:normAutofit/>
          </a:bodyPr>
          <a:lstStyle/>
          <a:p>
            <a:pPr algn="l"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Ranking is mixed:</a:t>
            </a:r>
            <a:r>
              <a:rPr lang="en-US" sz="1400" dirty="0">
                <a:solidFill>
                  <a:srgbClr val="16202E"/>
                </a:solidFill>
                <a:latin typeface="IBM Plex Sans" pitchFamily="34" charset="0"/>
                <a:ea typeface="IBM Plex Sans" pitchFamily="34" charset="-122"/>
                <a:cs typeface="IBM Plex Sans" pitchFamily="34" charset="-120"/>
              </a:rPr>
              <a:t> nDCG leans up, MRR is flat; both intervals include zero.</a:t>
            </a:r>
            <a:endParaRPr lang="en-US" sz="14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41 questions searching all 167 brochure chunks · paired bootstrap over questions, 5,000 resamples · one training run</a:t>
            </a:r>
            <a:endParaRPr lang="en-US" sz="1200" dirty="0"/>
          </a:p>
        </p:txBody>
      </p:sp>
      <p:sp>
        <p:nvSpPr>
          <p:cNvPr id="9"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This is the test that matters: a different document with a 167-chunk search space. Recall at 5 went from 64.6 to 68.7 percent. Four questions whose answer chunk was missing from the top five now find it, and no question lost its chunk, so that gain is solid even at this small size. The ordering metrics are less clear: nDCG improves on average but helps 13 questions and hurts 8, and MRR barely moves. I recomputed every per-question score from the saved model; the averages match results/comparison.json exactly.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193804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7FB0EA"/>
                </a:solidFill>
                <a:latin typeface="JetBrains Mono" pitchFamily="49" charset="0"/>
                <a:ea typeface="JetBrains Mono" pitchFamily="49" charset="-122"/>
                <a:cs typeface="JetBrains Mono" pitchFamily="49" charset="-120"/>
              </a:rPr>
              <a:t>WHAT IT MEANS FOR ANSWERS</a:t>
            </a:r>
            <a:endParaRPr lang="en-US" sz="1400" dirty="0"/>
          </a:p>
        </p:txBody>
      </p:sp>
      <p:sp>
        <p:nvSpPr>
          <p:cNvPr id="3" name="Text 1"/>
          <p:cNvSpPr/>
          <p:nvPr>
            <p:ph type="title"/>
          </p:nvPr>
        </p:nvSpPr>
        <p:spPr>
          <a:xfrm>
            <a:off x="812800" y="2542530"/>
            <a:ext cx="10883392" cy="125472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3F1EA"/>
                </a:solidFill>
                <a:latin typeface="IBM Plex Sans" pitchFamily="34" charset="0"/>
                <a:ea typeface="IBM Plex Sans" pitchFamily="34" charset="-122"/>
                <a:cs typeface="IBM Plex Sans" pitchFamily="34" charset="-120"/>
              </a:rPr>
              <a:t>Still, about 3 in 10 answer chunks miss the top 5</a:t>
            </a:r>
            <a:endParaRPr lang="en-US" sz="4400" dirty="0"/>
          </a:p>
        </p:txBody>
      </p:sp>
      <p:sp>
        <p:nvSpPr>
          <p:cNvPr id="4" name="Text 2"/>
          <p:cNvSpPr/>
          <p:nvPr/>
        </p:nvSpPr>
        <p:spPr>
          <a:xfrm>
            <a:off x="812800" y="4127450"/>
            <a:ext cx="5232400" cy="6146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B9C3D1"/>
                </a:solidFill>
                <a:latin typeface="IBM Plex Sans" pitchFamily="34" charset="0"/>
                <a:ea typeface="IBM Plex Sans" pitchFamily="34" charset="-122"/>
                <a:cs typeface="IBM Plex Sans" pitchFamily="34" charset="-120"/>
              </a:rPr>
              <a:t>Recall@5 of 68.7% means 31% of the chunks that hold an answer never reach a 5‑chunk prompt.</a:t>
            </a:r>
            <a:endParaRPr lang="en-US" sz="1600" dirty="0"/>
          </a:p>
        </p:txBody>
      </p:sp>
      <p:sp>
        <p:nvSpPr>
          <p:cNvPr id="5" name="Text 3"/>
          <p:cNvSpPr/>
          <p:nvPr/>
        </p:nvSpPr>
        <p:spPr>
          <a:xfrm>
            <a:off x="6299200" y="4127450"/>
            <a:ext cx="5232400" cy="61466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B9C3D1"/>
                </a:solidFill>
                <a:latin typeface="IBM Plex Sans" pitchFamily="34" charset="0"/>
                <a:ea typeface="IBM Plex Sans" pitchFamily="34" charset="-122"/>
                <a:cs typeface="IBM Plex Sans" pitchFamily="34" charset="-120"/>
              </a:rPr>
              <a:t>For those questions, no generator tuning can help. That is the ceiling the retriever sets.</a:t>
            </a:r>
            <a:endParaRPr lang="en-US" sz="1600" dirty="0"/>
          </a:p>
        </p:txBody>
      </p:sp>
      <p:sp>
        <p:nvSpPr>
          <p:cNvPr id="6"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The finetune moved recall at 5 from about 65 to about 69 percent on the unseen brochure. That is real progress, but it also means roughly three out of ten answer chunks are still not retrieved into a five-chunk context. This is the biggest remaining lever for end-to-end answer quality, bigger than anything the generator can do.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Is it overfit? Not clearly, but it plateaus after epoch 1</a:t>
            </a:r>
            <a:endParaRPr lang="en-US" sz="3200" dirty="0"/>
          </a:p>
        </p:txBody>
      </p:sp>
      <p:sp>
        <p:nvSpPr>
          <p:cNvPr id="3" name="Shape 1"/>
          <p:cNvSpPr/>
          <p:nvPr/>
        </p:nvSpPr>
        <p:spPr>
          <a:xfrm>
            <a:off x="819150" y="1570980"/>
            <a:ext cx="3340100" cy="4264670"/>
          </a:xfrm>
          <a:prstGeom prst="roundRect">
            <a:avLst>
              <a:gd name="adj" fmla="val 3612"/>
            </a:avLst>
          </a:prstGeom>
          <a:solidFill>
            <a:srgbClr val="FDFCF9"/>
          </a:solidFill>
          <a:ln w="12700">
            <a:solidFill>
              <a:srgbClr val="2F6DB5"/>
            </a:solidFill>
            <a:prstDash val="solid"/>
          </a:ln>
        </p:spPr>
      </p:sp>
      <p:sp>
        <p:nvSpPr>
          <p:cNvPr id="4" name="Text 2"/>
          <p:cNvSpPr/>
          <p:nvPr/>
        </p:nvSpPr>
        <p:spPr>
          <a:xfrm>
            <a:off x="1079500" y="1831330"/>
            <a:ext cx="290398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2F6DB5"/>
                </a:solidFill>
                <a:latin typeface="JetBrains Mono" pitchFamily="49" charset="0"/>
                <a:ea typeface="JetBrains Mono" pitchFamily="49" charset="-122"/>
                <a:cs typeface="JetBrains Mono" pitchFamily="49" charset="-120"/>
              </a:rPr>
              <a:t>AGAINST OVERFITTING</a:t>
            </a:r>
            <a:endParaRPr lang="en-US" sz="1200" dirty="0"/>
          </a:p>
        </p:txBody>
      </p:sp>
      <p:sp>
        <p:nvSpPr>
          <p:cNvPr id="5" name="Text 3"/>
          <p:cNvSpPr/>
          <p:nvPr/>
        </p:nvSpPr>
        <p:spPr>
          <a:xfrm>
            <a:off x="1079500" y="2171650"/>
            <a:ext cx="290398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Validation recall rises through epoch 3.</a:t>
            </a:r>
            <a:endParaRPr lang="en-US" sz="1400" dirty="0"/>
          </a:p>
        </p:txBody>
      </p:sp>
      <p:sp>
        <p:nvSpPr>
          <p:cNvPr id="6" name="Text 4"/>
          <p:cNvSpPr/>
          <p:nvPr/>
        </p:nvSpPr>
        <p:spPr>
          <a:xfrm>
            <a:off x="1079500" y="2796431"/>
            <a:ext cx="290398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unseen brochure still beats the base model, and no question lost its chunk from the top 5.</a:t>
            </a:r>
            <a:endParaRPr lang="en-US" sz="1400" dirty="0"/>
          </a:p>
        </p:txBody>
      </p:sp>
      <p:sp>
        <p:nvSpPr>
          <p:cNvPr id="7" name="Shape 5"/>
          <p:cNvSpPr/>
          <p:nvPr/>
        </p:nvSpPr>
        <p:spPr>
          <a:xfrm>
            <a:off x="4425950" y="1570980"/>
            <a:ext cx="3340100" cy="4264670"/>
          </a:xfrm>
          <a:prstGeom prst="roundRect">
            <a:avLst>
              <a:gd name="adj" fmla="val 3612"/>
            </a:avLst>
          </a:prstGeom>
          <a:solidFill>
            <a:srgbClr val="FDFCF9"/>
          </a:solidFill>
          <a:ln w="12700">
            <a:solidFill>
              <a:srgbClr val="E2DED3"/>
            </a:solidFill>
            <a:prstDash val="solid"/>
          </a:ln>
        </p:spPr>
      </p:sp>
      <p:sp>
        <p:nvSpPr>
          <p:cNvPr id="8" name="Text 6"/>
          <p:cNvSpPr/>
          <p:nvPr/>
        </p:nvSpPr>
        <p:spPr>
          <a:xfrm>
            <a:off x="4686300" y="1831330"/>
            <a:ext cx="290398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B4481A"/>
                </a:solidFill>
                <a:latin typeface="JetBrains Mono" pitchFamily="49" charset="0"/>
                <a:ea typeface="JetBrains Mono" pitchFamily="49" charset="-122"/>
                <a:cs typeface="JetBrains Mono" pitchFamily="49" charset="-120"/>
              </a:rPr>
              <a:t>SIGNS OF A PLATEAU</a:t>
            </a:r>
            <a:endParaRPr lang="en-US" sz="1200" dirty="0"/>
          </a:p>
        </p:txBody>
      </p:sp>
      <p:sp>
        <p:nvSpPr>
          <p:cNvPr id="9" name="Text 7"/>
          <p:cNvSpPr/>
          <p:nvPr/>
        </p:nvSpPr>
        <p:spPr>
          <a:xfrm>
            <a:off x="4686300" y="2171650"/>
            <a:ext cx="290398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nDCG flat after epoch 1; MRR and top‑1 slightly down.</a:t>
            </a:r>
            <a:endParaRPr lang="en-US" sz="1400" dirty="0"/>
          </a:p>
        </p:txBody>
      </p:sp>
      <p:sp>
        <p:nvSpPr>
          <p:cNvPr id="10" name="Text 8"/>
          <p:cNvSpPr/>
          <p:nvPr/>
        </p:nvSpPr>
        <p:spPr>
          <a:xfrm>
            <a:off x="4686300" y="2796431"/>
            <a:ext cx="290398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But the top‑1 drop, 0.833 → 0.792, is exactly one of 24 questions.</a:t>
            </a:r>
            <a:endParaRPr lang="en-US" sz="1400" dirty="0"/>
          </a:p>
        </p:txBody>
      </p:sp>
      <p:sp>
        <p:nvSpPr>
          <p:cNvPr id="11" name="Shape 9"/>
          <p:cNvSpPr/>
          <p:nvPr/>
        </p:nvSpPr>
        <p:spPr>
          <a:xfrm>
            <a:off x="8032750" y="1570980"/>
            <a:ext cx="3340100" cy="4264670"/>
          </a:xfrm>
          <a:prstGeom prst="roundRect">
            <a:avLst>
              <a:gd name="adj" fmla="val 3612"/>
            </a:avLst>
          </a:prstGeom>
          <a:solidFill>
            <a:srgbClr val="FDFCF9"/>
          </a:solidFill>
          <a:ln w="12700">
            <a:solidFill>
              <a:srgbClr val="E2DED3"/>
            </a:solidFill>
            <a:prstDash val="solid"/>
          </a:ln>
        </p:spPr>
      </p:sp>
      <p:sp>
        <p:nvSpPr>
          <p:cNvPr id="12" name="Text 10"/>
          <p:cNvSpPr/>
          <p:nvPr/>
        </p:nvSpPr>
        <p:spPr>
          <a:xfrm>
            <a:off x="8293100" y="1831330"/>
            <a:ext cx="290398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6202E"/>
                </a:solidFill>
                <a:latin typeface="JetBrains Mono" pitchFamily="49" charset="0"/>
                <a:ea typeface="JetBrains Mono" pitchFamily="49" charset="-122"/>
                <a:cs typeface="JetBrains Mono" pitchFamily="49" charset="-120"/>
              </a:rPr>
              <a:t>CONTRAST: GENERATOR</a:t>
            </a:r>
            <a:endParaRPr lang="en-US" sz="1200" dirty="0"/>
          </a:p>
        </p:txBody>
      </p:sp>
      <p:sp>
        <p:nvSpPr>
          <p:cNvPr id="13" name="Text 11"/>
          <p:cNvSpPr/>
          <p:nvPr/>
        </p:nvSpPr>
        <p:spPr>
          <a:xfrm>
            <a:off x="8293100" y="2171650"/>
            <a:ext cx="290398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There, validation loss clearly rose after epoch 1 while train loss fell to 0.11.</a:t>
            </a:r>
            <a:endParaRPr lang="en-US" sz="1400" dirty="0"/>
          </a:p>
        </p:txBody>
      </p:sp>
      <p:sp>
        <p:nvSpPr>
          <p:cNvPr id="14" name="Text 12"/>
          <p:cNvSpPr/>
          <p:nvPr/>
        </p:nvSpPr>
        <p:spPr>
          <a:xfrm>
            <a:off x="8293100" y="3045321"/>
            <a:ext cx="290398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Same lesson for both: one epoch does most of the work.</a:t>
            </a:r>
            <a:endParaRPr lang="en-US" sz="14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Validation is 24 questions over 42 chunks, too small to separate a plateau from mild overfitting</a:t>
            </a:r>
            <a:endParaRPr lang="en-US" sz="1200" dirty="0"/>
          </a:p>
        </p:txBody>
      </p:sp>
      <p:sp>
        <p:nvSpPr>
          <p:cNvPr id="16"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Short answer: no clear overfitting. Recall keeps rising on validation and the model still generalizes to a different document. But beyond epoch 1 the ranking quality stops improving, and the small dip in the top-ranked hit is a single question out of 24, so it is within noise. With this little data, training one epoch, or adding early stopping on nDCG, would give the same result for a third of the compute.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Retriever and generator finetuning side by side</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77330"/>
          <a:ext cx="10553700" cy="3088084"/>
        </p:xfrm>
        <a:graphic>
          <a:graphicData uri="http://schemas.openxmlformats.org/drawingml/2006/table">
            <a:tbl>
              <a:tblPr/>
              <a:tblGrid>
                <a:gridCol w="2321814"/>
                <a:gridCol w="4115943"/>
                <a:gridCol w="4115943"/>
              </a:tblGrid>
              <a:tr h="386011">
                <a:tc>
                  <a:txBody>
                    <a:bodyPr/>
                    <a:lstStyle/>
                    <a:p>
                      <a:pP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Retriever (this deck)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960"/>
                        </a:lnSpc>
                        <a:buNone/>
                      </a:pPr>
                      <a:r>
                        <a:rPr lang="en-US" sz="1400" b="1" dirty="0">
                          <a:solidFill>
                            <a:srgbClr val="16202E"/>
                          </a:solidFill>
                          <a:latin typeface="IBM Plex Sans" pitchFamily="34" charset="0"/>
                          <a:ea typeface="IBM Plex Sans" pitchFamily="34" charset="-122"/>
                          <a:cs typeface="IBM Plex Sans" pitchFamily="34" charset="-120"/>
                        </a:rPr>
                        <a:t>Generator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Model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bge‑base‑en‑v1.5, 110M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Qwen2.5‑1.5B‑Instruct, 1.5B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Method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Full finetune, contrastive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LoRA r=16, 18.5M trainable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Training data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135 question → chunk pairs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156 chat examples, direct + CoT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Steps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27; gain mostly in epoch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60; best at step 20, epoch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Hardware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M1 Pro Mac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Colab A100 (Mac ≈47× slower)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Held‑out gain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Recall@5 +4.1 points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Answer F1 +0.06, gold citations +0.12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86011">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After epoch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Plateau</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6202E"/>
                          </a:solidFill>
                          <a:latin typeface="IBM Plex Sans" pitchFamily="34" charset="0"/>
                          <a:ea typeface="IBM Plex Sans" pitchFamily="34" charset="-122"/>
                          <a:cs typeface="IBM Plex Sans" pitchFamily="34" charset="-120"/>
                        </a:rPr>
                        <a:t>Clear overfitting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4" name="Text 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IBM Plex Sans" pitchFamily="34" charset="0"/>
                <a:ea typeface="IBM Plex Sans" pitchFamily="34" charset="-122"/>
                <a:cs typeface="IBM Plex Sans" pitchFamily="34" charset="-120"/>
              </a:rPr>
              <a:t>Both evaluated on the same 41 brochure questions · one training run each</a:t>
            </a:r>
            <a:endParaRPr lang="en-US" sz="1200" dirty="0"/>
          </a:p>
        </p:txBody>
      </p:sp>
      <p:sp>
        <p:nvSpPr>
          <p:cNvPr id="5"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Both finetunes used the same synthetic questions and the same splits, and both were judged on the same unseen brochure. The retriever is small enough for a full finetune on a laptop; the generator needed LoRA and a GPU. Both got most of their benefit in the first epoch. Neither has yet been tested together in one end-to-end pipeline.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What to run next</a:t>
            </a:r>
            <a:endParaRPr lang="en-US" sz="3200" dirty="0"/>
          </a:p>
        </p:txBody>
      </p:sp>
      <p:sp>
        <p:nvSpPr>
          <p:cNvPr id="3" name="Shape 1"/>
          <p:cNvSpPr/>
          <p:nvPr/>
        </p:nvSpPr>
        <p:spPr>
          <a:xfrm>
            <a:off x="819150" y="1570980"/>
            <a:ext cx="5168900" cy="1302941"/>
          </a:xfrm>
          <a:prstGeom prst="roundRect">
            <a:avLst>
              <a:gd name="adj" fmla="val 9260"/>
            </a:avLst>
          </a:prstGeom>
          <a:solidFill>
            <a:srgbClr val="FDFCF9"/>
          </a:solidFill>
          <a:ln w="12700">
            <a:solidFill>
              <a:srgbClr val="2F6DB5"/>
            </a:solidFill>
            <a:prstDash val="solid"/>
          </a:ln>
        </p:spPr>
      </p:sp>
      <p:sp>
        <p:nvSpPr>
          <p:cNvPr id="4" name="Text 2"/>
          <p:cNvSpPr/>
          <p:nvPr/>
        </p:nvSpPr>
        <p:spPr>
          <a:xfrm>
            <a:off x="1054100" y="180593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Mine hard negatives</a:t>
            </a:r>
            <a:endParaRPr lang="en-US" sz="1700" dirty="0"/>
          </a:p>
        </p:txBody>
      </p:sp>
      <p:sp>
        <p:nvSpPr>
          <p:cNvPr id="5" name="Text 3"/>
          <p:cNvSpPr/>
          <p:nvPr/>
        </p:nvSpPr>
        <p:spPr>
          <a:xfrm>
            <a:off x="1054100" y="2141190"/>
            <a:ext cx="483997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Add look‑alike chunks from the same document, verified wrong, so the model learns fine distinctions.</a:t>
            </a:r>
            <a:endParaRPr lang="en-US" sz="1400" dirty="0"/>
          </a:p>
        </p:txBody>
      </p:sp>
      <p:sp>
        <p:nvSpPr>
          <p:cNvPr id="6" name="Shape 4"/>
          <p:cNvSpPr/>
          <p:nvPr/>
        </p:nvSpPr>
        <p:spPr>
          <a:xfrm>
            <a:off x="6203950" y="1570980"/>
            <a:ext cx="5168900" cy="1302941"/>
          </a:xfrm>
          <a:prstGeom prst="roundRect">
            <a:avLst>
              <a:gd name="adj" fmla="val 9260"/>
            </a:avLst>
          </a:prstGeom>
          <a:solidFill>
            <a:srgbClr val="FDFCF9"/>
          </a:solidFill>
          <a:ln w="12700">
            <a:solidFill>
              <a:srgbClr val="E2DED3"/>
            </a:solidFill>
            <a:prstDash val="solid"/>
          </a:ln>
        </p:spPr>
      </p:sp>
      <p:sp>
        <p:nvSpPr>
          <p:cNvPr id="7" name="Text 5"/>
          <p:cNvSpPr/>
          <p:nvPr/>
        </p:nvSpPr>
        <p:spPr>
          <a:xfrm>
            <a:off x="6438900" y="180593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More data, more seeds</a:t>
            </a:r>
            <a:endParaRPr lang="en-US" sz="1700" dirty="0"/>
          </a:p>
        </p:txBody>
      </p:sp>
      <p:sp>
        <p:nvSpPr>
          <p:cNvPr id="8" name="Text 6"/>
          <p:cNvSpPr/>
          <p:nvPr/>
        </p:nvSpPr>
        <p:spPr>
          <a:xfrm>
            <a:off x="6438900" y="2141190"/>
            <a:ext cx="483997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78 questions from one guide is small; repeat over seeds and more held‑out documents.</a:t>
            </a:r>
            <a:endParaRPr lang="en-US" sz="1400" dirty="0"/>
          </a:p>
        </p:txBody>
      </p:sp>
      <p:sp>
        <p:nvSpPr>
          <p:cNvPr id="9" name="Shape 7"/>
          <p:cNvSpPr/>
          <p:nvPr/>
        </p:nvSpPr>
        <p:spPr>
          <a:xfrm>
            <a:off x="819150" y="3089821"/>
            <a:ext cx="5168900" cy="1302941"/>
          </a:xfrm>
          <a:prstGeom prst="roundRect">
            <a:avLst>
              <a:gd name="adj" fmla="val 9260"/>
            </a:avLst>
          </a:prstGeom>
          <a:solidFill>
            <a:srgbClr val="FDFCF9"/>
          </a:solidFill>
          <a:ln w="12700">
            <a:solidFill>
              <a:srgbClr val="E2DED3"/>
            </a:solidFill>
            <a:prstDash val="solid"/>
          </a:ln>
        </p:spPr>
      </p:sp>
      <p:sp>
        <p:nvSpPr>
          <p:cNvPr id="10" name="Text 8"/>
          <p:cNvSpPr/>
          <p:nvPr/>
        </p:nvSpPr>
        <p:spPr>
          <a:xfrm>
            <a:off x="1054100" y="3324771"/>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Stop after one epoch</a:t>
            </a:r>
            <a:endParaRPr lang="en-US" sz="1700" dirty="0"/>
          </a:p>
        </p:txBody>
      </p:sp>
      <p:sp>
        <p:nvSpPr>
          <p:cNvPr id="11" name="Text 9"/>
          <p:cNvSpPr/>
          <p:nvPr/>
        </p:nvSpPr>
        <p:spPr>
          <a:xfrm>
            <a:off x="1054100" y="3660031"/>
            <a:ext cx="483997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Or early‑stop on validation nDCG; epochs 2–3 add little.</a:t>
            </a:r>
            <a:endParaRPr lang="en-US" sz="1400" dirty="0"/>
          </a:p>
        </p:txBody>
      </p:sp>
      <p:sp>
        <p:nvSpPr>
          <p:cNvPr id="12" name="Shape 10"/>
          <p:cNvSpPr/>
          <p:nvPr/>
        </p:nvSpPr>
        <p:spPr>
          <a:xfrm>
            <a:off x="6203950" y="3089821"/>
            <a:ext cx="5168900" cy="1302941"/>
          </a:xfrm>
          <a:prstGeom prst="roundRect">
            <a:avLst>
              <a:gd name="adj" fmla="val 9260"/>
            </a:avLst>
          </a:prstGeom>
          <a:solidFill>
            <a:srgbClr val="FDFCF9"/>
          </a:solidFill>
          <a:ln w="12700">
            <a:solidFill>
              <a:srgbClr val="E2DED3"/>
            </a:solidFill>
            <a:prstDash val="solid"/>
          </a:ln>
        </p:spPr>
      </p:sp>
      <p:sp>
        <p:nvSpPr>
          <p:cNvPr id="13" name="Text 11"/>
          <p:cNvSpPr/>
          <p:nvPr/>
        </p:nvSpPr>
        <p:spPr>
          <a:xfrm>
            <a:off x="6438900" y="3324771"/>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202E"/>
                </a:solidFill>
                <a:latin typeface="IBM Plex Sans" pitchFamily="34" charset="0"/>
                <a:ea typeface="IBM Plex Sans" pitchFamily="34" charset="-122"/>
                <a:cs typeface="IBM Plex Sans" pitchFamily="34" charset="-120"/>
              </a:rPr>
              <a:t>Test end to end</a:t>
            </a:r>
            <a:endParaRPr lang="en-US" sz="1700" dirty="0"/>
          </a:p>
        </p:txBody>
      </p:sp>
      <p:sp>
        <p:nvSpPr>
          <p:cNvPr id="14" name="Text 12"/>
          <p:cNvSpPr/>
          <p:nvPr/>
        </p:nvSpPr>
        <p:spPr>
          <a:xfrm>
            <a:off x="6438900" y="3660031"/>
            <a:ext cx="483997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Tuned retriever + tuned generator vs both base models, scored on brochure answers.</a:t>
            </a:r>
            <a:endParaRPr lang="en-US" sz="14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280"/>
                </a:solidFill>
                <a:latin typeface="JetBrains Mono" pitchFamily="49" charset="0"/>
                <a:ea typeface="JetBrains Mono" pitchFamily="49" charset="-122"/>
                <a:cs typeface="JetBrains Mono" pitchFamily="49" charset="-120"/>
              </a:rPr>
              <a:t>finetuning/ · train_retriever.py · finetuning.ipynb · results/comparison.json</a:t>
            </a:r>
            <a:endParaRPr lang="en-US" sz="1200" dirty="0"/>
          </a:p>
        </p:txBody>
      </p:sp>
      <p:sp>
        <p:nvSpPr>
          <p:cNvPr id="16" name="Speaker notes panel"/>
          <p:cNvSpPr/>
          <p:nvPr/>
        </p:nvSpPr>
        <p:spPr>
          <a:xfrm>
            <a:off x="12192000" y="0"/>
            <a:ext cx="4572000" cy="6858000"/>
          </a:xfrm>
          <a:prstGeom prst="rect">
            <a:avLst/>
          </a:prstGeom>
          <a:solidFill>
            <a:srgbClr val="EF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peaker notes"/>
          <p:cNvSpPr txBox="1"/>
          <p:nvPr/>
        </p:nvSpPr>
        <p:spPr>
          <a:xfrm>
            <a:off x="12557760" y="365760"/>
            <a:ext cx="3840480" cy="6126480"/>
          </a:xfrm>
          <a:prstGeom prst="rect">
            <a:avLst/>
          </a:prstGeom>
          <a:noFill/>
        </p:spPr>
        <p:txBody>
          <a:bodyPr wrap="square" anchor="t" lIns="0" rIns="0" tIns="0" bIns="0">
            <a:spAutoFit/>
          </a:bodyPr>
          <a:lstStyle/>
          <a:p>
            <a:r>
              <a:rPr sz="1200" b="1">
                <a:solidFill>
                  <a:srgbClr val="6A7280"/>
                </a:solidFill>
                <a:latin typeface="Arial"/>
              </a:rPr>
              <a:t>SPEAKER NOTES</a:t>
            </a:r>
          </a:p>
          <a:p>
            <a:pPr>
              <a:spcBef>
                <a:spcPts val="800"/>
              </a:spcBef>
            </a:pPr>
            <a:r>
              <a:rPr sz="1400">
                <a:solidFill>
                  <a:srgbClr val="16202E"/>
                </a:solidFill>
                <a:latin typeface="Arial"/>
              </a:rPr>
              <a:t>Four next steps. Hard negatives are the standard way to push retrieval further, and the finetuning README already calls for verified ones before the next round. More questions and repeated seeds will tell us how stable the 4-point gain is. Training one epoch saves compute with no loss. And the real goal is end to end: running both finetuned models together and checking whether answers on the brochure actually improve.</a:t>
            </a:r>
          </a:p>
        </p:txBody>
      </p:sp>
    </p:spTree>
  </p:cSld>
  <p:clrMapOvr>
    <a:masterClrMapping/>
  </p:clrMapOvr>
</p:sld>
</file>

<file path=ppt/theme/theme1.xml><?xml version="1.0" encoding="utf-8"?>
<a:theme xmlns:a="http://schemas.openxmlformats.org/drawingml/2006/main" name="GEHA Retriever Embedding Finetuning">
  <a:themeElements>
    <a:clrScheme name="GEHA Retriever Embedding Finetuning">
      <a:dk1>
        <a:srgbClr val="16202E"/>
      </a:dk1>
      <a:lt1>
        <a:srgbClr val="F6F5F0"/>
      </a:lt1>
      <a:dk2>
        <a:srgbClr val="4E555F"/>
      </a:dk2>
      <a:lt2>
        <a:srgbClr val="E0E0DD"/>
      </a:lt2>
      <a:accent1>
        <a:srgbClr val="2F6DB5"/>
      </a:accent1>
      <a:accent2>
        <a:srgbClr val="7FB0EA"/>
      </a:accent2>
      <a:accent3>
        <a:srgbClr val="B4481A"/>
      </a:accent3>
      <a:accent4>
        <a:srgbClr val="4A5568"/>
      </a:accent4>
      <a:accent5>
        <a:srgbClr val="6A7280"/>
      </a:accent5>
      <a:accent6>
        <a:srgbClr val="B9C3D1"/>
      </a:accent6>
      <a:hlink>
        <a:srgbClr val="0563C1"/>
      </a:hlink>
      <a:folHlink>
        <a:srgbClr val="954F72"/>
      </a:folHlink>
    </a:clrScheme>
    <a:fontScheme name="GEHA Retriever Embedding Finetuning">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GEHA Retriever Embedding Finetuning</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2026-10-21T16:17:16Z</dcterms:created>
  <dcterms:modified xsi:type="dcterms:W3CDTF">2026-10-21T16:17:16Z</dcterms:modified>
</cp:coreProperties>
</file>