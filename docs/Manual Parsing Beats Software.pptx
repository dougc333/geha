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Thesis: generic PDF parsers (text-layer extraction, Markdown converters) fail on tables, and the failure cascades. Our pages are payer policy documents a human reads in seconds, so we have a model read the rendered page the way a human would, store the result as HTML so table structure survives, and gate every table on a zero-error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real pages from the crawl. The left page looks simple, but the meaning is in the AND joins and the footnote. The right page is the failure case: a table with multi-line cells. Row and column boundaries get lost, the drug name "Bendamustine 505(b)(2) Dr Reddy's" spans three lines, and the description column wraps. Note the tel: overlay. Software "helpfully" auto-linked the date list as a phone number, and one revision date is now partly hidden. A model reading the snapshot has to flag that, not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output we want from every page: the header fields, the criteria as a structured AND list, and the table as real HTML rows and cells. HTML beats Markdown here because Markdown tables can't hold multi-line cells, row structure, or anything nested. The metadata line is what the table-detection pass writes. Note the flag on the partly hidden date: the rule is transcribe what is visible, and mark what isn't.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eval that makes this trustworthy. Step 2's table flag lets us spend the expensive verify pass only on pages with tables. Step 4 should use a different prompt, and ideally a different model, from step 3, so it doesn't repeat the same mistakes. The rule-based checks are cheap and catch most errors before an LLM is involved; the 99.5% word coverage threshold matches the one already in aws/pipeline.py. Track three numbers over the corpus: pages with tables, first-pass error rate, and human-review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webp"/><Relationship Id="rId2" Type="http://schemas.openxmlformats.org/officeDocument/2006/relationships/image" Target="../media/image-2-2.webp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0A0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 INGESTION · QUALITY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03964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 parsing beats software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893840"/>
            <a:ext cx="9156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Tables always break parsers, and one broken table can corrupt the rest of the document. If a human can read the page, an LLM can too.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5593110"/>
            <a:ext cx="3527326" cy="452090"/>
          </a:xfrm>
          <a:prstGeom prst="roundRect">
            <a:avLst>
              <a:gd name="adj" fmla="val 50000"/>
            </a:avLst>
          </a:prstGeom>
          <a:solidFill>
            <a:srgbClr val="22335A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5694710"/>
            <a:ext cx="326687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page image, not the text layer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92526" y="5593110"/>
            <a:ext cx="2560042" cy="452090"/>
          </a:xfrm>
          <a:prstGeom prst="roundRect">
            <a:avLst>
              <a:gd name="adj" fmla="val 50000"/>
            </a:avLst>
          </a:prstGeom>
          <a:solidFill>
            <a:srgbClr val="22335A"/>
          </a:solidFill>
          <a:ln/>
        </p:spPr>
      </p:sp>
      <p:sp>
        <p:nvSpPr>
          <p:cNvPr id="8" name="Text 6"/>
          <p:cNvSpPr/>
          <p:nvPr/>
        </p:nvSpPr>
        <p:spPr>
          <a:xfrm>
            <a:off x="4670326" y="5694710"/>
            <a:ext cx="227057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 HTML, not Markdown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04968" y="5593110"/>
            <a:ext cx="2690118" cy="452090"/>
          </a:xfrm>
          <a:prstGeom prst="roundRect">
            <a:avLst>
              <a:gd name="adj" fmla="val 50000"/>
            </a:avLst>
          </a:prstGeom>
          <a:solidFill>
            <a:srgbClr val="22335A"/>
          </a:solidFill>
          <a:ln/>
        </p:spPr>
      </p:sp>
      <p:sp>
        <p:nvSpPr>
          <p:cNvPr id="10" name="Text 8"/>
          <p:cNvSpPr/>
          <p:nvPr/>
        </p:nvSpPr>
        <p:spPr>
          <a:xfrm>
            <a:off x="7382768" y="5694710"/>
            <a:ext cx="24045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Ship only at zero table errors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88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68"/>
              </a:lnSpc>
              <a:buNone/>
            </a:pPr>
            <a:r>
              <a:rPr lang="en-US" sz="319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software parsers break</a:t>
            </a:r>
            <a:endParaRPr lang="en-US" sz="3190" dirty="0"/>
          </a:p>
        </p:txBody>
      </p:sp>
      <p:pic>
        <p:nvPicPr>
          <p:cNvPr id="3" name="Image 0" descr="G.E.H.A / OncoHealth policy page for Elrexfio (elranatamab-bcmm): dates, 6-month authorization rule, and six multiple myeloma criteria joined by 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698" y="1536055"/>
            <a:ext cx="3967004" cy="338187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5975" y="1532880"/>
            <a:ext cx="5124450" cy="3388221"/>
          </a:xfrm>
          <a:prstGeom prst="roundRect">
            <a:avLst>
              <a:gd name="adj" fmla="val 2155"/>
            </a:avLst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2800" y="5051276"/>
            <a:ext cx="5284724" cy="266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Elrexfio: criteria logic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5419675"/>
            <a:ext cx="5284724" cy="4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bullets that all must hold, with the AND sitting at the end of each line. A flat text dump loses that logic and turns the footnote marker into "0 to 21".</a:t>
            </a:r>
            <a:endParaRPr lang="en-US" sz="1200" dirty="0"/>
          </a:p>
        </p:txBody>
      </p:sp>
      <p:pic>
        <p:nvPicPr>
          <p:cNvPr id="7" name="Image 1" descr="G.E.H.A / OncoHealth bendamustine policy page: a five-row preference table with HCPCS codes and a tel: link overlay covering the revision da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352" y="1536055"/>
            <a:ext cx="4182896" cy="338187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51575" y="1532880"/>
            <a:ext cx="5124450" cy="3388221"/>
          </a:xfrm>
          <a:prstGeom prst="roundRect">
            <a:avLst>
              <a:gd name="adj" fmla="val 2155"/>
            </a:avLst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248400" y="5051276"/>
            <a:ext cx="5284724" cy="266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Bendamustine: the table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248400" y="5419675"/>
            <a:ext cx="5284724" cy="4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5 × 5 table with wrapped cells. The viewer also misread the revision dates as a phone number (</a:t>
            </a:r>
            <a:r>
              <a:rPr lang="en-US" sz="1200" dirty="0">
                <a:solidFill>
                  <a:srgbClr val="B44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tel:11/4/2024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 and covered part of one date.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G.E.H.A / OncoHealth medical necessity policies, page 1 of each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Parsed by reading, stored as HTML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37295"/>
            <a:ext cx="4674295" cy="3985964"/>
          </a:xfrm>
          <a:prstGeom prst="roundRect">
            <a:avLst>
              <a:gd name="adj" fmla="val 2469"/>
            </a:avLst>
          </a:prstGeom>
          <a:solidFill>
            <a:srgbClr val="FBFBF8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769070"/>
            <a:ext cx="433706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Elrexfio · Multiple myeloma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7750" y="2114500"/>
            <a:ext cx="433706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Effective 1/1/24 · Revised 4/1/2024, 9/27/2024, 2/16/2026 · Medical necessity · 6-month authorization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7750" y="2642741"/>
            <a:ext cx="43370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4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required (AND)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7750" y="2957661"/>
            <a:ext cx="4337067" cy="1731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168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 18 or older</a:t>
            </a:r>
            <a:endParaRPr lang="en-US" sz="1200" dirty="0"/>
          </a:p>
          <a:p>
            <a:pPr algn="l" marL="182880" indent="-182880">
              <a:lnSpc>
                <a:spcPts val="168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4+ prior therapies; refractory to at least one PI, one IMiD and one anti-CD38 mAb</a:t>
            </a:r>
            <a:endParaRPr lang="en-US" sz="1200" dirty="0"/>
          </a:p>
          <a:p>
            <a:pPr algn="l" marL="182880" indent="-182880">
              <a:lnSpc>
                <a:spcPts val="168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ECOG 0 to 2 (footnote 1)</a:t>
            </a:r>
            <a:endParaRPr lang="en-US" sz="1200" dirty="0"/>
          </a:p>
          <a:p>
            <a:pPr algn="l" marL="182880" indent="-182880">
              <a:lnSpc>
                <a:spcPts val="168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stem cell transplant within 12 weeks</a:t>
            </a:r>
            <a:endParaRPr lang="en-US" sz="1200" dirty="0"/>
          </a:p>
          <a:p>
            <a:pPr algn="l" marL="182880" indent="-182880">
              <a:lnSpc>
                <a:spcPts val="168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progression on a BCMA-directed CD3 T-cell engager regimen</a:t>
            </a:r>
            <a:endParaRPr lang="en-US" sz="1200" dirty="0"/>
          </a:p>
          <a:p>
            <a:pPr algn="l" marL="182880" indent="-182880">
              <a:lnSpc>
                <a:spcPts val="168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Prescribed by or with an oncologist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4765824"/>
            <a:ext cx="43370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F6B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has_table: false · criteria: 6 · join: AND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50620" y="1537295"/>
            <a:ext cx="5625405" cy="3985964"/>
          </a:xfrm>
          <a:prstGeom prst="roundRect">
            <a:avLst>
              <a:gd name="adj" fmla="val 2469"/>
            </a:avLst>
          </a:prstGeom>
          <a:solidFill>
            <a:srgbClr val="FBFBF8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31595" y="1718270"/>
            <a:ext cx="542135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Bendamustine · Preference table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31595" y="2038300"/>
          <a:ext cx="5263455" cy="2209403"/>
        </p:xfrm>
        <a:graphic>
          <a:graphicData uri="http://schemas.openxmlformats.org/drawingml/2006/table">
            <a:tbl>
              <a:tblPr/>
              <a:tblGrid>
                <a:gridCol w="1368498"/>
                <a:gridCol w="736884"/>
                <a:gridCol w="2105382"/>
                <a:gridCol w="1052691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Preference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Drug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HCPCS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Preferred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Treanda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J9033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0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Preferred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Bendamustine 505(b)(2) Dr Reddy's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J9999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Non-preferred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Bendeka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J9034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Non-preferred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Belrapzo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J9036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Non-preferred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Vivimusta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J9056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931595" y="4336604"/>
            <a:ext cx="54213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therapy: a non-preferred drug needs failure, intolerance or contraindication to a preferred one (new and reauth).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31595" y="4839444"/>
            <a:ext cx="5421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F6B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has_table: true · tables: 1 · 5 rows × 5 cols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31595" y="5128964"/>
            <a:ext cx="5421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4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Flagged: revision date 10/?/2025 partly hidden. Not guessed.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stored HTML keeps the Description column; it is hidden here for space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QC eval: a table ships only at zero errors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37295"/>
            <a:ext cx="2005310" cy="1984921"/>
          </a:xfrm>
          <a:prstGeom prst="roundRect">
            <a:avLst>
              <a:gd name="adj" fmla="val 4959"/>
            </a:avLst>
          </a:prstGeom>
          <a:solidFill>
            <a:srgbClr val="FBFBF8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718270"/>
            <a:ext cx="1694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4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950" y="2007791"/>
            <a:ext cx="16941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Snapshot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6950" y="2312591"/>
            <a:ext cx="1694160" cy="84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Render each page to PNG. The image is ground truth, not the text layer.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54635" y="1537295"/>
            <a:ext cx="2005360" cy="1984921"/>
          </a:xfrm>
          <a:prstGeom prst="roundRect">
            <a:avLst>
              <a:gd name="adj" fmla="val 4959"/>
            </a:avLst>
          </a:prstGeom>
          <a:solidFill>
            <a:srgbClr val="FBFBF8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5610" y="1718270"/>
            <a:ext cx="1694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4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35610" y="2007791"/>
            <a:ext cx="16942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35610" y="2312591"/>
            <a:ext cx="1694210" cy="10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LLM decides whether the page has tables, and how many rows and columns, and saves that as metadata.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93345" y="1537295"/>
            <a:ext cx="2005310" cy="1984921"/>
          </a:xfrm>
          <a:prstGeom prst="roundRect">
            <a:avLst>
              <a:gd name="adj" fmla="val 4959"/>
            </a:avLst>
          </a:prstGeom>
          <a:solidFill>
            <a:srgbClr val="FBFBF8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74320" y="1718270"/>
            <a:ext cx="1694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4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74320" y="2007791"/>
            <a:ext cx="16941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Transcribe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74320" y="2312591"/>
            <a:ext cx="1694160" cy="84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LLM reads the snapshot and writes HTML, with real rows and cells.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32005" y="1537295"/>
            <a:ext cx="2005360" cy="1984921"/>
          </a:xfrm>
          <a:prstGeom prst="roundRect">
            <a:avLst>
              <a:gd name="adj" fmla="val 4959"/>
            </a:avLst>
          </a:prstGeom>
          <a:solidFill>
            <a:srgbClr val="FBFBF8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12980" y="1718270"/>
            <a:ext cx="1694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4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12980" y="2007791"/>
            <a:ext cx="16942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12980" y="2312591"/>
            <a:ext cx="1694210" cy="10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separate LLM pass compares the snapshot and the HTML cell by cell and lists every difference.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70715" y="1537295"/>
            <a:ext cx="2005310" cy="1984921"/>
          </a:xfrm>
          <a:prstGeom prst="roundRect">
            <a:avLst>
              <a:gd name="adj" fmla="val 4959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51690" y="1718270"/>
            <a:ext cx="1694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A0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51690" y="2007791"/>
            <a:ext cx="16941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51690" y="2312591"/>
            <a:ext cx="1694160" cy="84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 errors: add to the index. Otherwise redo up to 2 times, then send to a human.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800" y="3779391"/>
            <a:ext cx="5219700" cy="1323280"/>
          </a:xfrm>
          <a:prstGeom prst="roundRect">
            <a:avLst>
              <a:gd name="adj" fmla="val 7678"/>
            </a:avLst>
          </a:prstGeom>
          <a:solidFill>
            <a:srgbClr val="EDEBE4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" y="3957191"/>
            <a:ext cx="501002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Metadata per page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90600" y="4261991"/>
            <a:ext cx="5010023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has_table, table_count, rows × cols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verify_errors: 0 · attempts: 1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status: pass | retry | human_review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59500" y="3779391"/>
            <a:ext cx="5219700" cy="1323280"/>
          </a:xfrm>
          <a:prstGeom prst="roundRect">
            <a:avLst>
              <a:gd name="adj" fmla="val 7678"/>
            </a:avLst>
          </a:prstGeom>
          <a:solidFill>
            <a:srgbClr val="EDEBE4"/>
          </a:solidFill>
          <a:ln/>
        </p:spPr>
      </p:sp>
      <p:sp>
        <p:nvSpPr>
          <p:cNvPr id="27" name="Text 25"/>
          <p:cNvSpPr/>
          <p:nvPr/>
        </p:nvSpPr>
        <p:spPr>
          <a:xfrm>
            <a:off x="6337300" y="3957191"/>
            <a:ext cx="501002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Checks before the LLM verify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37300" y="4261991"/>
            <a:ext cx="5010023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Rows and columns match what Detect found · HCPCS codes look like J + 4 digits · dates parse · every word on the page appears in the HTML (99.5% or more)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Parsing Beats Software</dc:title>
  <dc:subject>PptxGenJS Presentation</dc:subject>
  <dc:creator>PptxGenJS</dc:creator>
  <cp:lastModifiedBy>PptxGenJS</cp:lastModifiedBy>
  <cp:revision>1</cp:revision>
  <dcterms:created xsi:type="dcterms:W3CDTF">2026-09-23T20:34:18Z</dcterms:created>
  <dcterms:modified xsi:type="dcterms:W3CDTF">2026-09-23T20:34:18Z</dcterms:modified>
</cp:coreProperties>
</file>