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covers the generator half of RAG finetuning: what we train, on what data, how long it took on the Mac, what has improved so far, whether it is overfit, and the move to a Colab GPU for the full run. Numbers marked pending will be filled in from the Colab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retriever work changed which chunks reach the model. This work changes the model that writes the answer. The two are independent: the retriever result came from an earlier experiment in the finetuning folder; the generator numbers are from the first epoch of the Mac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steps, each a script in finetuning_LLM_LORA. The base and tuned models are evaluated in the same process with the adapter switched off and on, so prompts and decoding are identical.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of the 78 training questions produces a direct example and a chain-of-thought example: 156 in total. The rationale is extractive, not written by a model, which is cheaper but imperfect: in this very example the extracted evidence lines miss the line with the phone number, because that line shares few words with the answer. Worth improving with an LLM-written rationale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 and validation come from the same guide but different sections, so validation loss tells us about unseen text in a familiar document. The test set is the plan brochure, a document the model never trains on, so it measures transfer. split_stats.py fails the run if any of the five checks fails.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LoRA freezes the base model and learns low-rank updates on every attention and MLP projection. Only 18.5 million weights train, which is why the saved adapter is 74 MB. With only 156 examples, an epoch is just 20 optimizer steps, which matters for the question of how many epochs to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Epoch 1 took 56 minutes, about 21 seconds per training example. Epoch 2 ran for three and a half hours without finishing because of battery throttling, a 12-minute hibernation and heavy swapping. That is why the full run moves to a Colab GPU.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Validation loss fell from 0.626 to 0.517, a 17 percent drop, after 20 optimizer steps. Loss measures how likely the model finds the reference answer; it is a good training signal but not the same as answer quality. The brochure eval, with answer F1, citation precision and quote grounding, is what will tell us the generator actually got better.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Short answer: no evidence of overfitting yet. Train and validation loss are the same and validation loss is still going down. But one epoch of 20 steps is too early to call it. Overfitting with tiny datasets typically appears in epochs 2 and 3, which is why the trainer keeps only the best validation checkpoint. The real test is the unseen brochure: if the tuned model's answer F1, citation precision and quote grounding beat the base model there, it generalizes. If it only sounds more like the RAGAS references, it has memorized a style.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Mac run is stopped; its epoch-1 adapter is kept for reference. Everything needed to rerun is in finetuning_LLM_LORA, including a Colab notebook. Once the Colab results come back, the placeholders on this slide, the loss chart and the overfitting verdict will be updated with real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5F0"/>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447030"/>
          </a:xfrm>
          <a:prstGeom prst="rect">
            <a:avLst/>
          </a:prstGeom>
          <a:noFill/>
          <a:ln/>
        </p:spPr>
        <p:txBody>
          <a:bodyPr wrap="square" lIns="0" tIns="0" rIns="0" bIns="0" rtlCol="0" anchor="t"/>
          <a:lstStyle>
            <a:lvl1pPr algn="l" indent="0" marL="0">
              <a:lnSpc>
                <a:spcPct val="115000"/>
              </a:lnSpc>
              <a:buNone/>
              <a:defRPr lang="en-US" sz="3200" dirty="0">
                <a:solidFill>
                  <a:srgbClr val="16202E"/>
                </a:solidFill>
                <a:latin typeface="Arial" pitchFamily="34" charset="0"/>
                <a:ea typeface="Arial" pitchFamily="34" charset="-122"/>
                <a:cs typeface="Arial"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564630"/>
            <a:ext cx="10566400" cy="4480570"/>
          </a:xfrm>
          <a:prstGeom prst="rect">
            <a:avLst/>
          </a:prstGeom>
          <a:noFill/>
          <a:ln/>
        </p:spPr>
        <p:txBody>
          <a:bodyPr wrap="square" lIns="0" tIns="0" rIns="0" bIns="0" rtlCol="0" anchor="t"/>
          <a:lstStyle>
            <a:lvl1pPr algn="l" indent="0" marL="0">
              <a:lnSpc>
                <a:spcPct val="140000"/>
              </a:lnSpc>
              <a:buNone/>
              <a:defRPr lang="en-US" sz="1600" dirty="0">
                <a:solidFill>
                  <a:srgbClr val="16202E"/>
                </a:solidFill>
                <a:latin typeface="Arial" pitchFamily="34" charset="0"/>
                <a:ea typeface="Arial" pitchFamily="34" charset="-122"/>
                <a:cs typeface="Arial"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5F0"/>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447030"/>
          </a:xfrm>
          <a:prstGeom prst="rect">
            <a:avLst/>
          </a:prstGeom>
          <a:noFill/>
          <a:ln/>
        </p:spPr>
        <p:txBody>
          <a:bodyPr wrap="square" lIns="0" tIns="0" rIns="0" bIns="0" rtlCol="0" anchor="t"/>
          <a:lstStyle>
            <a:lvl1pPr algn="l" indent="0" marL="0">
              <a:lnSpc>
                <a:spcPct val="115000"/>
              </a:lnSpc>
              <a:buNone/>
              <a:defRPr lang="en-US" sz="3200" dirty="0">
                <a:solidFill>
                  <a:srgbClr val="16202E"/>
                </a:solidFill>
                <a:latin typeface="Arial" pitchFamily="34" charset="0"/>
                <a:ea typeface="Arial" pitchFamily="34" charset="-122"/>
                <a:cs typeface="Arial"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564630"/>
            <a:ext cx="10566400" cy="4480570"/>
          </a:xfrm>
          <a:prstGeom prst="rect">
            <a:avLst/>
          </a:prstGeom>
          <a:noFill/>
          <a:ln/>
        </p:spPr>
        <p:txBody>
          <a:bodyPr wrap="square" lIns="0" tIns="0" rIns="0" bIns="0" rtlCol="0" anchor="t"/>
          <a:lstStyle>
            <a:lvl1pPr algn="l" indent="0" marL="0">
              <a:lnSpc>
                <a:spcPct val="140000"/>
              </a:lnSpc>
              <a:buNone/>
              <a:defRPr lang="en-US" sz="1600" dirty="0">
                <a:solidFill>
                  <a:srgbClr val="16202E"/>
                </a:solidFill>
                <a:latin typeface="Arial" pitchFamily="34" charset="0"/>
                <a:ea typeface="Arial" pitchFamily="34" charset="-122"/>
                <a:cs typeface="Arial"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2.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2.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2.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202E"/>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spc="100" kern="0" dirty="0">
                <a:solidFill>
                  <a:srgbClr val="F08A5D"/>
                </a:solidFill>
                <a:latin typeface="Courier New" pitchFamily="49" charset="0"/>
                <a:ea typeface="Courier New" pitchFamily="49" charset="-122"/>
                <a:cs typeface="Courier New" pitchFamily="49" charset="-120"/>
              </a:rPr>
              <a:t>GEHA DENTAL RAG · GENERATOR FINETUNING</a:t>
            </a:r>
            <a:endParaRPr lang="en-US" sz="1400" dirty="0"/>
          </a:p>
        </p:txBody>
      </p:sp>
      <p:sp>
        <p:nvSpPr>
          <p:cNvPr id="3" name="Text 1"/>
          <p:cNvSpPr/>
          <p:nvPr>
            <p:ph type="title"/>
          </p:nvPr>
        </p:nvSpPr>
        <p:spPr>
          <a:xfrm>
            <a:off x="812800" y="2437160"/>
            <a:ext cx="10883392" cy="1412180"/>
          </a:xfrm>
          <a:prstGeom prst="rect">
            <a:avLst/>
          </a:prstGeom>
          <a:noFill/>
          <a:ln/>
        </p:spPr>
        <p:txBody>
          <a:bodyPr wrap="square" lIns="0" tIns="0" rIns="0" bIns="0" rtlCol="0" anchor="t">
            <a:normAutofit/>
          </a:bodyPr>
          <a:lstStyle/>
          <a:p>
            <a:pPr algn="l" indent="0" marL="0">
              <a:lnSpc>
                <a:spcPts val="5460"/>
              </a:lnSpc>
              <a:buNone/>
            </a:pPr>
            <a:r>
              <a:rPr lang="en-US" sz="5200" b="1" i="0" dirty="0">
                <a:solidFill>
                  <a:srgbClr val="F3F1EA"/>
                </a:solidFill>
                <a:latin typeface="Arial" pitchFamily="34" charset="0"/>
                <a:ea typeface="Arial" pitchFamily="34" charset="-122"/>
                <a:cs typeface="Arial" pitchFamily="34" charset="-120"/>
              </a:rPr>
              <a:t>Teaching the answer model to read our passages</a:t>
            </a:r>
            <a:endParaRPr lang="en-US" sz="5200" dirty="0"/>
          </a:p>
        </p:txBody>
      </p:sp>
      <p:sp>
        <p:nvSpPr>
          <p:cNvPr id="4" name="Text 2"/>
          <p:cNvSpPr/>
          <p:nvPr/>
        </p:nvSpPr>
        <p:spPr>
          <a:xfrm>
            <a:off x="812800" y="4077940"/>
            <a:ext cx="11379200" cy="368300"/>
          </a:xfrm>
          <a:prstGeom prst="rect">
            <a:avLst/>
          </a:prstGeom>
          <a:noFill/>
          <a:ln/>
        </p:spPr>
        <p:txBody>
          <a:bodyPr wrap="square" lIns="0" tIns="0" rIns="0" bIns="0" rtlCol="0" anchor="t">
            <a:normAutofit/>
          </a:bodyPr>
          <a:lstStyle/>
          <a:p>
            <a:pPr algn="l" indent="0" marL="0">
              <a:lnSpc>
                <a:spcPts val="2700"/>
              </a:lnSpc>
              <a:buNone/>
            </a:pPr>
            <a:r>
              <a:rPr lang="en-US" sz="2000" dirty="0">
                <a:solidFill>
                  <a:srgbClr val="B9C3D1"/>
                </a:solidFill>
                <a:latin typeface="Arial" pitchFamily="34" charset="0"/>
                <a:ea typeface="Arial" pitchFamily="34" charset="-122"/>
                <a:cs typeface="Arial" pitchFamily="34" charset="-120"/>
              </a:rPr>
              <a:t>LoRA instruction finetuning of Qwen2.5‑1.5B‑Instruct on direct and chain‑of‑thought examples</a:t>
            </a:r>
            <a:endParaRPr lang="en-US" sz="2000" dirty="0"/>
          </a:p>
        </p:txBody>
      </p:sp>
      <p:sp>
        <p:nvSpPr>
          <p:cNvPr id="5" name="Text 3"/>
          <p:cNvSpPr/>
          <p:nvPr/>
        </p:nvSpPr>
        <p:spPr>
          <a:xfrm>
            <a:off x="812800" y="579631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8C98A8"/>
                </a:solidFill>
                <a:latin typeface="Arial" pitchFamily="34" charset="0"/>
                <a:ea typeface="Arial" pitchFamily="34" charset="-122"/>
                <a:cs typeface="Arial" pitchFamily="34" charset="-120"/>
              </a:rPr>
              <a:t>October 2026 · experiment log · results as of 21 Oct, 07:34</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5F0"/>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02E"/>
                </a:solidFill>
                <a:latin typeface="Arial" pitchFamily="34" charset="0"/>
                <a:ea typeface="Arial" pitchFamily="34" charset="-122"/>
                <a:cs typeface="Arial" pitchFamily="34" charset="-120"/>
              </a:rPr>
              <a:t>Two places to finetune a RAG system</a:t>
            </a:r>
            <a:endParaRPr lang="en-US" sz="3200" dirty="0"/>
          </a:p>
        </p:txBody>
      </p:sp>
      <p:sp>
        <p:nvSpPr>
          <p:cNvPr id="3" name="Shape 1"/>
          <p:cNvSpPr/>
          <p:nvPr/>
        </p:nvSpPr>
        <p:spPr>
          <a:xfrm>
            <a:off x="819150" y="1621780"/>
            <a:ext cx="5143500" cy="4213870"/>
          </a:xfrm>
          <a:prstGeom prst="roundRect">
            <a:avLst>
              <a:gd name="adj" fmla="val 2863"/>
            </a:avLst>
          </a:prstGeom>
          <a:solidFill>
            <a:srgbClr val="FDFCF9"/>
          </a:solidFill>
          <a:ln w="12700">
            <a:solidFill>
              <a:srgbClr val="E2DED3"/>
            </a:solidFill>
            <a:prstDash val="solid"/>
          </a:ln>
        </p:spPr>
      </p:sp>
      <p:sp>
        <p:nvSpPr>
          <p:cNvPr id="4" name="Text 2"/>
          <p:cNvSpPr/>
          <p:nvPr/>
        </p:nvSpPr>
        <p:spPr>
          <a:xfrm>
            <a:off x="1130300" y="1932930"/>
            <a:ext cx="4656836"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2F6DB5"/>
                </a:solidFill>
                <a:latin typeface="Courier New" pitchFamily="49" charset="0"/>
                <a:ea typeface="Courier New" pitchFamily="49" charset="-122"/>
                <a:cs typeface="Courier New" pitchFamily="49" charset="-120"/>
              </a:rPr>
              <a:t>RETRIEVER · DONE EARLIER</a:t>
            </a:r>
            <a:endParaRPr lang="en-US" sz="1200" dirty="0"/>
          </a:p>
        </p:txBody>
      </p:sp>
      <p:sp>
        <p:nvSpPr>
          <p:cNvPr id="5" name="Text 3"/>
          <p:cNvSpPr/>
          <p:nvPr/>
        </p:nvSpPr>
        <p:spPr>
          <a:xfrm>
            <a:off x="1130300" y="2298650"/>
            <a:ext cx="4656836"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6202E"/>
                </a:solidFill>
                <a:latin typeface="Arial" pitchFamily="34" charset="0"/>
                <a:ea typeface="Arial" pitchFamily="34" charset="-122"/>
                <a:cs typeface="Arial" pitchFamily="34" charset="-120"/>
              </a:rPr>
              <a:t>Which chunks the LLM sees</a:t>
            </a:r>
            <a:endParaRPr lang="en-US" sz="2200" dirty="0"/>
          </a:p>
        </p:txBody>
      </p:sp>
      <p:sp>
        <p:nvSpPr>
          <p:cNvPr id="6" name="Text 4"/>
          <p:cNvSpPr/>
          <p:nvPr/>
        </p:nvSpPr>
        <p:spPr>
          <a:xfrm>
            <a:off x="1130300" y="2786311"/>
            <a:ext cx="4656836"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Arial" pitchFamily="34" charset="0"/>
                <a:ea typeface="Arial" pitchFamily="34" charset="-122"/>
                <a:cs typeface="Arial" pitchFamily="34" charset="-120"/>
              </a:rPr>
              <a:t>bge‑base‑en‑v1.5 embedding model, contrastive loss on question → chunk pairs.</a:t>
            </a:r>
            <a:endParaRPr lang="en-US" sz="1500" dirty="0"/>
          </a:p>
        </p:txBody>
      </p:sp>
      <p:sp>
        <p:nvSpPr>
          <p:cNvPr id="7" name="Text 5"/>
          <p:cNvSpPr/>
          <p:nvPr/>
        </p:nvSpPr>
        <p:spPr>
          <a:xfrm>
            <a:off x="1130300" y="5257800"/>
            <a:ext cx="48260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6202E"/>
                </a:solidFill>
                <a:latin typeface="Arial" pitchFamily="34" charset="0"/>
                <a:ea typeface="Arial" pitchFamily="34" charset="-122"/>
                <a:cs typeface="Arial" pitchFamily="34" charset="-120"/>
              </a:rPr>
              <a:t>Recall@5: 64.6% → 68.7%</a:t>
            </a:r>
            <a:r>
              <a:rPr lang="en-US" sz="1500" dirty="0">
                <a:solidFill>
                  <a:srgbClr val="16202E"/>
                </a:solidFill>
                <a:latin typeface="Arial" pitchFamily="34" charset="0"/>
                <a:ea typeface="Arial" pitchFamily="34" charset="-122"/>
                <a:cs typeface="Arial" pitchFamily="34" charset="-120"/>
              </a:rPr>
              <a:t> on the held‑out brochure</a:t>
            </a:r>
            <a:endParaRPr lang="en-US" sz="1500" dirty="0"/>
          </a:p>
        </p:txBody>
      </p:sp>
      <p:sp>
        <p:nvSpPr>
          <p:cNvPr id="8" name="Shape 6"/>
          <p:cNvSpPr/>
          <p:nvPr/>
        </p:nvSpPr>
        <p:spPr>
          <a:xfrm>
            <a:off x="6229350" y="1621780"/>
            <a:ext cx="5143500" cy="4213870"/>
          </a:xfrm>
          <a:prstGeom prst="roundRect">
            <a:avLst>
              <a:gd name="adj" fmla="val 2863"/>
            </a:avLst>
          </a:prstGeom>
          <a:solidFill>
            <a:srgbClr val="FDFCF9"/>
          </a:solidFill>
          <a:ln w="12700">
            <a:solidFill>
              <a:srgbClr val="D9622B"/>
            </a:solidFill>
            <a:prstDash val="solid"/>
          </a:ln>
        </p:spPr>
      </p:sp>
      <p:sp>
        <p:nvSpPr>
          <p:cNvPr id="9" name="Text 7"/>
          <p:cNvSpPr/>
          <p:nvPr/>
        </p:nvSpPr>
        <p:spPr>
          <a:xfrm>
            <a:off x="6540500" y="1932930"/>
            <a:ext cx="4656836"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B4481A"/>
                </a:solidFill>
                <a:latin typeface="Courier New" pitchFamily="49" charset="0"/>
                <a:ea typeface="Courier New" pitchFamily="49" charset="-122"/>
                <a:cs typeface="Courier New" pitchFamily="49" charset="-120"/>
              </a:rPr>
              <a:t>GENERATOR · THIS DECK</a:t>
            </a:r>
            <a:endParaRPr lang="en-US" sz="1200" dirty="0"/>
          </a:p>
        </p:txBody>
      </p:sp>
      <p:sp>
        <p:nvSpPr>
          <p:cNvPr id="10" name="Text 8"/>
          <p:cNvSpPr/>
          <p:nvPr/>
        </p:nvSpPr>
        <p:spPr>
          <a:xfrm>
            <a:off x="6540500" y="2298650"/>
            <a:ext cx="4826000"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6202E"/>
                </a:solidFill>
                <a:latin typeface="Arial" pitchFamily="34" charset="0"/>
                <a:ea typeface="Arial" pitchFamily="34" charset="-122"/>
                <a:cs typeface="Arial" pitchFamily="34" charset="-120"/>
              </a:rPr>
              <a:t>How the LLM answers from them</a:t>
            </a:r>
            <a:endParaRPr lang="en-US" sz="2200" dirty="0"/>
          </a:p>
        </p:txBody>
      </p:sp>
      <p:sp>
        <p:nvSpPr>
          <p:cNvPr id="11" name="Text 9"/>
          <p:cNvSpPr/>
          <p:nvPr/>
        </p:nvSpPr>
        <p:spPr>
          <a:xfrm>
            <a:off x="6540500" y="2786311"/>
            <a:ext cx="4656836"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Arial" pitchFamily="34" charset="0"/>
                <a:ea typeface="Arial" pitchFamily="34" charset="-122"/>
                <a:cs typeface="Arial" pitchFamily="34" charset="-120"/>
              </a:rPr>
              <a:t>Qwen2.5‑1.5B‑Instruct chat model, LoRA instruction finetuning on passage + question → answer.</a:t>
            </a:r>
            <a:endParaRPr lang="en-US" sz="1500" dirty="0"/>
          </a:p>
        </p:txBody>
      </p:sp>
      <p:sp>
        <p:nvSpPr>
          <p:cNvPr id="12" name="Text 10"/>
          <p:cNvSpPr/>
          <p:nvPr/>
        </p:nvSpPr>
        <p:spPr>
          <a:xfrm>
            <a:off x="6540500" y="5257800"/>
            <a:ext cx="4656836"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6202E"/>
                </a:solidFill>
                <a:latin typeface="Arial" pitchFamily="34" charset="0"/>
                <a:ea typeface="Arial" pitchFamily="34" charset="-122"/>
                <a:cs typeface="Arial" pitchFamily="34" charset="-120"/>
              </a:rPr>
              <a:t>Validation loss: 0.626 → 0.517</a:t>
            </a:r>
            <a:r>
              <a:rPr lang="en-US" sz="1500" dirty="0">
                <a:solidFill>
                  <a:srgbClr val="16202E"/>
                </a:solidFill>
                <a:latin typeface="Arial" pitchFamily="34" charset="0"/>
                <a:ea typeface="Arial" pitchFamily="34" charset="-122"/>
                <a:cs typeface="Arial" pitchFamily="34" charset="-120"/>
              </a:rPr>
              <a:t> after one epoch</a:t>
            </a:r>
            <a:endParaRPr lang="en-US" sz="1500" dirty="0"/>
          </a:p>
        </p:txBody>
      </p:sp>
      <p:sp>
        <p:nvSpPr>
          <p:cNvPr id="13" name="Text 11"/>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280"/>
                </a:solidFill>
                <a:latin typeface="Arial" pitchFamily="34" charset="0"/>
                <a:ea typeface="Arial" pitchFamily="34" charset="-122"/>
                <a:cs typeface="Arial" pitchFamily="34" charset="-120"/>
              </a:rPr>
              <a:t>The slide that started this: instruction finetuning with direct and chain‑of‑thought data (FLAN, arXiv 2210.11416)</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5F0"/>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02E"/>
                </a:solidFill>
                <a:latin typeface="Arial" pitchFamily="34" charset="0"/>
                <a:ea typeface="Arial" pitchFamily="34" charset="-122"/>
                <a:cs typeface="Arial" pitchFamily="34" charset="-120"/>
              </a:rPr>
              <a:t>The pipeline, end to end</a:t>
            </a:r>
            <a:endParaRPr lang="en-US" sz="3200" dirty="0"/>
          </a:p>
        </p:txBody>
      </p:sp>
      <p:sp>
        <p:nvSpPr>
          <p:cNvPr id="3" name="Shape 1"/>
          <p:cNvSpPr/>
          <p:nvPr/>
        </p:nvSpPr>
        <p:spPr>
          <a:xfrm>
            <a:off x="819150" y="1672580"/>
            <a:ext cx="2286000" cy="2316361"/>
          </a:xfrm>
          <a:prstGeom prst="roundRect">
            <a:avLst>
              <a:gd name="adj" fmla="val 5278"/>
            </a:avLst>
          </a:prstGeom>
          <a:solidFill>
            <a:srgbClr val="FDFCF9"/>
          </a:solidFill>
          <a:ln w="12700">
            <a:solidFill>
              <a:srgbClr val="E2DED3"/>
            </a:solidFill>
            <a:prstDash val="solid"/>
          </a:ln>
        </p:spPr>
      </p:sp>
      <p:sp>
        <p:nvSpPr>
          <p:cNvPr id="4" name="Text 2"/>
          <p:cNvSpPr/>
          <p:nvPr/>
        </p:nvSpPr>
        <p:spPr>
          <a:xfrm>
            <a:off x="1054100" y="1907530"/>
            <a:ext cx="187058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F6DB5"/>
                </a:solidFill>
                <a:latin typeface="Courier New" pitchFamily="49" charset="0"/>
                <a:ea typeface="Courier New" pitchFamily="49" charset="-122"/>
                <a:cs typeface="Courier New" pitchFamily="49" charset="-120"/>
              </a:rPr>
              <a:t>01</a:t>
            </a:r>
            <a:endParaRPr lang="en-US" sz="1200" dirty="0"/>
          </a:p>
        </p:txBody>
      </p:sp>
      <p:sp>
        <p:nvSpPr>
          <p:cNvPr id="5" name="Text 3"/>
          <p:cNvSpPr/>
          <p:nvPr/>
        </p:nvSpPr>
        <p:spPr>
          <a:xfrm>
            <a:off x="1054100" y="2222450"/>
            <a:ext cx="1870583"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6202E"/>
                </a:solidFill>
                <a:latin typeface="Arial" pitchFamily="34" charset="0"/>
                <a:ea typeface="Arial" pitchFamily="34" charset="-122"/>
                <a:cs typeface="Arial" pitchFamily="34" charset="-120"/>
              </a:rPr>
              <a:t>QA pairs</a:t>
            </a:r>
            <a:endParaRPr lang="en-US" sz="1800" dirty="0"/>
          </a:p>
        </p:txBody>
      </p:sp>
      <p:sp>
        <p:nvSpPr>
          <p:cNvPr id="6" name="Text 4"/>
          <p:cNvSpPr/>
          <p:nvPr/>
        </p:nvSpPr>
        <p:spPr>
          <a:xfrm>
            <a:off x="1054100" y="2598341"/>
            <a:ext cx="1870583" cy="9499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Arial" pitchFamily="34" charset="0"/>
                <a:ea typeface="Arial" pitchFamily="34" charset="-122"/>
                <a:cs typeface="Arial" pitchFamily="34" charset="-120"/>
              </a:rPr>
              <a:t>Synthetic RAGAS questions + reference answers from the GEHA dental PDFs</a:t>
            </a:r>
            <a:endParaRPr lang="en-US" sz="1300" dirty="0"/>
          </a:p>
        </p:txBody>
      </p:sp>
      <p:pic>
        <p:nvPicPr>
          <p:cNvPr id="7" name="Image 0" descr="connector">    </p:cNvPr>
          <p:cNvPicPr>
            <a:picLocks noChangeAspect="1"/>
          </p:cNvPicPr>
          <p:nvPr/>
        </p:nvPicPr>
        <p:blipFill>
          <a:blip r:embed="rId1"/>
          <a:srcRect l="0" r="0" t="0" b="0"/>
          <a:stretch/>
        </p:blipFill>
        <p:spPr>
          <a:xfrm>
            <a:off x="3213100" y="1666230"/>
            <a:ext cx="254000" cy="101600"/>
          </a:xfrm>
          <a:prstGeom prst="rect">
            <a:avLst/>
          </a:prstGeom>
        </p:spPr>
      </p:pic>
      <p:sp>
        <p:nvSpPr>
          <p:cNvPr id="8" name="Shape 5"/>
          <p:cNvSpPr/>
          <p:nvPr/>
        </p:nvSpPr>
        <p:spPr>
          <a:xfrm>
            <a:off x="3575050" y="1672580"/>
            <a:ext cx="2286000" cy="2316361"/>
          </a:xfrm>
          <a:prstGeom prst="roundRect">
            <a:avLst>
              <a:gd name="adj" fmla="val 5278"/>
            </a:avLst>
          </a:prstGeom>
          <a:solidFill>
            <a:srgbClr val="FDFCF9"/>
          </a:solidFill>
          <a:ln w="12700">
            <a:solidFill>
              <a:srgbClr val="E2DED3"/>
            </a:solidFill>
            <a:prstDash val="solid"/>
          </a:ln>
        </p:spPr>
      </p:sp>
      <p:sp>
        <p:nvSpPr>
          <p:cNvPr id="9" name="Text 6"/>
          <p:cNvSpPr/>
          <p:nvPr/>
        </p:nvSpPr>
        <p:spPr>
          <a:xfrm>
            <a:off x="3810000" y="1907530"/>
            <a:ext cx="187058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F6DB5"/>
                </a:solidFill>
                <a:latin typeface="Courier New" pitchFamily="49" charset="0"/>
                <a:ea typeface="Courier New" pitchFamily="49" charset="-122"/>
                <a:cs typeface="Courier New" pitchFamily="49" charset="-120"/>
              </a:rPr>
              <a:t>02</a:t>
            </a:r>
            <a:endParaRPr lang="en-US" sz="1200" dirty="0"/>
          </a:p>
        </p:txBody>
      </p:sp>
      <p:sp>
        <p:nvSpPr>
          <p:cNvPr id="10" name="Text 7"/>
          <p:cNvSpPr/>
          <p:nvPr/>
        </p:nvSpPr>
        <p:spPr>
          <a:xfrm>
            <a:off x="3810000" y="2222450"/>
            <a:ext cx="1870583"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6202E"/>
                </a:solidFill>
                <a:latin typeface="Arial" pitchFamily="34" charset="0"/>
                <a:ea typeface="Arial" pitchFamily="34" charset="-122"/>
                <a:cs typeface="Arial" pitchFamily="34" charset="-120"/>
              </a:rPr>
              <a:t>SFT builder</a:t>
            </a:r>
            <a:endParaRPr lang="en-US" sz="1800" dirty="0"/>
          </a:p>
        </p:txBody>
      </p:sp>
      <p:sp>
        <p:nvSpPr>
          <p:cNvPr id="11" name="Text 8"/>
          <p:cNvSpPr/>
          <p:nvPr/>
        </p:nvSpPr>
        <p:spPr>
          <a:xfrm>
            <a:off x="3810000" y="2598341"/>
            <a:ext cx="1870583" cy="118105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Arial" pitchFamily="34" charset="0"/>
                <a:ea typeface="Arial" pitchFamily="34" charset="-122"/>
                <a:cs typeface="Arial" pitchFamily="34" charset="-120"/>
              </a:rPr>
              <a:t>Gold passage + 2 distractors, shuffled. One direct and one chain‑of‑thought target each</a:t>
            </a:r>
            <a:endParaRPr lang="en-US" sz="1300" dirty="0"/>
          </a:p>
        </p:txBody>
      </p:sp>
      <p:pic>
        <p:nvPicPr>
          <p:cNvPr id="12" name="Image 1" descr="connector">    </p:cNvPr>
          <p:cNvPicPr>
            <a:picLocks noChangeAspect="1"/>
          </p:cNvPicPr>
          <p:nvPr/>
        </p:nvPicPr>
        <p:blipFill>
          <a:blip r:embed="rId2"/>
          <a:srcRect l="0" r="0" t="0" b="0"/>
          <a:stretch/>
        </p:blipFill>
        <p:spPr>
          <a:xfrm>
            <a:off x="5969000" y="1666230"/>
            <a:ext cx="254000" cy="101600"/>
          </a:xfrm>
          <a:prstGeom prst="rect">
            <a:avLst/>
          </a:prstGeom>
        </p:spPr>
      </p:pic>
      <p:sp>
        <p:nvSpPr>
          <p:cNvPr id="13" name="Shape 9"/>
          <p:cNvSpPr/>
          <p:nvPr/>
        </p:nvSpPr>
        <p:spPr>
          <a:xfrm>
            <a:off x="6330950" y="1672580"/>
            <a:ext cx="2286000" cy="2316361"/>
          </a:xfrm>
          <a:prstGeom prst="roundRect">
            <a:avLst>
              <a:gd name="adj" fmla="val 5278"/>
            </a:avLst>
          </a:prstGeom>
          <a:solidFill>
            <a:srgbClr val="FDFCF9"/>
          </a:solidFill>
          <a:ln w="12700">
            <a:solidFill>
              <a:srgbClr val="D9622B"/>
            </a:solidFill>
            <a:prstDash val="solid"/>
          </a:ln>
        </p:spPr>
      </p:sp>
      <p:sp>
        <p:nvSpPr>
          <p:cNvPr id="14" name="Text 10"/>
          <p:cNvSpPr/>
          <p:nvPr/>
        </p:nvSpPr>
        <p:spPr>
          <a:xfrm>
            <a:off x="6565900" y="1907530"/>
            <a:ext cx="187058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4481A"/>
                </a:solidFill>
                <a:latin typeface="Courier New" pitchFamily="49" charset="0"/>
                <a:ea typeface="Courier New" pitchFamily="49" charset="-122"/>
                <a:cs typeface="Courier New" pitchFamily="49" charset="-120"/>
              </a:rPr>
              <a:t>03</a:t>
            </a:r>
            <a:endParaRPr lang="en-US" sz="1200" dirty="0"/>
          </a:p>
        </p:txBody>
      </p:sp>
      <p:sp>
        <p:nvSpPr>
          <p:cNvPr id="15" name="Text 11"/>
          <p:cNvSpPr/>
          <p:nvPr/>
        </p:nvSpPr>
        <p:spPr>
          <a:xfrm>
            <a:off x="6565900" y="2222450"/>
            <a:ext cx="1870583"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6202E"/>
                </a:solidFill>
                <a:latin typeface="Arial" pitchFamily="34" charset="0"/>
                <a:ea typeface="Arial" pitchFamily="34" charset="-122"/>
                <a:cs typeface="Arial" pitchFamily="34" charset="-120"/>
              </a:rPr>
              <a:t>LoRA training</a:t>
            </a:r>
            <a:endParaRPr lang="en-US" sz="1800" dirty="0"/>
          </a:p>
        </p:txBody>
      </p:sp>
      <p:sp>
        <p:nvSpPr>
          <p:cNvPr id="16" name="Text 12"/>
          <p:cNvSpPr/>
          <p:nvPr/>
        </p:nvSpPr>
        <p:spPr>
          <a:xfrm>
            <a:off x="6565900" y="2598341"/>
            <a:ext cx="1870583" cy="9499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Arial" pitchFamily="34" charset="0"/>
                <a:ea typeface="Arial" pitchFamily="34" charset="-122"/>
                <a:cs typeface="Arial" pitchFamily="34" charset="-120"/>
              </a:rPr>
              <a:t>Loss on answer tokens only. Keep the adapter with the lowest validation loss</a:t>
            </a:r>
            <a:endParaRPr lang="en-US" sz="1300" dirty="0"/>
          </a:p>
        </p:txBody>
      </p:sp>
      <p:pic>
        <p:nvPicPr>
          <p:cNvPr id="17" name="Image 2" descr="connector">    </p:cNvPr>
          <p:cNvPicPr>
            <a:picLocks noChangeAspect="1"/>
          </p:cNvPicPr>
          <p:nvPr/>
        </p:nvPicPr>
        <p:blipFill>
          <a:blip r:embed="rId3"/>
          <a:srcRect l="0" r="0" t="0" b="0"/>
          <a:stretch/>
        </p:blipFill>
        <p:spPr>
          <a:xfrm>
            <a:off x="8724900" y="1666230"/>
            <a:ext cx="254000" cy="101600"/>
          </a:xfrm>
          <a:prstGeom prst="rect">
            <a:avLst/>
          </a:prstGeom>
        </p:spPr>
      </p:pic>
      <p:sp>
        <p:nvSpPr>
          <p:cNvPr id="18" name="Shape 13"/>
          <p:cNvSpPr/>
          <p:nvPr/>
        </p:nvSpPr>
        <p:spPr>
          <a:xfrm>
            <a:off x="9086850" y="1672580"/>
            <a:ext cx="2286000" cy="2316361"/>
          </a:xfrm>
          <a:prstGeom prst="roundRect">
            <a:avLst>
              <a:gd name="adj" fmla="val 5278"/>
            </a:avLst>
          </a:prstGeom>
          <a:solidFill>
            <a:srgbClr val="FDFCF9"/>
          </a:solidFill>
          <a:ln w="12700">
            <a:solidFill>
              <a:srgbClr val="E2DED3"/>
            </a:solidFill>
            <a:prstDash val="solid"/>
          </a:ln>
        </p:spPr>
      </p:sp>
      <p:sp>
        <p:nvSpPr>
          <p:cNvPr id="19" name="Text 14"/>
          <p:cNvSpPr/>
          <p:nvPr/>
        </p:nvSpPr>
        <p:spPr>
          <a:xfrm>
            <a:off x="9321800" y="1907530"/>
            <a:ext cx="187058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F6DB5"/>
                </a:solidFill>
                <a:latin typeface="Courier New" pitchFamily="49" charset="0"/>
                <a:ea typeface="Courier New" pitchFamily="49" charset="-122"/>
                <a:cs typeface="Courier New" pitchFamily="49" charset="-120"/>
              </a:rPr>
              <a:t>04</a:t>
            </a:r>
            <a:endParaRPr lang="en-US" sz="1200" dirty="0"/>
          </a:p>
        </p:txBody>
      </p:sp>
      <p:sp>
        <p:nvSpPr>
          <p:cNvPr id="20" name="Text 15"/>
          <p:cNvSpPr/>
          <p:nvPr/>
        </p:nvSpPr>
        <p:spPr>
          <a:xfrm>
            <a:off x="9321800" y="2222450"/>
            <a:ext cx="1870583"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6202E"/>
                </a:solidFill>
                <a:latin typeface="Arial" pitchFamily="34" charset="0"/>
                <a:ea typeface="Arial" pitchFamily="34" charset="-122"/>
                <a:cs typeface="Arial" pitchFamily="34" charset="-120"/>
              </a:rPr>
              <a:t>Held‑out eval</a:t>
            </a:r>
            <a:endParaRPr lang="en-US" sz="1800" dirty="0"/>
          </a:p>
        </p:txBody>
      </p:sp>
      <p:sp>
        <p:nvSpPr>
          <p:cNvPr id="21" name="Text 16"/>
          <p:cNvSpPr/>
          <p:nvPr/>
        </p:nvSpPr>
        <p:spPr>
          <a:xfrm>
            <a:off x="9321800" y="2598341"/>
            <a:ext cx="1870583" cy="9499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Arial" pitchFamily="34" charset="0"/>
                <a:ea typeface="Arial" pitchFamily="34" charset="-122"/>
                <a:cs typeface="Arial" pitchFamily="34" charset="-120"/>
              </a:rPr>
              <a:t>Unseen plan brochure. Base vs tuned, same prompts; only the adapter differs</a:t>
            </a:r>
            <a:endParaRPr lang="en-US" sz="1300" dirty="0"/>
          </a:p>
        </p:txBody>
      </p:sp>
      <p:sp>
        <p:nvSpPr>
          <p:cNvPr id="22" name="Text 17"/>
          <p:cNvSpPr/>
          <p:nvPr/>
        </p:nvSpPr>
        <p:spPr>
          <a:xfrm>
            <a:off x="812800" y="4401691"/>
            <a:ext cx="5284724" cy="52318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6202E"/>
                </a:solidFill>
                <a:latin typeface="Arial" pitchFamily="34" charset="0"/>
                <a:ea typeface="Arial" pitchFamily="34" charset="-122"/>
                <a:cs typeface="Arial" pitchFamily="34" charset="-120"/>
              </a:rPr>
              <a:t>Why distractors:</a:t>
            </a:r>
            <a:r>
              <a:rPr lang="en-US" sz="1400" dirty="0">
                <a:solidFill>
                  <a:srgbClr val="4A5568"/>
                </a:solidFill>
                <a:latin typeface="Arial" pitchFamily="34" charset="0"/>
                <a:ea typeface="Arial" pitchFamily="34" charset="-122"/>
                <a:cs typeface="Arial" pitchFamily="34" charset="-120"/>
              </a:rPr>
              <a:t> retrieval is never perfect, so the model must learn to ignore irrelevant chunks (the RAFT recipe).</a:t>
            </a:r>
            <a:endParaRPr lang="en-US" sz="1400" dirty="0"/>
          </a:p>
        </p:txBody>
      </p:sp>
      <p:sp>
        <p:nvSpPr>
          <p:cNvPr id="23" name="Text 18"/>
          <p:cNvSpPr/>
          <p:nvPr/>
        </p:nvSpPr>
        <p:spPr>
          <a:xfrm>
            <a:off x="6248400" y="4401691"/>
            <a:ext cx="5284724" cy="52318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6202E"/>
                </a:solidFill>
                <a:latin typeface="Arial" pitchFamily="34" charset="0"/>
                <a:ea typeface="Arial" pitchFamily="34" charset="-122"/>
                <a:cs typeface="Arial" pitchFamily="34" charset="-120"/>
              </a:rPr>
              <a:t>Why two formats:</a:t>
            </a:r>
            <a:r>
              <a:rPr lang="en-US" sz="1400" dirty="0">
                <a:solidFill>
                  <a:srgbClr val="4A5568"/>
                </a:solidFill>
                <a:latin typeface="Arial" pitchFamily="34" charset="0"/>
                <a:ea typeface="Arial" pitchFamily="34" charset="-122"/>
                <a:cs typeface="Arial" pitchFamily="34" charset="-120"/>
              </a:rPr>
              <a:t> mixing direct and chain‑of‑thought targets in one run is the FLAN multi‑task recipe.</a:t>
            </a:r>
            <a:endParaRPr lang="en-US" sz="1400" dirty="0"/>
          </a:p>
        </p:txBody>
      </p:sp>
      <p:sp>
        <p:nvSpPr>
          <p:cNvPr id="24" name="Text 19"/>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280"/>
                </a:solidFill>
                <a:latin typeface="Courier New" pitchFamily="49" charset="0"/>
                <a:ea typeface="Courier New" pitchFamily="49" charset="-122"/>
                <a:cs typeface="Courier New" pitchFamily="49" charset="-120"/>
              </a:rPr>
              <a:t>prepare_sft.py → train_lora.py → plot_loss.py → eval_generator.py</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5F0"/>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02E"/>
                </a:solidFill>
                <a:latin typeface="Arial" pitchFamily="34" charset="0"/>
                <a:ea typeface="Arial" pitchFamily="34" charset="-122"/>
                <a:cs typeface="Arial" pitchFamily="34" charset="-120"/>
              </a:rPr>
              <a:t>One question becomes two training examples</a:t>
            </a:r>
            <a:endParaRPr lang="en-US" sz="3200" dirty="0"/>
          </a:p>
        </p:txBody>
      </p:sp>
      <p:sp>
        <p:nvSpPr>
          <p:cNvPr id="3" name="Shape 1"/>
          <p:cNvSpPr/>
          <p:nvPr/>
        </p:nvSpPr>
        <p:spPr>
          <a:xfrm>
            <a:off x="812800" y="1564630"/>
            <a:ext cx="5410200" cy="4277370"/>
          </a:xfrm>
          <a:prstGeom prst="roundRect">
            <a:avLst>
              <a:gd name="adj" fmla="val 2969"/>
            </a:avLst>
          </a:prstGeom>
          <a:solidFill>
            <a:srgbClr val="16202E"/>
          </a:solidFill>
          <a:ln/>
        </p:spPr>
      </p:sp>
      <p:sp>
        <p:nvSpPr>
          <p:cNvPr id="4" name="Text 2"/>
          <p:cNvSpPr/>
          <p:nvPr/>
        </p:nvSpPr>
        <p:spPr>
          <a:xfrm>
            <a:off x="1066800" y="1818630"/>
            <a:ext cx="504926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8A8"/>
                </a:solidFill>
                <a:latin typeface="Courier New" pitchFamily="49" charset="0"/>
                <a:ea typeface="Courier New" pitchFamily="49" charset="-122"/>
                <a:cs typeface="Courier New" pitchFamily="49" charset="-120"/>
              </a:rPr>
              <a:t>PROMPT · masked, not trained on</a:t>
            </a:r>
            <a:endParaRPr lang="en-US" sz="1200" dirty="0"/>
          </a:p>
        </p:txBody>
      </p:sp>
      <p:sp>
        <p:nvSpPr>
          <p:cNvPr id="5" name="Text 3"/>
          <p:cNvSpPr/>
          <p:nvPr/>
        </p:nvSpPr>
        <p:spPr>
          <a:xfrm>
            <a:off x="1066800" y="2158950"/>
            <a:ext cx="5049266" cy="7112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D6DCE4"/>
                </a:solidFill>
                <a:latin typeface="Courier New" pitchFamily="49" charset="0"/>
                <a:ea typeface="Courier New" pitchFamily="49" charset="-122"/>
                <a:cs typeface="Courier New" pitchFamily="49" charset="-120"/>
              </a:rPr>
              <a:t>[1] guide p.6 · Plan features </a:t>
            </a:r>
            <a:r>
              <a:rPr lang="en-US" sz="1200" dirty="0">
                <a:solidFill>
                  <a:srgbClr val="8C98A8"/>
                </a:solidFill>
                <a:latin typeface="Courier New" pitchFamily="49" charset="0"/>
                <a:ea typeface="Courier New" pitchFamily="49" charset="-122"/>
                <a:cs typeface="Courier New" pitchFamily="49" charset="-120"/>
              </a:rPr>
              <a:t>(distractor)</a:t>
            </a:r>
            <a:endParaRPr lang="en-US" sz="1200" dirty="0"/>
          </a:p>
          <a:p>
            <a:pPr algn="l" indent="0" marL="0">
              <a:lnSpc>
                <a:spcPts val="1800"/>
              </a:lnSpc>
              <a:buNone/>
            </a:pPr>
            <a:r>
              <a:rPr lang="en-US" sz="1200" dirty="0">
                <a:solidFill>
                  <a:srgbClr val="D6DCE4"/>
                </a:solidFill>
                <a:latin typeface="Courier New" pitchFamily="49" charset="0"/>
                <a:ea typeface="Courier New" pitchFamily="49" charset="-122"/>
                <a:cs typeface="Courier New" pitchFamily="49" charset="-120"/>
              </a:rPr>
              <a:t>[2] guide p.2 · Contact us </a:t>
            </a:r>
            <a:r>
              <a:rPr lang="en-US" sz="1200" dirty="0">
                <a:solidFill>
                  <a:srgbClr val="F08A5D"/>
                </a:solidFill>
                <a:latin typeface="Courier New" pitchFamily="49" charset="0"/>
                <a:ea typeface="Courier New" pitchFamily="49" charset="-122"/>
                <a:cs typeface="Courier New" pitchFamily="49" charset="-120"/>
              </a:rPr>
              <a:t>(gold)</a:t>
            </a:r>
            <a:endParaRPr lang="en-US" sz="1200" dirty="0"/>
          </a:p>
          <a:p>
            <a:pPr algn="l" indent="0" marL="0">
              <a:lnSpc>
                <a:spcPts val="1800"/>
              </a:lnSpc>
              <a:buNone/>
            </a:pPr>
            <a:r>
              <a:rPr lang="en-US" sz="1200" dirty="0">
                <a:solidFill>
                  <a:srgbClr val="D6DCE4"/>
                </a:solidFill>
                <a:latin typeface="Courier New" pitchFamily="49" charset="0"/>
                <a:ea typeface="Courier New" pitchFamily="49" charset="-122"/>
                <a:cs typeface="Courier New" pitchFamily="49" charset="-120"/>
              </a:rPr>
              <a:t>[3] guide p.4 · Both plans include </a:t>
            </a:r>
            <a:r>
              <a:rPr lang="en-US" sz="1200" dirty="0">
                <a:solidFill>
                  <a:srgbClr val="8C98A8"/>
                </a:solidFill>
                <a:latin typeface="Courier New" pitchFamily="49" charset="0"/>
                <a:ea typeface="Courier New" pitchFamily="49" charset="-122"/>
                <a:cs typeface="Courier New" pitchFamily="49" charset="-120"/>
              </a:rPr>
              <a:t>(distractor)</a:t>
            </a:r>
            <a:endParaRPr lang="en-US" sz="1200" dirty="0"/>
          </a:p>
        </p:txBody>
      </p:sp>
      <p:sp>
        <p:nvSpPr>
          <p:cNvPr id="6" name="Text 4"/>
          <p:cNvSpPr/>
          <p:nvPr/>
        </p:nvSpPr>
        <p:spPr>
          <a:xfrm>
            <a:off x="1066800" y="2971750"/>
            <a:ext cx="5049266" cy="4826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F3F1EA"/>
                </a:solidFill>
                <a:latin typeface="Courier New" pitchFamily="49" charset="0"/>
                <a:ea typeface="Courier New" pitchFamily="49" charset="-122"/>
                <a:cs typeface="Courier New" pitchFamily="49" charset="-120"/>
              </a:rPr>
              <a:t>Question: What is the phone number to contact a FedViser for GEHA dental benefits?</a:t>
            </a:r>
            <a:endParaRPr lang="en-US" sz="1200" dirty="0"/>
          </a:p>
        </p:txBody>
      </p:sp>
      <p:sp>
        <p:nvSpPr>
          <p:cNvPr id="7" name="Shape 5"/>
          <p:cNvSpPr/>
          <p:nvPr/>
        </p:nvSpPr>
        <p:spPr>
          <a:xfrm>
            <a:off x="6483350" y="1570980"/>
            <a:ext cx="4889500" cy="1170880"/>
          </a:xfrm>
          <a:prstGeom prst="roundRect">
            <a:avLst>
              <a:gd name="adj" fmla="val 10304"/>
            </a:avLst>
          </a:prstGeom>
          <a:solidFill>
            <a:srgbClr val="FDFCF9"/>
          </a:solidFill>
          <a:ln w="12700">
            <a:solidFill>
              <a:srgbClr val="E2DED3"/>
            </a:solidFill>
            <a:prstDash val="solid"/>
          </a:ln>
        </p:spPr>
      </p:sp>
      <p:sp>
        <p:nvSpPr>
          <p:cNvPr id="8" name="Text 6"/>
          <p:cNvSpPr/>
          <p:nvPr/>
        </p:nvSpPr>
        <p:spPr>
          <a:xfrm>
            <a:off x="6692900" y="1780530"/>
            <a:ext cx="460451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F6DB5"/>
                </a:solidFill>
                <a:latin typeface="Courier New" pitchFamily="49" charset="0"/>
                <a:ea typeface="Courier New" pitchFamily="49" charset="-122"/>
                <a:cs typeface="Courier New" pitchFamily="49" charset="-120"/>
              </a:rPr>
              <a:t>DIRECT TARGET · trained on</a:t>
            </a:r>
            <a:endParaRPr lang="en-US" sz="1200" dirty="0"/>
          </a:p>
        </p:txBody>
      </p:sp>
      <p:sp>
        <p:nvSpPr>
          <p:cNvPr id="9" name="Text 7"/>
          <p:cNvSpPr/>
          <p:nvPr/>
        </p:nvSpPr>
        <p:spPr>
          <a:xfrm>
            <a:off x="6692900" y="2070050"/>
            <a:ext cx="4604512"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6202E"/>
                </a:solidFill>
                <a:latin typeface="Arial" pitchFamily="34" charset="0"/>
                <a:ea typeface="Arial" pitchFamily="34" charset="-122"/>
                <a:cs typeface="Arial" pitchFamily="34" charset="-120"/>
              </a:rPr>
              <a:t>You can reach a FedViser … by calling 1‑855‑572‑1636 Monday through Friday from 8 a.m. to 8 p.m. Eastern time.</a:t>
            </a:r>
            <a:endParaRPr lang="en-US" sz="1300" dirty="0"/>
          </a:p>
        </p:txBody>
      </p:sp>
      <p:sp>
        <p:nvSpPr>
          <p:cNvPr id="10" name="Shape 8"/>
          <p:cNvSpPr/>
          <p:nvPr/>
        </p:nvSpPr>
        <p:spPr>
          <a:xfrm>
            <a:off x="6483350" y="2906961"/>
            <a:ext cx="4889500" cy="1851620"/>
          </a:xfrm>
          <a:prstGeom prst="roundRect">
            <a:avLst>
              <a:gd name="adj" fmla="val 6516"/>
            </a:avLst>
          </a:prstGeom>
          <a:solidFill>
            <a:srgbClr val="FDFCF9"/>
          </a:solidFill>
          <a:ln w="12700">
            <a:solidFill>
              <a:srgbClr val="D9622B"/>
            </a:solidFill>
            <a:prstDash val="solid"/>
          </a:ln>
        </p:spPr>
      </p:sp>
      <p:sp>
        <p:nvSpPr>
          <p:cNvPr id="11" name="Text 9"/>
          <p:cNvSpPr/>
          <p:nvPr/>
        </p:nvSpPr>
        <p:spPr>
          <a:xfrm>
            <a:off x="6692900" y="3116511"/>
            <a:ext cx="460451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4481A"/>
                </a:solidFill>
                <a:latin typeface="Courier New" pitchFamily="49" charset="0"/>
                <a:ea typeface="Courier New" pitchFamily="49" charset="-122"/>
                <a:cs typeface="Courier New" pitchFamily="49" charset="-120"/>
              </a:rPr>
              <a:t>CHAIN‑OF‑THOUGHT TARGET · trained on</a:t>
            </a:r>
            <a:endParaRPr lang="en-US" sz="1200" dirty="0"/>
          </a:p>
        </p:txBody>
      </p:sp>
      <p:sp>
        <p:nvSpPr>
          <p:cNvPr id="12" name="Text 10"/>
          <p:cNvSpPr/>
          <p:nvPr/>
        </p:nvSpPr>
        <p:spPr>
          <a:xfrm>
            <a:off x="6692900" y="3406031"/>
            <a:ext cx="4604512" cy="11684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16202E"/>
                </a:solidFill>
                <a:latin typeface="Courier New" pitchFamily="49" charset="0"/>
                <a:ea typeface="Courier New" pitchFamily="49" charset="-122"/>
                <a:cs typeface="Courier New" pitchFamily="49" charset="-120"/>
              </a:rPr>
              <a:t>Evidence:</a:t>
            </a:r>
            <a:endParaRPr lang="en-US" sz="1200" dirty="0"/>
          </a:p>
          <a:p>
            <a:pPr algn="l" indent="0" marL="0">
              <a:lnSpc>
                <a:spcPts val="1800"/>
              </a:lnSpc>
              <a:buNone/>
            </a:pPr>
            <a:r>
              <a:rPr lang="en-US" sz="1200" dirty="0">
                <a:solidFill>
                  <a:srgbClr val="16202E"/>
                </a:solidFill>
                <a:latin typeface="Courier New" pitchFamily="49" charset="0"/>
                <a:ea typeface="Courier New" pitchFamily="49" charset="-122"/>
                <a:cs typeface="Courier New" pitchFamily="49" charset="-120"/>
              </a:rPr>
              <a:t>- [2] “Reach a FedViser Monday‑Friday from 8 a.m.‑8 p.m.”</a:t>
            </a:r>
            <a:endParaRPr lang="en-US" sz="1200" dirty="0"/>
          </a:p>
          <a:p>
            <a:pPr algn="l" indent="0" marL="0">
              <a:lnSpc>
                <a:spcPts val="1800"/>
              </a:lnSpc>
              <a:buNone/>
            </a:pPr>
            <a:r>
              <a:rPr lang="en-US" sz="1200" dirty="0">
                <a:solidFill>
                  <a:srgbClr val="16202E"/>
                </a:solidFill>
                <a:latin typeface="Courier New" pitchFamily="49" charset="0"/>
                <a:ea typeface="Courier New" pitchFamily="49" charset="-122"/>
                <a:cs typeface="Courier New" pitchFamily="49" charset="-120"/>
              </a:rPr>
              <a:t>Answer: You can reach a FedViser … 1‑855‑572‑1636 …</a:t>
            </a:r>
            <a:endParaRPr lang="en-US" sz="1200" dirty="0"/>
          </a:p>
        </p:txBody>
      </p:sp>
      <p:sp>
        <p:nvSpPr>
          <p:cNvPr id="13" name="Text 11"/>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280"/>
                </a:solidFill>
                <a:latin typeface="Arial" pitchFamily="34" charset="0"/>
                <a:ea typeface="Arial" pitchFamily="34" charset="-122"/>
                <a:cs typeface="Arial" pitchFamily="34" charset="-120"/>
              </a:rPr>
              <a:t>Real example ragas‑0002 (abridged). Evidence is extractive: the gold sentences that overlap the reference answer most.</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5F0"/>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02E"/>
                </a:solidFill>
                <a:latin typeface="Arial" pitchFamily="34" charset="0"/>
                <a:ea typeface="Arial" pitchFamily="34" charset="-122"/>
                <a:cs typeface="Arial" pitchFamily="34" charset="-120"/>
              </a:rPr>
              <a:t>Data splits: the test set is a different document</a:t>
            </a:r>
            <a:endParaRPr lang="en-US" sz="32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5500" y="1628130"/>
          <a:ext cx="6443117" cy="3088084"/>
        </p:xfrm>
        <a:graphic>
          <a:graphicData uri="http://schemas.openxmlformats.org/drawingml/2006/table">
            <a:tbl>
              <a:tblPr/>
              <a:tblGrid>
                <a:gridCol w="2190660"/>
                <a:gridCol w="1417486"/>
                <a:gridCol w="1417486"/>
                <a:gridCol w="1417486"/>
              </a:tblGrid>
              <a:tr h="386011">
                <a:tc>
                  <a:txBody>
                    <a:bodyPr/>
                    <a:lstStyle/>
                    <a:p>
                      <a:pPr indent="0" marL="0">
                        <a:lnSpc>
                          <a:spcPts val="1960"/>
                        </a:lnSpc>
                        <a:buNone/>
                      </a:pPr>
                      <a:endParaRPr lang="en-US" sz="1400" dirty="0">
                        <a:latin typeface="Arial" charset="0"/>
                        <a:ea typeface="Arial" charset="0"/>
                        <a:cs typeface="Arial"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algn="r" indent="0" marL="0">
                        <a:lnSpc>
                          <a:spcPts val="1960"/>
                        </a:lnSpc>
                        <a:buNone/>
                      </a:pPr>
                      <a:r>
                        <a:rPr lang="en-US" sz="1400" b="1" dirty="0">
                          <a:solidFill>
                            <a:srgbClr val="16202E"/>
                          </a:solidFill>
                          <a:latin typeface="Arial" pitchFamily="34" charset="0"/>
                          <a:ea typeface="Arial" pitchFamily="34" charset="-122"/>
                          <a:cs typeface="Arial" pitchFamily="34" charset="-120"/>
                        </a:rPr>
                        <a:t>train</a:t>
                      </a:r>
                      <a:endParaRPr lang="en-US" sz="1400" dirty="0">
                        <a:latin typeface="Arial" charset="0"/>
                        <a:ea typeface="Arial" charset="0"/>
                        <a:cs typeface="Arial" charset="0"/>
                      </a:endParaRPr>
                    </a:p>
                  </a:txBody>
                  <a:tcPr marL="62230" marR="62230" marT="62230" marB="62230"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algn="r" indent="0" marL="0">
                        <a:lnSpc>
                          <a:spcPts val="1960"/>
                        </a:lnSpc>
                        <a:buNone/>
                      </a:pPr>
                      <a:r>
                        <a:rPr lang="en-US" sz="1400" b="1" dirty="0">
                          <a:solidFill>
                            <a:srgbClr val="16202E"/>
                          </a:solidFill>
                          <a:latin typeface="Arial" pitchFamily="34" charset="0"/>
                          <a:ea typeface="Arial" pitchFamily="34" charset="-122"/>
                          <a:cs typeface="Arial" pitchFamily="34" charset="-120"/>
                        </a:rPr>
                        <a:t>validation</a:t>
                      </a:r>
                      <a:endParaRPr lang="en-US" sz="1400" dirty="0">
                        <a:latin typeface="Arial" charset="0"/>
                        <a:ea typeface="Arial" charset="0"/>
                        <a:cs typeface="Arial" charset="0"/>
                      </a:endParaRPr>
                    </a:p>
                  </a:txBody>
                  <a:tcPr marL="62230" marR="62230" marT="62230" marB="62230"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algn="r" indent="0" marL="0">
                        <a:lnSpc>
                          <a:spcPts val="1960"/>
                        </a:lnSpc>
                        <a:buNone/>
                      </a:pPr>
                      <a:r>
                        <a:rPr lang="en-US" sz="1400" b="1" dirty="0">
                          <a:solidFill>
                            <a:srgbClr val="16202E"/>
                          </a:solidFill>
                          <a:latin typeface="Arial" pitchFamily="34" charset="0"/>
                          <a:ea typeface="Arial" pitchFamily="34" charset="-122"/>
                          <a:cs typeface="Arial" pitchFamily="34" charset="-120"/>
                        </a:rPr>
                        <a:t>test</a:t>
                      </a:r>
                      <a:endParaRPr lang="en-US" sz="1400" dirty="0">
                        <a:latin typeface="Arial" charset="0"/>
                        <a:ea typeface="Arial" charset="0"/>
                        <a:cs typeface="Arial" charset="0"/>
                      </a:endParaRPr>
                    </a:p>
                  </a:txBody>
                  <a:tcPr marL="62230" marR="62230" marT="62230" marB="62230"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r>
              <a:tr h="386011">
                <a:tc>
                  <a:txBody>
                    <a:bodyPr/>
                    <a:lstStyle/>
                    <a:p>
                      <a:pPr indent="0" marL="0">
                        <a:lnSpc>
                          <a:spcPts val="1960"/>
                        </a:lnSpc>
                        <a:buNone/>
                      </a:pPr>
                      <a:r>
                        <a:rPr lang="en-US" sz="1400" dirty="0">
                          <a:solidFill>
                            <a:srgbClr val="16202E"/>
                          </a:solidFill>
                          <a:latin typeface="Arial" pitchFamily="34" charset="0"/>
                          <a:ea typeface="Arial" pitchFamily="34" charset="-122"/>
                          <a:cs typeface="Arial" pitchFamily="34" charset="-120"/>
                        </a:rPr>
                        <a:t>Document</a:t>
                      </a:r>
                      <a:endParaRPr lang="en-US" sz="1400" dirty="0">
                        <a:latin typeface="Arial" charset="0"/>
                        <a:ea typeface="Arial" charset="0"/>
                        <a:cs typeface="Arial"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960"/>
                        </a:lnSpc>
                        <a:buNone/>
                      </a:pPr>
                      <a:r>
                        <a:rPr lang="en-US" sz="1400" dirty="0">
                          <a:solidFill>
                            <a:srgbClr val="16202E"/>
                          </a:solidFill>
                          <a:latin typeface="Arial" pitchFamily="34" charset="0"/>
                          <a:ea typeface="Arial" pitchFamily="34" charset="-122"/>
                          <a:cs typeface="Arial" pitchFamily="34" charset="-120"/>
                        </a:rPr>
                        <a:t>guide</a:t>
                      </a:r>
                      <a:endParaRPr lang="en-US" sz="1400" dirty="0">
                        <a:latin typeface="Arial" charset="0"/>
                        <a:ea typeface="Arial" charset="0"/>
                        <a:cs typeface="Arial"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960"/>
                        </a:lnSpc>
                        <a:buNone/>
                      </a:pPr>
                      <a:r>
                        <a:rPr lang="en-US" sz="1400" dirty="0">
                          <a:solidFill>
                            <a:srgbClr val="16202E"/>
                          </a:solidFill>
                          <a:latin typeface="Arial" pitchFamily="34" charset="0"/>
                          <a:ea typeface="Arial" pitchFamily="34" charset="-122"/>
                          <a:cs typeface="Arial" pitchFamily="34" charset="-120"/>
                        </a:rPr>
                        <a:t>guide</a:t>
                      </a:r>
                      <a:endParaRPr lang="en-US" sz="1400" dirty="0">
                        <a:latin typeface="Arial" charset="0"/>
                        <a:ea typeface="Arial" charset="0"/>
                        <a:cs typeface="Arial"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960"/>
                        </a:lnSpc>
                        <a:buNone/>
                      </a:pPr>
                      <a:r>
                        <a:rPr lang="en-US" sz="1400" dirty="0">
                          <a:solidFill>
                            <a:srgbClr val="16202E"/>
                          </a:solidFill>
                          <a:latin typeface="Arial" pitchFamily="34" charset="0"/>
                          <a:ea typeface="Arial" pitchFamily="34" charset="-122"/>
                          <a:cs typeface="Arial" pitchFamily="34" charset="-120"/>
                        </a:rPr>
                        <a:t>brochure</a:t>
                      </a:r>
                      <a:endParaRPr lang="en-US" sz="1400" dirty="0">
                        <a:latin typeface="Arial" charset="0"/>
                        <a:ea typeface="Arial" charset="0"/>
                        <a:cs typeface="Arial"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86011">
                <a:tc>
                  <a:txBody>
                    <a:bodyPr/>
                    <a:lstStyle/>
                    <a:p>
                      <a:pPr indent="0" marL="0">
                        <a:lnSpc>
                          <a:spcPts val="1960"/>
                        </a:lnSpc>
                        <a:buNone/>
                      </a:pPr>
                      <a:r>
                        <a:rPr lang="en-US" sz="1400" dirty="0">
                          <a:solidFill>
                            <a:srgbClr val="16202E"/>
                          </a:solidFill>
                          <a:latin typeface="Arial" pitchFamily="34" charset="0"/>
                          <a:ea typeface="Arial" pitchFamily="34" charset="-122"/>
                          <a:cs typeface="Arial" pitchFamily="34" charset="-120"/>
                        </a:rPr>
                        <a:t>Sections</a:t>
                      </a:r>
                      <a:endParaRPr lang="en-US" sz="1400" dirty="0">
                        <a:latin typeface="Arial" charset="0"/>
                        <a:ea typeface="Arial" charset="0"/>
                        <a:cs typeface="Arial"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algn="r" indent="0" marL="0">
                        <a:lnSpc>
                          <a:spcPts val="1960"/>
                        </a:lnSpc>
                        <a:buNone/>
                      </a:pPr>
                      <a:r>
                        <a:rPr lang="en-US" sz="1400" dirty="0">
                          <a:solidFill>
                            <a:srgbClr val="16202E"/>
                          </a:solidFill>
                          <a:latin typeface="Arial" pitchFamily="34" charset="0"/>
                          <a:ea typeface="Arial" pitchFamily="34" charset="-122"/>
                          <a:cs typeface="Arial" pitchFamily="34" charset="-120"/>
                        </a:rPr>
                        <a:t>22</a:t>
                      </a:r>
                      <a:endParaRPr lang="en-US" sz="1400" dirty="0">
                        <a:latin typeface="Arial" charset="0"/>
                        <a:ea typeface="Arial" charset="0"/>
                        <a:cs typeface="Arial" charset="0"/>
                      </a:endParaRPr>
                    </a:p>
                  </a:txBody>
                  <a:tcPr marL="62230" marR="62230" marT="62230" marB="62230"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algn="r" indent="0" marL="0">
                        <a:lnSpc>
                          <a:spcPts val="1960"/>
                        </a:lnSpc>
                        <a:buNone/>
                      </a:pPr>
                      <a:r>
                        <a:rPr lang="en-US" sz="1400" dirty="0">
                          <a:solidFill>
                            <a:srgbClr val="16202E"/>
                          </a:solidFill>
                          <a:latin typeface="Arial" pitchFamily="34" charset="0"/>
                          <a:ea typeface="Arial" pitchFamily="34" charset="-122"/>
                          <a:cs typeface="Arial" pitchFamily="34" charset="-120"/>
                        </a:rPr>
                        <a:t>6</a:t>
                      </a:r>
                      <a:endParaRPr lang="en-US" sz="1400" dirty="0">
                        <a:latin typeface="Arial" charset="0"/>
                        <a:ea typeface="Arial" charset="0"/>
                        <a:cs typeface="Arial" charset="0"/>
                      </a:endParaRPr>
                    </a:p>
                  </a:txBody>
                  <a:tcPr marL="62230" marR="62230" marT="62230" marB="62230"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algn="r" indent="0" marL="0">
                        <a:lnSpc>
                          <a:spcPts val="1960"/>
                        </a:lnSpc>
                        <a:buNone/>
                      </a:pPr>
                      <a:r>
                        <a:rPr lang="en-US" sz="1400" dirty="0">
                          <a:solidFill>
                            <a:srgbClr val="16202E"/>
                          </a:solidFill>
                          <a:latin typeface="Arial" pitchFamily="34" charset="0"/>
                          <a:ea typeface="Arial" pitchFamily="34" charset="-122"/>
                          <a:cs typeface="Arial" pitchFamily="34" charset="-120"/>
                        </a:rPr>
                        <a:t>72</a:t>
                      </a:r>
                      <a:endParaRPr lang="en-US" sz="1400" dirty="0">
                        <a:latin typeface="Arial" charset="0"/>
                        <a:ea typeface="Arial" charset="0"/>
                        <a:cs typeface="Arial" charset="0"/>
                      </a:endParaRPr>
                    </a:p>
                  </a:txBody>
                  <a:tcPr marL="62230" marR="62230" marT="62230" marB="62230"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r>
              <a:tr h="386011">
                <a:tc>
                  <a:txBody>
                    <a:bodyPr/>
                    <a:lstStyle/>
                    <a:p>
                      <a:pPr indent="0" marL="0">
                        <a:lnSpc>
                          <a:spcPts val="1960"/>
                        </a:lnSpc>
                        <a:buNone/>
                      </a:pPr>
                      <a:r>
                        <a:rPr lang="en-US" sz="1400" dirty="0">
                          <a:solidFill>
                            <a:srgbClr val="16202E"/>
                          </a:solidFill>
                          <a:latin typeface="Arial" pitchFamily="34" charset="0"/>
                          <a:ea typeface="Arial" pitchFamily="34" charset="-122"/>
                          <a:cs typeface="Arial" pitchFamily="34" charset="-120"/>
                        </a:rPr>
                        <a:t>QA pairs</a:t>
                      </a:r>
                      <a:endParaRPr lang="en-US" sz="1400" dirty="0">
                        <a:latin typeface="Arial" charset="0"/>
                        <a:ea typeface="Arial" charset="0"/>
                        <a:cs typeface="Arial"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960"/>
                        </a:lnSpc>
                        <a:buNone/>
                      </a:pPr>
                      <a:r>
                        <a:rPr lang="en-US" sz="1400" dirty="0">
                          <a:solidFill>
                            <a:srgbClr val="16202E"/>
                          </a:solidFill>
                          <a:latin typeface="Arial" pitchFamily="34" charset="0"/>
                          <a:ea typeface="Arial" pitchFamily="34" charset="-122"/>
                          <a:cs typeface="Arial" pitchFamily="34" charset="-120"/>
                        </a:rPr>
                        <a:t>78</a:t>
                      </a:r>
                      <a:endParaRPr lang="en-US" sz="1400" dirty="0">
                        <a:latin typeface="Arial" charset="0"/>
                        <a:ea typeface="Arial" charset="0"/>
                        <a:cs typeface="Arial"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960"/>
                        </a:lnSpc>
                        <a:buNone/>
                      </a:pPr>
                      <a:r>
                        <a:rPr lang="en-US" sz="1400" dirty="0">
                          <a:solidFill>
                            <a:srgbClr val="16202E"/>
                          </a:solidFill>
                          <a:latin typeface="Arial" pitchFamily="34" charset="0"/>
                          <a:ea typeface="Arial" pitchFamily="34" charset="-122"/>
                          <a:cs typeface="Arial" pitchFamily="34" charset="-120"/>
                        </a:rPr>
                        <a:t>24</a:t>
                      </a:r>
                      <a:endParaRPr lang="en-US" sz="1400" dirty="0">
                        <a:latin typeface="Arial" charset="0"/>
                        <a:ea typeface="Arial" charset="0"/>
                        <a:cs typeface="Arial"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960"/>
                        </a:lnSpc>
                        <a:buNone/>
                      </a:pPr>
                      <a:r>
                        <a:rPr lang="en-US" sz="1400" dirty="0">
                          <a:solidFill>
                            <a:srgbClr val="16202E"/>
                          </a:solidFill>
                          <a:latin typeface="Arial" pitchFamily="34" charset="0"/>
                          <a:ea typeface="Arial" pitchFamily="34" charset="-122"/>
                          <a:cs typeface="Arial" pitchFamily="34" charset="-120"/>
                        </a:rPr>
                        <a:t>41</a:t>
                      </a:r>
                      <a:endParaRPr lang="en-US" sz="1400" dirty="0">
                        <a:latin typeface="Arial" charset="0"/>
                        <a:ea typeface="Arial" charset="0"/>
                        <a:cs typeface="Arial"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86011">
                <a:tc>
                  <a:txBody>
                    <a:bodyPr/>
                    <a:lstStyle/>
                    <a:p>
                      <a:pPr indent="0" marL="0">
                        <a:lnSpc>
                          <a:spcPts val="1960"/>
                        </a:lnSpc>
                        <a:buNone/>
                      </a:pPr>
                      <a:r>
                        <a:rPr lang="en-US" sz="1400" dirty="0">
                          <a:solidFill>
                            <a:srgbClr val="16202E"/>
                          </a:solidFill>
                          <a:latin typeface="Arial" pitchFamily="34" charset="0"/>
                          <a:ea typeface="Arial" pitchFamily="34" charset="-122"/>
                          <a:cs typeface="Arial" pitchFamily="34" charset="-120"/>
                        </a:rPr>
                        <a:t>SFT examples</a:t>
                      </a:r>
                      <a:endParaRPr lang="en-US" sz="1400" dirty="0">
                        <a:latin typeface="Arial" charset="0"/>
                        <a:ea typeface="Arial" charset="0"/>
                        <a:cs typeface="Arial"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algn="r" indent="0" marL="0">
                        <a:lnSpc>
                          <a:spcPts val="1960"/>
                        </a:lnSpc>
                        <a:buNone/>
                      </a:pPr>
                      <a:r>
                        <a:rPr lang="en-US" sz="1400" dirty="0">
                          <a:solidFill>
                            <a:srgbClr val="16202E"/>
                          </a:solidFill>
                          <a:latin typeface="Arial" pitchFamily="34" charset="0"/>
                          <a:ea typeface="Arial" pitchFamily="34" charset="-122"/>
                          <a:cs typeface="Arial" pitchFamily="34" charset="-120"/>
                        </a:rPr>
                        <a:t>156</a:t>
                      </a:r>
                      <a:endParaRPr lang="en-US" sz="1400" dirty="0">
                        <a:latin typeface="Arial" charset="0"/>
                        <a:ea typeface="Arial" charset="0"/>
                        <a:cs typeface="Arial" charset="0"/>
                      </a:endParaRPr>
                    </a:p>
                  </a:txBody>
                  <a:tcPr marL="62230" marR="62230" marT="62230" marB="62230"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algn="r" indent="0" marL="0">
                        <a:lnSpc>
                          <a:spcPts val="1960"/>
                        </a:lnSpc>
                        <a:buNone/>
                      </a:pPr>
                      <a:r>
                        <a:rPr lang="en-US" sz="1400" dirty="0">
                          <a:solidFill>
                            <a:srgbClr val="16202E"/>
                          </a:solidFill>
                          <a:latin typeface="Arial" pitchFamily="34" charset="0"/>
                          <a:ea typeface="Arial" pitchFamily="34" charset="-122"/>
                          <a:cs typeface="Arial" pitchFamily="34" charset="-120"/>
                        </a:rPr>
                        <a:t>48</a:t>
                      </a:r>
                      <a:endParaRPr lang="en-US" sz="1400" dirty="0">
                        <a:latin typeface="Arial" charset="0"/>
                        <a:ea typeface="Arial" charset="0"/>
                        <a:cs typeface="Arial" charset="0"/>
                      </a:endParaRPr>
                    </a:p>
                  </a:txBody>
                  <a:tcPr marL="62230" marR="62230" marT="62230" marB="62230"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algn="r" indent="0" marL="0">
                        <a:lnSpc>
                          <a:spcPts val="1960"/>
                        </a:lnSpc>
                        <a:buNone/>
                      </a:pPr>
                      <a:r>
                        <a:rPr lang="en-US" sz="1400" dirty="0">
                          <a:solidFill>
                            <a:srgbClr val="16202E"/>
                          </a:solidFill>
                          <a:latin typeface="Arial" pitchFamily="34" charset="0"/>
                          <a:ea typeface="Arial" pitchFamily="34" charset="-122"/>
                          <a:cs typeface="Arial" pitchFamily="34" charset="-120"/>
                        </a:rPr>
                        <a:t>82</a:t>
                      </a:r>
                      <a:endParaRPr lang="en-US" sz="1400" dirty="0">
                        <a:latin typeface="Arial" charset="0"/>
                        <a:ea typeface="Arial" charset="0"/>
                        <a:cs typeface="Arial" charset="0"/>
                      </a:endParaRPr>
                    </a:p>
                  </a:txBody>
                  <a:tcPr marL="62230" marR="62230" marT="62230" marB="62230"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r>
              <a:tr h="386011">
                <a:tc>
                  <a:txBody>
                    <a:bodyPr/>
                    <a:lstStyle/>
                    <a:p>
                      <a:pPr indent="0" marL="0">
                        <a:lnSpc>
                          <a:spcPts val="1960"/>
                        </a:lnSpc>
                        <a:buNone/>
                      </a:pPr>
                      <a:r>
                        <a:rPr lang="en-US" sz="1400" dirty="0">
                          <a:solidFill>
                            <a:srgbClr val="16202E"/>
                          </a:solidFill>
                          <a:latin typeface="Arial" pitchFamily="34" charset="0"/>
                          <a:ea typeface="Arial" pitchFamily="34" charset="-122"/>
                          <a:cs typeface="Arial" pitchFamily="34" charset="-120"/>
                        </a:rPr>
                        <a:t>Distractor pool</a:t>
                      </a:r>
                      <a:endParaRPr lang="en-US" sz="1400" dirty="0">
                        <a:latin typeface="Arial" charset="0"/>
                        <a:ea typeface="Arial" charset="0"/>
                        <a:cs typeface="Arial"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960"/>
                        </a:lnSpc>
                        <a:buNone/>
                      </a:pPr>
                      <a:r>
                        <a:rPr lang="en-US" sz="1400" dirty="0">
                          <a:solidFill>
                            <a:srgbClr val="16202E"/>
                          </a:solidFill>
                          <a:latin typeface="Arial" pitchFamily="34" charset="0"/>
                          <a:ea typeface="Arial" pitchFamily="34" charset="-122"/>
                          <a:cs typeface="Arial" pitchFamily="34" charset="-120"/>
                        </a:rPr>
                        <a:t>34</a:t>
                      </a:r>
                      <a:endParaRPr lang="en-US" sz="1400" dirty="0">
                        <a:latin typeface="Arial" charset="0"/>
                        <a:ea typeface="Arial" charset="0"/>
                        <a:cs typeface="Arial"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960"/>
                        </a:lnSpc>
                        <a:buNone/>
                      </a:pPr>
                      <a:r>
                        <a:rPr lang="en-US" sz="1400" dirty="0">
                          <a:solidFill>
                            <a:srgbClr val="16202E"/>
                          </a:solidFill>
                          <a:latin typeface="Arial" pitchFamily="34" charset="0"/>
                          <a:ea typeface="Arial" pitchFamily="34" charset="-122"/>
                          <a:cs typeface="Arial" pitchFamily="34" charset="-120"/>
                        </a:rPr>
                        <a:t>8</a:t>
                      </a:r>
                      <a:endParaRPr lang="en-US" sz="1400" dirty="0">
                        <a:latin typeface="Arial" charset="0"/>
                        <a:ea typeface="Arial" charset="0"/>
                        <a:cs typeface="Arial"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960"/>
                        </a:lnSpc>
                        <a:buNone/>
                      </a:pPr>
                      <a:r>
                        <a:rPr lang="en-US" sz="1400" dirty="0">
                          <a:solidFill>
                            <a:srgbClr val="16202E"/>
                          </a:solidFill>
                          <a:latin typeface="Arial" pitchFamily="34" charset="0"/>
                          <a:ea typeface="Arial" pitchFamily="34" charset="-122"/>
                          <a:cs typeface="Arial" pitchFamily="34" charset="-120"/>
                        </a:rPr>
                        <a:t>167</a:t>
                      </a:r>
                      <a:endParaRPr lang="en-US" sz="1400" dirty="0">
                        <a:latin typeface="Arial" charset="0"/>
                        <a:ea typeface="Arial" charset="0"/>
                        <a:cs typeface="Arial"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86011">
                <a:tc>
                  <a:txBody>
                    <a:bodyPr/>
                    <a:lstStyle/>
                    <a:p>
                      <a:pPr indent="0" marL="0">
                        <a:lnSpc>
                          <a:spcPts val="1960"/>
                        </a:lnSpc>
                        <a:buNone/>
                      </a:pPr>
                      <a:r>
                        <a:rPr lang="en-US" sz="1400" dirty="0">
                          <a:solidFill>
                            <a:srgbClr val="16202E"/>
                          </a:solidFill>
                          <a:latin typeface="Arial" pitchFamily="34" charset="0"/>
                          <a:ea typeface="Arial" pitchFamily="34" charset="-122"/>
                          <a:cs typeface="Arial" pitchFamily="34" charset="-120"/>
                        </a:rPr>
                        <a:t>Prompt tokens, mean</a:t>
                      </a:r>
                      <a:endParaRPr lang="en-US" sz="1400" dirty="0">
                        <a:latin typeface="Arial" charset="0"/>
                        <a:ea typeface="Arial" charset="0"/>
                        <a:cs typeface="Arial"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algn="r" indent="0" marL="0">
                        <a:lnSpc>
                          <a:spcPts val="1960"/>
                        </a:lnSpc>
                        <a:buNone/>
                      </a:pPr>
                      <a:r>
                        <a:rPr lang="en-US" sz="1400" dirty="0">
                          <a:solidFill>
                            <a:srgbClr val="16202E"/>
                          </a:solidFill>
                          <a:latin typeface="Arial" pitchFamily="34" charset="0"/>
                          <a:ea typeface="Arial" pitchFamily="34" charset="-122"/>
                          <a:cs typeface="Arial" pitchFamily="34" charset="-120"/>
                        </a:rPr>
                        <a:t>990</a:t>
                      </a:r>
                      <a:endParaRPr lang="en-US" sz="1400" dirty="0">
                        <a:latin typeface="Arial" charset="0"/>
                        <a:ea typeface="Arial" charset="0"/>
                        <a:cs typeface="Arial" charset="0"/>
                      </a:endParaRPr>
                    </a:p>
                  </a:txBody>
                  <a:tcPr marL="62230" marR="62230" marT="62230" marB="62230"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algn="r" indent="0" marL="0">
                        <a:lnSpc>
                          <a:spcPts val="1960"/>
                        </a:lnSpc>
                        <a:buNone/>
                      </a:pPr>
                      <a:r>
                        <a:rPr lang="en-US" sz="1400" dirty="0">
                          <a:solidFill>
                            <a:srgbClr val="16202E"/>
                          </a:solidFill>
                          <a:latin typeface="Arial" pitchFamily="34" charset="0"/>
                          <a:ea typeface="Arial" pitchFamily="34" charset="-122"/>
                          <a:cs typeface="Arial" pitchFamily="34" charset="-120"/>
                        </a:rPr>
                        <a:t>702</a:t>
                      </a:r>
                      <a:endParaRPr lang="en-US" sz="1400" dirty="0">
                        <a:latin typeface="Arial" charset="0"/>
                        <a:ea typeface="Arial" charset="0"/>
                        <a:cs typeface="Arial" charset="0"/>
                      </a:endParaRPr>
                    </a:p>
                  </a:txBody>
                  <a:tcPr marL="62230" marR="62230" marT="62230" marB="62230"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algn="r" indent="0" marL="0">
                        <a:lnSpc>
                          <a:spcPts val="1960"/>
                        </a:lnSpc>
                        <a:buNone/>
                      </a:pPr>
                      <a:r>
                        <a:rPr lang="en-US" sz="1400" dirty="0">
                          <a:solidFill>
                            <a:srgbClr val="16202E"/>
                          </a:solidFill>
                          <a:latin typeface="Arial" pitchFamily="34" charset="0"/>
                          <a:ea typeface="Arial" pitchFamily="34" charset="-122"/>
                          <a:cs typeface="Arial" pitchFamily="34" charset="-120"/>
                        </a:rPr>
                        <a:t>1,251</a:t>
                      </a:r>
                      <a:endParaRPr lang="en-US" sz="1400" dirty="0">
                        <a:latin typeface="Arial" charset="0"/>
                        <a:ea typeface="Arial" charset="0"/>
                        <a:cs typeface="Arial" charset="0"/>
                      </a:endParaRPr>
                    </a:p>
                  </a:txBody>
                  <a:tcPr marL="62230" marR="62230" marT="62230" marB="62230"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r>
              <a:tr h="386011">
                <a:tc>
                  <a:txBody>
                    <a:bodyPr/>
                    <a:lstStyle/>
                    <a:p>
                      <a:pPr indent="0" marL="0">
                        <a:lnSpc>
                          <a:spcPts val="1960"/>
                        </a:lnSpc>
                        <a:buNone/>
                      </a:pPr>
                      <a:r>
                        <a:rPr lang="en-US" sz="1400" dirty="0">
                          <a:solidFill>
                            <a:srgbClr val="16202E"/>
                          </a:solidFill>
                          <a:latin typeface="Arial" pitchFamily="34" charset="0"/>
                          <a:ea typeface="Arial" pitchFamily="34" charset="-122"/>
                          <a:cs typeface="Arial" pitchFamily="34" charset="-120"/>
                        </a:rPr>
                        <a:t>Answer tokens, mean</a:t>
                      </a:r>
                      <a:endParaRPr lang="en-US" sz="1400" dirty="0">
                        <a:latin typeface="Arial" charset="0"/>
                        <a:ea typeface="Arial" charset="0"/>
                        <a:cs typeface="Arial"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960"/>
                        </a:lnSpc>
                        <a:buNone/>
                      </a:pPr>
                      <a:r>
                        <a:rPr lang="en-US" sz="1400" dirty="0">
                          <a:solidFill>
                            <a:srgbClr val="16202E"/>
                          </a:solidFill>
                          <a:latin typeface="Arial" pitchFamily="34" charset="0"/>
                          <a:ea typeface="Arial" pitchFamily="34" charset="-122"/>
                          <a:cs typeface="Arial" pitchFamily="34" charset="-120"/>
                        </a:rPr>
                        <a:t>135</a:t>
                      </a:r>
                      <a:endParaRPr lang="en-US" sz="1400" dirty="0">
                        <a:latin typeface="Arial" charset="0"/>
                        <a:ea typeface="Arial" charset="0"/>
                        <a:cs typeface="Arial"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960"/>
                        </a:lnSpc>
                        <a:buNone/>
                      </a:pPr>
                      <a:r>
                        <a:rPr lang="en-US" sz="1400" dirty="0">
                          <a:solidFill>
                            <a:srgbClr val="16202E"/>
                          </a:solidFill>
                          <a:latin typeface="Arial" pitchFamily="34" charset="0"/>
                          <a:ea typeface="Arial" pitchFamily="34" charset="-122"/>
                          <a:cs typeface="Arial" pitchFamily="34" charset="-120"/>
                        </a:rPr>
                        <a:t>120</a:t>
                      </a:r>
                      <a:endParaRPr lang="en-US" sz="1400" dirty="0">
                        <a:latin typeface="Arial" charset="0"/>
                        <a:ea typeface="Arial" charset="0"/>
                        <a:cs typeface="Arial"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960"/>
                        </a:lnSpc>
                        <a:buNone/>
                      </a:pPr>
                      <a:r>
                        <a:rPr lang="en-US" sz="1400" dirty="0">
                          <a:solidFill>
                            <a:srgbClr val="16202E"/>
                          </a:solidFill>
                          <a:latin typeface="Arial" pitchFamily="34" charset="0"/>
                          <a:ea typeface="Arial" pitchFamily="34" charset="-122"/>
                          <a:cs typeface="Arial" pitchFamily="34" charset="-120"/>
                        </a:rPr>
                        <a:t>199</a:t>
                      </a:r>
                      <a:endParaRPr lang="en-US" sz="1400" dirty="0">
                        <a:latin typeface="Arial" charset="0"/>
                        <a:ea typeface="Arial" charset="0"/>
                        <a:cs typeface="Arial"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bl>
          </a:graphicData>
        </a:graphic>
      </p:graphicFrame>
      <p:sp>
        <p:nvSpPr>
          <p:cNvPr id="4" name="Shape 1"/>
          <p:cNvSpPr/>
          <p:nvPr/>
        </p:nvSpPr>
        <p:spPr>
          <a:xfrm>
            <a:off x="7630567" y="1621780"/>
            <a:ext cx="3742283" cy="3088084"/>
          </a:xfrm>
          <a:prstGeom prst="roundRect">
            <a:avLst>
              <a:gd name="adj" fmla="val 3907"/>
            </a:avLst>
          </a:prstGeom>
          <a:solidFill>
            <a:srgbClr val="FDFCF9"/>
          </a:solidFill>
          <a:ln w="12700">
            <a:solidFill>
              <a:srgbClr val="E2DED3"/>
            </a:solidFill>
            <a:prstDash val="solid"/>
          </a:ln>
        </p:spPr>
      </p:sp>
      <p:sp>
        <p:nvSpPr>
          <p:cNvPr id="5" name="Text 2"/>
          <p:cNvSpPr/>
          <p:nvPr/>
        </p:nvSpPr>
        <p:spPr>
          <a:xfrm>
            <a:off x="7890917" y="1882130"/>
            <a:ext cx="3318231"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6202E"/>
                </a:solidFill>
                <a:latin typeface="Arial" pitchFamily="34" charset="0"/>
                <a:ea typeface="Arial" pitchFamily="34" charset="-122"/>
                <a:cs typeface="Arial" pitchFamily="34" charset="-120"/>
              </a:rPr>
              <a:t>Leakage checks: 5 of 5 pass</a:t>
            </a:r>
            <a:endParaRPr lang="en-US" sz="1600" dirty="0"/>
          </a:p>
        </p:txBody>
      </p:sp>
      <p:pic>
        <p:nvPicPr>
          <p:cNvPr id="6" name="Image 0" descr="CheckCircle">    </p:cNvPr>
          <p:cNvPicPr>
            <a:picLocks noChangeAspect="1"/>
          </p:cNvPicPr>
          <p:nvPr/>
        </p:nvPicPr>
        <p:blipFill>
          <a:blip r:embed="rId1"/>
          <a:srcRect l="0" r="0" t="0" b="0"/>
          <a:stretch/>
        </p:blipFill>
        <p:spPr>
          <a:xfrm>
            <a:off x="7890917" y="2266900"/>
            <a:ext cx="203200" cy="203200"/>
          </a:xfrm>
          <a:prstGeom prst="rect">
            <a:avLst/>
          </a:prstGeom>
        </p:spPr>
      </p:pic>
      <p:sp>
        <p:nvSpPr>
          <p:cNvPr id="7" name="Text 3"/>
          <p:cNvSpPr/>
          <p:nvPr/>
        </p:nvSpPr>
        <p:spPr>
          <a:xfrm>
            <a:off x="8195717" y="2252960"/>
            <a:ext cx="1850053"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6202E"/>
                </a:solidFill>
                <a:latin typeface="Arial" pitchFamily="34" charset="0"/>
                <a:ea typeface="Arial" pitchFamily="34" charset="-122"/>
                <a:cs typeface="Arial" pitchFamily="34" charset="-120"/>
              </a:rPr>
              <a:t>No shared chunk IDs</a:t>
            </a:r>
            <a:endParaRPr lang="en-US" sz="1300" dirty="0"/>
          </a:p>
        </p:txBody>
      </p:sp>
      <p:pic>
        <p:nvPicPr>
          <p:cNvPr id="8" name="Image 1" descr="CheckCircle">    </p:cNvPr>
          <p:cNvPicPr>
            <a:picLocks noChangeAspect="1"/>
          </p:cNvPicPr>
          <p:nvPr/>
        </p:nvPicPr>
        <p:blipFill>
          <a:blip r:embed="rId2"/>
          <a:srcRect l="0" r="0" t="0" b="0"/>
          <a:stretch/>
        </p:blipFill>
        <p:spPr>
          <a:xfrm>
            <a:off x="7890917" y="2625030"/>
            <a:ext cx="203200" cy="203200"/>
          </a:xfrm>
          <a:prstGeom prst="rect">
            <a:avLst/>
          </a:prstGeom>
        </p:spPr>
      </p:pic>
      <p:sp>
        <p:nvSpPr>
          <p:cNvPr id="9" name="Text 4"/>
          <p:cNvSpPr/>
          <p:nvPr/>
        </p:nvSpPr>
        <p:spPr>
          <a:xfrm>
            <a:off x="8195717" y="2611090"/>
            <a:ext cx="2205930"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6202E"/>
                </a:solidFill>
                <a:latin typeface="Arial" pitchFamily="34" charset="0"/>
                <a:ea typeface="Arial" pitchFamily="34" charset="-122"/>
                <a:cs typeface="Arial" pitchFamily="34" charset="-120"/>
              </a:rPr>
              <a:t>Train/val sections disjoint</a:t>
            </a:r>
            <a:endParaRPr lang="en-US" sz="1300" dirty="0"/>
          </a:p>
        </p:txBody>
      </p:sp>
      <p:pic>
        <p:nvPicPr>
          <p:cNvPr id="10" name="Image 2" descr="CheckCircle">    </p:cNvPr>
          <p:cNvPicPr>
            <a:picLocks noChangeAspect="1"/>
          </p:cNvPicPr>
          <p:nvPr/>
        </p:nvPicPr>
        <p:blipFill>
          <a:blip r:embed="rId3"/>
          <a:srcRect l="0" r="0" t="0" b="0"/>
          <a:stretch/>
        </p:blipFill>
        <p:spPr>
          <a:xfrm>
            <a:off x="7890917" y="2983161"/>
            <a:ext cx="203200" cy="203200"/>
          </a:xfrm>
          <a:prstGeom prst="rect">
            <a:avLst/>
          </a:prstGeom>
        </p:spPr>
      </p:pic>
      <p:sp>
        <p:nvSpPr>
          <p:cNvPr id="11" name="Text 5"/>
          <p:cNvSpPr/>
          <p:nvPr/>
        </p:nvSpPr>
        <p:spPr>
          <a:xfrm>
            <a:off x="8195717" y="2969220"/>
            <a:ext cx="1993523"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6202E"/>
                </a:solidFill>
                <a:latin typeface="Arial" pitchFamily="34" charset="0"/>
                <a:ea typeface="Arial" pitchFamily="34" charset="-122"/>
                <a:cs typeface="Arial" pitchFamily="34" charset="-120"/>
              </a:rPr>
              <a:t>Test document unseen</a:t>
            </a:r>
            <a:endParaRPr lang="en-US" sz="1300" dirty="0"/>
          </a:p>
        </p:txBody>
      </p:sp>
      <p:pic>
        <p:nvPicPr>
          <p:cNvPr id="12" name="Image 3" descr="CheckCircle">    </p:cNvPr>
          <p:cNvPicPr>
            <a:picLocks noChangeAspect="1"/>
          </p:cNvPicPr>
          <p:nvPr/>
        </p:nvPicPr>
        <p:blipFill>
          <a:blip r:embed="rId4"/>
          <a:srcRect l="0" r="0" t="0" b="0"/>
          <a:stretch/>
        </p:blipFill>
        <p:spPr>
          <a:xfrm>
            <a:off x="7890917" y="3341291"/>
            <a:ext cx="203200" cy="203200"/>
          </a:xfrm>
          <a:prstGeom prst="rect">
            <a:avLst/>
          </a:prstGeom>
        </p:spPr>
      </p:pic>
      <p:sp>
        <p:nvSpPr>
          <p:cNvPr id="13" name="Text 6"/>
          <p:cNvSpPr/>
          <p:nvPr/>
        </p:nvSpPr>
        <p:spPr>
          <a:xfrm>
            <a:off x="8195717" y="3327350"/>
            <a:ext cx="1993583"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6202E"/>
                </a:solidFill>
                <a:latin typeface="Arial" pitchFamily="34" charset="0"/>
                <a:ea typeface="Arial" pitchFamily="34" charset="-122"/>
                <a:cs typeface="Arial" pitchFamily="34" charset="-120"/>
              </a:rPr>
              <a:t>No repeated questions</a:t>
            </a:r>
            <a:endParaRPr lang="en-US" sz="1300" dirty="0"/>
          </a:p>
        </p:txBody>
      </p:sp>
      <p:pic>
        <p:nvPicPr>
          <p:cNvPr id="14" name="Image 4" descr="CheckCircle">    </p:cNvPr>
          <p:cNvPicPr>
            <a:picLocks noChangeAspect="1"/>
          </p:cNvPicPr>
          <p:nvPr/>
        </p:nvPicPr>
        <p:blipFill>
          <a:blip r:embed="rId5"/>
          <a:srcRect l="0" r="0" t="0" b="0"/>
          <a:stretch/>
        </p:blipFill>
        <p:spPr>
          <a:xfrm>
            <a:off x="7890917" y="3699421"/>
            <a:ext cx="203200" cy="203200"/>
          </a:xfrm>
          <a:prstGeom prst="rect">
            <a:avLst/>
          </a:prstGeom>
        </p:spPr>
      </p:pic>
      <p:sp>
        <p:nvSpPr>
          <p:cNvPr id="15" name="Text 7"/>
          <p:cNvSpPr/>
          <p:nvPr/>
        </p:nvSpPr>
        <p:spPr>
          <a:xfrm>
            <a:off x="8195717" y="3685480"/>
            <a:ext cx="2125385"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6202E"/>
                </a:solidFill>
                <a:latin typeface="Arial" pitchFamily="34" charset="0"/>
                <a:ea typeface="Arial" pitchFamily="34" charset="-122"/>
                <a:cs typeface="Arial" pitchFamily="34" charset="-120"/>
              </a:rPr>
              <a:t>Sources inside own split</a:t>
            </a:r>
            <a:endParaRPr lang="en-US" sz="1300" dirty="0"/>
          </a:p>
        </p:txBody>
      </p:sp>
      <p:sp>
        <p:nvSpPr>
          <p:cNvPr id="16" name="Text 8"/>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280"/>
                </a:solidFill>
                <a:latin typeface="Arial" pitchFamily="34" charset="0"/>
                <a:ea typeface="Arial" pitchFamily="34" charset="-122"/>
                <a:cs typeface="Arial" pitchFamily="34" charset="-120"/>
              </a:rPr>
              <a:t>Guide = 2026 GEHA dental benefits guide · Brochure = 2026 plan brochure · Report: results/data_splits.md</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5F0"/>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02E"/>
                </a:solidFill>
                <a:latin typeface="Arial" pitchFamily="34" charset="0"/>
                <a:ea typeface="Arial" pitchFamily="34" charset="-122"/>
                <a:cs typeface="Arial" pitchFamily="34" charset="-120"/>
              </a:rPr>
              <a:t>The model: a frozen 1.5B base with a small adapter</a:t>
            </a:r>
            <a:endParaRPr lang="en-US" sz="3200" dirty="0"/>
          </a:p>
        </p:txBody>
      </p:sp>
      <p:sp>
        <p:nvSpPr>
          <p:cNvPr id="3" name="Shape 1"/>
          <p:cNvSpPr/>
          <p:nvPr/>
        </p:nvSpPr>
        <p:spPr>
          <a:xfrm>
            <a:off x="819150" y="1621780"/>
            <a:ext cx="2476500" cy="1931591"/>
          </a:xfrm>
          <a:prstGeom prst="roundRect">
            <a:avLst>
              <a:gd name="adj" fmla="val 6246"/>
            </a:avLst>
          </a:prstGeom>
          <a:solidFill>
            <a:srgbClr val="FDFCF9"/>
          </a:solidFill>
          <a:ln w="12700">
            <a:solidFill>
              <a:srgbClr val="E2DED3"/>
            </a:solidFill>
            <a:prstDash val="solid"/>
          </a:ln>
        </p:spPr>
      </p:sp>
      <p:sp>
        <p:nvSpPr>
          <p:cNvPr id="4" name="Text 2"/>
          <p:cNvSpPr/>
          <p:nvPr/>
        </p:nvSpPr>
        <p:spPr>
          <a:xfrm>
            <a:off x="1079500" y="1882130"/>
            <a:ext cx="2014474" cy="640060"/>
          </a:xfrm>
          <a:prstGeom prst="rect">
            <a:avLst/>
          </a:prstGeom>
          <a:noFill/>
          <a:ln/>
        </p:spPr>
        <p:txBody>
          <a:bodyPr wrap="square" lIns="0" tIns="0" rIns="0" bIns="0" rtlCol="0" anchor="t">
            <a:normAutofit/>
          </a:bodyPr>
          <a:lstStyle/>
          <a:p>
            <a:pPr algn="l" indent="0" marL="0">
              <a:lnSpc>
                <a:spcPts val="4840"/>
              </a:lnSpc>
              <a:buNone/>
            </a:pPr>
            <a:r>
              <a:rPr lang="en-US" sz="4400" b="1" dirty="0">
                <a:solidFill>
                  <a:srgbClr val="16202E"/>
                </a:solidFill>
                <a:latin typeface="Arial" pitchFamily="34" charset="0"/>
                <a:ea typeface="Arial" pitchFamily="34" charset="-122"/>
                <a:cs typeface="Arial" pitchFamily="34" charset="-120"/>
              </a:rPr>
              <a:t>1.5B</a:t>
            </a:r>
            <a:endParaRPr lang="en-US" sz="4400" dirty="0"/>
          </a:p>
        </p:txBody>
      </p:sp>
      <p:sp>
        <p:nvSpPr>
          <p:cNvPr id="5" name="Text 3"/>
          <p:cNvSpPr/>
          <p:nvPr/>
        </p:nvSpPr>
        <p:spPr>
          <a:xfrm>
            <a:off x="1079500" y="2572990"/>
            <a:ext cx="2014474"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A5568"/>
                </a:solidFill>
                <a:latin typeface="Arial" pitchFamily="34" charset="0"/>
                <a:ea typeface="Arial" pitchFamily="34" charset="-122"/>
                <a:cs typeface="Arial" pitchFamily="34" charset="-120"/>
              </a:rPr>
              <a:t>frozen weights in Qwen2.5‑1.5B‑Instruct</a:t>
            </a:r>
            <a:endParaRPr lang="en-US" sz="1400" dirty="0"/>
          </a:p>
        </p:txBody>
      </p:sp>
      <p:sp>
        <p:nvSpPr>
          <p:cNvPr id="6" name="Shape 4"/>
          <p:cNvSpPr/>
          <p:nvPr/>
        </p:nvSpPr>
        <p:spPr>
          <a:xfrm>
            <a:off x="3511550" y="1621780"/>
            <a:ext cx="2476500" cy="1931591"/>
          </a:xfrm>
          <a:prstGeom prst="roundRect">
            <a:avLst>
              <a:gd name="adj" fmla="val 6246"/>
            </a:avLst>
          </a:prstGeom>
          <a:solidFill>
            <a:srgbClr val="FDFCF9"/>
          </a:solidFill>
          <a:ln w="12700">
            <a:solidFill>
              <a:srgbClr val="D9622B"/>
            </a:solidFill>
            <a:prstDash val="solid"/>
          </a:ln>
        </p:spPr>
      </p:sp>
      <p:sp>
        <p:nvSpPr>
          <p:cNvPr id="7" name="Text 5"/>
          <p:cNvSpPr/>
          <p:nvPr/>
        </p:nvSpPr>
        <p:spPr>
          <a:xfrm>
            <a:off x="3771900" y="1882130"/>
            <a:ext cx="2014474" cy="640060"/>
          </a:xfrm>
          <a:prstGeom prst="rect">
            <a:avLst/>
          </a:prstGeom>
          <a:noFill/>
          <a:ln/>
        </p:spPr>
        <p:txBody>
          <a:bodyPr wrap="square" lIns="0" tIns="0" rIns="0" bIns="0" rtlCol="0" anchor="t">
            <a:normAutofit/>
          </a:bodyPr>
          <a:lstStyle/>
          <a:p>
            <a:pPr algn="l" indent="0" marL="0">
              <a:lnSpc>
                <a:spcPts val="4840"/>
              </a:lnSpc>
              <a:buNone/>
            </a:pPr>
            <a:r>
              <a:rPr lang="en-US" sz="4400" b="1" dirty="0">
                <a:solidFill>
                  <a:srgbClr val="B4481A"/>
                </a:solidFill>
                <a:latin typeface="Arial" pitchFamily="34" charset="0"/>
                <a:ea typeface="Arial" pitchFamily="34" charset="-122"/>
                <a:cs typeface="Arial" pitchFamily="34" charset="-120"/>
              </a:rPr>
              <a:t>18.5M</a:t>
            </a:r>
            <a:endParaRPr lang="en-US" sz="4400" dirty="0"/>
          </a:p>
        </p:txBody>
      </p:sp>
      <p:sp>
        <p:nvSpPr>
          <p:cNvPr id="8" name="Text 6"/>
          <p:cNvSpPr/>
          <p:nvPr/>
        </p:nvSpPr>
        <p:spPr>
          <a:xfrm>
            <a:off x="3771900" y="2572990"/>
            <a:ext cx="2014474"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A5568"/>
                </a:solidFill>
                <a:latin typeface="Arial" pitchFamily="34" charset="0"/>
                <a:ea typeface="Arial" pitchFamily="34" charset="-122"/>
                <a:cs typeface="Arial" pitchFamily="34" charset="-120"/>
              </a:rPr>
              <a:t>trainable LoRA weights, about 1.2% of the model</a:t>
            </a:r>
            <a:endParaRPr lang="en-US" sz="1400" dirty="0"/>
          </a:p>
        </p:txBody>
      </p:sp>
      <p:sp>
        <p:nvSpPr>
          <p:cNvPr id="9" name="Shape 7"/>
          <p:cNvSpPr/>
          <p:nvPr/>
        </p:nvSpPr>
        <p:spPr>
          <a:xfrm>
            <a:off x="6203950" y="1621780"/>
            <a:ext cx="2476500" cy="1931591"/>
          </a:xfrm>
          <a:prstGeom prst="roundRect">
            <a:avLst>
              <a:gd name="adj" fmla="val 6246"/>
            </a:avLst>
          </a:prstGeom>
          <a:solidFill>
            <a:srgbClr val="FDFCF9"/>
          </a:solidFill>
          <a:ln w="12700">
            <a:solidFill>
              <a:srgbClr val="E2DED3"/>
            </a:solidFill>
            <a:prstDash val="solid"/>
          </a:ln>
        </p:spPr>
      </p:sp>
      <p:sp>
        <p:nvSpPr>
          <p:cNvPr id="10" name="Text 8"/>
          <p:cNvSpPr/>
          <p:nvPr/>
        </p:nvSpPr>
        <p:spPr>
          <a:xfrm>
            <a:off x="6464300" y="1882130"/>
            <a:ext cx="2014474" cy="640060"/>
          </a:xfrm>
          <a:prstGeom prst="rect">
            <a:avLst/>
          </a:prstGeom>
          <a:noFill/>
          <a:ln/>
        </p:spPr>
        <p:txBody>
          <a:bodyPr wrap="square" lIns="0" tIns="0" rIns="0" bIns="0" rtlCol="0" anchor="t">
            <a:normAutofit/>
          </a:bodyPr>
          <a:lstStyle/>
          <a:p>
            <a:pPr algn="l" indent="0" marL="0">
              <a:lnSpc>
                <a:spcPts val="4840"/>
              </a:lnSpc>
              <a:buNone/>
            </a:pPr>
            <a:r>
              <a:rPr lang="en-US" sz="4400" b="1" dirty="0">
                <a:solidFill>
                  <a:srgbClr val="16202E"/>
                </a:solidFill>
                <a:latin typeface="Arial" pitchFamily="34" charset="0"/>
                <a:ea typeface="Arial" pitchFamily="34" charset="-122"/>
                <a:cs typeface="Arial" pitchFamily="34" charset="-120"/>
              </a:rPr>
              <a:t>20</a:t>
            </a:r>
            <a:endParaRPr lang="en-US" sz="4400" dirty="0"/>
          </a:p>
        </p:txBody>
      </p:sp>
      <p:sp>
        <p:nvSpPr>
          <p:cNvPr id="11" name="Text 9"/>
          <p:cNvSpPr/>
          <p:nvPr/>
        </p:nvSpPr>
        <p:spPr>
          <a:xfrm>
            <a:off x="6464300" y="2572990"/>
            <a:ext cx="2014474" cy="74543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A5568"/>
                </a:solidFill>
                <a:latin typeface="Arial" pitchFamily="34" charset="0"/>
                <a:ea typeface="Arial" pitchFamily="34" charset="-122"/>
                <a:cs typeface="Arial" pitchFamily="34" charset="-120"/>
              </a:rPr>
              <a:t>optimizer steps per epoch (156 examples ÷ batch 8)</a:t>
            </a:r>
            <a:endParaRPr lang="en-US" sz="1400" dirty="0"/>
          </a:p>
        </p:txBody>
      </p:sp>
      <p:sp>
        <p:nvSpPr>
          <p:cNvPr id="12" name="Shape 10"/>
          <p:cNvSpPr/>
          <p:nvPr/>
        </p:nvSpPr>
        <p:spPr>
          <a:xfrm>
            <a:off x="8896350" y="1621780"/>
            <a:ext cx="2476500" cy="1931591"/>
          </a:xfrm>
          <a:prstGeom prst="roundRect">
            <a:avLst>
              <a:gd name="adj" fmla="val 6246"/>
            </a:avLst>
          </a:prstGeom>
          <a:solidFill>
            <a:srgbClr val="FDFCF9"/>
          </a:solidFill>
          <a:ln w="12700">
            <a:solidFill>
              <a:srgbClr val="E2DED3"/>
            </a:solidFill>
            <a:prstDash val="solid"/>
          </a:ln>
        </p:spPr>
      </p:sp>
      <p:sp>
        <p:nvSpPr>
          <p:cNvPr id="13" name="Text 11"/>
          <p:cNvSpPr/>
          <p:nvPr/>
        </p:nvSpPr>
        <p:spPr>
          <a:xfrm>
            <a:off x="9156700" y="1882130"/>
            <a:ext cx="2014474" cy="640060"/>
          </a:xfrm>
          <a:prstGeom prst="rect">
            <a:avLst/>
          </a:prstGeom>
          <a:noFill/>
          <a:ln/>
        </p:spPr>
        <p:txBody>
          <a:bodyPr wrap="square" lIns="0" tIns="0" rIns="0" bIns="0" rtlCol="0" anchor="t">
            <a:normAutofit/>
          </a:bodyPr>
          <a:lstStyle/>
          <a:p>
            <a:pPr algn="l" indent="0" marL="0">
              <a:lnSpc>
                <a:spcPts val="4840"/>
              </a:lnSpc>
              <a:buNone/>
            </a:pPr>
            <a:r>
              <a:rPr lang="en-US" sz="4400" b="1" dirty="0">
                <a:solidFill>
                  <a:srgbClr val="16202E"/>
                </a:solidFill>
                <a:latin typeface="Arial" pitchFamily="34" charset="0"/>
                <a:ea typeface="Arial" pitchFamily="34" charset="-122"/>
                <a:cs typeface="Arial" pitchFamily="34" charset="-120"/>
              </a:rPr>
              <a:t>74 MB</a:t>
            </a:r>
            <a:endParaRPr lang="en-US" sz="4400" dirty="0"/>
          </a:p>
        </p:txBody>
      </p:sp>
      <p:sp>
        <p:nvSpPr>
          <p:cNvPr id="14" name="Text 12"/>
          <p:cNvSpPr/>
          <p:nvPr/>
        </p:nvSpPr>
        <p:spPr>
          <a:xfrm>
            <a:off x="9156700" y="2572990"/>
            <a:ext cx="2014474"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A5568"/>
                </a:solidFill>
                <a:latin typeface="Arial" pitchFamily="34" charset="0"/>
                <a:ea typeface="Arial" pitchFamily="34" charset="-122"/>
                <a:cs typeface="Arial" pitchFamily="34" charset="-120"/>
              </a:rPr>
              <a:t>adapter file on disk, vs about 3 GB for the base</a:t>
            </a:r>
            <a:endParaRPr lang="en-US" sz="14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825500" y="3928021"/>
          <a:ext cx="10553700" cy="718641"/>
        </p:xfrm>
        <a:graphic>
          <a:graphicData uri="http://schemas.openxmlformats.org/drawingml/2006/table">
            <a:tbl>
              <a:tblPr/>
              <a:tblGrid>
                <a:gridCol w="2638425"/>
                <a:gridCol w="2638425"/>
                <a:gridCol w="2638425"/>
                <a:gridCol w="2638425"/>
              </a:tblGrid>
              <a:tr h="359321">
                <a:tc>
                  <a:txBody>
                    <a:bodyPr/>
                    <a:lstStyle/>
                    <a:p>
                      <a:pPr indent="0" marL="0">
                        <a:lnSpc>
                          <a:spcPts val="1820"/>
                        </a:lnSpc>
                        <a:buNone/>
                      </a:pPr>
                      <a:r>
                        <a:rPr lang="en-US" sz="1300" b="1" dirty="0">
                          <a:solidFill>
                            <a:srgbClr val="16202E"/>
                          </a:solidFill>
                          <a:latin typeface="Arial" pitchFamily="34" charset="0"/>
                          <a:ea typeface="Arial" pitchFamily="34" charset="-122"/>
                          <a:cs typeface="Arial" pitchFamily="34" charset="-120"/>
                        </a:rPr>
                        <a:t>LoRA</a:t>
                      </a:r>
                      <a:endParaRPr lang="en-US" sz="1300" dirty="0">
                        <a:latin typeface="Arial" charset="0"/>
                        <a:ea typeface="Arial" charset="0"/>
                        <a:cs typeface="Arial"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indent="0" marL="0">
                        <a:lnSpc>
                          <a:spcPts val="1820"/>
                        </a:lnSpc>
                        <a:buNone/>
                      </a:pPr>
                      <a:r>
                        <a:rPr lang="en-US" sz="1300" b="1" dirty="0">
                          <a:solidFill>
                            <a:srgbClr val="16202E"/>
                          </a:solidFill>
                          <a:latin typeface="Arial" pitchFamily="34" charset="0"/>
                          <a:ea typeface="Arial" pitchFamily="34" charset="-122"/>
                          <a:cs typeface="Arial" pitchFamily="34" charset="-120"/>
                        </a:rPr>
                        <a:t>Targets</a:t>
                      </a:r>
                      <a:endParaRPr lang="en-US" sz="1300" dirty="0">
                        <a:latin typeface="Arial" charset="0"/>
                        <a:ea typeface="Arial" charset="0"/>
                        <a:cs typeface="Arial" charset="0"/>
                      </a:endParaRPr>
                    </a:p>
                  </a:txBody>
                  <a:tcPr marL="57785" marR="57785" marT="57785" marB="57785"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indent="0" marL="0">
                        <a:lnSpc>
                          <a:spcPts val="1820"/>
                        </a:lnSpc>
                        <a:buNone/>
                      </a:pPr>
                      <a:r>
                        <a:rPr lang="en-US" sz="1300" b="1" dirty="0">
                          <a:solidFill>
                            <a:srgbClr val="16202E"/>
                          </a:solidFill>
                          <a:latin typeface="Arial" pitchFamily="34" charset="0"/>
                          <a:ea typeface="Arial" pitchFamily="34" charset="-122"/>
                          <a:cs typeface="Arial" pitchFamily="34" charset="-120"/>
                        </a:rPr>
                        <a:t>Optimizer</a:t>
                      </a:r>
                      <a:endParaRPr lang="en-US" sz="1300" dirty="0">
                        <a:latin typeface="Arial" charset="0"/>
                        <a:ea typeface="Arial" charset="0"/>
                        <a:cs typeface="Arial" charset="0"/>
                      </a:endParaRPr>
                    </a:p>
                  </a:txBody>
                  <a:tcPr marL="57785" marR="57785" marT="57785" marB="57785"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indent="0" marL="0">
                        <a:lnSpc>
                          <a:spcPts val="1820"/>
                        </a:lnSpc>
                        <a:buNone/>
                      </a:pPr>
                      <a:r>
                        <a:rPr lang="en-US" sz="1300" b="1" dirty="0">
                          <a:solidFill>
                            <a:srgbClr val="16202E"/>
                          </a:solidFill>
                          <a:latin typeface="Arial" pitchFamily="34" charset="0"/>
                          <a:ea typeface="Arial" pitchFamily="34" charset="-122"/>
                          <a:cs typeface="Arial" pitchFamily="34" charset="-120"/>
                        </a:rPr>
                        <a:t>Selection</a:t>
                      </a:r>
                      <a:endParaRPr lang="en-US" sz="1300" dirty="0">
                        <a:latin typeface="Arial" charset="0"/>
                        <a:ea typeface="Arial" charset="0"/>
                        <a:cs typeface="Arial" charset="0"/>
                      </a:endParaRPr>
                    </a:p>
                  </a:txBody>
                  <a:tcPr marL="57785" marR="57785" marT="57785" marB="57785"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r>
              <a:tr h="359321">
                <a:tc>
                  <a:txBody>
                    <a:bodyPr/>
                    <a:lstStyle/>
                    <a:p>
                      <a:pPr indent="0" marL="0">
                        <a:lnSpc>
                          <a:spcPts val="1820"/>
                        </a:lnSpc>
                        <a:buNone/>
                      </a:pPr>
                      <a:r>
                        <a:rPr lang="en-US" sz="1300" dirty="0">
                          <a:solidFill>
                            <a:srgbClr val="16202E"/>
                          </a:solidFill>
                          <a:latin typeface="Arial" pitchFamily="34" charset="0"/>
                          <a:ea typeface="Arial" pitchFamily="34" charset="-122"/>
                          <a:cs typeface="Arial" pitchFamily="34" charset="-120"/>
                        </a:rPr>
                        <a:t>rank 16, alpha 32, dropout 0.05</a:t>
                      </a:r>
                      <a:endParaRPr lang="en-US" sz="1300" dirty="0">
                        <a:latin typeface="Arial" charset="0"/>
                        <a:ea typeface="Arial" charset="0"/>
                        <a:cs typeface="Arial"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20"/>
                        </a:lnSpc>
                        <a:buNone/>
                      </a:pPr>
                      <a:r>
                        <a:rPr lang="en-US" sz="1300" dirty="0">
                          <a:solidFill>
                            <a:srgbClr val="16202E"/>
                          </a:solidFill>
                          <a:latin typeface="Arial" pitchFamily="34" charset="0"/>
                          <a:ea typeface="Arial" pitchFamily="34" charset="-122"/>
                          <a:cs typeface="Arial" pitchFamily="34" charset="-120"/>
                        </a:rPr>
                        <a:t>q, k, v, o, gate, up, down</a:t>
                      </a:r>
                      <a:endParaRPr lang="en-US" sz="1300" dirty="0">
                        <a:latin typeface="Arial" charset="0"/>
                        <a:ea typeface="Arial" charset="0"/>
                        <a:cs typeface="Arial"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20"/>
                        </a:lnSpc>
                        <a:buNone/>
                      </a:pPr>
                      <a:r>
                        <a:rPr lang="en-US" sz="1300" dirty="0">
                          <a:solidFill>
                            <a:srgbClr val="16202E"/>
                          </a:solidFill>
                          <a:latin typeface="Arial" pitchFamily="34" charset="0"/>
                          <a:ea typeface="Arial" pitchFamily="34" charset="-122"/>
                          <a:cs typeface="Arial" pitchFamily="34" charset="-120"/>
                        </a:rPr>
                        <a:t>AdamW 2e‑4, warmup + cosine</a:t>
                      </a:r>
                      <a:endParaRPr lang="en-US" sz="1300" dirty="0">
                        <a:latin typeface="Arial" charset="0"/>
                        <a:ea typeface="Arial" charset="0"/>
                        <a:cs typeface="Arial"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20"/>
                        </a:lnSpc>
                        <a:buNone/>
                      </a:pPr>
                      <a:r>
                        <a:rPr lang="en-US" sz="1300" dirty="0">
                          <a:solidFill>
                            <a:srgbClr val="16202E"/>
                          </a:solidFill>
                          <a:latin typeface="Arial" pitchFamily="34" charset="0"/>
                          <a:ea typeface="Arial" pitchFamily="34" charset="-122"/>
                          <a:cs typeface="Arial" pitchFamily="34" charset="-120"/>
                        </a:rPr>
                        <a:t>lowest validation loss</a:t>
                      </a:r>
                      <a:endParaRPr lang="en-US" sz="1300" dirty="0">
                        <a:latin typeface="Arial" charset="0"/>
                        <a:ea typeface="Arial" charset="0"/>
                        <a:cs typeface="Arial"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bl>
          </a:graphicData>
        </a:graphic>
      </p:graphicFrame>
      <p:sp>
        <p:nvSpPr>
          <p:cNvPr id="16" name="Text 1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280"/>
                </a:solidFill>
                <a:latin typeface="Arial" pitchFamily="34" charset="0"/>
                <a:ea typeface="Arial" pitchFamily="34" charset="-122"/>
                <a:cs typeface="Arial" pitchFamily="34" charset="-120"/>
              </a:rPr>
              <a:t>Adapter size measured from adapter_model.safetensors (fp32); base size is the bf16 checkpoint</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5F0"/>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02E"/>
                </a:solidFill>
                <a:latin typeface="Arial" pitchFamily="34" charset="0"/>
                <a:ea typeface="Arial" pitchFamily="34" charset="-122"/>
                <a:cs typeface="Arial" pitchFamily="34" charset="-120"/>
              </a:rPr>
              <a:t>On the Mac: 4 h 41 min, one finished epoch</a:t>
            </a:r>
            <a:endParaRPr lang="en-US" sz="3200" dirty="0"/>
          </a:p>
        </p:txBody>
      </p:sp>
      <p:pic>
        <p:nvPicPr>
          <p:cNvPr id="3" name="Image 0" descr="ellipse">    </p:cNvPr>
          <p:cNvPicPr>
            <a:picLocks noChangeAspect="1"/>
          </p:cNvPicPr>
          <p:nvPr/>
        </p:nvPicPr>
        <p:blipFill>
          <a:blip r:embed="rId1"/>
          <a:srcRect l="0" r="0" t="0" b="0"/>
          <a:stretch/>
        </p:blipFill>
        <p:spPr>
          <a:xfrm>
            <a:off x="812800" y="1920230"/>
            <a:ext cx="203200" cy="203200"/>
          </a:xfrm>
          <a:prstGeom prst="rect">
            <a:avLst/>
          </a:prstGeom>
        </p:spPr>
      </p:pic>
      <p:sp>
        <p:nvSpPr>
          <p:cNvPr id="4" name="Text 1"/>
          <p:cNvSpPr/>
          <p:nvPr/>
        </p:nvSpPr>
        <p:spPr>
          <a:xfrm>
            <a:off x="812800" y="2199630"/>
            <a:ext cx="2563876"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6202E"/>
                </a:solidFill>
                <a:latin typeface="Courier New" pitchFamily="49" charset="0"/>
                <a:ea typeface="Courier New" pitchFamily="49" charset="-122"/>
                <a:cs typeface="Courier New" pitchFamily="49" charset="-120"/>
              </a:rPr>
              <a:t>02:53</a:t>
            </a:r>
            <a:endParaRPr lang="en-US" sz="1600" dirty="0"/>
          </a:p>
        </p:txBody>
      </p:sp>
      <p:sp>
        <p:nvSpPr>
          <p:cNvPr id="5" name="Text 2"/>
          <p:cNvSpPr/>
          <p:nvPr/>
        </p:nvSpPr>
        <p:spPr>
          <a:xfrm>
            <a:off x="812800" y="2560290"/>
            <a:ext cx="2563876"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A5568"/>
                </a:solidFill>
                <a:latin typeface="Arial" pitchFamily="34" charset="0"/>
                <a:ea typeface="Arial" pitchFamily="34" charset="-122"/>
                <a:cs typeface="Arial" pitchFamily="34" charset="-120"/>
              </a:rPr>
              <a:t>Start on an M1 Pro, 32 GB, fp32 on the GPU (MPS)</a:t>
            </a:r>
            <a:endParaRPr lang="en-US" sz="1400" dirty="0"/>
          </a:p>
        </p:txBody>
      </p:sp>
      <p:pic>
        <p:nvPicPr>
          <p:cNvPr id="6" name="Image 1" descr="ellipse">    </p:cNvPr>
          <p:cNvPicPr>
            <a:picLocks noChangeAspect="1"/>
          </p:cNvPicPr>
          <p:nvPr/>
        </p:nvPicPr>
        <p:blipFill>
          <a:blip r:embed="rId2"/>
          <a:srcRect l="0" r="0" t="0" b="0"/>
          <a:stretch/>
        </p:blipFill>
        <p:spPr>
          <a:xfrm>
            <a:off x="3505200" y="1920230"/>
            <a:ext cx="203200" cy="203200"/>
          </a:xfrm>
          <a:prstGeom prst="rect">
            <a:avLst/>
          </a:prstGeom>
        </p:spPr>
      </p:pic>
      <p:sp>
        <p:nvSpPr>
          <p:cNvPr id="7" name="Text 3"/>
          <p:cNvSpPr/>
          <p:nvPr/>
        </p:nvSpPr>
        <p:spPr>
          <a:xfrm>
            <a:off x="3505200" y="2199630"/>
            <a:ext cx="2563876"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6202E"/>
                </a:solidFill>
                <a:latin typeface="Courier New" pitchFamily="49" charset="0"/>
                <a:ea typeface="Courier New" pitchFamily="49" charset="-122"/>
                <a:cs typeface="Courier New" pitchFamily="49" charset="-120"/>
              </a:rPr>
              <a:t>03:57</a:t>
            </a:r>
            <a:endParaRPr lang="en-US" sz="1600" dirty="0"/>
          </a:p>
        </p:txBody>
      </p:sp>
      <p:sp>
        <p:nvSpPr>
          <p:cNvPr id="8" name="Text 4"/>
          <p:cNvSpPr/>
          <p:nvPr/>
        </p:nvSpPr>
        <p:spPr>
          <a:xfrm>
            <a:off x="3505200" y="2560290"/>
            <a:ext cx="2563876" cy="74543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A5568"/>
                </a:solidFill>
                <a:latin typeface="Arial" pitchFamily="34" charset="0"/>
                <a:ea typeface="Arial" pitchFamily="34" charset="-122"/>
                <a:cs typeface="Arial" pitchFamily="34" charset="-120"/>
              </a:rPr>
              <a:t>Epoch 1 done in 56 min. Validation loss 0.626 → 0.517; adapter saved</a:t>
            </a:r>
            <a:endParaRPr lang="en-US" sz="1400" dirty="0"/>
          </a:p>
        </p:txBody>
      </p:sp>
      <p:pic>
        <p:nvPicPr>
          <p:cNvPr id="9" name="Image 2" descr="ellipse">    </p:cNvPr>
          <p:cNvPicPr>
            <a:picLocks noChangeAspect="1"/>
          </p:cNvPicPr>
          <p:nvPr/>
        </p:nvPicPr>
        <p:blipFill>
          <a:blip r:embed="rId3"/>
          <a:srcRect l="0" r="0" t="0" b="0"/>
          <a:stretch/>
        </p:blipFill>
        <p:spPr>
          <a:xfrm>
            <a:off x="6197600" y="1920230"/>
            <a:ext cx="203200" cy="203200"/>
          </a:xfrm>
          <a:prstGeom prst="rect">
            <a:avLst/>
          </a:prstGeom>
        </p:spPr>
      </p:pic>
      <p:sp>
        <p:nvSpPr>
          <p:cNvPr id="10" name="Text 5"/>
          <p:cNvSpPr/>
          <p:nvPr/>
        </p:nvSpPr>
        <p:spPr>
          <a:xfrm>
            <a:off x="6197600" y="2199630"/>
            <a:ext cx="2563876"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6202E"/>
                </a:solidFill>
                <a:latin typeface="Courier New" pitchFamily="49" charset="0"/>
                <a:ea typeface="Courier New" pitchFamily="49" charset="-122"/>
                <a:cs typeface="Courier New" pitchFamily="49" charset="-120"/>
              </a:rPr>
              <a:t>06:39</a:t>
            </a:r>
            <a:endParaRPr lang="en-US" sz="1600" dirty="0"/>
          </a:p>
        </p:txBody>
      </p:sp>
      <p:sp>
        <p:nvSpPr>
          <p:cNvPr id="11" name="Text 6"/>
          <p:cNvSpPr/>
          <p:nvPr/>
        </p:nvSpPr>
        <p:spPr>
          <a:xfrm>
            <a:off x="6197600" y="2560290"/>
            <a:ext cx="2563876" cy="74543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A5568"/>
                </a:solidFill>
                <a:latin typeface="Arial" pitchFamily="34" charset="0"/>
                <a:ea typeface="Arial" pitchFamily="34" charset="-122"/>
                <a:cs typeface="Arial" pitchFamily="34" charset="-120"/>
              </a:rPr>
              <a:t>Battery at 1%: the Mac hibernates for 12 min, epoch 2 still unfinished</a:t>
            </a:r>
            <a:endParaRPr lang="en-US" sz="1400" dirty="0"/>
          </a:p>
        </p:txBody>
      </p:sp>
      <p:pic>
        <p:nvPicPr>
          <p:cNvPr id="12" name="Image 3" descr="ellipse">    </p:cNvPr>
          <p:cNvPicPr>
            <a:picLocks noChangeAspect="1"/>
          </p:cNvPicPr>
          <p:nvPr/>
        </p:nvPicPr>
        <p:blipFill>
          <a:blip r:embed="rId4"/>
          <a:srcRect l="0" r="0" t="0" b="0"/>
          <a:stretch/>
        </p:blipFill>
        <p:spPr>
          <a:xfrm>
            <a:off x="8890000" y="1920230"/>
            <a:ext cx="203200" cy="203200"/>
          </a:xfrm>
          <a:prstGeom prst="rect">
            <a:avLst/>
          </a:prstGeom>
        </p:spPr>
      </p:pic>
      <p:sp>
        <p:nvSpPr>
          <p:cNvPr id="13" name="Text 7"/>
          <p:cNvSpPr/>
          <p:nvPr/>
        </p:nvSpPr>
        <p:spPr>
          <a:xfrm>
            <a:off x="8890000" y="2199630"/>
            <a:ext cx="2563876"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6202E"/>
                </a:solidFill>
                <a:latin typeface="Courier New" pitchFamily="49" charset="0"/>
                <a:ea typeface="Courier New" pitchFamily="49" charset="-122"/>
                <a:cs typeface="Courier New" pitchFamily="49" charset="-120"/>
              </a:rPr>
              <a:t>07:34</a:t>
            </a:r>
            <a:endParaRPr lang="en-US" sz="1600" dirty="0"/>
          </a:p>
        </p:txBody>
      </p:sp>
      <p:sp>
        <p:nvSpPr>
          <p:cNvPr id="14" name="Text 8"/>
          <p:cNvSpPr/>
          <p:nvPr/>
        </p:nvSpPr>
        <p:spPr>
          <a:xfrm>
            <a:off x="8890000" y="2560290"/>
            <a:ext cx="2563876"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A5568"/>
                </a:solidFill>
                <a:latin typeface="Arial" pitchFamily="34" charset="0"/>
                <a:ea typeface="Arial" pitchFamily="34" charset="-122"/>
                <a:cs typeface="Arial" pitchFamily="34" charset="-120"/>
              </a:rPr>
              <a:t>Stopped. Full run moves to a Colab GPU</a:t>
            </a:r>
            <a:endParaRPr lang="en-US" sz="1400" dirty="0"/>
          </a:p>
        </p:txBody>
      </p:sp>
      <p:pic>
        <p:nvPicPr>
          <p:cNvPr id="15" name="Image 4" descr="line">    </p:cNvPr>
          <p:cNvPicPr>
            <a:picLocks noChangeAspect="1"/>
          </p:cNvPicPr>
          <p:nvPr/>
        </p:nvPicPr>
        <p:blipFill>
          <a:blip r:embed="rId5"/>
          <a:srcRect l="0" r="0" t="0" b="0"/>
          <a:stretch/>
        </p:blipFill>
        <p:spPr>
          <a:xfrm>
            <a:off x="812800" y="1717030"/>
            <a:ext cx="10566400" cy="50800"/>
          </a:xfrm>
          <a:prstGeom prst="rect">
            <a:avLst/>
          </a:prstGeom>
        </p:spPr>
      </p:pic>
      <p:sp>
        <p:nvSpPr>
          <p:cNvPr id="16" name="Text 9"/>
          <p:cNvSpPr/>
          <p:nvPr/>
        </p:nvSpPr>
        <p:spPr>
          <a:xfrm>
            <a:off x="819150" y="3642271"/>
            <a:ext cx="3373934" cy="1165771"/>
          </a:xfrm>
          <a:prstGeom prst="roundRect">
            <a:avLst>
              <a:gd name="adj" fmla="val 10349"/>
            </a:avLst>
          </a:prstGeom>
          <a:solidFill>
            <a:srgbClr val="FDFCF9"/>
          </a:solidFill>
          <a:ln w="12700">
            <a:solidFill>
              <a:srgbClr val="E2DED3"/>
            </a:solidFill>
            <a:prstDash val="solid"/>
          </a:ln>
        </p:spPr>
        <p:txBody>
          <a:bodyPr wrap="square" lIns="174213" tIns="174213" rIns="85568" bIns="148813" rtlCol="0" anchor="t">
            <a:normAutofit/>
          </a:bodyPr>
          <a:lstStyle/>
          <a:p>
            <a:pPr algn="l" indent="0" marL="0">
              <a:lnSpc>
                <a:spcPts val="1960"/>
              </a:lnSpc>
              <a:buNone/>
            </a:pPr>
            <a:r>
              <a:rPr lang="en-US" sz="1400" b="1" dirty="0">
                <a:solidFill>
                  <a:srgbClr val="16202E"/>
                </a:solidFill>
                <a:latin typeface="Arial" pitchFamily="34" charset="0"/>
                <a:ea typeface="Arial" pitchFamily="34" charset="-122"/>
                <a:cs typeface="Arial" pitchFamily="34" charset="-120"/>
              </a:rPr>
              <a:t>No bf16 on M1.</a:t>
            </a:r>
            <a:r>
              <a:rPr lang="en-US" sz="1400" dirty="0">
                <a:solidFill>
                  <a:srgbClr val="16202E"/>
                </a:solidFill>
                <a:latin typeface="Arial" pitchFamily="34" charset="0"/>
                <a:ea typeface="Arial" pitchFamily="34" charset="-122"/>
                <a:cs typeface="Arial" pitchFamily="34" charset="-120"/>
              </a:rPr>
              <a:t> fp32 doubles memory and compute compared with a bf16 GPU.</a:t>
            </a:r>
            <a:endParaRPr lang="en-US" sz="1400" dirty="0"/>
          </a:p>
        </p:txBody>
      </p:sp>
      <p:sp>
        <p:nvSpPr>
          <p:cNvPr id="17" name="Text 10"/>
          <p:cNvSpPr/>
          <p:nvPr/>
        </p:nvSpPr>
        <p:spPr>
          <a:xfrm>
            <a:off x="4408984" y="3642271"/>
            <a:ext cx="3373983" cy="1165771"/>
          </a:xfrm>
          <a:prstGeom prst="roundRect">
            <a:avLst>
              <a:gd name="adj" fmla="val 10349"/>
            </a:avLst>
          </a:prstGeom>
          <a:solidFill>
            <a:srgbClr val="FDFCF9"/>
          </a:solidFill>
          <a:ln w="12700">
            <a:solidFill>
              <a:srgbClr val="E2DED3"/>
            </a:solidFill>
            <a:prstDash val="solid"/>
          </a:ln>
        </p:spPr>
        <p:txBody>
          <a:bodyPr wrap="square" lIns="174213" tIns="174213" rIns="85566" bIns="174213" rtlCol="0" anchor="t">
            <a:normAutofit/>
          </a:bodyPr>
          <a:lstStyle/>
          <a:p>
            <a:pPr algn="l" indent="0" marL="0">
              <a:lnSpc>
                <a:spcPts val="1960"/>
              </a:lnSpc>
              <a:buNone/>
            </a:pPr>
            <a:r>
              <a:rPr lang="en-US" sz="1400" b="1" dirty="0">
                <a:solidFill>
                  <a:srgbClr val="16202E"/>
                </a:solidFill>
                <a:latin typeface="Arial" pitchFamily="34" charset="0"/>
                <a:ea typeface="Arial" pitchFamily="34" charset="-122"/>
                <a:cs typeface="Arial" pitchFamily="34" charset="-120"/>
              </a:rPr>
              <a:t>Ran on battery.</a:t>
            </a:r>
            <a:r>
              <a:rPr lang="en-US" sz="1400" dirty="0">
                <a:solidFill>
                  <a:srgbClr val="16202E"/>
                </a:solidFill>
                <a:latin typeface="Arial" pitchFamily="34" charset="0"/>
                <a:ea typeface="Arial" pitchFamily="34" charset="-122"/>
                <a:cs typeface="Arial" pitchFamily="34" charset="-120"/>
              </a:rPr>
              <a:t> macOS throttled the job, then hibernated it.</a:t>
            </a:r>
            <a:endParaRPr lang="en-US" sz="1400" dirty="0"/>
          </a:p>
        </p:txBody>
      </p:sp>
      <p:sp>
        <p:nvSpPr>
          <p:cNvPr id="18" name="Text 11"/>
          <p:cNvSpPr/>
          <p:nvPr/>
        </p:nvSpPr>
        <p:spPr>
          <a:xfrm>
            <a:off x="7998867" y="3642271"/>
            <a:ext cx="3373983" cy="1165771"/>
          </a:xfrm>
          <a:prstGeom prst="roundRect">
            <a:avLst>
              <a:gd name="adj" fmla="val 10349"/>
            </a:avLst>
          </a:prstGeom>
          <a:solidFill>
            <a:srgbClr val="FDFCF9"/>
          </a:solidFill>
          <a:ln w="12700">
            <a:solidFill>
              <a:srgbClr val="E2DED3"/>
            </a:solidFill>
            <a:prstDash val="solid"/>
          </a:ln>
        </p:spPr>
        <p:txBody>
          <a:bodyPr wrap="square" lIns="174213" tIns="174213" rIns="85566" bIns="174213" rtlCol="0" anchor="t">
            <a:normAutofit/>
          </a:bodyPr>
          <a:lstStyle/>
          <a:p>
            <a:pPr algn="l" indent="0" marL="0">
              <a:lnSpc>
                <a:spcPts val="1960"/>
              </a:lnSpc>
              <a:buNone/>
            </a:pPr>
            <a:r>
              <a:rPr lang="en-US" sz="1400" b="1" dirty="0">
                <a:solidFill>
                  <a:srgbClr val="16202E"/>
                </a:solidFill>
                <a:latin typeface="Arial" pitchFamily="34" charset="0"/>
                <a:ea typeface="Arial" pitchFamily="34" charset="-122"/>
                <a:cs typeface="Arial" pitchFamily="34" charset="-120"/>
              </a:rPr>
              <a:t>Memory pressure.</a:t>
            </a:r>
            <a:r>
              <a:rPr lang="en-US" sz="1400" dirty="0">
                <a:solidFill>
                  <a:srgbClr val="16202E"/>
                </a:solidFill>
                <a:latin typeface="Arial" pitchFamily="34" charset="0"/>
                <a:ea typeface="Arial" pitchFamily="34" charset="-122"/>
                <a:cs typeface="Arial" pitchFamily="34" charset="-120"/>
              </a:rPr>
              <a:t> 15.8 of 17 GB swap in use slowed every step.</a:t>
            </a:r>
            <a:endParaRPr lang="en-US" sz="1400" dirty="0"/>
          </a:p>
        </p:txBody>
      </p:sp>
      <p:sp>
        <p:nvSpPr>
          <p:cNvPr id="19" name="Text 1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280"/>
                </a:solidFill>
                <a:latin typeface="Arial" pitchFamily="34" charset="0"/>
                <a:ea typeface="Arial" pitchFamily="34" charset="-122"/>
                <a:cs typeface="Arial" pitchFamily="34" charset="-120"/>
              </a:rPr>
              <a:t>Times are local (PDT), 21 Oct 2026, from the training log and macOS power log</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5F0"/>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91946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02E"/>
                </a:solidFill>
                <a:latin typeface="Arial" pitchFamily="34" charset="0"/>
                <a:ea typeface="Arial" pitchFamily="34" charset="-122"/>
                <a:cs typeface="Arial" pitchFamily="34" charset="-120"/>
              </a:rPr>
              <a:t>Performance so far: validation loss down 17% in one epoch</a:t>
            </a:r>
            <a:endParaRPr lang="en-US" sz="3200" dirty="0"/>
          </a:p>
        </p:txBody>
      </p:sp>
      <p:sp>
        <p:nvSpPr>
          <p:cNvPr id="3" name="Shape 1"/>
          <p:cNvSpPr/>
          <p:nvPr/>
        </p:nvSpPr>
        <p:spPr>
          <a:xfrm>
            <a:off x="812800" y="5832475"/>
            <a:ext cx="5334000" cy="0"/>
          </a:xfrm>
          <a:prstGeom prst="line">
            <a:avLst/>
          </a:prstGeom>
          <a:noFill/>
          <a:ln w="19050">
            <a:solidFill>
              <a:srgbClr val="C9C3B5"/>
            </a:solidFill>
            <a:prstDash val="solid"/>
          </a:ln>
        </p:spPr>
      </p:sp>
      <p:sp>
        <p:nvSpPr>
          <p:cNvPr id="4" name="Text 2"/>
          <p:cNvSpPr/>
          <p:nvPr/>
        </p:nvSpPr>
        <p:spPr>
          <a:xfrm>
            <a:off x="2230006" y="2353320"/>
            <a:ext cx="823139" cy="345430"/>
          </a:xfrm>
          <a:prstGeom prst="rect">
            <a:avLst/>
          </a:prstGeom>
          <a:noFill/>
          <a:ln/>
        </p:spPr>
        <p:txBody>
          <a:bodyPr wrap="square" lIns="0" tIns="0" rIns="0" bIns="0" rtlCol="0" anchor="t">
            <a:normAutofit/>
          </a:bodyPr>
          <a:lstStyle/>
          <a:p>
            <a:pPr algn="ctr" indent="0" marL="0">
              <a:lnSpc>
                <a:spcPts val="2520"/>
              </a:lnSpc>
              <a:buNone/>
            </a:pPr>
            <a:r>
              <a:rPr lang="en-US" sz="1800" b="1" dirty="0">
                <a:solidFill>
                  <a:srgbClr val="16202E"/>
                </a:solidFill>
                <a:latin typeface="Courier New" pitchFamily="49" charset="0"/>
                <a:ea typeface="Courier New" pitchFamily="49" charset="-122"/>
                <a:cs typeface="Courier New" pitchFamily="49" charset="-120"/>
              </a:rPr>
              <a:t>0.626</a:t>
            </a:r>
            <a:endParaRPr lang="en-US" sz="1800" dirty="0"/>
          </a:p>
        </p:txBody>
      </p:sp>
      <p:sp>
        <p:nvSpPr>
          <p:cNvPr id="5" name="Shape 3"/>
          <p:cNvSpPr/>
          <p:nvPr/>
        </p:nvSpPr>
        <p:spPr>
          <a:xfrm>
            <a:off x="2006600" y="2774950"/>
            <a:ext cx="1270000" cy="3048000"/>
          </a:xfrm>
          <a:custGeom>
            <a:avLst/>
            <a:gdLst/>
            <a:ahLst/>
            <a:cxnLst/>
            <a:rect l="l" t="t" r="r" b="b"/>
            <a:pathLst>
              <a:path w="1270000" h="3048000">
                <a:moveTo>
                  <a:pt x="76200" y="0"/>
                </a:moveTo>
                <a:lnTo>
                  <a:pt x="1193800" y="0"/>
                </a:lnTo>
                <a:arcTo hR="76200" wR="76200" stAng="16200000" swAng="5400000"/>
                <a:lnTo>
                  <a:pt x="1270000" y="3048000"/>
                </a:lnTo>
                <a:lnTo>
                  <a:pt x="0" y="3048000"/>
                </a:lnTo>
                <a:lnTo>
                  <a:pt x="0" y="76200"/>
                </a:lnTo>
                <a:arcTo hR="76200" wR="76200" stAng="10800000" swAng="5400000"/>
                <a:close/>
              </a:path>
            </a:pathLst>
          </a:custGeom>
          <a:solidFill>
            <a:srgbClr val="C9C3B5"/>
          </a:solidFill>
          <a:ln/>
        </p:spPr>
      </p:sp>
      <p:sp>
        <p:nvSpPr>
          <p:cNvPr id="6" name="Text 4"/>
          <p:cNvSpPr/>
          <p:nvPr/>
        </p:nvSpPr>
        <p:spPr>
          <a:xfrm>
            <a:off x="3906406" y="2886720"/>
            <a:ext cx="823139" cy="345430"/>
          </a:xfrm>
          <a:prstGeom prst="rect">
            <a:avLst/>
          </a:prstGeom>
          <a:noFill/>
          <a:ln/>
        </p:spPr>
        <p:txBody>
          <a:bodyPr wrap="square" lIns="0" tIns="0" rIns="0" bIns="0" rtlCol="0" anchor="t">
            <a:normAutofit/>
          </a:bodyPr>
          <a:lstStyle/>
          <a:p>
            <a:pPr algn="ctr" indent="0" marL="0">
              <a:lnSpc>
                <a:spcPts val="2520"/>
              </a:lnSpc>
              <a:buNone/>
            </a:pPr>
            <a:r>
              <a:rPr lang="en-US" sz="1800" b="1" dirty="0">
                <a:solidFill>
                  <a:srgbClr val="B4481A"/>
                </a:solidFill>
                <a:latin typeface="Courier New" pitchFamily="49" charset="0"/>
                <a:ea typeface="Courier New" pitchFamily="49" charset="-122"/>
                <a:cs typeface="Courier New" pitchFamily="49" charset="-120"/>
              </a:rPr>
              <a:t>0.517</a:t>
            </a:r>
            <a:endParaRPr lang="en-US" sz="1800" dirty="0"/>
          </a:p>
        </p:txBody>
      </p:sp>
      <p:sp>
        <p:nvSpPr>
          <p:cNvPr id="7" name="Shape 5"/>
          <p:cNvSpPr/>
          <p:nvPr/>
        </p:nvSpPr>
        <p:spPr>
          <a:xfrm>
            <a:off x="3683000" y="3308350"/>
            <a:ext cx="1270000" cy="2514600"/>
          </a:xfrm>
          <a:custGeom>
            <a:avLst/>
            <a:gdLst/>
            <a:ahLst/>
            <a:cxnLst/>
            <a:rect l="l" t="t" r="r" b="b"/>
            <a:pathLst>
              <a:path w="1270000" h="2514600">
                <a:moveTo>
                  <a:pt x="76200" y="0"/>
                </a:moveTo>
                <a:lnTo>
                  <a:pt x="1193800" y="0"/>
                </a:lnTo>
                <a:arcTo hR="76200" wR="76200" stAng="16200000" swAng="5400000"/>
                <a:lnTo>
                  <a:pt x="1270000" y="2514600"/>
                </a:lnTo>
                <a:lnTo>
                  <a:pt x="0" y="2514600"/>
                </a:lnTo>
                <a:lnTo>
                  <a:pt x="0" y="76200"/>
                </a:lnTo>
                <a:arcTo hR="76200" wR="76200" stAng="10800000" swAng="5400000"/>
                <a:close/>
              </a:path>
            </a:pathLst>
          </a:custGeom>
          <a:solidFill>
            <a:srgbClr val="D9622B"/>
          </a:solidFill>
          <a:ln/>
        </p:spPr>
      </p:sp>
      <p:sp>
        <p:nvSpPr>
          <p:cNvPr id="8" name="Text 6"/>
          <p:cNvSpPr/>
          <p:nvPr/>
        </p:nvSpPr>
        <p:spPr>
          <a:xfrm>
            <a:off x="6654800" y="3200400"/>
            <a:ext cx="4866132" cy="5588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6202E"/>
                </a:solidFill>
                <a:latin typeface="Arial" pitchFamily="34" charset="0"/>
                <a:ea typeface="Arial" pitchFamily="34" charset="-122"/>
                <a:cs typeface="Arial" pitchFamily="34" charset="-120"/>
              </a:rPr>
              <a:t>Before training (grey):</a:t>
            </a:r>
            <a:r>
              <a:rPr lang="en-US" sz="1500" dirty="0">
                <a:solidFill>
                  <a:srgbClr val="4A5568"/>
                </a:solidFill>
                <a:latin typeface="Arial" pitchFamily="34" charset="0"/>
                <a:ea typeface="Arial" pitchFamily="34" charset="-122"/>
                <a:cs typeface="Arial" pitchFamily="34" charset="-120"/>
              </a:rPr>
              <a:t> 0.626 average loss on the reference answers of 48 validation examples.</a:t>
            </a:r>
            <a:endParaRPr lang="en-US" sz="1500" dirty="0"/>
          </a:p>
        </p:txBody>
      </p:sp>
      <p:sp>
        <p:nvSpPr>
          <p:cNvPr id="9" name="Text 7"/>
          <p:cNvSpPr/>
          <p:nvPr/>
        </p:nvSpPr>
        <p:spPr>
          <a:xfrm>
            <a:off x="6654800" y="3911600"/>
            <a:ext cx="4866132" cy="8255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B4481A"/>
                </a:solidFill>
                <a:latin typeface="Arial" pitchFamily="34" charset="0"/>
                <a:ea typeface="Arial" pitchFamily="34" charset="-122"/>
                <a:cs typeface="Arial" pitchFamily="34" charset="-120"/>
              </a:rPr>
              <a:t>After epoch 1 (orange):</a:t>
            </a:r>
            <a:r>
              <a:rPr lang="en-US" sz="1500" dirty="0">
                <a:solidFill>
                  <a:srgbClr val="4A5568"/>
                </a:solidFill>
                <a:latin typeface="Arial" pitchFamily="34" charset="0"/>
                <a:ea typeface="Arial" pitchFamily="34" charset="-122"/>
                <a:cs typeface="Arial" pitchFamily="34" charset="-120"/>
              </a:rPr>
              <a:t> 0.517. The tuned model assigns noticeably higher probability to the reference answers.</a:t>
            </a:r>
            <a:endParaRPr lang="en-US" sz="1500" dirty="0"/>
          </a:p>
        </p:txBody>
      </p:sp>
      <p:sp>
        <p:nvSpPr>
          <p:cNvPr id="10" name="Text 8"/>
          <p:cNvSpPr/>
          <p:nvPr/>
        </p:nvSpPr>
        <p:spPr>
          <a:xfrm>
            <a:off x="6654800" y="4889500"/>
            <a:ext cx="4866132" cy="8255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6202E"/>
                </a:solidFill>
                <a:latin typeface="Arial" pitchFamily="34" charset="0"/>
                <a:ea typeface="Arial" pitchFamily="34" charset="-122"/>
                <a:cs typeface="Arial" pitchFamily="34" charset="-120"/>
              </a:rPr>
              <a:t>Not yet measured:</a:t>
            </a:r>
            <a:r>
              <a:rPr lang="en-US" sz="1500" dirty="0">
                <a:solidFill>
                  <a:srgbClr val="4A5568"/>
                </a:solidFill>
                <a:latin typeface="Arial" pitchFamily="34" charset="0"/>
                <a:ea typeface="Arial" pitchFamily="34" charset="-122"/>
                <a:cs typeface="Arial" pitchFamily="34" charset="-120"/>
              </a:rPr>
              <a:t> answer quality on the unseen brochure (answer F1, citations, grounded quotes). That comes from the Colab run.</a:t>
            </a:r>
            <a:endParaRPr lang="en-US" sz="1500" dirty="0"/>
          </a:p>
        </p:txBody>
      </p:sp>
      <p:sp>
        <p:nvSpPr>
          <p:cNvPr id="11" name="Text 9"/>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280"/>
                </a:solidFill>
                <a:latin typeface="Arial" pitchFamily="34" charset="0"/>
                <a:ea typeface="Arial" pitchFamily="34" charset="-122"/>
                <a:cs typeface="Arial" pitchFamily="34" charset="-120"/>
              </a:rPr>
              <a:t>Validation = 24 questions × 2 formats from guide sections never trained on · bars start at zero</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6202E"/>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91946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3F1EA"/>
                </a:solidFill>
                <a:latin typeface="Arial" pitchFamily="34" charset="0"/>
                <a:ea typeface="Arial" pitchFamily="34" charset="-122"/>
                <a:cs typeface="Arial" pitchFamily="34" charset="-120"/>
              </a:rPr>
              <a:t>Is it overfit? Not after epoch 1, but that’s not proven yet</a:t>
            </a:r>
            <a:endParaRPr lang="en-US" sz="3200" dirty="0"/>
          </a:p>
        </p:txBody>
      </p:sp>
      <p:sp>
        <p:nvSpPr>
          <p:cNvPr id="3" name="Shape 1"/>
          <p:cNvSpPr/>
          <p:nvPr/>
        </p:nvSpPr>
        <p:spPr>
          <a:xfrm>
            <a:off x="812800" y="2011660"/>
            <a:ext cx="3352800" cy="3830340"/>
          </a:xfrm>
          <a:prstGeom prst="roundRect">
            <a:avLst>
              <a:gd name="adj" fmla="val 3788"/>
            </a:avLst>
          </a:prstGeom>
          <a:solidFill>
            <a:srgbClr val="1F2B3C"/>
          </a:solidFill>
          <a:ln/>
        </p:spPr>
      </p:sp>
      <p:sp>
        <p:nvSpPr>
          <p:cNvPr id="4" name="Text 2"/>
          <p:cNvSpPr/>
          <p:nvPr/>
        </p:nvSpPr>
        <p:spPr>
          <a:xfrm>
            <a:off x="1066800" y="2265660"/>
            <a:ext cx="2930144"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F08A5D"/>
                </a:solidFill>
                <a:latin typeface="Courier New" pitchFamily="49" charset="0"/>
                <a:ea typeface="Courier New" pitchFamily="49" charset="-122"/>
                <a:cs typeface="Courier New" pitchFamily="49" charset="-120"/>
              </a:rPr>
              <a:t>WHAT WE SEE</a:t>
            </a:r>
            <a:endParaRPr lang="en-US" sz="1200" dirty="0"/>
          </a:p>
        </p:txBody>
      </p:sp>
      <p:sp>
        <p:nvSpPr>
          <p:cNvPr id="5" name="Text 3"/>
          <p:cNvSpPr/>
          <p:nvPr/>
        </p:nvSpPr>
        <p:spPr>
          <a:xfrm>
            <a:off x="1066800" y="2605980"/>
            <a:ext cx="2930144" cy="751780"/>
          </a:xfrm>
          <a:prstGeom prst="rect">
            <a:avLst/>
          </a:prstGeom>
          <a:noFill/>
          <a:ln/>
        </p:spPr>
        <p:txBody>
          <a:bodyPr wrap="square" lIns="0" tIns="0" rIns="0" bIns="0" rtlCol="0" anchor="t">
            <a:normAutofit/>
          </a:bodyPr>
          <a:lstStyle/>
          <a:p>
            <a:pPr algn="l" indent="0" marL="0">
              <a:lnSpc>
                <a:spcPts val="2860"/>
              </a:lnSpc>
              <a:buNone/>
            </a:pPr>
            <a:r>
              <a:rPr lang="en-US" sz="2200" b="1" dirty="0">
                <a:solidFill>
                  <a:srgbClr val="F3F1EA"/>
                </a:solidFill>
                <a:latin typeface="Courier New" pitchFamily="49" charset="0"/>
                <a:ea typeface="Courier New" pitchFamily="49" charset="-122"/>
                <a:cs typeface="Courier New" pitchFamily="49" charset="-120"/>
              </a:rPr>
              <a:t>train 0.517</a:t>
            </a:r>
            <a:endParaRPr lang="en-US" sz="2200" dirty="0"/>
          </a:p>
          <a:p>
            <a:pPr algn="l" indent="0" marL="0">
              <a:lnSpc>
                <a:spcPts val="2860"/>
              </a:lnSpc>
              <a:buNone/>
            </a:pPr>
            <a:r>
              <a:rPr lang="en-US" sz="2200" b="1" dirty="0">
                <a:solidFill>
                  <a:srgbClr val="F3F1EA"/>
                </a:solidFill>
                <a:latin typeface="Courier New" pitchFamily="49" charset="0"/>
                <a:ea typeface="Courier New" pitchFamily="49" charset="-122"/>
                <a:cs typeface="Courier New" pitchFamily="49" charset="-120"/>
              </a:rPr>
              <a:t>val   0.517</a:t>
            </a:r>
            <a:endParaRPr lang="en-US" sz="2200" dirty="0"/>
          </a:p>
        </p:txBody>
      </p:sp>
      <p:sp>
        <p:nvSpPr>
          <p:cNvPr id="6" name="Text 4"/>
          <p:cNvSpPr/>
          <p:nvPr/>
        </p:nvSpPr>
        <p:spPr>
          <a:xfrm>
            <a:off x="1066800" y="3459361"/>
            <a:ext cx="2930144" cy="126985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9C3D1"/>
                </a:solidFill>
                <a:latin typeface="Arial" pitchFamily="34" charset="0"/>
                <a:ea typeface="Arial" pitchFamily="34" charset="-122"/>
                <a:cs typeface="Arial" pitchFamily="34" charset="-120"/>
              </a:rPr>
              <a:t>No gap between training and held‑out loss, and validation loss is still falling. The usual sign of overfitting, train down and validation up, has not appeared.</a:t>
            </a:r>
            <a:endParaRPr lang="en-US" sz="1400" dirty="0"/>
          </a:p>
        </p:txBody>
      </p:sp>
      <p:sp>
        <p:nvSpPr>
          <p:cNvPr id="7" name="Shape 5"/>
          <p:cNvSpPr/>
          <p:nvPr/>
        </p:nvSpPr>
        <p:spPr>
          <a:xfrm>
            <a:off x="4419600" y="2011660"/>
            <a:ext cx="3352800" cy="3830340"/>
          </a:xfrm>
          <a:prstGeom prst="roundRect">
            <a:avLst>
              <a:gd name="adj" fmla="val 3788"/>
            </a:avLst>
          </a:prstGeom>
          <a:solidFill>
            <a:srgbClr val="1F2B3C"/>
          </a:solidFill>
          <a:ln/>
        </p:spPr>
      </p:sp>
      <p:sp>
        <p:nvSpPr>
          <p:cNvPr id="8" name="Text 6"/>
          <p:cNvSpPr/>
          <p:nvPr/>
        </p:nvSpPr>
        <p:spPr>
          <a:xfrm>
            <a:off x="4673600" y="2265660"/>
            <a:ext cx="2930144"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F08A5D"/>
                </a:solidFill>
                <a:latin typeface="Courier New" pitchFamily="49" charset="0"/>
                <a:ea typeface="Courier New" pitchFamily="49" charset="-122"/>
                <a:cs typeface="Courier New" pitchFamily="49" charset="-120"/>
              </a:rPr>
              <a:t>WHY IT’S NOT SETTLED</a:t>
            </a:r>
            <a:endParaRPr lang="en-US" sz="1200" dirty="0"/>
          </a:p>
        </p:txBody>
      </p:sp>
      <p:sp>
        <p:nvSpPr>
          <p:cNvPr id="9" name="Text 7"/>
          <p:cNvSpPr/>
          <p:nvPr/>
        </p:nvSpPr>
        <p:spPr>
          <a:xfrm>
            <a:off x="4673600" y="2605980"/>
            <a:ext cx="2930144"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D6DCE4"/>
                </a:solidFill>
                <a:latin typeface="Arial" pitchFamily="34" charset="0"/>
                <a:ea typeface="Arial" pitchFamily="34" charset="-122"/>
                <a:cs typeface="Arial" pitchFamily="34" charset="-120"/>
              </a:rPr>
              <a:t>Only 20 steps so far; overfitting usually shows in later epochs.</a:t>
            </a:r>
            <a:endParaRPr lang="en-US" sz="1400" dirty="0"/>
          </a:p>
        </p:txBody>
      </p:sp>
      <p:sp>
        <p:nvSpPr>
          <p:cNvPr id="10" name="Text 8"/>
          <p:cNvSpPr/>
          <p:nvPr/>
        </p:nvSpPr>
        <p:spPr>
          <a:xfrm>
            <a:off x="4673600" y="3230761"/>
            <a:ext cx="2930144" cy="77207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D6DCE4"/>
                </a:solidFill>
                <a:latin typeface="Arial" pitchFamily="34" charset="0"/>
                <a:ea typeface="Arial" pitchFamily="34" charset="-122"/>
                <a:cs typeface="Arial" pitchFamily="34" charset="-120"/>
              </a:rPr>
              <a:t>Validation is the same guide as training, so it can’t show transfer to new documents.</a:t>
            </a:r>
            <a:endParaRPr lang="en-US" sz="1400" dirty="0"/>
          </a:p>
        </p:txBody>
      </p:sp>
      <p:sp>
        <p:nvSpPr>
          <p:cNvPr id="11" name="Text 9"/>
          <p:cNvSpPr/>
          <p:nvPr/>
        </p:nvSpPr>
        <p:spPr>
          <a:xfrm>
            <a:off x="4673600" y="4104432"/>
            <a:ext cx="2930144" cy="77207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D6DCE4"/>
                </a:solidFill>
                <a:latin typeface="Arial" pitchFamily="34" charset="0"/>
                <a:ea typeface="Arial" pitchFamily="34" charset="-122"/>
                <a:cs typeface="Arial" pitchFamily="34" charset="-120"/>
              </a:rPr>
              <a:t>78 synthetic QAs can teach RAGAS answer style rather than reading skill.</a:t>
            </a:r>
            <a:endParaRPr lang="en-US" sz="1400" dirty="0"/>
          </a:p>
        </p:txBody>
      </p:sp>
      <p:sp>
        <p:nvSpPr>
          <p:cNvPr id="12" name="Shape 10"/>
          <p:cNvSpPr/>
          <p:nvPr/>
        </p:nvSpPr>
        <p:spPr>
          <a:xfrm>
            <a:off x="8026400" y="2011660"/>
            <a:ext cx="3352800" cy="3830340"/>
          </a:xfrm>
          <a:prstGeom prst="roundRect">
            <a:avLst>
              <a:gd name="adj" fmla="val 3788"/>
            </a:avLst>
          </a:prstGeom>
          <a:solidFill>
            <a:srgbClr val="1F2B3C"/>
          </a:solidFill>
          <a:ln/>
        </p:spPr>
      </p:sp>
      <p:sp>
        <p:nvSpPr>
          <p:cNvPr id="13" name="Text 11"/>
          <p:cNvSpPr/>
          <p:nvPr/>
        </p:nvSpPr>
        <p:spPr>
          <a:xfrm>
            <a:off x="8280400" y="2265660"/>
            <a:ext cx="2930144"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F08A5D"/>
                </a:solidFill>
                <a:latin typeface="Courier New" pitchFamily="49" charset="0"/>
                <a:ea typeface="Courier New" pitchFamily="49" charset="-122"/>
                <a:cs typeface="Courier New" pitchFamily="49" charset="-120"/>
              </a:rPr>
              <a:t>WHAT WOULD SHOW IT</a:t>
            </a:r>
            <a:endParaRPr lang="en-US" sz="1200" dirty="0"/>
          </a:p>
        </p:txBody>
      </p:sp>
      <p:sp>
        <p:nvSpPr>
          <p:cNvPr id="14" name="Text 12"/>
          <p:cNvSpPr/>
          <p:nvPr/>
        </p:nvSpPr>
        <p:spPr>
          <a:xfrm>
            <a:off x="8280400" y="2605980"/>
            <a:ext cx="3098800"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D6DCE4"/>
                </a:solidFill>
                <a:latin typeface="Arial" pitchFamily="34" charset="0"/>
                <a:ea typeface="Arial" pitchFamily="34" charset="-122"/>
                <a:cs typeface="Arial" pitchFamily="34" charset="-120"/>
              </a:rPr>
              <a:t>Validation loss rising in epochs 2–3.</a:t>
            </a:r>
            <a:endParaRPr lang="en-US" sz="1400" dirty="0"/>
          </a:p>
        </p:txBody>
      </p:sp>
      <p:sp>
        <p:nvSpPr>
          <p:cNvPr id="15" name="Text 13"/>
          <p:cNvSpPr/>
          <p:nvPr/>
        </p:nvSpPr>
        <p:spPr>
          <a:xfrm>
            <a:off x="8280400" y="2981871"/>
            <a:ext cx="2930144"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D6DCE4"/>
                </a:solidFill>
                <a:latin typeface="Arial" pitchFamily="34" charset="0"/>
                <a:ea typeface="Arial" pitchFamily="34" charset="-122"/>
                <a:cs typeface="Arial" pitchFamily="34" charset="-120"/>
              </a:rPr>
              <a:t>Brochure answer F1 at or below the base model.</a:t>
            </a:r>
            <a:endParaRPr lang="en-US" sz="1400" dirty="0"/>
          </a:p>
        </p:txBody>
      </p:sp>
      <p:sp>
        <p:nvSpPr>
          <p:cNvPr id="16" name="Text 14"/>
          <p:cNvSpPr/>
          <p:nvPr/>
        </p:nvSpPr>
        <p:spPr>
          <a:xfrm>
            <a:off x="8280400" y="3606651"/>
            <a:ext cx="2930144"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D6DCE4"/>
                </a:solidFill>
                <a:latin typeface="Arial" pitchFamily="34" charset="0"/>
                <a:ea typeface="Arial" pitchFamily="34" charset="-122"/>
                <a:cs typeface="Arial" pitchFamily="34" charset="-120"/>
              </a:rPr>
              <a:t>More citations to distractors, or quotes not found in the passages.</a:t>
            </a:r>
            <a:endParaRPr lang="en-US" sz="1400" dirty="0"/>
          </a:p>
        </p:txBody>
      </p:sp>
      <p:sp>
        <p:nvSpPr>
          <p:cNvPr id="17" name="Text 1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8A8"/>
                </a:solidFill>
                <a:latin typeface="Arial" pitchFamily="34" charset="0"/>
                <a:ea typeface="Arial" pitchFamily="34" charset="-122"/>
                <a:cs typeface="Arial" pitchFamily="34" charset="-120"/>
              </a:rPr>
              <a:t>Train loss is the epoch average, so end‑of‑epoch train loss is likely a little lower than 0.517</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5F0"/>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02E"/>
                </a:solidFill>
                <a:latin typeface="Arial" pitchFamily="34" charset="0"/>
                <a:ea typeface="Arial" pitchFamily="34" charset="-122"/>
                <a:cs typeface="Arial" pitchFamily="34" charset="-120"/>
              </a:rPr>
              <a:t>Next: the full run on a Colab GPU</a:t>
            </a:r>
            <a:endParaRPr lang="en-US" sz="3200" dirty="0"/>
          </a:p>
        </p:txBody>
      </p:sp>
      <p:sp>
        <p:nvSpPr>
          <p:cNvPr id="3" name="Text 1"/>
          <p:cNvSpPr/>
          <p:nvPr/>
        </p:nvSpPr>
        <p:spPr>
          <a:xfrm>
            <a:off x="812800" y="1564630"/>
            <a:ext cx="167382"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2F6DB5"/>
                </a:solidFill>
                <a:latin typeface="Courier New" pitchFamily="49" charset="0"/>
                <a:ea typeface="Courier New" pitchFamily="49" charset="-122"/>
                <a:cs typeface="Courier New" pitchFamily="49" charset="-120"/>
              </a:rPr>
              <a:t>1</a:t>
            </a:r>
            <a:endParaRPr lang="en-US" sz="1600" dirty="0"/>
          </a:p>
        </p:txBody>
      </p:sp>
      <p:sp>
        <p:nvSpPr>
          <p:cNvPr id="4" name="Text 2"/>
          <p:cNvSpPr/>
          <p:nvPr/>
        </p:nvSpPr>
        <p:spPr>
          <a:xfrm>
            <a:off x="1081782" y="1564630"/>
            <a:ext cx="4706810" cy="5588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6202E"/>
                </a:solidFill>
                <a:latin typeface="Arial" pitchFamily="34" charset="0"/>
                <a:ea typeface="Arial" pitchFamily="34" charset="-122"/>
                <a:cs typeface="Arial" pitchFamily="34" charset="-120"/>
              </a:rPr>
              <a:t>Bundle:</a:t>
            </a:r>
            <a:r>
              <a:rPr lang="en-US" sz="1500" dirty="0">
                <a:solidFill>
                  <a:srgbClr val="16202E"/>
                </a:solidFill>
                <a:latin typeface="Arial" pitchFamily="34" charset="0"/>
                <a:ea typeface="Arial" pitchFamily="34" charset="-122"/>
                <a:cs typeface="Arial" pitchFamily="34" charset="-120"/>
              </a:rPr>
              <a:t> make_colab_zip.sh packs code + data (0.9 MB)</a:t>
            </a:r>
            <a:endParaRPr lang="en-US" sz="1500" dirty="0"/>
          </a:p>
        </p:txBody>
      </p:sp>
      <p:sp>
        <p:nvSpPr>
          <p:cNvPr id="5" name="Text 3"/>
          <p:cNvSpPr/>
          <p:nvPr/>
        </p:nvSpPr>
        <p:spPr>
          <a:xfrm>
            <a:off x="812800" y="2250430"/>
            <a:ext cx="17274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2F6DB5"/>
                </a:solidFill>
                <a:latin typeface="Courier New" pitchFamily="49" charset="0"/>
                <a:ea typeface="Courier New" pitchFamily="49" charset="-122"/>
                <a:cs typeface="Courier New" pitchFamily="49" charset="-120"/>
              </a:rPr>
              <a:t>2</a:t>
            </a:r>
            <a:endParaRPr lang="en-US" sz="1600" dirty="0"/>
          </a:p>
        </p:txBody>
      </p:sp>
      <p:sp>
        <p:nvSpPr>
          <p:cNvPr id="6" name="Text 4"/>
          <p:cNvSpPr/>
          <p:nvPr/>
        </p:nvSpPr>
        <p:spPr>
          <a:xfrm>
            <a:off x="1087140" y="2250430"/>
            <a:ext cx="491996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6202E"/>
                </a:solidFill>
                <a:latin typeface="Arial" pitchFamily="34" charset="0"/>
                <a:ea typeface="Arial" pitchFamily="34" charset="-122"/>
                <a:cs typeface="Arial" pitchFamily="34" charset="-120"/>
              </a:rPr>
              <a:t>Open</a:t>
            </a:r>
            <a:r>
              <a:rPr lang="en-US" sz="1500" dirty="0">
                <a:solidFill>
                  <a:srgbClr val="16202E"/>
                </a:solidFill>
                <a:latin typeface="Arial" pitchFamily="34" charset="0"/>
                <a:ea typeface="Arial" pitchFamily="34" charset="-122"/>
                <a:cs typeface="Arial" pitchFamily="34" charset="-120"/>
              </a:rPr>
              <a:t> colab_train.ipynb on an L4 or A100 GPU (bf16)</a:t>
            </a:r>
            <a:endParaRPr lang="en-US" sz="1500" dirty="0"/>
          </a:p>
        </p:txBody>
      </p:sp>
      <p:sp>
        <p:nvSpPr>
          <p:cNvPr id="7" name="Text 5"/>
          <p:cNvSpPr/>
          <p:nvPr/>
        </p:nvSpPr>
        <p:spPr>
          <a:xfrm>
            <a:off x="812800" y="2687290"/>
            <a:ext cx="151408"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2F6DB5"/>
                </a:solidFill>
                <a:latin typeface="Courier New" pitchFamily="49" charset="0"/>
                <a:ea typeface="Courier New" pitchFamily="49" charset="-122"/>
                <a:cs typeface="Courier New" pitchFamily="49" charset="-120"/>
              </a:rPr>
              <a:t>3</a:t>
            </a:r>
            <a:endParaRPr lang="en-US" sz="1600" dirty="0"/>
          </a:p>
        </p:txBody>
      </p:sp>
      <p:sp>
        <p:nvSpPr>
          <p:cNvPr id="8" name="Text 6"/>
          <p:cNvSpPr/>
          <p:nvPr/>
        </p:nvSpPr>
        <p:spPr>
          <a:xfrm>
            <a:off x="1065808" y="2687290"/>
            <a:ext cx="4723263" cy="5588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6202E"/>
                </a:solidFill>
                <a:latin typeface="Arial" pitchFamily="34" charset="0"/>
                <a:ea typeface="Arial" pitchFamily="34" charset="-122"/>
                <a:cs typeface="Arial" pitchFamily="34" charset="-120"/>
              </a:rPr>
              <a:t>Run:</a:t>
            </a:r>
            <a:r>
              <a:rPr lang="en-US" sz="1500" dirty="0">
                <a:solidFill>
                  <a:srgbClr val="16202E"/>
                </a:solidFill>
                <a:latin typeface="Arial" pitchFamily="34" charset="0"/>
                <a:ea typeface="Arial" pitchFamily="34" charset="-122"/>
                <a:cs typeface="Arial" pitchFamily="34" charset="-120"/>
              </a:rPr>
              <a:t> tests, split report, 3 epochs with loss logged every step, eval</a:t>
            </a:r>
            <a:endParaRPr lang="en-US" sz="1500" dirty="0"/>
          </a:p>
        </p:txBody>
      </p:sp>
      <p:sp>
        <p:nvSpPr>
          <p:cNvPr id="9" name="Text 7"/>
          <p:cNvSpPr/>
          <p:nvPr/>
        </p:nvSpPr>
        <p:spPr>
          <a:xfrm>
            <a:off x="812800" y="3373090"/>
            <a:ext cx="159395"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2F6DB5"/>
                </a:solidFill>
                <a:latin typeface="Courier New" pitchFamily="49" charset="0"/>
                <a:ea typeface="Courier New" pitchFamily="49" charset="-122"/>
                <a:cs typeface="Courier New" pitchFamily="49" charset="-120"/>
              </a:rPr>
              <a:t>4</a:t>
            </a:r>
            <a:endParaRPr lang="en-US" sz="1600" dirty="0"/>
          </a:p>
        </p:txBody>
      </p:sp>
      <p:sp>
        <p:nvSpPr>
          <p:cNvPr id="10" name="Text 8"/>
          <p:cNvSpPr/>
          <p:nvPr/>
        </p:nvSpPr>
        <p:spPr>
          <a:xfrm>
            <a:off x="1073795" y="3373090"/>
            <a:ext cx="4715036" cy="5588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6202E"/>
                </a:solidFill>
                <a:latin typeface="Arial" pitchFamily="34" charset="0"/>
                <a:ea typeface="Arial" pitchFamily="34" charset="-122"/>
                <a:cs typeface="Arial" pitchFamily="34" charset="-120"/>
              </a:rPr>
              <a:t>Download</a:t>
            </a:r>
            <a:r>
              <a:rPr lang="en-US" sz="1500" dirty="0">
                <a:solidFill>
                  <a:srgbClr val="16202E"/>
                </a:solidFill>
                <a:latin typeface="Arial" pitchFamily="34" charset="0"/>
                <a:ea typeface="Arial" pitchFamily="34" charset="-122"/>
                <a:cs typeface="Arial" pitchFamily="34" charset="-120"/>
              </a:rPr>
              <a:t> results + adapter; this deck gets the real numbers</a:t>
            </a:r>
            <a:endParaRPr lang="en-US" sz="1500" dirty="0"/>
          </a:p>
        </p:txBody>
      </p:sp>
      <p:sp>
        <p:nvSpPr>
          <p:cNvPr id="11" name="Shape 9"/>
          <p:cNvSpPr/>
          <p:nvPr/>
        </p:nvSpPr>
        <p:spPr>
          <a:xfrm>
            <a:off x="6013450" y="1570980"/>
            <a:ext cx="5359400" cy="4264670"/>
          </a:xfrm>
          <a:prstGeom prst="roundRect">
            <a:avLst>
              <a:gd name="adj" fmla="val 2829"/>
            </a:avLst>
          </a:prstGeom>
          <a:solidFill>
            <a:srgbClr val="FDFCF9"/>
          </a:solidFill>
          <a:ln w="12700">
            <a:solidFill>
              <a:srgbClr val="E2DED3"/>
            </a:solidFill>
            <a:prstDash val="solid"/>
          </a:ln>
        </p:spPr>
      </p:sp>
      <p:sp>
        <p:nvSpPr>
          <p:cNvPr id="12" name="Text 10"/>
          <p:cNvSpPr/>
          <p:nvPr/>
        </p:nvSpPr>
        <p:spPr>
          <a:xfrm>
            <a:off x="6273800" y="1831330"/>
            <a:ext cx="4983861"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6202E"/>
                </a:solidFill>
                <a:latin typeface="Arial" pitchFamily="34" charset="0"/>
                <a:ea typeface="Arial" pitchFamily="34" charset="-122"/>
                <a:cs typeface="Arial" pitchFamily="34" charset="-120"/>
              </a:rPr>
              <a:t>To fill in from that run</a:t>
            </a:r>
            <a:endParaRPr lang="en-US" sz="16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286500" y="2214860"/>
          <a:ext cx="4826000" cy="2155924"/>
        </p:xfrm>
        <a:graphic>
          <a:graphicData uri="http://schemas.openxmlformats.org/drawingml/2006/table">
            <a:tbl>
              <a:tblPr/>
              <a:tblGrid>
                <a:gridCol w="2895600"/>
                <a:gridCol w="1930400"/>
              </a:tblGrid>
              <a:tr h="359321">
                <a:tc>
                  <a:txBody>
                    <a:bodyPr/>
                    <a:lstStyle/>
                    <a:p>
                      <a:pPr indent="0" marL="0">
                        <a:lnSpc>
                          <a:spcPts val="1820"/>
                        </a:lnSpc>
                        <a:buNone/>
                      </a:pPr>
                      <a:r>
                        <a:rPr lang="en-US" sz="1300" b="1" dirty="0">
                          <a:solidFill>
                            <a:srgbClr val="16202E"/>
                          </a:solidFill>
                          <a:latin typeface="Arial" pitchFamily="34" charset="0"/>
                          <a:ea typeface="Arial" pitchFamily="34" charset="-122"/>
                          <a:cs typeface="Arial" pitchFamily="34" charset="-120"/>
                        </a:rPr>
                        <a:t>Measure</a:t>
                      </a:r>
                      <a:endParaRPr lang="en-US" sz="1300" dirty="0">
                        <a:latin typeface="Arial" charset="0"/>
                        <a:ea typeface="Arial" charset="0"/>
                        <a:cs typeface="Arial" charset="0"/>
                      </a:endParaRPr>
                    </a:p>
                  </a:txBody>
                  <a:tcPr marL="57785" marR="57785" marT="57785" marB="57785" anchor="t">
                    <a:lnL w="12700" cap="flat" cmpd="sng" algn="ctr">
                      <a:solidFill>
                        <a:srgbClr val="CAC9C6"/>
                      </a:solidFill>
                      <a:prstDash val="solid"/>
                      <a:round/>
                      <a:headEnd type="none" w="med" len="med"/>
                      <a:tailEnd type="none" w="med" len="med"/>
                    </a:lnL>
                    <a:lnR w="12700" cap="flat" cmpd="sng" algn="ctr">
                      <a:solidFill>
                        <a:srgbClr val="BBBAB8"/>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BBAB8"/>
                      </a:solidFill>
                      <a:prstDash val="solid"/>
                      <a:round/>
                      <a:headEnd type="none" w="med" len="med"/>
                      <a:tailEnd type="none" w="med" len="med"/>
                    </a:lnB>
                    <a:solidFill>
                      <a:srgbClr val="EAE9E7"/>
                    </a:solidFill>
                  </a:tcPr>
                </a:tc>
                <a:tc>
                  <a:txBody>
                    <a:bodyPr/>
                    <a:lstStyle/>
                    <a:p>
                      <a:pPr algn="r" indent="0" marL="0">
                        <a:lnSpc>
                          <a:spcPts val="1820"/>
                        </a:lnSpc>
                        <a:buNone/>
                      </a:pPr>
                      <a:r>
                        <a:rPr lang="en-US" sz="1300" b="1" dirty="0">
                          <a:solidFill>
                            <a:srgbClr val="16202E"/>
                          </a:solidFill>
                          <a:latin typeface="Arial" pitchFamily="34" charset="0"/>
                          <a:ea typeface="Arial" pitchFamily="34" charset="-122"/>
                          <a:cs typeface="Arial" pitchFamily="34" charset="-120"/>
                        </a:rPr>
                        <a:t>Value</a:t>
                      </a:r>
                      <a:endParaRPr lang="en-US" sz="1300" dirty="0">
                        <a:latin typeface="Arial" charset="0"/>
                        <a:ea typeface="Arial" charset="0"/>
                        <a:cs typeface="Arial" charset="0"/>
                      </a:endParaRPr>
                    </a:p>
                  </a:txBody>
                  <a:tcPr marL="57785" marR="57785" marT="57785" marB="57785" anchor="t">
                    <a:lnL w="12700" cap="flat" cmpd="sng" algn="ctr">
                      <a:solidFill>
                        <a:srgbClr val="BBBAB8"/>
                      </a:solidFill>
                      <a:prstDash val="solid"/>
                      <a:round/>
                      <a:headEnd type="none" w="med" len="med"/>
                      <a:tailEnd type="none" w="med" len="med"/>
                    </a:lnL>
                    <a:lnR w="12700" cap="flat" cmpd="sng" algn="ctr">
                      <a:solidFill>
                        <a:srgbClr val="BBBAB8"/>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BBAB8"/>
                      </a:solidFill>
                      <a:prstDash val="solid"/>
                      <a:round/>
                      <a:headEnd type="none" w="med" len="med"/>
                      <a:tailEnd type="none" w="med" len="med"/>
                    </a:lnB>
                    <a:solidFill>
                      <a:srgbClr val="EAE9E7"/>
                    </a:solidFill>
                  </a:tcPr>
                </a:tc>
              </a:tr>
              <a:tr h="359321">
                <a:tc>
                  <a:txBody>
                    <a:bodyPr/>
                    <a:lstStyle/>
                    <a:p>
                      <a:pPr indent="0" marL="0">
                        <a:lnSpc>
                          <a:spcPts val="1820"/>
                        </a:lnSpc>
                        <a:buNone/>
                      </a:pPr>
                      <a:r>
                        <a:rPr lang="en-US" sz="1300" dirty="0">
                          <a:solidFill>
                            <a:srgbClr val="16202E"/>
                          </a:solidFill>
                          <a:latin typeface="Arial" pitchFamily="34" charset="0"/>
                          <a:ea typeface="Arial" pitchFamily="34" charset="-122"/>
                          <a:cs typeface="Arial" pitchFamily="34" charset="-120"/>
                        </a:rPr>
                        <a:t>GPU and time per epoch</a:t>
                      </a:r>
                      <a:endParaRPr lang="en-US" sz="1300" dirty="0">
                        <a:latin typeface="Arial" charset="0"/>
                        <a:ea typeface="Arial" charset="0"/>
                        <a:cs typeface="Arial" charset="0"/>
                      </a:endParaRPr>
                    </a:p>
                  </a:txBody>
                  <a:tcPr marL="57785" marR="57785" marT="57785" marB="57785"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BBAB8"/>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algn="r" indent="0" marL="0">
                        <a:lnSpc>
                          <a:spcPts val="1820"/>
                        </a:lnSpc>
                        <a:buNone/>
                      </a:pPr>
                      <a:r>
                        <a:rPr lang="en-US" sz="1300" dirty="0">
                          <a:solidFill>
                            <a:srgbClr val="16202E"/>
                          </a:solidFill>
                          <a:latin typeface="Arial" pitchFamily="34" charset="0"/>
                          <a:ea typeface="Arial" pitchFamily="34" charset="-122"/>
                          <a:cs typeface="Arial" pitchFamily="34" charset="-120"/>
                        </a:rPr>
                        <a:t>[__]</a:t>
                      </a:r>
                      <a:endParaRPr lang="en-US" sz="1300" dirty="0">
                        <a:latin typeface="Arial" charset="0"/>
                        <a:ea typeface="Arial" charset="0"/>
                        <a:cs typeface="Arial" charset="0"/>
                      </a:endParaRPr>
                    </a:p>
                  </a:txBody>
                  <a:tcPr marL="57785" marR="57785" marT="57785" marB="57785"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BBAB8"/>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r>
              <a:tr h="359321">
                <a:tc>
                  <a:txBody>
                    <a:bodyPr/>
                    <a:lstStyle/>
                    <a:p>
                      <a:pPr indent="0" marL="0">
                        <a:lnSpc>
                          <a:spcPts val="1820"/>
                        </a:lnSpc>
                        <a:buNone/>
                      </a:pPr>
                      <a:r>
                        <a:rPr lang="en-US" sz="1300" dirty="0">
                          <a:solidFill>
                            <a:srgbClr val="16202E"/>
                          </a:solidFill>
                          <a:latin typeface="Arial" pitchFamily="34" charset="0"/>
                          <a:ea typeface="Arial" pitchFamily="34" charset="-122"/>
                          <a:cs typeface="Arial" pitchFamily="34" charset="-120"/>
                        </a:rPr>
                        <a:t>Best validation loss (epoch)</a:t>
                      </a:r>
                      <a:endParaRPr lang="en-US" sz="1300" dirty="0">
                        <a:latin typeface="Arial" charset="0"/>
                        <a:ea typeface="Arial" charset="0"/>
                        <a:cs typeface="Arial" charset="0"/>
                      </a:endParaRPr>
                    </a:p>
                  </a:txBody>
                  <a:tcPr marL="57785" marR="57785" marT="57785" marB="57785"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algn="r" indent="0" marL="0">
                        <a:lnSpc>
                          <a:spcPts val="1820"/>
                        </a:lnSpc>
                        <a:buNone/>
                      </a:pPr>
                      <a:r>
                        <a:rPr lang="en-US" sz="1300" dirty="0">
                          <a:solidFill>
                            <a:srgbClr val="16202E"/>
                          </a:solidFill>
                          <a:latin typeface="Arial" pitchFamily="34" charset="0"/>
                          <a:ea typeface="Arial" pitchFamily="34" charset="-122"/>
                          <a:cs typeface="Arial" pitchFamily="34" charset="-120"/>
                        </a:rPr>
                        <a:t>[__]</a:t>
                      </a:r>
                      <a:endParaRPr lang="en-US" sz="1300" dirty="0">
                        <a:latin typeface="Arial" charset="0"/>
                        <a:ea typeface="Arial" charset="0"/>
                        <a:cs typeface="Arial" charset="0"/>
                      </a:endParaRPr>
                    </a:p>
                  </a:txBody>
                  <a:tcPr marL="57785" marR="57785" marT="57785" marB="57785"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r>
              <a:tr h="359321">
                <a:tc>
                  <a:txBody>
                    <a:bodyPr/>
                    <a:lstStyle/>
                    <a:p>
                      <a:pPr indent="0" marL="0">
                        <a:lnSpc>
                          <a:spcPts val="1820"/>
                        </a:lnSpc>
                        <a:buNone/>
                      </a:pPr>
                      <a:r>
                        <a:rPr lang="en-US" sz="1300" dirty="0">
                          <a:solidFill>
                            <a:srgbClr val="16202E"/>
                          </a:solidFill>
                          <a:latin typeface="Arial" pitchFamily="34" charset="0"/>
                          <a:ea typeface="Arial" pitchFamily="34" charset="-122"/>
                          <a:cs typeface="Arial" pitchFamily="34" charset="-120"/>
                        </a:rPr>
                        <a:t>Answer F1, base → tuned</a:t>
                      </a:r>
                      <a:endParaRPr lang="en-US" sz="1300" dirty="0">
                        <a:latin typeface="Arial" charset="0"/>
                        <a:ea typeface="Arial" charset="0"/>
                        <a:cs typeface="Arial" charset="0"/>
                      </a:endParaRPr>
                    </a:p>
                  </a:txBody>
                  <a:tcPr marL="57785" marR="57785" marT="57785" marB="57785"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algn="r" indent="0" marL="0">
                        <a:lnSpc>
                          <a:spcPts val="1820"/>
                        </a:lnSpc>
                        <a:buNone/>
                      </a:pPr>
                      <a:r>
                        <a:rPr lang="en-US" sz="1300" dirty="0">
                          <a:solidFill>
                            <a:srgbClr val="16202E"/>
                          </a:solidFill>
                          <a:latin typeface="Arial" pitchFamily="34" charset="0"/>
                          <a:ea typeface="Arial" pitchFamily="34" charset="-122"/>
                          <a:cs typeface="Arial" pitchFamily="34" charset="-120"/>
                        </a:rPr>
                        <a:t>[__]</a:t>
                      </a:r>
                      <a:endParaRPr lang="en-US" sz="1300" dirty="0">
                        <a:latin typeface="Arial" charset="0"/>
                        <a:ea typeface="Arial" charset="0"/>
                        <a:cs typeface="Arial" charset="0"/>
                      </a:endParaRPr>
                    </a:p>
                  </a:txBody>
                  <a:tcPr marL="57785" marR="57785" marT="57785" marB="57785"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r>
              <a:tr h="359321">
                <a:tc>
                  <a:txBody>
                    <a:bodyPr/>
                    <a:lstStyle/>
                    <a:p>
                      <a:pPr indent="0" marL="0">
                        <a:lnSpc>
                          <a:spcPts val="1820"/>
                        </a:lnSpc>
                        <a:buNone/>
                      </a:pPr>
                      <a:r>
                        <a:rPr lang="en-US" sz="1300" dirty="0">
                          <a:solidFill>
                            <a:srgbClr val="16202E"/>
                          </a:solidFill>
                          <a:latin typeface="Arial" pitchFamily="34" charset="0"/>
                          <a:ea typeface="Arial" pitchFamily="34" charset="-122"/>
                          <a:cs typeface="Arial" pitchFamily="34" charset="-120"/>
                        </a:rPr>
                        <a:t>Citation precision (CoT)</a:t>
                      </a:r>
                      <a:endParaRPr lang="en-US" sz="1300" dirty="0">
                        <a:latin typeface="Arial" charset="0"/>
                        <a:ea typeface="Arial" charset="0"/>
                        <a:cs typeface="Arial" charset="0"/>
                      </a:endParaRPr>
                    </a:p>
                  </a:txBody>
                  <a:tcPr marL="57785" marR="57785" marT="57785" marB="57785"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algn="r" indent="0" marL="0">
                        <a:lnSpc>
                          <a:spcPts val="1820"/>
                        </a:lnSpc>
                        <a:buNone/>
                      </a:pPr>
                      <a:r>
                        <a:rPr lang="en-US" sz="1300" dirty="0">
                          <a:solidFill>
                            <a:srgbClr val="16202E"/>
                          </a:solidFill>
                          <a:latin typeface="Arial" pitchFamily="34" charset="0"/>
                          <a:ea typeface="Arial" pitchFamily="34" charset="-122"/>
                          <a:cs typeface="Arial" pitchFamily="34" charset="-120"/>
                        </a:rPr>
                        <a:t>[__]</a:t>
                      </a:r>
                      <a:endParaRPr lang="en-US" sz="1300" dirty="0">
                        <a:latin typeface="Arial" charset="0"/>
                        <a:ea typeface="Arial" charset="0"/>
                        <a:cs typeface="Arial" charset="0"/>
                      </a:endParaRPr>
                    </a:p>
                  </a:txBody>
                  <a:tcPr marL="57785" marR="57785" marT="57785" marB="57785"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r>
              <a:tr h="359321">
                <a:tc>
                  <a:txBody>
                    <a:bodyPr/>
                    <a:lstStyle/>
                    <a:p>
                      <a:pPr indent="0" marL="0">
                        <a:lnSpc>
                          <a:spcPts val="1820"/>
                        </a:lnSpc>
                        <a:buNone/>
                      </a:pPr>
                      <a:r>
                        <a:rPr lang="en-US" sz="1300" dirty="0">
                          <a:solidFill>
                            <a:srgbClr val="16202E"/>
                          </a:solidFill>
                          <a:latin typeface="Arial" pitchFamily="34" charset="0"/>
                          <a:ea typeface="Arial" pitchFamily="34" charset="-122"/>
                          <a:cs typeface="Arial" pitchFamily="34" charset="-120"/>
                        </a:rPr>
                        <a:t>Grounded quotes (CoT)</a:t>
                      </a:r>
                      <a:endParaRPr lang="en-US" sz="1300" dirty="0">
                        <a:latin typeface="Arial" charset="0"/>
                        <a:ea typeface="Arial" charset="0"/>
                        <a:cs typeface="Arial" charset="0"/>
                      </a:endParaRPr>
                    </a:p>
                  </a:txBody>
                  <a:tcPr marL="57785" marR="57785" marT="57785" marB="57785"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algn="r" indent="0" marL="0">
                        <a:lnSpc>
                          <a:spcPts val="1820"/>
                        </a:lnSpc>
                        <a:buNone/>
                      </a:pPr>
                      <a:r>
                        <a:rPr lang="en-US" sz="1300" dirty="0">
                          <a:solidFill>
                            <a:srgbClr val="16202E"/>
                          </a:solidFill>
                          <a:latin typeface="Arial" pitchFamily="34" charset="0"/>
                          <a:ea typeface="Arial" pitchFamily="34" charset="-122"/>
                          <a:cs typeface="Arial" pitchFamily="34" charset="-120"/>
                        </a:rPr>
                        <a:t>[__]</a:t>
                      </a:r>
                      <a:endParaRPr lang="en-US" sz="1300" dirty="0">
                        <a:latin typeface="Arial" charset="0"/>
                        <a:ea typeface="Arial" charset="0"/>
                        <a:cs typeface="Arial" charset="0"/>
                      </a:endParaRPr>
                    </a:p>
                  </a:txBody>
                  <a:tcPr marL="57785" marR="57785" marT="57785" marB="57785"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r>
            </a:tbl>
          </a:graphicData>
        </a:graphic>
      </p:graphicFrame>
      <p:sp>
        <p:nvSpPr>
          <p:cNvPr id="14" name="Text 11"/>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280"/>
                </a:solidFill>
                <a:latin typeface="Courier New" pitchFamily="49" charset="0"/>
                <a:ea typeface="Courier New" pitchFamily="49" charset="-122"/>
                <a:cs typeface="Courier New" pitchFamily="49" charset="-120"/>
              </a:rPr>
              <a:t>finetuning_LLM_LORA/ · README.md has every step and flag</a:t>
            </a:r>
            <a:endParaRPr lang="en-US" sz="1200" dirty="0"/>
          </a:p>
        </p:txBody>
      </p:sp>
    </p:spTree>
  </p:cSld>
  <p:clrMapOvr>
    <a:masterClrMapping/>
  </p:clrMapOvr>
</p:sld>
</file>

<file path=ppt/theme/theme1.xml><?xml version="1.0" encoding="utf-8"?>
<a:theme xmlns:a="http://schemas.openxmlformats.org/drawingml/2006/main" name="GEHA Generator LoRA Finetuning">
  <a:themeElements>
    <a:clrScheme name="GEHA Generator LoRA Finetuning">
      <a:dk1>
        <a:srgbClr val="16202E"/>
      </a:dk1>
      <a:lt1>
        <a:srgbClr val="F6F5F0"/>
      </a:lt1>
      <a:dk2>
        <a:srgbClr val="4E555F"/>
      </a:dk2>
      <a:lt2>
        <a:srgbClr val="E0E0DD"/>
      </a:lt2>
      <a:accent1>
        <a:srgbClr val="2F6DB5"/>
      </a:accent1>
      <a:accent2>
        <a:srgbClr val="B4481A"/>
      </a:accent2>
      <a:accent3>
        <a:srgbClr val="F08A5D"/>
      </a:accent3>
      <a:accent4>
        <a:srgbClr val="D9622B"/>
      </a:accent4>
      <a:accent5>
        <a:srgbClr val="4A5568"/>
      </a:accent5>
      <a:accent6>
        <a:srgbClr val="6A7280"/>
      </a:accent6>
      <a:hlink>
        <a:srgbClr val="0563C1"/>
      </a:hlink>
      <a:folHlink>
        <a:srgbClr val="954F72"/>
      </a:folHlink>
    </a:clrScheme>
    <a:fontScheme name="GEHA Generator LoRA Finetuning">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GEHA Generator LoRA Finetuning</dc:title>
  <dc:subject/>
  <dc:creator/>
  <cp:lastModifiedBy/>
  <cp:revision>1</cp:revision>
  <dcterms:created xsi:type="dcterms:W3CDTF">2026-10-21T14:41:06Z</dcterms:created>
  <dcterms:modified xsi:type="dcterms:W3CDTF">2026-10-21T14:41:06Z</dcterms:modified>
</cp:coreProperties>
</file>