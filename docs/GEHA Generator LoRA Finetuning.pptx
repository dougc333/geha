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Default Extension="fntdata" ContentType="application/x-fontdata"/>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embedTrueTypeFonts="1"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Lst>
  <p:notesMasterIdLst>
    <p:notesMasterId r:id="rId15"/>
  </p:notesMasterIdLst>
  <p:sldSz cx="12192000" cy="6858000"/>
  <p:notesSz cx="6858000" cy="12192000"/>
  <p:embeddedFontLst>
    <p:embeddedFont>
      <p:font typeface="JetBrains Mono" panose="02000009000000000000" pitchFamily="49" charset="0"/>
      <p:regular r:id="rId20"/>
      <p:bold r:id="rId21"/>
    </p:embeddedFont>
  </p:embeddedFontLst>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notesMaster" Target="notesMasters/notesMaster1.xml"/><Relationship Id="rId16" Type="http://schemas.openxmlformats.org/officeDocument/2006/relationships/presProps" Target="presProps.xml"/><Relationship Id="rId17" Type="http://schemas.openxmlformats.org/officeDocument/2006/relationships/viewProps" Target="viewProps.xml"/><Relationship Id="rId18" Type="http://schemas.openxmlformats.org/officeDocument/2006/relationships/theme" Target="theme/theme1.xml"/><Relationship Id="rId19" Type="http://schemas.openxmlformats.org/officeDocument/2006/relationships/tableStyles" Target="tableStyles.xml"/><Relationship Id="rId20" Type="http://schemas.openxmlformats.org/officeDocument/2006/relationships/font" Target="fonts/font1.fntdata"/><Relationship Id="rId21" Type="http://schemas.openxmlformats.org/officeDocument/2006/relationships/font" Target="fonts/font2.fntdata"/></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deck covers the generator half of RAG finetuning: what we train, on what data, the Mac attempt and the Colab A100 run, what improved on an unseen document, and the answer to whether it is overfit.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retriever work changed which chunks reach the model. This work changes the model that writes the answer. The two are independent: the retriever result came from an earlier experiment in the finetuning folder; the generator number is the Colab A100 run, scored on the same held-out plan brochure.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Four steps, each a script in finetuning_LLM_LORA. The base and tuned models are evaluated in the same process with the adapter switched off and on, so prompts and decoding are identical.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Each of the 78 training questions produces a direct example and a chain-of-thought example: 156 in total. The rationale is extractive, not written by a model, which is cheaper but imperfect: in this very example the extracted evidence lines miss the line with the phone number, because that line shares few words with the answer. Worth improving with an LLM-written rationale later.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Train and validation come from the same guide but different sections, so validation loss tells us about unseen text in a familiar document. The test set is the plan brochure, a document the model never trains on, so it measures transfer. split_stats.py fails the run if any of the five checks fails.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LoRA freezes the base model and learns low-rank updates on every attention and MLP projection. Only 18.5 million weights train, which is why the saved adapter is 74 MB. With only 156 examples, an epoch is just 20 optimizer steps, which matters for the question of how many epochs to run.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Epoch 1 took 56 minutes, about 21 seconds per training example. Epoch 2 ran for three and a half hours without finishing because of battery throttling, a 12-minute hibernation and heavy swapping. That is why the full run moves to a Colab GPU.</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Same code, same data, same hyperparameters. The A100 trains in bf16 and has far more compute and memory bandwidth, so a full epoch took 71 seconds including validation, against 56 minutes on the Mac. The eval is now the slow part, because it generates 164 answers one token at a time with batch size 1.</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Validation loss is checked every 10 steps. It falls for the first 20 steps, an epoch, and then rises for the remaining 40 while training loss keeps dropping. That is the textbook overfitting pattern. The trainer saves only the lowest-validation checkpoint, so the adapter that was evaluated is the epoch-1 one.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Yes, it overfits if you keep training: after epoch 1, validation loss rises every pass while training loss heads towards 0.1. But the run only keeps the lowest-validation adapter, so the model we use is the epoch-1 one, and on a document it never saw it still beats the base model. For the next run, train 1 epoch or turn on early stopping with patience 2 to save the wasted compute.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Both models saw identical prompts: the gold passage plus two distractors. Answer F1 rose about 0.06 in both formats, and the tuned model was better on 27 of 41 direct questions and 29 of 41 chain-of-thought ones. Citation precision rose 0.12. Quote grounding did not change, and the base model already followed the evidence format. Two cautions: the confidence intervals nearly reach zero with 41 questions and one seed, and the tuned answers are 26 words longer, closer to the 107-word references, which by itself lifts token F1.</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Produced by plot_metrics.py from train_log.jsonl and generator_comparison.json. Top row: loss, the generalization gap, which crosses zero just before epoch 1 and keeps rising, and the learning-rate schedule. Bottom row: gradient norm staying under the clip, wall clock at about 3.4 seconds per step on the A100, and the base-versus-tuned eval.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Four points. One epoch is the right length for this dataset; anything more memorizes. The improvement on an unseen document is genuine but small and comes from a single seed. Repeat the run over several seeds before relying on it. And grade answers for correctness, not just word overlap, since part of the F1 gain comes from longer answers.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Title and body">
    <p:bg>
      <p:bgPr>
        <a:solidFill>
          <a:srgbClr val="F6F5F0"/>
        </a:solidFill>
      </p:bgPr>
    </p:bg>
    <p:spTree>
      <p:nvGrpSpPr>
        <p:cNvPr id="1" name=""/>
        <p:cNvGrpSpPr/>
        <p:nvPr/>
      </p:nvGrpSpPr>
      <p:grpSpPr>
        <a:xfrm>
          <a:off x="0" y="0"/>
          <a:ext cx="0" cy="0"/>
          <a:chOff x="0" y="0"/>
          <a:chExt cx="0" cy="0"/>
        </a:xfrm>
      </p:grpSpPr>
      <p:sp>
        <p:nvSpPr>
          <p:cNvPr id="2" name="Title Placeholder 1"/>
          <p:cNvSpPr/>
          <p:nvPr>
            <p:ph type="title"/>
          </p:nvPr>
        </p:nvSpPr>
        <p:spPr>
          <a:xfrm>
            <a:off x="812800" y="812800"/>
            <a:ext cx="10566400" cy="447030"/>
          </a:xfrm>
          <a:prstGeom prst="rect">
            <a:avLst/>
          </a:prstGeom>
          <a:noFill/>
          <a:ln/>
        </p:spPr>
        <p:txBody>
          <a:bodyPr wrap="square" lIns="0" tIns="0" rIns="0" bIns="0" rtlCol="0" anchor="t"/>
          <a:lstStyle>
            <a:lvl1pPr algn="l" indent="0" marL="0">
              <a:lnSpc>
                <a:spcPct val="115000"/>
              </a:lnSpc>
              <a:buNone/>
              <a:defRPr lang="en-US" sz="3200" dirty="0">
                <a:solidFill>
                  <a:srgbClr val="16202E"/>
                </a:solidFill>
                <a:latin typeface="IBM Plex Sans" pitchFamily="34" charset="0"/>
                <a:ea typeface="IBM Plex Sans" pitchFamily="34" charset="-122"/>
                <a:cs typeface="IBM Plex Sans" pitchFamily="34" charset="-120"/>
              </a:defRPr>
            </a:lvl1pPr>
          </a:lstStyle>
          <a:p>
            <a:pPr algn="l" indent="0" marL="0">
              <a:lnSpc>
                <a:spcPct val="115000"/>
              </a:lnSpc>
              <a:buNone/>
            </a:pPr>
            <a:endParaRPr lang="en-US" sz="3200" dirty="0"/>
          </a:p>
        </p:txBody>
      </p:sp>
      <p:sp>
        <p:nvSpPr>
          <p:cNvPr id="3" name="Text Placeholder 2"/>
          <p:cNvSpPr/>
          <p:nvPr>
            <p:ph idx="101" type="body"/>
          </p:nvPr>
        </p:nvSpPr>
        <p:spPr>
          <a:xfrm>
            <a:off x="812800" y="1564630"/>
            <a:ext cx="10566400" cy="4480570"/>
          </a:xfrm>
          <a:prstGeom prst="rect">
            <a:avLst/>
          </a:prstGeom>
          <a:noFill/>
          <a:ln/>
        </p:spPr>
        <p:txBody>
          <a:bodyPr wrap="square" lIns="0" tIns="0" rIns="0" bIns="0" rtlCol="0" anchor="t"/>
          <a:lstStyle>
            <a:lvl1pPr algn="l" indent="0" marL="0">
              <a:lnSpc>
                <a:spcPct val="140000"/>
              </a:lnSpc>
              <a:buNone/>
              <a:defRPr lang="en-US" sz="1600" dirty="0">
                <a:solidFill>
                  <a:srgbClr val="16202E"/>
                </a:solidFill>
                <a:latin typeface="IBM Plex Sans" pitchFamily="34" charset="0"/>
                <a:ea typeface="IBM Plex Sans" pitchFamily="34" charset="-122"/>
                <a:cs typeface="IBM Plex Sans" pitchFamily="34" charset="-120"/>
              </a:defRPr>
            </a:lvl1pPr>
          </a:lstStyle>
          <a:p>
            <a:pPr algn="l" indent="0" marL="0">
              <a:lnSpc>
                <a:spcPct val="140000"/>
              </a:lnSpc>
              <a:buNone/>
            </a:pPr>
            <a:endParaRPr lang="en-US" sz="1600" dirty="0"/>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Pr>
        <a:solidFill>
          <a:srgbClr val="F6F5F0"/>
        </a:solidFill>
      </p:bgPr>
    </p:bg>
    <p:spTree>
      <p:nvGrpSpPr>
        <p:cNvPr id="1" name=""/>
        <p:cNvGrpSpPr/>
        <p:nvPr/>
      </p:nvGrpSpPr>
      <p:grpSpPr>
        <a:xfrm>
          <a:off x="0" y="0"/>
          <a:ext cx="0" cy="0"/>
          <a:chOff x="0" y="0"/>
          <a:chExt cx="0" cy="0"/>
        </a:xfrm>
      </p:grpSpPr>
      <p:sp>
        <p:nvSpPr>
          <p:cNvPr id="2" name="Title Placeholder 1"/>
          <p:cNvSpPr/>
          <p:nvPr>
            <p:ph type="title"/>
          </p:nvPr>
        </p:nvSpPr>
        <p:spPr>
          <a:xfrm>
            <a:off x="812800" y="812800"/>
            <a:ext cx="10566400" cy="447030"/>
          </a:xfrm>
          <a:prstGeom prst="rect">
            <a:avLst/>
          </a:prstGeom>
          <a:noFill/>
          <a:ln/>
        </p:spPr>
        <p:txBody>
          <a:bodyPr wrap="square" lIns="0" tIns="0" rIns="0" bIns="0" rtlCol="0" anchor="t"/>
          <a:lstStyle>
            <a:lvl1pPr algn="l" indent="0" marL="0">
              <a:lnSpc>
                <a:spcPct val="115000"/>
              </a:lnSpc>
              <a:buNone/>
              <a:defRPr lang="en-US" sz="3200" dirty="0">
                <a:solidFill>
                  <a:srgbClr val="16202E"/>
                </a:solidFill>
                <a:latin typeface="IBM Plex Sans" pitchFamily="34" charset="0"/>
                <a:ea typeface="IBM Plex Sans" pitchFamily="34" charset="-122"/>
                <a:cs typeface="IBM Plex Sans" pitchFamily="34" charset="-120"/>
              </a:defRPr>
            </a:lvl1pPr>
          </a:lstStyle>
          <a:p>
            <a:pPr algn="l" indent="0" marL="0">
              <a:lnSpc>
                <a:spcPct val="115000"/>
              </a:lnSpc>
              <a:buNone/>
            </a:pPr>
            <a:endParaRPr lang="en-US" sz="3200" dirty="0"/>
          </a:p>
        </p:txBody>
      </p:sp>
      <p:sp>
        <p:nvSpPr>
          <p:cNvPr id="3" name="Text Placeholder 2"/>
          <p:cNvSpPr/>
          <p:nvPr>
            <p:ph idx="101" type="body"/>
          </p:nvPr>
        </p:nvSpPr>
        <p:spPr>
          <a:xfrm>
            <a:off x="812800" y="1564630"/>
            <a:ext cx="10566400" cy="4480570"/>
          </a:xfrm>
          <a:prstGeom prst="rect">
            <a:avLst/>
          </a:prstGeom>
          <a:noFill/>
          <a:ln/>
        </p:spPr>
        <p:txBody>
          <a:bodyPr wrap="square" lIns="0" tIns="0" rIns="0" bIns="0" rtlCol="0" anchor="t"/>
          <a:lstStyle>
            <a:lvl1pPr algn="l" indent="0" marL="0">
              <a:lnSpc>
                <a:spcPct val="140000"/>
              </a:lnSpc>
              <a:buNone/>
              <a:defRPr lang="en-US" sz="1600" dirty="0">
                <a:solidFill>
                  <a:srgbClr val="16202E"/>
                </a:solidFill>
                <a:latin typeface="IBM Plex Sans" pitchFamily="34" charset="0"/>
                <a:ea typeface="IBM Plex Sans" pitchFamily="34" charset="-122"/>
                <a:cs typeface="IBM Plex Sans" pitchFamily="34" charset="-120"/>
              </a:defRPr>
            </a:lvl1pPr>
          </a:lstStyle>
          <a:p>
            <a:pPr algn="l" indent="0" marL="0">
              <a:lnSpc>
                <a:spcPct val="140000"/>
              </a:lnSpc>
              <a:buNone/>
            </a:pPr>
            <a:endParaRPr lang="en-US" sz="1600" dirty="0"/>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image" Target="../media/image-3-1.png"/><Relationship Id="rId2" Type="http://schemas.openxmlformats.org/officeDocument/2006/relationships/image" Target="../media/image-3-2.png"/><Relationship Id="rId3" Type="http://schemas.openxmlformats.org/officeDocument/2006/relationships/image" Target="../media/image-3-3.png"/><Relationship Id="rId4" Type="http://schemas.openxmlformats.org/officeDocument/2006/relationships/slideLayout" Target="../slideLayouts/slideLayout2.xml"/><Relationship Id="rId5"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png"/><Relationship Id="rId2" Type="http://schemas.openxmlformats.org/officeDocument/2006/relationships/image" Target="../media/image-5-2.png"/><Relationship Id="rId3" Type="http://schemas.openxmlformats.org/officeDocument/2006/relationships/image" Target="../media/image-5-3.png"/><Relationship Id="rId4" Type="http://schemas.openxmlformats.org/officeDocument/2006/relationships/image" Target="../media/image-5-4.png"/><Relationship Id="rId5" Type="http://schemas.openxmlformats.org/officeDocument/2006/relationships/image" Target="../media/image-5-5.png"/><Relationship Id="rId6" Type="http://schemas.openxmlformats.org/officeDocument/2006/relationships/slideLayout" Target="../slideLayouts/slideLayout2.xml"/><Relationship Id="rId7"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1.png"/><Relationship Id="rId2" Type="http://schemas.openxmlformats.org/officeDocument/2006/relationships/image" Target="../media/image-7-2.png"/><Relationship Id="rId3" Type="http://schemas.openxmlformats.org/officeDocument/2006/relationships/image" Target="../media/image-7-3.png"/><Relationship Id="rId4" Type="http://schemas.openxmlformats.org/officeDocument/2006/relationships/image" Target="../media/image-7-4.png"/><Relationship Id="rId5" Type="http://schemas.openxmlformats.org/officeDocument/2006/relationships/image" Target="../media/image-7-5.png"/><Relationship Id="rId6" Type="http://schemas.openxmlformats.org/officeDocument/2006/relationships/slideLayout" Target="../slideLayouts/slideLayout2.xml"/><Relationship Id="rId7"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image" Target="../media/image-12-1.png"/><Relationship Id="rId2" Type="http://schemas.openxmlformats.org/officeDocument/2006/relationships/slideLayout" Target="../slideLayouts/slideLayout2.xml"/><Relationship Id="rId3"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3.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16202E"/>
        </a:solidFill>
      </p:bgPr>
    </p:bg>
    <p:spTree>
      <p:nvGrpSpPr>
        <p:cNvPr id="1" name=""/>
        <p:cNvGrpSpPr/>
        <p:nvPr/>
      </p:nvGrpSpPr>
      <p:grpSpPr>
        <a:xfrm>
          <a:off x="0" y="0"/>
          <a:ext cx="0" cy="0"/>
          <a:chOff x="0" y="0"/>
          <a:chExt cx="0" cy="0"/>
        </a:xfrm>
      </p:grpSpPr>
      <p:sp>
        <p:nvSpPr>
          <p:cNvPr id="2" name="Text 0"/>
          <p:cNvSpPr/>
          <p:nvPr/>
        </p:nvSpPr>
        <p:spPr>
          <a:xfrm>
            <a:off x="812800" y="812800"/>
            <a:ext cx="10883392" cy="274290"/>
          </a:xfrm>
          <a:prstGeom prst="rect">
            <a:avLst/>
          </a:prstGeom>
          <a:noFill/>
          <a:ln/>
        </p:spPr>
        <p:txBody>
          <a:bodyPr wrap="square" lIns="0" tIns="0" rIns="0" bIns="0" rtlCol="0" anchor="t">
            <a:normAutofit/>
          </a:bodyPr>
          <a:lstStyle/>
          <a:p>
            <a:pPr algn="l" indent="0" marL="0">
              <a:lnSpc>
                <a:spcPts val="1960"/>
              </a:lnSpc>
              <a:buNone/>
            </a:pPr>
            <a:r>
              <a:rPr lang="en-US" sz="1400" spc="100" kern="0" dirty="0">
                <a:solidFill>
                  <a:srgbClr val="F08A5D"/>
                </a:solidFill>
                <a:latin typeface="JetBrains Mono" pitchFamily="49" charset="0"/>
                <a:ea typeface="JetBrains Mono" pitchFamily="49" charset="-122"/>
                <a:cs typeface="JetBrains Mono" pitchFamily="49" charset="-120"/>
              </a:rPr>
              <a:t>GEHA DENTAL RAG · GENERATOR FINETUNING</a:t>
            </a:r>
            <a:endParaRPr lang="en-US" sz="1400" dirty="0"/>
          </a:p>
        </p:txBody>
      </p:sp>
      <p:sp>
        <p:nvSpPr>
          <p:cNvPr id="3" name="Text 1"/>
          <p:cNvSpPr/>
          <p:nvPr>
            <p:ph type="title"/>
          </p:nvPr>
        </p:nvSpPr>
        <p:spPr>
          <a:xfrm>
            <a:off x="812800" y="2265710"/>
            <a:ext cx="10883392" cy="1412180"/>
          </a:xfrm>
          <a:prstGeom prst="rect">
            <a:avLst/>
          </a:prstGeom>
          <a:noFill/>
          <a:ln/>
        </p:spPr>
        <p:txBody>
          <a:bodyPr wrap="square" lIns="0" tIns="0" rIns="0" bIns="0" rtlCol="0" anchor="t">
            <a:normAutofit/>
          </a:bodyPr>
          <a:lstStyle/>
          <a:p>
            <a:pPr algn="l" indent="0" marL="0">
              <a:lnSpc>
                <a:spcPts val="5460"/>
              </a:lnSpc>
              <a:buNone/>
            </a:pPr>
            <a:r>
              <a:rPr lang="en-US" sz="5200" b="1" i="0" dirty="0">
                <a:solidFill>
                  <a:srgbClr val="F3F1EA"/>
                </a:solidFill>
                <a:latin typeface="IBM Plex Sans" pitchFamily="34" charset="0"/>
                <a:ea typeface="IBM Plex Sans" pitchFamily="34" charset="-122"/>
                <a:cs typeface="IBM Plex Sans" pitchFamily="34" charset="-120"/>
              </a:rPr>
              <a:t>Teaching the answer model to read our passages</a:t>
            </a:r>
            <a:endParaRPr lang="en-US" sz="5200" dirty="0"/>
          </a:p>
        </p:txBody>
      </p:sp>
      <p:sp>
        <p:nvSpPr>
          <p:cNvPr id="4" name="Text 2"/>
          <p:cNvSpPr/>
          <p:nvPr/>
        </p:nvSpPr>
        <p:spPr>
          <a:xfrm>
            <a:off x="812800" y="3906490"/>
            <a:ext cx="10883392" cy="711200"/>
          </a:xfrm>
          <a:prstGeom prst="rect">
            <a:avLst/>
          </a:prstGeom>
          <a:noFill/>
          <a:ln/>
        </p:spPr>
        <p:txBody>
          <a:bodyPr wrap="square" lIns="0" tIns="0" rIns="0" bIns="0" rtlCol="0" anchor="t">
            <a:normAutofit/>
          </a:bodyPr>
          <a:lstStyle/>
          <a:p>
            <a:pPr algn="l" indent="0" marL="0">
              <a:lnSpc>
                <a:spcPts val="2700"/>
              </a:lnSpc>
              <a:buNone/>
            </a:pPr>
            <a:r>
              <a:rPr lang="en-US" sz="2000" dirty="0">
                <a:solidFill>
                  <a:srgbClr val="B9C3D1"/>
                </a:solidFill>
                <a:latin typeface="IBM Plex Sans" pitchFamily="34" charset="0"/>
                <a:ea typeface="IBM Plex Sans" pitchFamily="34" charset="-122"/>
                <a:cs typeface="IBM Plex Sans" pitchFamily="34" charset="-120"/>
              </a:rPr>
              <a:t>LoRA instruction finetuning of Qwen2.5‑1.5B‑Instruct on direct and chain‑of‑thought examples</a:t>
            </a:r>
            <a:endParaRPr lang="en-US" sz="2000" dirty="0"/>
          </a:p>
        </p:txBody>
      </p:sp>
      <p:sp>
        <p:nvSpPr>
          <p:cNvPr id="5" name="Text 3"/>
          <p:cNvSpPr/>
          <p:nvPr/>
        </p:nvSpPr>
        <p:spPr>
          <a:xfrm>
            <a:off x="812800" y="5796310"/>
            <a:ext cx="10883392" cy="274290"/>
          </a:xfrm>
          <a:prstGeom prst="rect">
            <a:avLst/>
          </a:prstGeom>
          <a:noFill/>
          <a:ln/>
        </p:spPr>
        <p:txBody>
          <a:bodyPr wrap="square" lIns="0" tIns="0" rIns="0" bIns="0" rtlCol="0" anchor="t">
            <a:normAutofit/>
          </a:bodyPr>
          <a:lstStyle/>
          <a:p>
            <a:pPr algn="l" indent="0" marL="0">
              <a:lnSpc>
                <a:spcPts val="1960"/>
              </a:lnSpc>
              <a:buNone/>
            </a:pPr>
            <a:r>
              <a:rPr lang="en-US" sz="1400" dirty="0">
                <a:solidFill>
                  <a:srgbClr val="8C98A8"/>
                </a:solidFill>
                <a:latin typeface="IBM Plex Sans" pitchFamily="34" charset="0"/>
                <a:ea typeface="IBM Plex Sans" pitchFamily="34" charset="-122"/>
                <a:cs typeface="IBM Plex Sans" pitchFamily="34" charset="-120"/>
              </a:rPr>
              <a:t>October 2026 · experiment log · results from the Colab A100 run, 21 Oct</a:t>
            </a:r>
            <a:endParaRPr lang="en-US" sz="14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6F5F0"/>
        </a:solidFill>
      </p:bgPr>
    </p:bg>
    <p:spTree>
      <p:nvGrpSpPr>
        <p:cNvPr id="1" name=""/>
        <p:cNvGrpSpPr/>
        <p:nvPr/>
      </p:nvGrpSpPr>
      <p:grpSpPr>
        <a:xfrm>
          <a:off x="0" y="0"/>
          <a:ext cx="0" cy="0"/>
          <a:chOff x="0" y="0"/>
          <a:chExt cx="0" cy="0"/>
        </a:xfrm>
      </p:grpSpPr>
      <p:sp>
        <p:nvSpPr>
          <p:cNvPr id="2" name="Text 0"/>
          <p:cNvSpPr/>
          <p:nvPr>
            <p:ph type="title"/>
          </p:nvPr>
        </p:nvSpPr>
        <p:spPr>
          <a:xfrm>
            <a:off x="812800" y="812800"/>
            <a:ext cx="10883392" cy="472430"/>
          </a:xfrm>
          <a:prstGeom prst="rect">
            <a:avLst/>
          </a:prstGeom>
          <a:noFill/>
          <a:ln/>
        </p:spPr>
        <p:txBody>
          <a:bodyPr wrap="square" lIns="0" tIns="0" rIns="0" bIns="0" rtlCol="0" anchor="t">
            <a:normAutofit/>
          </a:bodyPr>
          <a:lstStyle/>
          <a:p>
            <a:pPr algn="l" indent="0" marL="0">
              <a:lnSpc>
                <a:spcPts val="3520"/>
              </a:lnSpc>
              <a:buNone/>
            </a:pPr>
            <a:r>
              <a:rPr lang="en-US" sz="3200" b="1" i="0" dirty="0">
                <a:solidFill>
                  <a:srgbClr val="16202E"/>
                </a:solidFill>
                <a:latin typeface="IBM Plex Sans" pitchFamily="34" charset="0"/>
                <a:ea typeface="IBM Plex Sans" pitchFamily="34" charset="-122"/>
                <a:cs typeface="IBM Plex Sans" pitchFamily="34" charset="-120"/>
              </a:rPr>
              <a:t>Two places to finetune a RAG system</a:t>
            </a:r>
            <a:endParaRPr lang="en-US" sz="3200" dirty="0"/>
          </a:p>
        </p:txBody>
      </p:sp>
      <p:sp>
        <p:nvSpPr>
          <p:cNvPr id="3" name="Shape 1"/>
          <p:cNvSpPr/>
          <p:nvPr/>
        </p:nvSpPr>
        <p:spPr>
          <a:xfrm>
            <a:off x="819150" y="1621780"/>
            <a:ext cx="5143500" cy="4213870"/>
          </a:xfrm>
          <a:prstGeom prst="roundRect">
            <a:avLst>
              <a:gd name="adj" fmla="val 2863"/>
            </a:avLst>
          </a:prstGeom>
          <a:solidFill>
            <a:srgbClr val="FDFCF9"/>
          </a:solidFill>
          <a:ln w="12700">
            <a:solidFill>
              <a:srgbClr val="E2DED3"/>
            </a:solidFill>
            <a:prstDash val="solid"/>
          </a:ln>
        </p:spPr>
      </p:sp>
      <p:sp>
        <p:nvSpPr>
          <p:cNvPr id="4" name="Text 2"/>
          <p:cNvSpPr/>
          <p:nvPr/>
        </p:nvSpPr>
        <p:spPr>
          <a:xfrm>
            <a:off x="1130300" y="1932930"/>
            <a:ext cx="4656836" cy="238720"/>
          </a:xfrm>
          <a:prstGeom prst="rect">
            <a:avLst/>
          </a:prstGeom>
          <a:noFill/>
          <a:ln/>
        </p:spPr>
        <p:txBody>
          <a:bodyPr wrap="square" lIns="0" tIns="0" rIns="0" bIns="0" rtlCol="0" anchor="t">
            <a:normAutofit/>
          </a:bodyPr>
          <a:lstStyle/>
          <a:p>
            <a:pPr algn="l" indent="0" marL="0">
              <a:lnSpc>
                <a:spcPts val="1680"/>
              </a:lnSpc>
              <a:buNone/>
            </a:pPr>
            <a:r>
              <a:rPr lang="en-US" sz="1200" spc="50" kern="0" dirty="0">
                <a:solidFill>
                  <a:srgbClr val="2F6DB5"/>
                </a:solidFill>
                <a:latin typeface="JetBrains Mono" pitchFamily="49" charset="0"/>
                <a:ea typeface="JetBrains Mono" pitchFamily="49" charset="-122"/>
                <a:cs typeface="JetBrains Mono" pitchFamily="49" charset="-120"/>
              </a:rPr>
              <a:t>RETRIEVER · DONE EARLIER</a:t>
            </a:r>
            <a:endParaRPr lang="en-US" sz="1200" dirty="0"/>
          </a:p>
        </p:txBody>
      </p:sp>
      <p:sp>
        <p:nvSpPr>
          <p:cNvPr id="5" name="Text 3"/>
          <p:cNvSpPr/>
          <p:nvPr/>
        </p:nvSpPr>
        <p:spPr>
          <a:xfrm>
            <a:off x="1130300" y="2298650"/>
            <a:ext cx="4656836" cy="360660"/>
          </a:xfrm>
          <a:prstGeom prst="rect">
            <a:avLst/>
          </a:prstGeom>
          <a:noFill/>
          <a:ln/>
        </p:spPr>
        <p:txBody>
          <a:bodyPr wrap="square" lIns="0" tIns="0" rIns="0" bIns="0" rtlCol="0" anchor="t">
            <a:normAutofit/>
          </a:bodyPr>
          <a:lstStyle/>
          <a:p>
            <a:pPr algn="l" indent="0" marL="0">
              <a:lnSpc>
                <a:spcPts val="2640"/>
              </a:lnSpc>
              <a:buNone/>
            </a:pPr>
            <a:r>
              <a:rPr lang="en-US" sz="2200" b="1" dirty="0">
                <a:solidFill>
                  <a:srgbClr val="16202E"/>
                </a:solidFill>
                <a:latin typeface="IBM Plex Sans" pitchFamily="34" charset="0"/>
                <a:ea typeface="IBM Plex Sans" pitchFamily="34" charset="-122"/>
                <a:cs typeface="IBM Plex Sans" pitchFamily="34" charset="-120"/>
              </a:rPr>
              <a:t>Which chunks the LLM sees</a:t>
            </a:r>
            <a:endParaRPr lang="en-US" sz="2200" dirty="0"/>
          </a:p>
        </p:txBody>
      </p:sp>
      <p:sp>
        <p:nvSpPr>
          <p:cNvPr id="6" name="Text 4"/>
          <p:cNvSpPr/>
          <p:nvPr/>
        </p:nvSpPr>
        <p:spPr>
          <a:xfrm>
            <a:off x="1130300" y="2786311"/>
            <a:ext cx="4656836" cy="558800"/>
          </a:xfrm>
          <a:prstGeom prst="rect">
            <a:avLst/>
          </a:prstGeom>
          <a:noFill/>
          <a:ln/>
        </p:spPr>
        <p:txBody>
          <a:bodyPr wrap="square" lIns="0" tIns="0" rIns="0" bIns="0" rtlCol="0" anchor="t">
            <a:normAutofit/>
          </a:bodyPr>
          <a:lstStyle/>
          <a:p>
            <a:pPr algn="l" indent="0" marL="0">
              <a:lnSpc>
                <a:spcPts val="2100"/>
              </a:lnSpc>
              <a:buNone/>
            </a:pPr>
            <a:r>
              <a:rPr lang="en-US" sz="1500" dirty="0">
                <a:solidFill>
                  <a:srgbClr val="4A5568"/>
                </a:solidFill>
                <a:latin typeface="IBM Plex Sans" pitchFamily="34" charset="0"/>
                <a:ea typeface="IBM Plex Sans" pitchFamily="34" charset="-122"/>
                <a:cs typeface="IBM Plex Sans" pitchFamily="34" charset="-120"/>
              </a:rPr>
              <a:t>bge‑base‑en‑v1.5 embedding model, contrastive loss on question → chunk pairs.</a:t>
            </a:r>
            <a:endParaRPr lang="en-US" sz="1500" dirty="0"/>
          </a:p>
        </p:txBody>
      </p:sp>
      <p:sp>
        <p:nvSpPr>
          <p:cNvPr id="7" name="Text 5"/>
          <p:cNvSpPr/>
          <p:nvPr/>
        </p:nvSpPr>
        <p:spPr>
          <a:xfrm>
            <a:off x="1130300" y="4991100"/>
            <a:ext cx="4656836" cy="558800"/>
          </a:xfrm>
          <a:prstGeom prst="rect">
            <a:avLst/>
          </a:prstGeom>
          <a:noFill/>
          <a:ln/>
        </p:spPr>
        <p:txBody>
          <a:bodyPr wrap="square" lIns="0" tIns="0" rIns="0" bIns="0" rtlCol="0" anchor="t">
            <a:normAutofit/>
          </a:bodyPr>
          <a:lstStyle/>
          <a:p>
            <a:pPr algn="l" indent="0" marL="0">
              <a:lnSpc>
                <a:spcPts val="2100"/>
              </a:lnSpc>
              <a:buNone/>
            </a:pPr>
            <a:r>
              <a:rPr lang="en-US" sz="1500" b="1" dirty="0">
                <a:solidFill>
                  <a:srgbClr val="16202E"/>
                </a:solidFill>
                <a:latin typeface="IBM Plex Sans" pitchFamily="34" charset="0"/>
                <a:ea typeface="IBM Plex Sans" pitchFamily="34" charset="-122"/>
                <a:cs typeface="IBM Plex Sans" pitchFamily="34" charset="-120"/>
              </a:rPr>
              <a:t>Recall@5: 64.6% → 68.7%</a:t>
            </a:r>
            <a:r>
              <a:rPr lang="en-US" sz="1500" dirty="0">
                <a:solidFill>
                  <a:srgbClr val="16202E"/>
                </a:solidFill>
                <a:latin typeface="IBM Plex Sans" pitchFamily="34" charset="0"/>
                <a:ea typeface="IBM Plex Sans" pitchFamily="34" charset="-122"/>
                <a:cs typeface="IBM Plex Sans" pitchFamily="34" charset="-120"/>
              </a:rPr>
              <a:t> on the held‑out brochure</a:t>
            </a:r>
            <a:endParaRPr lang="en-US" sz="1500" dirty="0"/>
          </a:p>
        </p:txBody>
      </p:sp>
      <p:sp>
        <p:nvSpPr>
          <p:cNvPr id="8" name="Shape 6"/>
          <p:cNvSpPr/>
          <p:nvPr/>
        </p:nvSpPr>
        <p:spPr>
          <a:xfrm>
            <a:off x="6229350" y="1621780"/>
            <a:ext cx="5143500" cy="4213870"/>
          </a:xfrm>
          <a:prstGeom prst="roundRect">
            <a:avLst>
              <a:gd name="adj" fmla="val 2863"/>
            </a:avLst>
          </a:prstGeom>
          <a:solidFill>
            <a:srgbClr val="FDFCF9"/>
          </a:solidFill>
          <a:ln w="12700">
            <a:solidFill>
              <a:srgbClr val="D9622B"/>
            </a:solidFill>
            <a:prstDash val="solid"/>
          </a:ln>
        </p:spPr>
      </p:sp>
      <p:sp>
        <p:nvSpPr>
          <p:cNvPr id="9" name="Text 7"/>
          <p:cNvSpPr/>
          <p:nvPr/>
        </p:nvSpPr>
        <p:spPr>
          <a:xfrm>
            <a:off x="6540500" y="1932930"/>
            <a:ext cx="4656836" cy="238720"/>
          </a:xfrm>
          <a:prstGeom prst="rect">
            <a:avLst/>
          </a:prstGeom>
          <a:noFill/>
          <a:ln/>
        </p:spPr>
        <p:txBody>
          <a:bodyPr wrap="square" lIns="0" tIns="0" rIns="0" bIns="0" rtlCol="0" anchor="t">
            <a:normAutofit/>
          </a:bodyPr>
          <a:lstStyle/>
          <a:p>
            <a:pPr algn="l" indent="0" marL="0">
              <a:lnSpc>
                <a:spcPts val="1680"/>
              </a:lnSpc>
              <a:buNone/>
            </a:pPr>
            <a:r>
              <a:rPr lang="en-US" sz="1200" spc="50" kern="0" dirty="0">
                <a:solidFill>
                  <a:srgbClr val="B4481A"/>
                </a:solidFill>
                <a:latin typeface="JetBrains Mono" pitchFamily="49" charset="0"/>
                <a:ea typeface="JetBrains Mono" pitchFamily="49" charset="-122"/>
                <a:cs typeface="JetBrains Mono" pitchFamily="49" charset="-120"/>
              </a:rPr>
              <a:t>GENERATOR · THIS DECK</a:t>
            </a:r>
            <a:endParaRPr lang="en-US" sz="1200" dirty="0"/>
          </a:p>
        </p:txBody>
      </p:sp>
      <p:sp>
        <p:nvSpPr>
          <p:cNvPr id="10" name="Text 8"/>
          <p:cNvSpPr/>
          <p:nvPr/>
        </p:nvSpPr>
        <p:spPr>
          <a:xfrm>
            <a:off x="6540500" y="2298650"/>
            <a:ext cx="4656836" cy="360660"/>
          </a:xfrm>
          <a:prstGeom prst="rect">
            <a:avLst/>
          </a:prstGeom>
          <a:noFill/>
          <a:ln/>
        </p:spPr>
        <p:txBody>
          <a:bodyPr wrap="square" lIns="0" tIns="0" rIns="0" bIns="0" rtlCol="0" anchor="t">
            <a:normAutofit/>
          </a:bodyPr>
          <a:lstStyle/>
          <a:p>
            <a:pPr algn="l" indent="0" marL="0">
              <a:lnSpc>
                <a:spcPts val="2640"/>
              </a:lnSpc>
              <a:buNone/>
            </a:pPr>
            <a:r>
              <a:rPr lang="en-US" sz="2200" b="1" dirty="0">
                <a:solidFill>
                  <a:srgbClr val="16202E"/>
                </a:solidFill>
                <a:latin typeface="IBM Plex Sans" pitchFamily="34" charset="0"/>
                <a:ea typeface="IBM Plex Sans" pitchFamily="34" charset="-122"/>
                <a:cs typeface="IBM Plex Sans" pitchFamily="34" charset="-120"/>
              </a:rPr>
              <a:t>How the LLM answers from them</a:t>
            </a:r>
            <a:endParaRPr lang="en-US" sz="2200" dirty="0"/>
          </a:p>
        </p:txBody>
      </p:sp>
      <p:sp>
        <p:nvSpPr>
          <p:cNvPr id="11" name="Text 9"/>
          <p:cNvSpPr/>
          <p:nvPr/>
        </p:nvSpPr>
        <p:spPr>
          <a:xfrm>
            <a:off x="6540500" y="2786311"/>
            <a:ext cx="4656836" cy="558800"/>
          </a:xfrm>
          <a:prstGeom prst="rect">
            <a:avLst/>
          </a:prstGeom>
          <a:noFill/>
          <a:ln/>
        </p:spPr>
        <p:txBody>
          <a:bodyPr wrap="square" lIns="0" tIns="0" rIns="0" bIns="0" rtlCol="0" anchor="t">
            <a:normAutofit/>
          </a:bodyPr>
          <a:lstStyle/>
          <a:p>
            <a:pPr algn="l" indent="0" marL="0">
              <a:lnSpc>
                <a:spcPts val="2100"/>
              </a:lnSpc>
              <a:buNone/>
            </a:pPr>
            <a:r>
              <a:rPr lang="en-US" sz="1500" dirty="0">
                <a:solidFill>
                  <a:srgbClr val="4A5568"/>
                </a:solidFill>
                <a:latin typeface="IBM Plex Sans" pitchFamily="34" charset="0"/>
                <a:ea typeface="IBM Plex Sans" pitchFamily="34" charset="-122"/>
                <a:cs typeface="IBM Plex Sans" pitchFamily="34" charset="-120"/>
              </a:rPr>
              <a:t>Qwen2.5‑1.5B‑Instruct chat model, LoRA instruction finetuning on passage + question → answer.</a:t>
            </a:r>
            <a:endParaRPr lang="en-US" sz="1500" dirty="0"/>
          </a:p>
        </p:txBody>
      </p:sp>
      <p:sp>
        <p:nvSpPr>
          <p:cNvPr id="12" name="Text 10"/>
          <p:cNvSpPr/>
          <p:nvPr/>
        </p:nvSpPr>
        <p:spPr>
          <a:xfrm>
            <a:off x="6540500" y="5257800"/>
            <a:ext cx="4656836" cy="292100"/>
          </a:xfrm>
          <a:prstGeom prst="rect">
            <a:avLst/>
          </a:prstGeom>
          <a:noFill/>
          <a:ln/>
        </p:spPr>
        <p:txBody>
          <a:bodyPr wrap="square" lIns="0" tIns="0" rIns="0" bIns="0" rtlCol="0" anchor="t">
            <a:normAutofit/>
          </a:bodyPr>
          <a:lstStyle/>
          <a:p>
            <a:pPr algn="l" indent="0" marL="0">
              <a:lnSpc>
                <a:spcPts val="2100"/>
              </a:lnSpc>
              <a:buNone/>
            </a:pPr>
            <a:r>
              <a:rPr lang="en-US" sz="1500" b="1" dirty="0">
                <a:solidFill>
                  <a:srgbClr val="16202E"/>
                </a:solidFill>
                <a:latin typeface="IBM Plex Sans" pitchFamily="34" charset="0"/>
                <a:ea typeface="IBM Plex Sans" pitchFamily="34" charset="-122"/>
                <a:cs typeface="IBM Plex Sans" pitchFamily="34" charset="-120"/>
              </a:rPr>
              <a:t>Answer F1: 0.51 → 0.57</a:t>
            </a:r>
            <a:r>
              <a:rPr lang="en-US" sz="1500" dirty="0">
                <a:solidFill>
                  <a:srgbClr val="16202E"/>
                </a:solidFill>
                <a:latin typeface="IBM Plex Sans" pitchFamily="34" charset="0"/>
                <a:ea typeface="IBM Plex Sans" pitchFamily="34" charset="-122"/>
                <a:cs typeface="IBM Plex Sans" pitchFamily="34" charset="-120"/>
              </a:rPr>
              <a:t> on the held‑out brochure</a:t>
            </a:r>
            <a:endParaRPr lang="en-US" sz="1500" dirty="0"/>
          </a:p>
        </p:txBody>
      </p:sp>
      <p:sp>
        <p:nvSpPr>
          <p:cNvPr id="13" name="Text 11"/>
          <p:cNvSpPr/>
          <p:nvPr/>
        </p:nvSpPr>
        <p:spPr>
          <a:xfrm>
            <a:off x="812800" y="6238280"/>
            <a:ext cx="10883392" cy="238720"/>
          </a:xfrm>
          <a:prstGeom prst="rect">
            <a:avLst/>
          </a:prstGeom>
          <a:noFill/>
          <a:ln/>
        </p:spPr>
        <p:txBody>
          <a:bodyPr wrap="square" lIns="0" tIns="0" rIns="0" bIns="0" rtlCol="0" anchor="t">
            <a:normAutofit/>
          </a:bodyPr>
          <a:lstStyle/>
          <a:p>
            <a:pPr algn="l" indent="0" marL="0">
              <a:lnSpc>
                <a:spcPts val="1680"/>
              </a:lnSpc>
              <a:buNone/>
            </a:pPr>
            <a:r>
              <a:rPr lang="en-US" sz="1200" dirty="0">
                <a:solidFill>
                  <a:srgbClr val="6A7280"/>
                </a:solidFill>
                <a:latin typeface="IBM Plex Sans" pitchFamily="34" charset="0"/>
                <a:ea typeface="IBM Plex Sans" pitchFamily="34" charset="-122"/>
                <a:cs typeface="IBM Plex Sans" pitchFamily="34" charset="-120"/>
              </a:rPr>
              <a:t>The slide that started this: instruction finetuning with direct and chain‑of‑thought data (FLAN, arXiv 2210.11416)</a:t>
            </a:r>
            <a:endParaRPr lang="en-US" sz="12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6F5F0"/>
        </a:solidFill>
      </p:bgPr>
    </p:bg>
    <p:spTree>
      <p:nvGrpSpPr>
        <p:cNvPr id="1" name=""/>
        <p:cNvGrpSpPr/>
        <p:nvPr/>
      </p:nvGrpSpPr>
      <p:grpSpPr>
        <a:xfrm>
          <a:off x="0" y="0"/>
          <a:ext cx="0" cy="0"/>
          <a:chOff x="0" y="0"/>
          <a:chExt cx="0" cy="0"/>
        </a:xfrm>
      </p:grpSpPr>
      <p:sp>
        <p:nvSpPr>
          <p:cNvPr id="2" name="Text 0"/>
          <p:cNvSpPr/>
          <p:nvPr>
            <p:ph type="title"/>
          </p:nvPr>
        </p:nvSpPr>
        <p:spPr>
          <a:xfrm>
            <a:off x="812800" y="812800"/>
            <a:ext cx="10883392" cy="472430"/>
          </a:xfrm>
          <a:prstGeom prst="rect">
            <a:avLst/>
          </a:prstGeom>
          <a:noFill/>
          <a:ln/>
        </p:spPr>
        <p:txBody>
          <a:bodyPr wrap="square" lIns="0" tIns="0" rIns="0" bIns="0" rtlCol="0" anchor="t">
            <a:normAutofit/>
          </a:bodyPr>
          <a:lstStyle/>
          <a:p>
            <a:pPr algn="l" indent="0" marL="0">
              <a:lnSpc>
                <a:spcPts val="3520"/>
              </a:lnSpc>
              <a:buNone/>
            </a:pPr>
            <a:r>
              <a:rPr lang="en-US" sz="3200" b="1" i="0" dirty="0">
                <a:solidFill>
                  <a:srgbClr val="16202E"/>
                </a:solidFill>
                <a:latin typeface="IBM Plex Sans" pitchFamily="34" charset="0"/>
                <a:ea typeface="IBM Plex Sans" pitchFamily="34" charset="-122"/>
                <a:cs typeface="IBM Plex Sans" pitchFamily="34" charset="-120"/>
              </a:rPr>
              <a:t>The pipeline, end to end</a:t>
            </a:r>
            <a:endParaRPr lang="en-US" sz="3200" dirty="0"/>
          </a:p>
        </p:txBody>
      </p:sp>
      <p:sp>
        <p:nvSpPr>
          <p:cNvPr id="3" name="Shape 1"/>
          <p:cNvSpPr/>
          <p:nvPr/>
        </p:nvSpPr>
        <p:spPr>
          <a:xfrm>
            <a:off x="819150" y="1672580"/>
            <a:ext cx="2286000" cy="2316361"/>
          </a:xfrm>
          <a:prstGeom prst="roundRect">
            <a:avLst>
              <a:gd name="adj" fmla="val 5278"/>
            </a:avLst>
          </a:prstGeom>
          <a:solidFill>
            <a:srgbClr val="FDFCF9"/>
          </a:solidFill>
          <a:ln w="12700">
            <a:solidFill>
              <a:srgbClr val="E2DED3"/>
            </a:solidFill>
            <a:prstDash val="solid"/>
          </a:ln>
        </p:spPr>
      </p:sp>
      <p:sp>
        <p:nvSpPr>
          <p:cNvPr id="4" name="Text 2"/>
          <p:cNvSpPr/>
          <p:nvPr/>
        </p:nvSpPr>
        <p:spPr>
          <a:xfrm>
            <a:off x="1054100" y="1907530"/>
            <a:ext cx="1870583" cy="238720"/>
          </a:xfrm>
          <a:prstGeom prst="rect">
            <a:avLst/>
          </a:prstGeom>
          <a:noFill/>
          <a:ln/>
        </p:spPr>
        <p:txBody>
          <a:bodyPr wrap="square" lIns="0" tIns="0" rIns="0" bIns="0" rtlCol="0" anchor="t">
            <a:normAutofit/>
          </a:bodyPr>
          <a:lstStyle/>
          <a:p>
            <a:pPr algn="l" indent="0" marL="0">
              <a:lnSpc>
                <a:spcPts val="1680"/>
              </a:lnSpc>
              <a:buNone/>
            </a:pPr>
            <a:r>
              <a:rPr lang="en-US" sz="1200" dirty="0">
                <a:solidFill>
                  <a:srgbClr val="2F6DB5"/>
                </a:solidFill>
                <a:latin typeface="JetBrains Mono" pitchFamily="49" charset="0"/>
                <a:ea typeface="JetBrains Mono" pitchFamily="49" charset="-122"/>
                <a:cs typeface="JetBrains Mono" pitchFamily="49" charset="-120"/>
              </a:rPr>
              <a:t>01</a:t>
            </a:r>
            <a:endParaRPr lang="en-US" sz="1200" dirty="0"/>
          </a:p>
        </p:txBody>
      </p:sp>
      <p:sp>
        <p:nvSpPr>
          <p:cNvPr id="5" name="Text 3"/>
          <p:cNvSpPr/>
          <p:nvPr/>
        </p:nvSpPr>
        <p:spPr>
          <a:xfrm>
            <a:off x="1054100" y="2222450"/>
            <a:ext cx="1870583" cy="299690"/>
          </a:xfrm>
          <a:prstGeom prst="rect">
            <a:avLst/>
          </a:prstGeom>
          <a:noFill/>
          <a:ln/>
        </p:spPr>
        <p:txBody>
          <a:bodyPr wrap="square" lIns="0" tIns="0" rIns="0" bIns="0" rtlCol="0" anchor="t">
            <a:normAutofit/>
          </a:bodyPr>
          <a:lstStyle/>
          <a:p>
            <a:pPr algn="l" indent="0" marL="0">
              <a:lnSpc>
                <a:spcPts val="2160"/>
              </a:lnSpc>
              <a:buNone/>
            </a:pPr>
            <a:r>
              <a:rPr lang="en-US" sz="1800" b="1" dirty="0">
                <a:solidFill>
                  <a:srgbClr val="16202E"/>
                </a:solidFill>
                <a:latin typeface="IBM Plex Sans" pitchFamily="34" charset="0"/>
                <a:ea typeface="IBM Plex Sans" pitchFamily="34" charset="-122"/>
                <a:cs typeface="IBM Plex Sans" pitchFamily="34" charset="-120"/>
              </a:rPr>
              <a:t>QA pairs</a:t>
            </a:r>
            <a:endParaRPr lang="en-US" sz="1800" dirty="0"/>
          </a:p>
        </p:txBody>
      </p:sp>
      <p:sp>
        <p:nvSpPr>
          <p:cNvPr id="6" name="Text 4"/>
          <p:cNvSpPr/>
          <p:nvPr/>
        </p:nvSpPr>
        <p:spPr>
          <a:xfrm>
            <a:off x="1054100" y="2598341"/>
            <a:ext cx="1870583" cy="949920"/>
          </a:xfrm>
          <a:prstGeom prst="rect">
            <a:avLst/>
          </a:prstGeom>
          <a:noFill/>
          <a:ln/>
        </p:spPr>
        <p:txBody>
          <a:bodyPr wrap="square" lIns="0" tIns="0" rIns="0" bIns="0" rtlCol="0" anchor="t">
            <a:normAutofit/>
          </a:bodyPr>
          <a:lstStyle/>
          <a:p>
            <a:pPr algn="l" indent="0" marL="0">
              <a:lnSpc>
                <a:spcPts val="1820"/>
              </a:lnSpc>
              <a:buNone/>
            </a:pPr>
            <a:r>
              <a:rPr lang="en-US" sz="1300" dirty="0">
                <a:solidFill>
                  <a:srgbClr val="4A5568"/>
                </a:solidFill>
                <a:latin typeface="IBM Plex Sans" pitchFamily="34" charset="0"/>
                <a:ea typeface="IBM Plex Sans" pitchFamily="34" charset="-122"/>
                <a:cs typeface="IBM Plex Sans" pitchFamily="34" charset="-120"/>
              </a:rPr>
              <a:t>Synthetic RAGAS questions + reference answers from the GEHA dental PDFs</a:t>
            </a:r>
            <a:endParaRPr lang="en-US" sz="1300" dirty="0"/>
          </a:p>
        </p:txBody>
      </p:sp>
      <p:pic>
        <p:nvPicPr>
          <p:cNvPr id="7" name="Image 0" descr="connector">    </p:cNvPr>
          <p:cNvPicPr>
            <a:picLocks noChangeAspect="1"/>
          </p:cNvPicPr>
          <p:nvPr/>
        </p:nvPicPr>
        <p:blipFill>
          <a:blip r:embed="rId1"/>
          <a:srcRect l="0" r="0" t="0" b="0"/>
          <a:stretch/>
        </p:blipFill>
        <p:spPr>
          <a:xfrm>
            <a:off x="3213100" y="1666230"/>
            <a:ext cx="254000" cy="101600"/>
          </a:xfrm>
          <a:prstGeom prst="rect">
            <a:avLst/>
          </a:prstGeom>
        </p:spPr>
      </p:pic>
      <p:sp>
        <p:nvSpPr>
          <p:cNvPr id="8" name="Shape 5"/>
          <p:cNvSpPr/>
          <p:nvPr/>
        </p:nvSpPr>
        <p:spPr>
          <a:xfrm>
            <a:off x="3575050" y="1672580"/>
            <a:ext cx="2286000" cy="2316361"/>
          </a:xfrm>
          <a:prstGeom prst="roundRect">
            <a:avLst>
              <a:gd name="adj" fmla="val 5278"/>
            </a:avLst>
          </a:prstGeom>
          <a:solidFill>
            <a:srgbClr val="FDFCF9"/>
          </a:solidFill>
          <a:ln w="12700">
            <a:solidFill>
              <a:srgbClr val="E2DED3"/>
            </a:solidFill>
            <a:prstDash val="solid"/>
          </a:ln>
        </p:spPr>
      </p:sp>
      <p:sp>
        <p:nvSpPr>
          <p:cNvPr id="9" name="Text 6"/>
          <p:cNvSpPr/>
          <p:nvPr/>
        </p:nvSpPr>
        <p:spPr>
          <a:xfrm>
            <a:off x="3810000" y="1907530"/>
            <a:ext cx="1870583" cy="238720"/>
          </a:xfrm>
          <a:prstGeom prst="rect">
            <a:avLst/>
          </a:prstGeom>
          <a:noFill/>
          <a:ln/>
        </p:spPr>
        <p:txBody>
          <a:bodyPr wrap="square" lIns="0" tIns="0" rIns="0" bIns="0" rtlCol="0" anchor="t">
            <a:normAutofit/>
          </a:bodyPr>
          <a:lstStyle/>
          <a:p>
            <a:pPr algn="l" indent="0" marL="0">
              <a:lnSpc>
                <a:spcPts val="1680"/>
              </a:lnSpc>
              <a:buNone/>
            </a:pPr>
            <a:r>
              <a:rPr lang="en-US" sz="1200" dirty="0">
                <a:solidFill>
                  <a:srgbClr val="2F6DB5"/>
                </a:solidFill>
                <a:latin typeface="JetBrains Mono" pitchFamily="49" charset="0"/>
                <a:ea typeface="JetBrains Mono" pitchFamily="49" charset="-122"/>
                <a:cs typeface="JetBrains Mono" pitchFamily="49" charset="-120"/>
              </a:rPr>
              <a:t>02</a:t>
            </a:r>
            <a:endParaRPr lang="en-US" sz="1200" dirty="0"/>
          </a:p>
        </p:txBody>
      </p:sp>
      <p:sp>
        <p:nvSpPr>
          <p:cNvPr id="10" name="Text 7"/>
          <p:cNvSpPr/>
          <p:nvPr/>
        </p:nvSpPr>
        <p:spPr>
          <a:xfrm>
            <a:off x="3810000" y="2222450"/>
            <a:ext cx="1870583" cy="299690"/>
          </a:xfrm>
          <a:prstGeom prst="rect">
            <a:avLst/>
          </a:prstGeom>
          <a:noFill/>
          <a:ln/>
        </p:spPr>
        <p:txBody>
          <a:bodyPr wrap="square" lIns="0" tIns="0" rIns="0" bIns="0" rtlCol="0" anchor="t">
            <a:normAutofit/>
          </a:bodyPr>
          <a:lstStyle/>
          <a:p>
            <a:pPr algn="l" indent="0" marL="0">
              <a:lnSpc>
                <a:spcPts val="2160"/>
              </a:lnSpc>
              <a:buNone/>
            </a:pPr>
            <a:r>
              <a:rPr lang="en-US" sz="1800" b="1" dirty="0">
                <a:solidFill>
                  <a:srgbClr val="16202E"/>
                </a:solidFill>
                <a:latin typeface="IBM Plex Sans" pitchFamily="34" charset="0"/>
                <a:ea typeface="IBM Plex Sans" pitchFamily="34" charset="-122"/>
                <a:cs typeface="IBM Plex Sans" pitchFamily="34" charset="-120"/>
              </a:rPr>
              <a:t>SFT builder</a:t>
            </a:r>
            <a:endParaRPr lang="en-US" sz="1800" dirty="0"/>
          </a:p>
        </p:txBody>
      </p:sp>
      <p:sp>
        <p:nvSpPr>
          <p:cNvPr id="11" name="Text 8"/>
          <p:cNvSpPr/>
          <p:nvPr/>
        </p:nvSpPr>
        <p:spPr>
          <a:xfrm>
            <a:off x="3810000" y="2598341"/>
            <a:ext cx="1870583" cy="1181050"/>
          </a:xfrm>
          <a:prstGeom prst="rect">
            <a:avLst/>
          </a:prstGeom>
          <a:noFill/>
          <a:ln/>
        </p:spPr>
        <p:txBody>
          <a:bodyPr wrap="square" lIns="0" tIns="0" rIns="0" bIns="0" rtlCol="0" anchor="t">
            <a:normAutofit/>
          </a:bodyPr>
          <a:lstStyle/>
          <a:p>
            <a:pPr algn="l" indent="0" marL="0">
              <a:lnSpc>
                <a:spcPts val="1820"/>
              </a:lnSpc>
              <a:buNone/>
            </a:pPr>
            <a:r>
              <a:rPr lang="en-US" sz="1300" dirty="0">
                <a:solidFill>
                  <a:srgbClr val="4A5568"/>
                </a:solidFill>
                <a:latin typeface="IBM Plex Sans" pitchFamily="34" charset="0"/>
                <a:ea typeface="IBM Plex Sans" pitchFamily="34" charset="-122"/>
                <a:cs typeface="IBM Plex Sans" pitchFamily="34" charset="-120"/>
              </a:rPr>
              <a:t>Gold passage + 2 distractors, shuffled. One direct and one chain‑of‑thought target each</a:t>
            </a:r>
            <a:endParaRPr lang="en-US" sz="1300" dirty="0"/>
          </a:p>
        </p:txBody>
      </p:sp>
      <p:pic>
        <p:nvPicPr>
          <p:cNvPr id="12" name="Image 1" descr="connector">    </p:cNvPr>
          <p:cNvPicPr>
            <a:picLocks noChangeAspect="1"/>
          </p:cNvPicPr>
          <p:nvPr/>
        </p:nvPicPr>
        <p:blipFill>
          <a:blip r:embed="rId2"/>
          <a:srcRect l="0" r="0" t="0" b="0"/>
          <a:stretch/>
        </p:blipFill>
        <p:spPr>
          <a:xfrm>
            <a:off x="5969000" y="1666230"/>
            <a:ext cx="254000" cy="101600"/>
          </a:xfrm>
          <a:prstGeom prst="rect">
            <a:avLst/>
          </a:prstGeom>
        </p:spPr>
      </p:pic>
      <p:sp>
        <p:nvSpPr>
          <p:cNvPr id="13" name="Shape 9"/>
          <p:cNvSpPr/>
          <p:nvPr/>
        </p:nvSpPr>
        <p:spPr>
          <a:xfrm>
            <a:off x="6330950" y="1672580"/>
            <a:ext cx="2286000" cy="2316361"/>
          </a:xfrm>
          <a:prstGeom prst="roundRect">
            <a:avLst>
              <a:gd name="adj" fmla="val 5278"/>
            </a:avLst>
          </a:prstGeom>
          <a:solidFill>
            <a:srgbClr val="FDFCF9"/>
          </a:solidFill>
          <a:ln w="12700">
            <a:solidFill>
              <a:srgbClr val="D9622B"/>
            </a:solidFill>
            <a:prstDash val="solid"/>
          </a:ln>
        </p:spPr>
      </p:sp>
      <p:sp>
        <p:nvSpPr>
          <p:cNvPr id="14" name="Text 10"/>
          <p:cNvSpPr/>
          <p:nvPr/>
        </p:nvSpPr>
        <p:spPr>
          <a:xfrm>
            <a:off x="6565900" y="1907530"/>
            <a:ext cx="1870583" cy="238720"/>
          </a:xfrm>
          <a:prstGeom prst="rect">
            <a:avLst/>
          </a:prstGeom>
          <a:noFill/>
          <a:ln/>
        </p:spPr>
        <p:txBody>
          <a:bodyPr wrap="square" lIns="0" tIns="0" rIns="0" bIns="0" rtlCol="0" anchor="t">
            <a:normAutofit/>
          </a:bodyPr>
          <a:lstStyle/>
          <a:p>
            <a:pPr algn="l" indent="0" marL="0">
              <a:lnSpc>
                <a:spcPts val="1680"/>
              </a:lnSpc>
              <a:buNone/>
            </a:pPr>
            <a:r>
              <a:rPr lang="en-US" sz="1200" dirty="0">
                <a:solidFill>
                  <a:srgbClr val="B4481A"/>
                </a:solidFill>
                <a:latin typeface="JetBrains Mono" pitchFamily="49" charset="0"/>
                <a:ea typeface="JetBrains Mono" pitchFamily="49" charset="-122"/>
                <a:cs typeface="JetBrains Mono" pitchFamily="49" charset="-120"/>
              </a:rPr>
              <a:t>03</a:t>
            </a:r>
            <a:endParaRPr lang="en-US" sz="1200" dirty="0"/>
          </a:p>
        </p:txBody>
      </p:sp>
      <p:sp>
        <p:nvSpPr>
          <p:cNvPr id="15" name="Text 11"/>
          <p:cNvSpPr/>
          <p:nvPr/>
        </p:nvSpPr>
        <p:spPr>
          <a:xfrm>
            <a:off x="6565900" y="2222450"/>
            <a:ext cx="1870583" cy="299690"/>
          </a:xfrm>
          <a:prstGeom prst="rect">
            <a:avLst/>
          </a:prstGeom>
          <a:noFill/>
          <a:ln/>
        </p:spPr>
        <p:txBody>
          <a:bodyPr wrap="square" lIns="0" tIns="0" rIns="0" bIns="0" rtlCol="0" anchor="t">
            <a:normAutofit/>
          </a:bodyPr>
          <a:lstStyle/>
          <a:p>
            <a:pPr algn="l" indent="0" marL="0">
              <a:lnSpc>
                <a:spcPts val="2160"/>
              </a:lnSpc>
              <a:buNone/>
            </a:pPr>
            <a:r>
              <a:rPr lang="en-US" sz="1800" b="1" dirty="0">
                <a:solidFill>
                  <a:srgbClr val="16202E"/>
                </a:solidFill>
                <a:latin typeface="IBM Plex Sans" pitchFamily="34" charset="0"/>
                <a:ea typeface="IBM Plex Sans" pitchFamily="34" charset="-122"/>
                <a:cs typeface="IBM Plex Sans" pitchFamily="34" charset="-120"/>
              </a:rPr>
              <a:t>LoRA training</a:t>
            </a:r>
            <a:endParaRPr lang="en-US" sz="1800" dirty="0"/>
          </a:p>
        </p:txBody>
      </p:sp>
      <p:sp>
        <p:nvSpPr>
          <p:cNvPr id="16" name="Text 12"/>
          <p:cNvSpPr/>
          <p:nvPr/>
        </p:nvSpPr>
        <p:spPr>
          <a:xfrm>
            <a:off x="6565900" y="2598341"/>
            <a:ext cx="1870583" cy="949920"/>
          </a:xfrm>
          <a:prstGeom prst="rect">
            <a:avLst/>
          </a:prstGeom>
          <a:noFill/>
          <a:ln/>
        </p:spPr>
        <p:txBody>
          <a:bodyPr wrap="square" lIns="0" tIns="0" rIns="0" bIns="0" rtlCol="0" anchor="t">
            <a:normAutofit/>
          </a:bodyPr>
          <a:lstStyle/>
          <a:p>
            <a:pPr algn="l" indent="0" marL="0">
              <a:lnSpc>
                <a:spcPts val="1820"/>
              </a:lnSpc>
              <a:buNone/>
            </a:pPr>
            <a:r>
              <a:rPr lang="en-US" sz="1300" dirty="0">
                <a:solidFill>
                  <a:srgbClr val="4A5568"/>
                </a:solidFill>
                <a:latin typeface="IBM Plex Sans" pitchFamily="34" charset="0"/>
                <a:ea typeface="IBM Plex Sans" pitchFamily="34" charset="-122"/>
                <a:cs typeface="IBM Plex Sans" pitchFamily="34" charset="-120"/>
              </a:rPr>
              <a:t>Loss on answer tokens only. Keep the adapter with the lowest validation loss</a:t>
            </a:r>
            <a:endParaRPr lang="en-US" sz="1300" dirty="0"/>
          </a:p>
        </p:txBody>
      </p:sp>
      <p:pic>
        <p:nvPicPr>
          <p:cNvPr id="17" name="Image 2" descr="connector">    </p:cNvPr>
          <p:cNvPicPr>
            <a:picLocks noChangeAspect="1"/>
          </p:cNvPicPr>
          <p:nvPr/>
        </p:nvPicPr>
        <p:blipFill>
          <a:blip r:embed="rId3"/>
          <a:srcRect l="0" r="0" t="0" b="0"/>
          <a:stretch/>
        </p:blipFill>
        <p:spPr>
          <a:xfrm>
            <a:off x="8724900" y="1666230"/>
            <a:ext cx="254000" cy="101600"/>
          </a:xfrm>
          <a:prstGeom prst="rect">
            <a:avLst/>
          </a:prstGeom>
        </p:spPr>
      </p:pic>
      <p:sp>
        <p:nvSpPr>
          <p:cNvPr id="18" name="Shape 13"/>
          <p:cNvSpPr/>
          <p:nvPr/>
        </p:nvSpPr>
        <p:spPr>
          <a:xfrm>
            <a:off x="9086850" y="1672580"/>
            <a:ext cx="2286000" cy="2316361"/>
          </a:xfrm>
          <a:prstGeom prst="roundRect">
            <a:avLst>
              <a:gd name="adj" fmla="val 5278"/>
            </a:avLst>
          </a:prstGeom>
          <a:solidFill>
            <a:srgbClr val="FDFCF9"/>
          </a:solidFill>
          <a:ln w="12700">
            <a:solidFill>
              <a:srgbClr val="E2DED3"/>
            </a:solidFill>
            <a:prstDash val="solid"/>
          </a:ln>
        </p:spPr>
      </p:sp>
      <p:sp>
        <p:nvSpPr>
          <p:cNvPr id="19" name="Text 14"/>
          <p:cNvSpPr/>
          <p:nvPr/>
        </p:nvSpPr>
        <p:spPr>
          <a:xfrm>
            <a:off x="9321800" y="1907530"/>
            <a:ext cx="1870583" cy="238720"/>
          </a:xfrm>
          <a:prstGeom prst="rect">
            <a:avLst/>
          </a:prstGeom>
          <a:noFill/>
          <a:ln/>
        </p:spPr>
        <p:txBody>
          <a:bodyPr wrap="square" lIns="0" tIns="0" rIns="0" bIns="0" rtlCol="0" anchor="t">
            <a:normAutofit/>
          </a:bodyPr>
          <a:lstStyle/>
          <a:p>
            <a:pPr algn="l" indent="0" marL="0">
              <a:lnSpc>
                <a:spcPts val="1680"/>
              </a:lnSpc>
              <a:buNone/>
            </a:pPr>
            <a:r>
              <a:rPr lang="en-US" sz="1200" dirty="0">
                <a:solidFill>
                  <a:srgbClr val="2F6DB5"/>
                </a:solidFill>
                <a:latin typeface="JetBrains Mono" pitchFamily="49" charset="0"/>
                <a:ea typeface="JetBrains Mono" pitchFamily="49" charset="-122"/>
                <a:cs typeface="JetBrains Mono" pitchFamily="49" charset="-120"/>
              </a:rPr>
              <a:t>04</a:t>
            </a:r>
            <a:endParaRPr lang="en-US" sz="1200" dirty="0"/>
          </a:p>
        </p:txBody>
      </p:sp>
      <p:sp>
        <p:nvSpPr>
          <p:cNvPr id="20" name="Text 15"/>
          <p:cNvSpPr/>
          <p:nvPr/>
        </p:nvSpPr>
        <p:spPr>
          <a:xfrm>
            <a:off x="9321800" y="2222450"/>
            <a:ext cx="1870583" cy="299690"/>
          </a:xfrm>
          <a:prstGeom prst="rect">
            <a:avLst/>
          </a:prstGeom>
          <a:noFill/>
          <a:ln/>
        </p:spPr>
        <p:txBody>
          <a:bodyPr wrap="square" lIns="0" tIns="0" rIns="0" bIns="0" rtlCol="0" anchor="t">
            <a:normAutofit/>
          </a:bodyPr>
          <a:lstStyle/>
          <a:p>
            <a:pPr algn="l" indent="0" marL="0">
              <a:lnSpc>
                <a:spcPts val="2160"/>
              </a:lnSpc>
              <a:buNone/>
            </a:pPr>
            <a:r>
              <a:rPr lang="en-US" sz="1800" b="1" dirty="0">
                <a:solidFill>
                  <a:srgbClr val="16202E"/>
                </a:solidFill>
                <a:latin typeface="IBM Plex Sans" pitchFamily="34" charset="0"/>
                <a:ea typeface="IBM Plex Sans" pitchFamily="34" charset="-122"/>
                <a:cs typeface="IBM Plex Sans" pitchFamily="34" charset="-120"/>
              </a:rPr>
              <a:t>Held‑out eval</a:t>
            </a:r>
            <a:endParaRPr lang="en-US" sz="1800" dirty="0"/>
          </a:p>
        </p:txBody>
      </p:sp>
      <p:sp>
        <p:nvSpPr>
          <p:cNvPr id="21" name="Text 16"/>
          <p:cNvSpPr/>
          <p:nvPr/>
        </p:nvSpPr>
        <p:spPr>
          <a:xfrm>
            <a:off x="9321800" y="2598341"/>
            <a:ext cx="1870583" cy="949920"/>
          </a:xfrm>
          <a:prstGeom prst="rect">
            <a:avLst/>
          </a:prstGeom>
          <a:noFill/>
          <a:ln/>
        </p:spPr>
        <p:txBody>
          <a:bodyPr wrap="square" lIns="0" tIns="0" rIns="0" bIns="0" rtlCol="0" anchor="t">
            <a:normAutofit/>
          </a:bodyPr>
          <a:lstStyle/>
          <a:p>
            <a:pPr algn="l" indent="0" marL="0">
              <a:lnSpc>
                <a:spcPts val="1820"/>
              </a:lnSpc>
              <a:buNone/>
            </a:pPr>
            <a:r>
              <a:rPr lang="en-US" sz="1300" dirty="0">
                <a:solidFill>
                  <a:srgbClr val="4A5568"/>
                </a:solidFill>
                <a:latin typeface="IBM Plex Sans" pitchFamily="34" charset="0"/>
                <a:ea typeface="IBM Plex Sans" pitchFamily="34" charset="-122"/>
                <a:cs typeface="IBM Plex Sans" pitchFamily="34" charset="-120"/>
              </a:rPr>
              <a:t>Unseen plan brochure. Base vs tuned, same prompts; only the adapter differs</a:t>
            </a:r>
            <a:endParaRPr lang="en-US" sz="1300" dirty="0"/>
          </a:p>
        </p:txBody>
      </p:sp>
      <p:sp>
        <p:nvSpPr>
          <p:cNvPr id="22" name="Text 17"/>
          <p:cNvSpPr/>
          <p:nvPr/>
        </p:nvSpPr>
        <p:spPr>
          <a:xfrm>
            <a:off x="812800" y="4401691"/>
            <a:ext cx="5284724" cy="523180"/>
          </a:xfrm>
          <a:prstGeom prst="rect">
            <a:avLst/>
          </a:prstGeom>
          <a:noFill/>
          <a:ln/>
        </p:spPr>
        <p:txBody>
          <a:bodyPr wrap="square" lIns="0" tIns="0" rIns="0" bIns="0" rtlCol="0" anchor="t">
            <a:normAutofit/>
          </a:bodyPr>
          <a:lstStyle/>
          <a:p>
            <a:pPr algn="l" indent="0" marL="0">
              <a:lnSpc>
                <a:spcPts val="1960"/>
              </a:lnSpc>
              <a:buNone/>
            </a:pPr>
            <a:r>
              <a:rPr lang="en-US" sz="1400" b="1" dirty="0">
                <a:solidFill>
                  <a:srgbClr val="16202E"/>
                </a:solidFill>
                <a:latin typeface="IBM Plex Sans" pitchFamily="34" charset="0"/>
                <a:ea typeface="IBM Plex Sans" pitchFamily="34" charset="-122"/>
                <a:cs typeface="IBM Plex Sans" pitchFamily="34" charset="-120"/>
              </a:rPr>
              <a:t>Why distractors:</a:t>
            </a:r>
            <a:r>
              <a:rPr lang="en-US" sz="1400" dirty="0">
                <a:solidFill>
                  <a:srgbClr val="4A5568"/>
                </a:solidFill>
                <a:latin typeface="IBM Plex Sans" pitchFamily="34" charset="0"/>
                <a:ea typeface="IBM Plex Sans" pitchFamily="34" charset="-122"/>
                <a:cs typeface="IBM Plex Sans" pitchFamily="34" charset="-120"/>
              </a:rPr>
              <a:t> retrieval is never perfect, so the model must learn to ignore irrelevant chunks (the RAFT recipe).</a:t>
            </a:r>
            <a:endParaRPr lang="en-US" sz="1400" dirty="0"/>
          </a:p>
        </p:txBody>
      </p:sp>
      <p:sp>
        <p:nvSpPr>
          <p:cNvPr id="23" name="Text 18"/>
          <p:cNvSpPr/>
          <p:nvPr/>
        </p:nvSpPr>
        <p:spPr>
          <a:xfrm>
            <a:off x="6248400" y="4401691"/>
            <a:ext cx="5284724" cy="523180"/>
          </a:xfrm>
          <a:prstGeom prst="rect">
            <a:avLst/>
          </a:prstGeom>
          <a:noFill/>
          <a:ln/>
        </p:spPr>
        <p:txBody>
          <a:bodyPr wrap="square" lIns="0" tIns="0" rIns="0" bIns="0" rtlCol="0" anchor="t">
            <a:normAutofit/>
          </a:bodyPr>
          <a:lstStyle/>
          <a:p>
            <a:pPr algn="l" indent="0" marL="0">
              <a:lnSpc>
                <a:spcPts val="1960"/>
              </a:lnSpc>
              <a:buNone/>
            </a:pPr>
            <a:r>
              <a:rPr lang="en-US" sz="1400" b="1" dirty="0">
                <a:solidFill>
                  <a:srgbClr val="16202E"/>
                </a:solidFill>
                <a:latin typeface="IBM Plex Sans" pitchFamily="34" charset="0"/>
                <a:ea typeface="IBM Plex Sans" pitchFamily="34" charset="-122"/>
                <a:cs typeface="IBM Plex Sans" pitchFamily="34" charset="-120"/>
              </a:rPr>
              <a:t>Why two formats:</a:t>
            </a:r>
            <a:r>
              <a:rPr lang="en-US" sz="1400" dirty="0">
                <a:solidFill>
                  <a:srgbClr val="4A5568"/>
                </a:solidFill>
                <a:latin typeface="IBM Plex Sans" pitchFamily="34" charset="0"/>
                <a:ea typeface="IBM Plex Sans" pitchFamily="34" charset="-122"/>
                <a:cs typeface="IBM Plex Sans" pitchFamily="34" charset="-120"/>
              </a:rPr>
              <a:t> mixing direct and chain‑of‑thought targets in one run is the FLAN multi‑task recipe.</a:t>
            </a:r>
            <a:endParaRPr lang="en-US" sz="1400" dirty="0"/>
          </a:p>
        </p:txBody>
      </p:sp>
      <p:sp>
        <p:nvSpPr>
          <p:cNvPr id="24" name="Text 19"/>
          <p:cNvSpPr/>
          <p:nvPr/>
        </p:nvSpPr>
        <p:spPr>
          <a:xfrm>
            <a:off x="812800" y="6238280"/>
            <a:ext cx="10883392" cy="238720"/>
          </a:xfrm>
          <a:prstGeom prst="rect">
            <a:avLst/>
          </a:prstGeom>
          <a:noFill/>
          <a:ln/>
        </p:spPr>
        <p:txBody>
          <a:bodyPr wrap="square" lIns="0" tIns="0" rIns="0" bIns="0" rtlCol="0" anchor="t">
            <a:normAutofit/>
          </a:bodyPr>
          <a:lstStyle/>
          <a:p>
            <a:pPr algn="l" indent="0" marL="0">
              <a:lnSpc>
                <a:spcPts val="1680"/>
              </a:lnSpc>
              <a:buNone/>
            </a:pPr>
            <a:r>
              <a:rPr lang="en-US" sz="1200" dirty="0">
                <a:solidFill>
                  <a:srgbClr val="6A7280"/>
                </a:solidFill>
                <a:latin typeface="JetBrains Mono" pitchFamily="49" charset="0"/>
                <a:ea typeface="JetBrains Mono" pitchFamily="49" charset="-122"/>
                <a:cs typeface="JetBrains Mono" pitchFamily="49" charset="-120"/>
              </a:rPr>
              <a:t>prepare_sft.py → train_lora.py → plot_loss.py → eval_generator.py</a:t>
            </a:r>
            <a:endParaRPr lang="en-US" sz="12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6F5F0"/>
        </a:solidFill>
      </p:bgPr>
    </p:bg>
    <p:spTree>
      <p:nvGrpSpPr>
        <p:cNvPr id="1" name=""/>
        <p:cNvGrpSpPr/>
        <p:nvPr/>
      </p:nvGrpSpPr>
      <p:grpSpPr>
        <a:xfrm>
          <a:off x="0" y="0"/>
          <a:ext cx="0" cy="0"/>
          <a:chOff x="0" y="0"/>
          <a:chExt cx="0" cy="0"/>
        </a:xfrm>
      </p:grpSpPr>
      <p:sp>
        <p:nvSpPr>
          <p:cNvPr id="2" name="Text 0"/>
          <p:cNvSpPr/>
          <p:nvPr>
            <p:ph type="title"/>
          </p:nvPr>
        </p:nvSpPr>
        <p:spPr>
          <a:xfrm>
            <a:off x="812800" y="812800"/>
            <a:ext cx="10883392" cy="472430"/>
          </a:xfrm>
          <a:prstGeom prst="rect">
            <a:avLst/>
          </a:prstGeom>
          <a:noFill/>
          <a:ln/>
        </p:spPr>
        <p:txBody>
          <a:bodyPr wrap="square" lIns="0" tIns="0" rIns="0" bIns="0" rtlCol="0" anchor="t">
            <a:normAutofit/>
          </a:bodyPr>
          <a:lstStyle/>
          <a:p>
            <a:pPr algn="l" indent="0" marL="0">
              <a:lnSpc>
                <a:spcPts val="3520"/>
              </a:lnSpc>
              <a:buNone/>
            </a:pPr>
            <a:r>
              <a:rPr lang="en-US" sz="3200" b="1" i="0" dirty="0">
                <a:solidFill>
                  <a:srgbClr val="16202E"/>
                </a:solidFill>
                <a:latin typeface="IBM Plex Sans" pitchFamily="34" charset="0"/>
                <a:ea typeface="IBM Plex Sans" pitchFamily="34" charset="-122"/>
                <a:cs typeface="IBM Plex Sans" pitchFamily="34" charset="-120"/>
              </a:rPr>
              <a:t>One question becomes two training examples</a:t>
            </a:r>
            <a:endParaRPr lang="en-US" sz="3200" dirty="0"/>
          </a:p>
        </p:txBody>
      </p:sp>
      <p:sp>
        <p:nvSpPr>
          <p:cNvPr id="3" name="Shape 1"/>
          <p:cNvSpPr/>
          <p:nvPr/>
        </p:nvSpPr>
        <p:spPr>
          <a:xfrm>
            <a:off x="812800" y="1564630"/>
            <a:ext cx="5410200" cy="4277370"/>
          </a:xfrm>
          <a:prstGeom prst="roundRect">
            <a:avLst>
              <a:gd name="adj" fmla="val 2969"/>
            </a:avLst>
          </a:prstGeom>
          <a:solidFill>
            <a:srgbClr val="16202E"/>
          </a:solidFill>
          <a:ln/>
        </p:spPr>
      </p:sp>
      <p:sp>
        <p:nvSpPr>
          <p:cNvPr id="4" name="Text 2"/>
          <p:cNvSpPr/>
          <p:nvPr/>
        </p:nvSpPr>
        <p:spPr>
          <a:xfrm>
            <a:off x="1066800" y="1818630"/>
            <a:ext cx="5049266" cy="238720"/>
          </a:xfrm>
          <a:prstGeom prst="rect">
            <a:avLst/>
          </a:prstGeom>
          <a:noFill/>
          <a:ln/>
        </p:spPr>
        <p:txBody>
          <a:bodyPr wrap="square" lIns="0" tIns="0" rIns="0" bIns="0" rtlCol="0" anchor="t">
            <a:normAutofit/>
          </a:bodyPr>
          <a:lstStyle/>
          <a:p>
            <a:pPr algn="l" indent="0" marL="0">
              <a:lnSpc>
                <a:spcPts val="1680"/>
              </a:lnSpc>
              <a:buNone/>
            </a:pPr>
            <a:r>
              <a:rPr lang="en-US" sz="1200" dirty="0">
                <a:solidFill>
                  <a:srgbClr val="8C98A8"/>
                </a:solidFill>
                <a:latin typeface="JetBrains Mono" pitchFamily="49" charset="0"/>
                <a:ea typeface="JetBrains Mono" pitchFamily="49" charset="-122"/>
                <a:cs typeface="JetBrains Mono" pitchFamily="49" charset="-120"/>
              </a:rPr>
              <a:t>PROMPT · masked, not trained on</a:t>
            </a:r>
            <a:endParaRPr lang="en-US" sz="1200" dirty="0"/>
          </a:p>
        </p:txBody>
      </p:sp>
      <p:sp>
        <p:nvSpPr>
          <p:cNvPr id="5" name="Text 3"/>
          <p:cNvSpPr/>
          <p:nvPr/>
        </p:nvSpPr>
        <p:spPr>
          <a:xfrm>
            <a:off x="1066800" y="2158950"/>
            <a:ext cx="5049266" cy="711200"/>
          </a:xfrm>
          <a:prstGeom prst="rect">
            <a:avLst/>
          </a:prstGeom>
          <a:noFill/>
          <a:ln/>
        </p:spPr>
        <p:txBody>
          <a:bodyPr wrap="square" lIns="0" tIns="0" rIns="0" bIns="0" rtlCol="0" anchor="t">
            <a:normAutofit/>
          </a:bodyPr>
          <a:lstStyle/>
          <a:p>
            <a:pPr algn="l" indent="0" marL="0">
              <a:lnSpc>
                <a:spcPts val="1800"/>
              </a:lnSpc>
              <a:buNone/>
            </a:pPr>
            <a:r>
              <a:rPr lang="en-US" sz="1200" dirty="0">
                <a:solidFill>
                  <a:srgbClr val="D6DCE4"/>
                </a:solidFill>
                <a:latin typeface="JetBrains Mono" pitchFamily="49" charset="0"/>
                <a:ea typeface="JetBrains Mono" pitchFamily="49" charset="-122"/>
                <a:cs typeface="JetBrains Mono" pitchFamily="49" charset="-120"/>
              </a:rPr>
              <a:t>[1] guide p.6 · Plan features </a:t>
            </a:r>
            <a:r>
              <a:rPr lang="en-US" sz="1200" dirty="0">
                <a:solidFill>
                  <a:srgbClr val="8C98A8"/>
                </a:solidFill>
                <a:latin typeface="JetBrains Mono" pitchFamily="49" charset="0"/>
                <a:ea typeface="JetBrains Mono" pitchFamily="49" charset="-122"/>
                <a:cs typeface="JetBrains Mono" pitchFamily="49" charset="-120"/>
              </a:rPr>
              <a:t>(distractor)</a:t>
            </a:r>
            <a:endParaRPr lang="en-US" sz="1200" dirty="0"/>
          </a:p>
          <a:p>
            <a:pPr algn="l" indent="0" marL="0">
              <a:lnSpc>
                <a:spcPts val="1800"/>
              </a:lnSpc>
              <a:buNone/>
            </a:pPr>
            <a:r>
              <a:rPr lang="en-US" sz="1200" dirty="0">
                <a:solidFill>
                  <a:srgbClr val="D6DCE4"/>
                </a:solidFill>
                <a:latin typeface="JetBrains Mono" pitchFamily="49" charset="0"/>
                <a:ea typeface="JetBrains Mono" pitchFamily="49" charset="-122"/>
                <a:cs typeface="JetBrains Mono" pitchFamily="49" charset="-120"/>
              </a:rPr>
              <a:t>[2] guide p.2 · Contact us </a:t>
            </a:r>
            <a:r>
              <a:rPr lang="en-US" sz="1200" dirty="0">
                <a:solidFill>
                  <a:srgbClr val="F08A5D"/>
                </a:solidFill>
                <a:latin typeface="JetBrains Mono" pitchFamily="49" charset="0"/>
                <a:ea typeface="JetBrains Mono" pitchFamily="49" charset="-122"/>
                <a:cs typeface="JetBrains Mono" pitchFamily="49" charset="-120"/>
              </a:rPr>
              <a:t>(gold)</a:t>
            </a:r>
            <a:endParaRPr lang="en-US" sz="1200" dirty="0"/>
          </a:p>
          <a:p>
            <a:pPr algn="l" indent="0" marL="0">
              <a:lnSpc>
                <a:spcPts val="1800"/>
              </a:lnSpc>
              <a:buNone/>
            </a:pPr>
            <a:r>
              <a:rPr lang="en-US" sz="1200" dirty="0">
                <a:solidFill>
                  <a:srgbClr val="D6DCE4"/>
                </a:solidFill>
                <a:latin typeface="JetBrains Mono" pitchFamily="49" charset="0"/>
                <a:ea typeface="JetBrains Mono" pitchFamily="49" charset="-122"/>
                <a:cs typeface="JetBrains Mono" pitchFamily="49" charset="-120"/>
              </a:rPr>
              <a:t>[3] guide p.4 · Both plans include </a:t>
            </a:r>
            <a:r>
              <a:rPr lang="en-US" sz="1200" dirty="0">
                <a:solidFill>
                  <a:srgbClr val="8C98A8"/>
                </a:solidFill>
                <a:latin typeface="JetBrains Mono" pitchFamily="49" charset="0"/>
                <a:ea typeface="JetBrains Mono" pitchFamily="49" charset="-122"/>
                <a:cs typeface="JetBrains Mono" pitchFamily="49" charset="-120"/>
              </a:rPr>
              <a:t>(distractor)</a:t>
            </a:r>
            <a:endParaRPr lang="en-US" sz="1200" dirty="0"/>
          </a:p>
        </p:txBody>
      </p:sp>
      <p:sp>
        <p:nvSpPr>
          <p:cNvPr id="6" name="Text 4"/>
          <p:cNvSpPr/>
          <p:nvPr/>
        </p:nvSpPr>
        <p:spPr>
          <a:xfrm>
            <a:off x="1066800" y="2971750"/>
            <a:ext cx="5049266" cy="482600"/>
          </a:xfrm>
          <a:prstGeom prst="rect">
            <a:avLst/>
          </a:prstGeom>
          <a:noFill/>
          <a:ln/>
        </p:spPr>
        <p:txBody>
          <a:bodyPr wrap="square" lIns="0" tIns="0" rIns="0" bIns="0" rtlCol="0" anchor="t">
            <a:normAutofit/>
          </a:bodyPr>
          <a:lstStyle/>
          <a:p>
            <a:pPr algn="l" indent="0" marL="0">
              <a:lnSpc>
                <a:spcPts val="1800"/>
              </a:lnSpc>
              <a:buNone/>
            </a:pPr>
            <a:r>
              <a:rPr lang="en-US" sz="1200" dirty="0">
                <a:solidFill>
                  <a:srgbClr val="F3F1EA"/>
                </a:solidFill>
                <a:latin typeface="JetBrains Mono" pitchFamily="49" charset="0"/>
                <a:ea typeface="JetBrains Mono" pitchFamily="49" charset="-122"/>
                <a:cs typeface="JetBrains Mono" pitchFamily="49" charset="-120"/>
              </a:rPr>
              <a:t>Question: What is the phone number to contact a FedViser for GEHA dental benefits?</a:t>
            </a:r>
            <a:endParaRPr lang="en-US" sz="1200" dirty="0"/>
          </a:p>
        </p:txBody>
      </p:sp>
      <p:sp>
        <p:nvSpPr>
          <p:cNvPr id="7" name="Shape 5"/>
          <p:cNvSpPr/>
          <p:nvPr/>
        </p:nvSpPr>
        <p:spPr>
          <a:xfrm>
            <a:off x="6483350" y="1570980"/>
            <a:ext cx="4889500" cy="1170880"/>
          </a:xfrm>
          <a:prstGeom prst="roundRect">
            <a:avLst>
              <a:gd name="adj" fmla="val 10304"/>
            </a:avLst>
          </a:prstGeom>
          <a:solidFill>
            <a:srgbClr val="FDFCF9"/>
          </a:solidFill>
          <a:ln w="12700">
            <a:solidFill>
              <a:srgbClr val="E2DED3"/>
            </a:solidFill>
            <a:prstDash val="solid"/>
          </a:ln>
        </p:spPr>
      </p:sp>
      <p:sp>
        <p:nvSpPr>
          <p:cNvPr id="8" name="Text 6"/>
          <p:cNvSpPr/>
          <p:nvPr/>
        </p:nvSpPr>
        <p:spPr>
          <a:xfrm>
            <a:off x="6692900" y="1780530"/>
            <a:ext cx="4604512" cy="238720"/>
          </a:xfrm>
          <a:prstGeom prst="rect">
            <a:avLst/>
          </a:prstGeom>
          <a:noFill/>
          <a:ln/>
        </p:spPr>
        <p:txBody>
          <a:bodyPr wrap="square" lIns="0" tIns="0" rIns="0" bIns="0" rtlCol="0" anchor="t">
            <a:normAutofit/>
          </a:bodyPr>
          <a:lstStyle/>
          <a:p>
            <a:pPr algn="l" indent="0" marL="0">
              <a:lnSpc>
                <a:spcPts val="1680"/>
              </a:lnSpc>
              <a:buNone/>
            </a:pPr>
            <a:r>
              <a:rPr lang="en-US" sz="1200" dirty="0">
                <a:solidFill>
                  <a:srgbClr val="2F6DB5"/>
                </a:solidFill>
                <a:latin typeface="JetBrains Mono" pitchFamily="49" charset="0"/>
                <a:ea typeface="JetBrains Mono" pitchFamily="49" charset="-122"/>
                <a:cs typeface="JetBrains Mono" pitchFamily="49" charset="-120"/>
              </a:rPr>
              <a:t>DIRECT TARGET · trained on</a:t>
            </a:r>
            <a:endParaRPr lang="en-US" sz="1200" dirty="0"/>
          </a:p>
        </p:txBody>
      </p:sp>
      <p:sp>
        <p:nvSpPr>
          <p:cNvPr id="9" name="Text 7"/>
          <p:cNvSpPr/>
          <p:nvPr/>
        </p:nvSpPr>
        <p:spPr>
          <a:xfrm>
            <a:off x="6692900" y="2070050"/>
            <a:ext cx="4604512" cy="487660"/>
          </a:xfrm>
          <a:prstGeom prst="rect">
            <a:avLst/>
          </a:prstGeom>
          <a:noFill/>
          <a:ln/>
        </p:spPr>
        <p:txBody>
          <a:bodyPr wrap="square" lIns="0" tIns="0" rIns="0" bIns="0" rtlCol="0" anchor="t">
            <a:normAutofit/>
          </a:bodyPr>
          <a:lstStyle/>
          <a:p>
            <a:pPr algn="l" indent="0" marL="0">
              <a:lnSpc>
                <a:spcPts val="1820"/>
              </a:lnSpc>
              <a:buNone/>
            </a:pPr>
            <a:r>
              <a:rPr lang="en-US" sz="1300" dirty="0">
                <a:solidFill>
                  <a:srgbClr val="16202E"/>
                </a:solidFill>
                <a:latin typeface="IBM Plex Sans" pitchFamily="34" charset="0"/>
                <a:ea typeface="IBM Plex Sans" pitchFamily="34" charset="-122"/>
                <a:cs typeface="IBM Plex Sans" pitchFamily="34" charset="-120"/>
              </a:rPr>
              <a:t>You can reach a FedViser … by calling 1‑855‑572‑1636 Monday through Friday from 8 a.m. to 8 p.m. Eastern time.</a:t>
            </a:r>
            <a:endParaRPr lang="en-US" sz="1300" dirty="0"/>
          </a:p>
        </p:txBody>
      </p:sp>
      <p:sp>
        <p:nvSpPr>
          <p:cNvPr id="10" name="Shape 8"/>
          <p:cNvSpPr/>
          <p:nvPr/>
        </p:nvSpPr>
        <p:spPr>
          <a:xfrm>
            <a:off x="6483350" y="2906961"/>
            <a:ext cx="4889500" cy="1851620"/>
          </a:xfrm>
          <a:prstGeom prst="roundRect">
            <a:avLst>
              <a:gd name="adj" fmla="val 6516"/>
            </a:avLst>
          </a:prstGeom>
          <a:solidFill>
            <a:srgbClr val="FDFCF9"/>
          </a:solidFill>
          <a:ln w="12700">
            <a:solidFill>
              <a:srgbClr val="D9622B"/>
            </a:solidFill>
            <a:prstDash val="solid"/>
          </a:ln>
        </p:spPr>
      </p:sp>
      <p:sp>
        <p:nvSpPr>
          <p:cNvPr id="11" name="Text 9"/>
          <p:cNvSpPr/>
          <p:nvPr/>
        </p:nvSpPr>
        <p:spPr>
          <a:xfrm>
            <a:off x="6692900" y="3116511"/>
            <a:ext cx="4604512" cy="238720"/>
          </a:xfrm>
          <a:prstGeom prst="rect">
            <a:avLst/>
          </a:prstGeom>
          <a:noFill/>
          <a:ln/>
        </p:spPr>
        <p:txBody>
          <a:bodyPr wrap="square" lIns="0" tIns="0" rIns="0" bIns="0" rtlCol="0" anchor="t">
            <a:normAutofit/>
          </a:bodyPr>
          <a:lstStyle/>
          <a:p>
            <a:pPr algn="l" indent="0" marL="0">
              <a:lnSpc>
                <a:spcPts val="1680"/>
              </a:lnSpc>
              <a:buNone/>
            </a:pPr>
            <a:r>
              <a:rPr lang="en-US" sz="1200" dirty="0">
                <a:solidFill>
                  <a:srgbClr val="B4481A"/>
                </a:solidFill>
                <a:latin typeface="JetBrains Mono" pitchFamily="49" charset="0"/>
                <a:ea typeface="JetBrains Mono" pitchFamily="49" charset="-122"/>
                <a:cs typeface="JetBrains Mono" pitchFamily="49" charset="-120"/>
              </a:rPr>
              <a:t>CHAIN‑OF‑THOUGHT TARGET · trained on</a:t>
            </a:r>
            <a:endParaRPr lang="en-US" sz="1200" dirty="0"/>
          </a:p>
        </p:txBody>
      </p:sp>
      <p:sp>
        <p:nvSpPr>
          <p:cNvPr id="12" name="Text 10"/>
          <p:cNvSpPr/>
          <p:nvPr/>
        </p:nvSpPr>
        <p:spPr>
          <a:xfrm>
            <a:off x="6692900" y="3406031"/>
            <a:ext cx="4604512" cy="1168400"/>
          </a:xfrm>
          <a:prstGeom prst="rect">
            <a:avLst/>
          </a:prstGeom>
          <a:noFill/>
          <a:ln/>
        </p:spPr>
        <p:txBody>
          <a:bodyPr wrap="square" lIns="0" tIns="0" rIns="0" bIns="0" rtlCol="0" anchor="t">
            <a:normAutofit/>
          </a:bodyPr>
          <a:lstStyle/>
          <a:p>
            <a:pPr algn="l" indent="0" marL="0">
              <a:lnSpc>
                <a:spcPts val="1800"/>
              </a:lnSpc>
              <a:buNone/>
            </a:pPr>
            <a:r>
              <a:rPr lang="en-US" sz="1200" dirty="0">
                <a:solidFill>
                  <a:srgbClr val="16202E"/>
                </a:solidFill>
                <a:latin typeface="JetBrains Mono" pitchFamily="49" charset="0"/>
                <a:ea typeface="JetBrains Mono" pitchFamily="49" charset="-122"/>
                <a:cs typeface="JetBrains Mono" pitchFamily="49" charset="-120"/>
              </a:rPr>
              <a:t>Evidence:</a:t>
            </a:r>
            <a:endParaRPr lang="en-US" sz="1200" dirty="0"/>
          </a:p>
          <a:p>
            <a:pPr algn="l" indent="0" marL="0">
              <a:lnSpc>
                <a:spcPts val="1800"/>
              </a:lnSpc>
              <a:buNone/>
            </a:pPr>
            <a:r>
              <a:rPr lang="en-US" sz="1200" dirty="0">
                <a:solidFill>
                  <a:srgbClr val="16202E"/>
                </a:solidFill>
                <a:latin typeface="JetBrains Mono" pitchFamily="49" charset="0"/>
                <a:ea typeface="JetBrains Mono" pitchFamily="49" charset="-122"/>
                <a:cs typeface="JetBrains Mono" pitchFamily="49" charset="-120"/>
              </a:rPr>
              <a:t>- [2] “Reach a FedViser Monday‑Friday from 8 a.m.‑8 p.m.”</a:t>
            </a:r>
            <a:endParaRPr lang="en-US" sz="1200" dirty="0"/>
          </a:p>
          <a:p>
            <a:pPr algn="l" indent="0" marL="0">
              <a:lnSpc>
                <a:spcPts val="1800"/>
              </a:lnSpc>
              <a:buNone/>
            </a:pPr>
            <a:r>
              <a:rPr lang="en-US" sz="1200" dirty="0">
                <a:solidFill>
                  <a:srgbClr val="16202E"/>
                </a:solidFill>
                <a:latin typeface="JetBrains Mono" pitchFamily="49" charset="0"/>
                <a:ea typeface="JetBrains Mono" pitchFamily="49" charset="-122"/>
                <a:cs typeface="JetBrains Mono" pitchFamily="49" charset="-120"/>
              </a:rPr>
              <a:t>Answer: You can reach a FedViser … 1‑855‑572‑1636 …</a:t>
            </a:r>
            <a:endParaRPr lang="en-US" sz="1200" dirty="0"/>
          </a:p>
        </p:txBody>
      </p:sp>
      <p:sp>
        <p:nvSpPr>
          <p:cNvPr id="13" name="Text 11"/>
          <p:cNvSpPr/>
          <p:nvPr/>
        </p:nvSpPr>
        <p:spPr>
          <a:xfrm>
            <a:off x="812800" y="6238280"/>
            <a:ext cx="10883392" cy="238720"/>
          </a:xfrm>
          <a:prstGeom prst="rect">
            <a:avLst/>
          </a:prstGeom>
          <a:noFill/>
          <a:ln/>
        </p:spPr>
        <p:txBody>
          <a:bodyPr wrap="square" lIns="0" tIns="0" rIns="0" bIns="0" rtlCol="0" anchor="t">
            <a:normAutofit/>
          </a:bodyPr>
          <a:lstStyle/>
          <a:p>
            <a:pPr algn="l" indent="0" marL="0">
              <a:lnSpc>
                <a:spcPts val="1680"/>
              </a:lnSpc>
              <a:buNone/>
            </a:pPr>
            <a:r>
              <a:rPr lang="en-US" sz="1200" dirty="0">
                <a:solidFill>
                  <a:srgbClr val="6A7280"/>
                </a:solidFill>
                <a:latin typeface="IBM Plex Sans" pitchFamily="34" charset="0"/>
                <a:ea typeface="IBM Plex Sans" pitchFamily="34" charset="-122"/>
                <a:cs typeface="IBM Plex Sans" pitchFamily="34" charset="-120"/>
              </a:rPr>
              <a:t>Real example ragas‑0002 (abridged). Evidence is extractive: the gold sentences that overlap the reference answer most.</a:t>
            </a:r>
            <a:endParaRPr lang="en-US" sz="12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6F5F0"/>
        </a:solidFill>
      </p:bgPr>
    </p:bg>
    <p:spTree>
      <p:nvGrpSpPr>
        <p:cNvPr id="1" name=""/>
        <p:cNvGrpSpPr/>
        <p:nvPr/>
      </p:nvGrpSpPr>
      <p:grpSpPr>
        <a:xfrm>
          <a:off x="0" y="0"/>
          <a:ext cx="0" cy="0"/>
          <a:chOff x="0" y="0"/>
          <a:chExt cx="0" cy="0"/>
        </a:xfrm>
      </p:grpSpPr>
      <p:sp>
        <p:nvSpPr>
          <p:cNvPr id="2" name="Text 0"/>
          <p:cNvSpPr/>
          <p:nvPr>
            <p:ph type="title"/>
          </p:nvPr>
        </p:nvSpPr>
        <p:spPr>
          <a:xfrm>
            <a:off x="812800" y="812800"/>
            <a:ext cx="10883392" cy="472430"/>
          </a:xfrm>
          <a:prstGeom prst="rect">
            <a:avLst/>
          </a:prstGeom>
          <a:noFill/>
          <a:ln/>
        </p:spPr>
        <p:txBody>
          <a:bodyPr wrap="square" lIns="0" tIns="0" rIns="0" bIns="0" rtlCol="0" anchor="t">
            <a:normAutofit/>
          </a:bodyPr>
          <a:lstStyle/>
          <a:p>
            <a:pPr algn="l" indent="0" marL="0">
              <a:lnSpc>
                <a:spcPts val="3520"/>
              </a:lnSpc>
              <a:buNone/>
            </a:pPr>
            <a:r>
              <a:rPr lang="en-US" sz="3200" b="1" i="0" dirty="0">
                <a:solidFill>
                  <a:srgbClr val="16202E"/>
                </a:solidFill>
                <a:latin typeface="IBM Plex Sans" pitchFamily="34" charset="0"/>
                <a:ea typeface="IBM Plex Sans" pitchFamily="34" charset="-122"/>
                <a:cs typeface="IBM Plex Sans" pitchFamily="34" charset="-120"/>
              </a:rPr>
              <a:t>Data splits: the test set is a different document</a:t>
            </a:r>
            <a:endParaRPr lang="en-US" sz="3200" dirty="0"/>
          </a:p>
        </p:txBody>
      </p:sp>
      <p:graphicFrame>
        <p:nvGraphicFramePr>
          <p:cNvPr id="3" name="Table 0"/>
          <p:cNvGraphicFramePr>
            <a:graphicFrameLocks noGrp="1"/>
          </p:cNvGraphicFramePr>
          <p:nvPr>
            <p:extLst>
              <p:ext uri="{D42A27DB-BD31-4B8C-83A1-F6EECF244321}">
                <p14:modId xmlns:p14="http://schemas.microsoft.com/office/powerpoint/2010/main" val="1579011935"/>
              </p:ext>
            </p:extLst>
          </p:nvPr>
        </p:nvGraphicFramePr>
        <p:xfrm>
          <a:off x="825500" y="1628130"/>
          <a:ext cx="6443117" cy="3088084"/>
        </p:xfrm>
        <a:graphic>
          <a:graphicData uri="http://schemas.openxmlformats.org/drawingml/2006/table">
            <a:tbl>
              <a:tblPr/>
              <a:tblGrid>
                <a:gridCol w="2190660"/>
                <a:gridCol w="1417486"/>
                <a:gridCol w="1417486"/>
                <a:gridCol w="1417486"/>
              </a:tblGrid>
              <a:tr h="386011">
                <a:tc>
                  <a:txBody>
                    <a:bodyPr/>
                    <a:lstStyle/>
                    <a:p>
                      <a:pPr indent="0" marL="0">
                        <a:lnSpc>
                          <a:spcPts val="1960"/>
                        </a:lnSpc>
                        <a:buNone/>
                      </a:pPr>
                      <a:endParaRPr lang="en-US" sz="1400" dirty="0">
                        <a:latin typeface="IBM Plex Sans" charset="0"/>
                        <a:ea typeface="IBM Plex Sans" charset="0"/>
                        <a:cs typeface="IBM Plex Sans" charset="0"/>
                      </a:endParaRPr>
                    </a:p>
                  </a:txBody>
                  <a:tcPr marL="62230" marR="62230" marT="62230" marB="62230" anchor="t">
                    <a:lnL w="12700" cap="flat" cmpd="sng" algn="ctr">
                      <a:solidFill>
                        <a:srgbClr val="C4C4BF"/>
                      </a:solidFill>
                      <a:prstDash val="solid"/>
                      <a:round/>
                      <a:headEnd type="none" w="med" len="med"/>
                      <a:tailEnd type="none" w="med" len="med"/>
                    </a:lnL>
                    <a:lnR w="12700" cap="flat" cmpd="sng" algn="ctr">
                      <a:solidFill>
                        <a:srgbClr val="B6B5B1"/>
                      </a:solidFill>
                      <a:prstDash val="solid"/>
                      <a:round/>
                      <a:headEnd type="none" w="med" len="med"/>
                      <a:tailEnd type="none" w="med" len="med"/>
                    </a:lnR>
                    <a:lnT w="12700" cap="flat" cmpd="sng" algn="ctr">
                      <a:solidFill>
                        <a:srgbClr val="C4C4BF"/>
                      </a:solidFill>
                      <a:prstDash val="solid"/>
                      <a:round/>
                      <a:headEnd type="none" w="med" len="med"/>
                      <a:tailEnd type="none" w="med" len="med"/>
                    </a:lnT>
                    <a:lnB w="12700" cap="flat" cmpd="sng" algn="ctr">
                      <a:solidFill>
                        <a:srgbClr val="B6B5B1"/>
                      </a:solidFill>
                      <a:prstDash val="solid"/>
                      <a:round/>
                      <a:headEnd type="none" w="med" len="med"/>
                      <a:tailEnd type="none" w="med" len="med"/>
                    </a:lnB>
                    <a:solidFill>
                      <a:srgbClr val="E4E3DE"/>
                    </a:solidFill>
                  </a:tcPr>
                </a:tc>
                <a:tc>
                  <a:txBody>
                    <a:bodyPr/>
                    <a:lstStyle/>
                    <a:p>
                      <a:pPr algn="r" indent="0" marL="0">
                        <a:lnSpc>
                          <a:spcPts val="1960"/>
                        </a:lnSpc>
                        <a:buNone/>
                      </a:pPr>
                      <a:r>
                        <a:rPr lang="en-US" sz="1400" b="1" dirty="0">
                          <a:solidFill>
                            <a:srgbClr val="16202E"/>
                          </a:solidFill>
                          <a:latin typeface="IBM Plex Sans" pitchFamily="34" charset="0"/>
                          <a:ea typeface="IBM Plex Sans" pitchFamily="34" charset="-122"/>
                          <a:cs typeface="IBM Plex Sans" pitchFamily="34" charset="-120"/>
                        </a:rPr>
                        <a:t>train</a:t>
                      </a:r>
                      <a:endParaRPr lang="en-US" sz="1400" dirty="0">
                        <a:latin typeface="IBM Plex Sans" charset="0"/>
                        <a:ea typeface="IBM Plex Sans" charset="0"/>
                        <a:cs typeface="IBM Plex Sans" charset="0"/>
                      </a:endParaRPr>
                    </a:p>
                  </a:txBody>
                  <a:tcPr marL="62230" marR="62230" marT="62230" marB="62230" anchor="t">
                    <a:lnL w="12700" cap="flat" cmpd="sng" algn="ctr">
                      <a:solidFill>
                        <a:srgbClr val="B6B5B1"/>
                      </a:solidFill>
                      <a:prstDash val="solid"/>
                      <a:round/>
                      <a:headEnd type="none" w="med" len="med"/>
                      <a:tailEnd type="none" w="med" len="med"/>
                    </a:lnL>
                    <a:lnR w="12700" cap="flat" cmpd="sng" algn="ctr">
                      <a:solidFill>
                        <a:srgbClr val="B6B5B1"/>
                      </a:solidFill>
                      <a:prstDash val="solid"/>
                      <a:round/>
                      <a:headEnd type="none" w="med" len="med"/>
                      <a:tailEnd type="none" w="med" len="med"/>
                    </a:lnR>
                    <a:lnT w="12700" cap="flat" cmpd="sng" algn="ctr">
                      <a:solidFill>
                        <a:srgbClr val="C4C4BF"/>
                      </a:solidFill>
                      <a:prstDash val="solid"/>
                      <a:round/>
                      <a:headEnd type="none" w="med" len="med"/>
                      <a:tailEnd type="none" w="med" len="med"/>
                    </a:lnT>
                    <a:lnB w="12700" cap="flat" cmpd="sng" algn="ctr">
                      <a:solidFill>
                        <a:srgbClr val="B6B5B1"/>
                      </a:solidFill>
                      <a:prstDash val="solid"/>
                      <a:round/>
                      <a:headEnd type="none" w="med" len="med"/>
                      <a:tailEnd type="none" w="med" len="med"/>
                    </a:lnB>
                    <a:solidFill>
                      <a:srgbClr val="E4E3DE"/>
                    </a:solidFill>
                  </a:tcPr>
                </a:tc>
                <a:tc>
                  <a:txBody>
                    <a:bodyPr/>
                    <a:lstStyle/>
                    <a:p>
                      <a:pPr algn="r" indent="0" marL="0">
                        <a:lnSpc>
                          <a:spcPts val="1960"/>
                        </a:lnSpc>
                        <a:buNone/>
                      </a:pPr>
                      <a:r>
                        <a:rPr lang="en-US" sz="1400" b="1" dirty="0">
                          <a:solidFill>
                            <a:srgbClr val="16202E"/>
                          </a:solidFill>
                          <a:latin typeface="IBM Plex Sans" pitchFamily="34" charset="0"/>
                          <a:ea typeface="IBM Plex Sans" pitchFamily="34" charset="-122"/>
                          <a:cs typeface="IBM Plex Sans" pitchFamily="34" charset="-120"/>
                        </a:rPr>
                        <a:t>validation</a:t>
                      </a:r>
                      <a:endParaRPr lang="en-US" sz="1400" dirty="0">
                        <a:latin typeface="IBM Plex Sans" charset="0"/>
                        <a:ea typeface="IBM Plex Sans" charset="0"/>
                        <a:cs typeface="IBM Plex Sans" charset="0"/>
                      </a:endParaRPr>
                    </a:p>
                  </a:txBody>
                  <a:tcPr marL="62230" marR="62230" marT="62230" marB="62230" anchor="t">
                    <a:lnL w="12700" cap="flat" cmpd="sng" algn="ctr">
                      <a:solidFill>
                        <a:srgbClr val="B6B5B1"/>
                      </a:solidFill>
                      <a:prstDash val="solid"/>
                      <a:round/>
                      <a:headEnd type="none" w="med" len="med"/>
                      <a:tailEnd type="none" w="med" len="med"/>
                    </a:lnL>
                    <a:lnR w="12700" cap="flat" cmpd="sng" algn="ctr">
                      <a:solidFill>
                        <a:srgbClr val="B6B5B1"/>
                      </a:solidFill>
                      <a:prstDash val="solid"/>
                      <a:round/>
                      <a:headEnd type="none" w="med" len="med"/>
                      <a:tailEnd type="none" w="med" len="med"/>
                    </a:lnR>
                    <a:lnT w="12700" cap="flat" cmpd="sng" algn="ctr">
                      <a:solidFill>
                        <a:srgbClr val="C4C4BF"/>
                      </a:solidFill>
                      <a:prstDash val="solid"/>
                      <a:round/>
                      <a:headEnd type="none" w="med" len="med"/>
                      <a:tailEnd type="none" w="med" len="med"/>
                    </a:lnT>
                    <a:lnB w="12700" cap="flat" cmpd="sng" algn="ctr">
                      <a:solidFill>
                        <a:srgbClr val="B6B5B1"/>
                      </a:solidFill>
                      <a:prstDash val="solid"/>
                      <a:round/>
                      <a:headEnd type="none" w="med" len="med"/>
                      <a:tailEnd type="none" w="med" len="med"/>
                    </a:lnB>
                    <a:solidFill>
                      <a:srgbClr val="E4E3DE"/>
                    </a:solidFill>
                  </a:tcPr>
                </a:tc>
                <a:tc>
                  <a:txBody>
                    <a:bodyPr/>
                    <a:lstStyle/>
                    <a:p>
                      <a:pPr algn="r" indent="0" marL="0">
                        <a:lnSpc>
                          <a:spcPts val="1960"/>
                        </a:lnSpc>
                        <a:buNone/>
                      </a:pPr>
                      <a:r>
                        <a:rPr lang="en-US" sz="1400" b="1" dirty="0">
                          <a:solidFill>
                            <a:srgbClr val="16202E"/>
                          </a:solidFill>
                          <a:latin typeface="IBM Plex Sans" pitchFamily="34" charset="0"/>
                          <a:ea typeface="IBM Plex Sans" pitchFamily="34" charset="-122"/>
                          <a:cs typeface="IBM Plex Sans" pitchFamily="34" charset="-120"/>
                        </a:rPr>
                        <a:t>test</a:t>
                      </a:r>
                      <a:endParaRPr lang="en-US" sz="1400" dirty="0">
                        <a:latin typeface="IBM Plex Sans" charset="0"/>
                        <a:ea typeface="IBM Plex Sans" charset="0"/>
                        <a:cs typeface="IBM Plex Sans" charset="0"/>
                      </a:endParaRPr>
                    </a:p>
                  </a:txBody>
                  <a:tcPr marL="62230" marR="62230" marT="62230" marB="62230" anchor="t">
                    <a:lnL w="12700" cap="flat" cmpd="sng" algn="ctr">
                      <a:solidFill>
                        <a:srgbClr val="B6B5B1"/>
                      </a:solidFill>
                      <a:prstDash val="solid"/>
                      <a:round/>
                      <a:headEnd type="none" w="med" len="med"/>
                      <a:tailEnd type="none" w="med" len="med"/>
                    </a:lnL>
                    <a:lnR w="12700" cap="flat" cmpd="sng" algn="ctr">
                      <a:solidFill>
                        <a:srgbClr val="B6B5B1"/>
                      </a:solidFill>
                      <a:prstDash val="solid"/>
                      <a:round/>
                      <a:headEnd type="none" w="med" len="med"/>
                      <a:tailEnd type="none" w="med" len="med"/>
                    </a:lnR>
                    <a:lnT w="12700" cap="flat" cmpd="sng" algn="ctr">
                      <a:solidFill>
                        <a:srgbClr val="C4C4BF"/>
                      </a:solidFill>
                      <a:prstDash val="solid"/>
                      <a:round/>
                      <a:headEnd type="none" w="med" len="med"/>
                      <a:tailEnd type="none" w="med" len="med"/>
                    </a:lnT>
                    <a:lnB w="12700" cap="flat" cmpd="sng" algn="ctr">
                      <a:solidFill>
                        <a:srgbClr val="B6B5B1"/>
                      </a:solidFill>
                      <a:prstDash val="solid"/>
                      <a:round/>
                      <a:headEnd type="none" w="med" len="med"/>
                      <a:tailEnd type="none" w="med" len="med"/>
                    </a:lnB>
                    <a:solidFill>
                      <a:srgbClr val="E4E3DE"/>
                    </a:solidFill>
                  </a:tcPr>
                </a:tc>
              </a:tr>
              <a:tr h="386011">
                <a:tc>
                  <a:txBody>
                    <a:bodyPr/>
                    <a:lstStyle/>
                    <a:p>
                      <a:pPr indent="0" marL="0">
                        <a:lnSpc>
                          <a:spcPts val="1960"/>
                        </a:lnSpc>
                        <a:buNone/>
                      </a:pPr>
                      <a:r>
                        <a:rPr lang="en-US" sz="1400" dirty="0">
                          <a:solidFill>
                            <a:srgbClr val="16202E"/>
                          </a:solidFill>
                          <a:latin typeface="IBM Plex Sans" pitchFamily="34" charset="0"/>
                          <a:ea typeface="IBM Plex Sans" pitchFamily="34" charset="-122"/>
                          <a:cs typeface="IBM Plex Sans" pitchFamily="34" charset="-120"/>
                        </a:rPr>
                        <a:t>Document</a:t>
                      </a:r>
                      <a:endParaRPr lang="en-US" sz="1400" dirty="0">
                        <a:latin typeface="IBM Plex Sans" charset="0"/>
                        <a:ea typeface="IBM Plex Sans" charset="0"/>
                        <a:cs typeface="IBM Plex Sans" charset="0"/>
                      </a:endParaRPr>
                    </a:p>
                  </a:txBody>
                  <a:tcPr marL="62230" marR="62230" marT="62230" marB="62230" anchor="t">
                    <a:lnL w="12700" cap="flat" cmpd="sng" algn="ctr">
                      <a:solidFill>
                        <a:srgbClr val="C4C4BF"/>
                      </a:solidFill>
                      <a:prstDash val="solid"/>
                      <a:round/>
                      <a:headEnd type="none" w="med" len="med"/>
                      <a:tailEnd type="none" w="med" len="med"/>
                    </a:lnL>
                    <a:lnR w="12700" cap="flat" cmpd="sng" algn="ctr">
                      <a:solidFill>
                        <a:srgbClr val="C4C4BF"/>
                      </a:solidFill>
                      <a:prstDash val="solid"/>
                      <a:round/>
                      <a:headEnd type="none" w="med" len="med"/>
                      <a:tailEnd type="none" w="med" len="med"/>
                    </a:lnR>
                    <a:lnT w="12700" cap="flat" cmpd="sng" algn="ctr">
                      <a:solidFill>
                        <a:srgbClr val="B6B5B1"/>
                      </a:solidFill>
                      <a:prstDash val="solid"/>
                      <a:round/>
                      <a:headEnd type="none" w="med" len="med"/>
                      <a:tailEnd type="none" w="med" len="med"/>
                    </a:lnT>
                    <a:lnB w="12700" cap="flat" cmpd="sng" algn="ctr">
                      <a:solidFill>
                        <a:srgbClr val="C4C4BF"/>
                      </a:solidFill>
                      <a:prstDash val="solid"/>
                      <a:round/>
                      <a:headEnd type="none" w="med" len="med"/>
                      <a:tailEnd type="none" w="med" len="med"/>
                    </a:lnB>
                  </a:tcPr>
                </a:tc>
                <a:tc>
                  <a:txBody>
                    <a:bodyPr/>
                    <a:lstStyle/>
                    <a:p>
                      <a:pPr algn="r" indent="0" marL="0">
                        <a:lnSpc>
                          <a:spcPts val="1960"/>
                        </a:lnSpc>
                        <a:buNone/>
                      </a:pPr>
                      <a:r>
                        <a:rPr lang="en-US" sz="1400" dirty="0">
                          <a:solidFill>
                            <a:srgbClr val="16202E"/>
                          </a:solidFill>
                          <a:latin typeface="IBM Plex Sans" pitchFamily="34" charset="0"/>
                          <a:ea typeface="IBM Plex Sans" pitchFamily="34" charset="-122"/>
                          <a:cs typeface="IBM Plex Sans" pitchFamily="34" charset="-120"/>
                        </a:rPr>
                        <a:t>guide</a:t>
                      </a:r>
                      <a:endParaRPr lang="en-US" sz="1400" dirty="0">
                        <a:latin typeface="IBM Plex Sans" charset="0"/>
                        <a:ea typeface="IBM Plex Sans" charset="0"/>
                        <a:cs typeface="IBM Plex Sans" charset="0"/>
                      </a:endParaRPr>
                    </a:p>
                  </a:txBody>
                  <a:tcPr marL="62230" marR="62230" marT="62230" marB="62230" anchor="t">
                    <a:lnL w="12700" cap="flat" cmpd="sng" algn="ctr">
                      <a:solidFill>
                        <a:srgbClr val="C4C4BF"/>
                      </a:solidFill>
                      <a:prstDash val="solid"/>
                      <a:round/>
                      <a:headEnd type="none" w="med" len="med"/>
                      <a:tailEnd type="none" w="med" len="med"/>
                    </a:lnL>
                    <a:lnR w="12700" cap="flat" cmpd="sng" algn="ctr">
                      <a:solidFill>
                        <a:srgbClr val="C4C4BF"/>
                      </a:solidFill>
                      <a:prstDash val="solid"/>
                      <a:round/>
                      <a:headEnd type="none" w="med" len="med"/>
                      <a:tailEnd type="none" w="med" len="med"/>
                    </a:lnR>
                    <a:lnT w="12700" cap="flat" cmpd="sng" algn="ctr">
                      <a:solidFill>
                        <a:srgbClr val="B6B5B1"/>
                      </a:solidFill>
                      <a:prstDash val="solid"/>
                      <a:round/>
                      <a:headEnd type="none" w="med" len="med"/>
                      <a:tailEnd type="none" w="med" len="med"/>
                    </a:lnT>
                    <a:lnB w="12700" cap="flat" cmpd="sng" algn="ctr">
                      <a:solidFill>
                        <a:srgbClr val="C4C4BF"/>
                      </a:solidFill>
                      <a:prstDash val="solid"/>
                      <a:round/>
                      <a:headEnd type="none" w="med" len="med"/>
                      <a:tailEnd type="none" w="med" len="med"/>
                    </a:lnB>
                  </a:tcPr>
                </a:tc>
                <a:tc>
                  <a:txBody>
                    <a:bodyPr/>
                    <a:lstStyle/>
                    <a:p>
                      <a:pPr algn="r" indent="0" marL="0">
                        <a:lnSpc>
                          <a:spcPts val="1960"/>
                        </a:lnSpc>
                        <a:buNone/>
                      </a:pPr>
                      <a:r>
                        <a:rPr lang="en-US" sz="1400" dirty="0">
                          <a:solidFill>
                            <a:srgbClr val="16202E"/>
                          </a:solidFill>
                          <a:latin typeface="IBM Plex Sans" pitchFamily="34" charset="0"/>
                          <a:ea typeface="IBM Plex Sans" pitchFamily="34" charset="-122"/>
                          <a:cs typeface="IBM Plex Sans" pitchFamily="34" charset="-120"/>
                        </a:rPr>
                        <a:t>guide</a:t>
                      </a:r>
                      <a:endParaRPr lang="en-US" sz="1400" dirty="0">
                        <a:latin typeface="IBM Plex Sans" charset="0"/>
                        <a:ea typeface="IBM Plex Sans" charset="0"/>
                        <a:cs typeface="IBM Plex Sans" charset="0"/>
                      </a:endParaRPr>
                    </a:p>
                  </a:txBody>
                  <a:tcPr marL="62230" marR="62230" marT="62230" marB="62230" anchor="t">
                    <a:lnL w="12700" cap="flat" cmpd="sng" algn="ctr">
                      <a:solidFill>
                        <a:srgbClr val="C4C4BF"/>
                      </a:solidFill>
                      <a:prstDash val="solid"/>
                      <a:round/>
                      <a:headEnd type="none" w="med" len="med"/>
                      <a:tailEnd type="none" w="med" len="med"/>
                    </a:lnL>
                    <a:lnR w="12700" cap="flat" cmpd="sng" algn="ctr">
                      <a:solidFill>
                        <a:srgbClr val="C4C4BF"/>
                      </a:solidFill>
                      <a:prstDash val="solid"/>
                      <a:round/>
                      <a:headEnd type="none" w="med" len="med"/>
                      <a:tailEnd type="none" w="med" len="med"/>
                    </a:lnR>
                    <a:lnT w="12700" cap="flat" cmpd="sng" algn="ctr">
                      <a:solidFill>
                        <a:srgbClr val="B6B5B1"/>
                      </a:solidFill>
                      <a:prstDash val="solid"/>
                      <a:round/>
                      <a:headEnd type="none" w="med" len="med"/>
                      <a:tailEnd type="none" w="med" len="med"/>
                    </a:lnT>
                    <a:lnB w="12700" cap="flat" cmpd="sng" algn="ctr">
                      <a:solidFill>
                        <a:srgbClr val="C4C4BF"/>
                      </a:solidFill>
                      <a:prstDash val="solid"/>
                      <a:round/>
                      <a:headEnd type="none" w="med" len="med"/>
                      <a:tailEnd type="none" w="med" len="med"/>
                    </a:lnB>
                  </a:tcPr>
                </a:tc>
                <a:tc>
                  <a:txBody>
                    <a:bodyPr/>
                    <a:lstStyle/>
                    <a:p>
                      <a:pPr algn="r" indent="0" marL="0">
                        <a:lnSpc>
                          <a:spcPts val="1960"/>
                        </a:lnSpc>
                        <a:buNone/>
                      </a:pPr>
                      <a:r>
                        <a:rPr lang="en-US" sz="1400" dirty="0">
                          <a:solidFill>
                            <a:srgbClr val="16202E"/>
                          </a:solidFill>
                          <a:latin typeface="IBM Plex Sans" pitchFamily="34" charset="0"/>
                          <a:ea typeface="IBM Plex Sans" pitchFamily="34" charset="-122"/>
                          <a:cs typeface="IBM Plex Sans" pitchFamily="34" charset="-120"/>
                        </a:rPr>
                        <a:t>brochure</a:t>
                      </a:r>
                      <a:endParaRPr lang="en-US" sz="1400" dirty="0">
                        <a:latin typeface="IBM Plex Sans" charset="0"/>
                        <a:ea typeface="IBM Plex Sans" charset="0"/>
                        <a:cs typeface="IBM Plex Sans" charset="0"/>
                      </a:endParaRPr>
                    </a:p>
                  </a:txBody>
                  <a:tcPr marL="62230" marR="62230" marT="62230" marB="62230" anchor="t">
                    <a:lnL w="12700" cap="flat" cmpd="sng" algn="ctr">
                      <a:solidFill>
                        <a:srgbClr val="C4C4BF"/>
                      </a:solidFill>
                      <a:prstDash val="solid"/>
                      <a:round/>
                      <a:headEnd type="none" w="med" len="med"/>
                      <a:tailEnd type="none" w="med" len="med"/>
                    </a:lnL>
                    <a:lnR w="12700" cap="flat" cmpd="sng" algn="ctr">
                      <a:solidFill>
                        <a:srgbClr val="C4C4BF"/>
                      </a:solidFill>
                      <a:prstDash val="solid"/>
                      <a:round/>
                      <a:headEnd type="none" w="med" len="med"/>
                      <a:tailEnd type="none" w="med" len="med"/>
                    </a:lnR>
                    <a:lnT w="12700" cap="flat" cmpd="sng" algn="ctr">
                      <a:solidFill>
                        <a:srgbClr val="B6B5B1"/>
                      </a:solidFill>
                      <a:prstDash val="solid"/>
                      <a:round/>
                      <a:headEnd type="none" w="med" len="med"/>
                      <a:tailEnd type="none" w="med" len="med"/>
                    </a:lnT>
                    <a:lnB w="12700" cap="flat" cmpd="sng" algn="ctr">
                      <a:solidFill>
                        <a:srgbClr val="C4C4BF"/>
                      </a:solidFill>
                      <a:prstDash val="solid"/>
                      <a:round/>
                      <a:headEnd type="none" w="med" len="med"/>
                      <a:tailEnd type="none" w="med" len="med"/>
                    </a:lnB>
                  </a:tcPr>
                </a:tc>
              </a:tr>
              <a:tr h="386011">
                <a:tc>
                  <a:txBody>
                    <a:bodyPr/>
                    <a:lstStyle/>
                    <a:p>
                      <a:pPr indent="0" marL="0">
                        <a:lnSpc>
                          <a:spcPts val="1960"/>
                        </a:lnSpc>
                        <a:buNone/>
                      </a:pPr>
                      <a:r>
                        <a:rPr lang="en-US" sz="1400" dirty="0">
                          <a:solidFill>
                            <a:srgbClr val="16202E"/>
                          </a:solidFill>
                          <a:latin typeface="IBM Plex Sans" pitchFamily="34" charset="0"/>
                          <a:ea typeface="IBM Plex Sans" pitchFamily="34" charset="-122"/>
                          <a:cs typeface="IBM Plex Sans" pitchFamily="34" charset="-120"/>
                        </a:rPr>
                        <a:t>Sections</a:t>
                      </a:r>
                      <a:endParaRPr lang="en-US" sz="1400" dirty="0">
                        <a:latin typeface="IBM Plex Sans" charset="0"/>
                        <a:ea typeface="IBM Plex Sans" charset="0"/>
                        <a:cs typeface="IBM Plex Sans" charset="0"/>
                      </a:endParaRPr>
                    </a:p>
                  </a:txBody>
                  <a:tcPr marL="62230" marR="62230" marT="62230" marB="62230" anchor="t">
                    <a:lnL w="12700" cap="flat" cmpd="sng" algn="ctr">
                      <a:solidFill>
                        <a:srgbClr val="C4C4BF"/>
                      </a:solidFill>
                      <a:prstDash val="solid"/>
                      <a:round/>
                      <a:headEnd type="none" w="med" len="med"/>
                      <a:tailEnd type="none" w="med" len="med"/>
                    </a:lnL>
                    <a:lnR w="12700" cap="flat" cmpd="sng" algn="ctr">
                      <a:solidFill>
                        <a:srgbClr val="BFBCB5"/>
                      </a:solidFill>
                      <a:prstDash val="solid"/>
                      <a:round/>
                      <a:headEnd type="none" w="med" len="med"/>
                      <a:tailEnd type="none" w="med" len="med"/>
                    </a:lnR>
                    <a:lnT w="12700" cap="flat" cmpd="sng" algn="ctr">
                      <a:solidFill>
                        <a:srgbClr val="C4C4BF"/>
                      </a:solidFill>
                      <a:prstDash val="solid"/>
                      <a:round/>
                      <a:headEnd type="none" w="med" len="med"/>
                      <a:tailEnd type="none" w="med" len="med"/>
                    </a:lnT>
                    <a:lnB w="12700" cap="flat" cmpd="sng" algn="ctr">
                      <a:solidFill>
                        <a:srgbClr val="BFBCB5"/>
                      </a:solidFill>
                      <a:prstDash val="solid"/>
                      <a:round/>
                      <a:headEnd type="none" w="med" len="med"/>
                      <a:tailEnd type="none" w="med" len="med"/>
                    </a:lnB>
                    <a:solidFill>
                      <a:srgbClr val="EFECE3"/>
                    </a:solidFill>
                  </a:tcPr>
                </a:tc>
                <a:tc>
                  <a:txBody>
                    <a:bodyPr/>
                    <a:lstStyle/>
                    <a:p>
                      <a:pPr algn="r" indent="0" marL="0">
                        <a:lnSpc>
                          <a:spcPts val="1960"/>
                        </a:lnSpc>
                        <a:buNone/>
                      </a:pPr>
                      <a:r>
                        <a:rPr lang="en-US" sz="1400" dirty="0">
                          <a:solidFill>
                            <a:srgbClr val="16202E"/>
                          </a:solidFill>
                          <a:latin typeface="IBM Plex Sans" pitchFamily="34" charset="0"/>
                          <a:ea typeface="IBM Plex Sans" pitchFamily="34" charset="-122"/>
                          <a:cs typeface="IBM Plex Sans" pitchFamily="34" charset="-120"/>
                        </a:rPr>
                        <a:t>22</a:t>
                      </a:r>
                      <a:endParaRPr lang="en-US" sz="1400" dirty="0">
                        <a:latin typeface="IBM Plex Sans" charset="0"/>
                        <a:ea typeface="IBM Plex Sans" charset="0"/>
                        <a:cs typeface="IBM Plex Sans" charset="0"/>
                      </a:endParaRPr>
                    </a:p>
                  </a:txBody>
                  <a:tcPr marL="62230" marR="62230" marT="62230" marB="62230" anchor="t">
                    <a:lnL w="12700" cap="flat" cmpd="sng" algn="ctr">
                      <a:solidFill>
                        <a:srgbClr val="BFBCB5"/>
                      </a:solidFill>
                      <a:prstDash val="solid"/>
                      <a:round/>
                      <a:headEnd type="none" w="med" len="med"/>
                      <a:tailEnd type="none" w="med" len="med"/>
                    </a:lnL>
                    <a:lnR w="12700" cap="flat" cmpd="sng" algn="ctr">
                      <a:solidFill>
                        <a:srgbClr val="BFBCB5"/>
                      </a:solidFill>
                      <a:prstDash val="solid"/>
                      <a:round/>
                      <a:headEnd type="none" w="med" len="med"/>
                      <a:tailEnd type="none" w="med" len="med"/>
                    </a:lnR>
                    <a:lnT w="12700" cap="flat" cmpd="sng" algn="ctr">
                      <a:solidFill>
                        <a:srgbClr val="C4C4BF"/>
                      </a:solidFill>
                      <a:prstDash val="solid"/>
                      <a:round/>
                      <a:headEnd type="none" w="med" len="med"/>
                      <a:tailEnd type="none" w="med" len="med"/>
                    </a:lnT>
                    <a:lnB w="12700" cap="flat" cmpd="sng" algn="ctr">
                      <a:solidFill>
                        <a:srgbClr val="BFBCB5"/>
                      </a:solidFill>
                      <a:prstDash val="solid"/>
                      <a:round/>
                      <a:headEnd type="none" w="med" len="med"/>
                      <a:tailEnd type="none" w="med" len="med"/>
                    </a:lnB>
                    <a:solidFill>
                      <a:srgbClr val="EFECE3"/>
                    </a:solidFill>
                  </a:tcPr>
                </a:tc>
                <a:tc>
                  <a:txBody>
                    <a:bodyPr/>
                    <a:lstStyle/>
                    <a:p>
                      <a:pPr algn="r" indent="0" marL="0">
                        <a:lnSpc>
                          <a:spcPts val="1960"/>
                        </a:lnSpc>
                        <a:buNone/>
                      </a:pPr>
                      <a:r>
                        <a:rPr lang="en-US" sz="1400" dirty="0">
                          <a:solidFill>
                            <a:srgbClr val="16202E"/>
                          </a:solidFill>
                          <a:latin typeface="IBM Plex Sans" pitchFamily="34" charset="0"/>
                          <a:ea typeface="IBM Plex Sans" pitchFamily="34" charset="-122"/>
                          <a:cs typeface="IBM Plex Sans" pitchFamily="34" charset="-120"/>
                        </a:rPr>
                        <a:t>6</a:t>
                      </a:r>
                      <a:endParaRPr lang="en-US" sz="1400" dirty="0">
                        <a:latin typeface="IBM Plex Sans" charset="0"/>
                        <a:ea typeface="IBM Plex Sans" charset="0"/>
                        <a:cs typeface="IBM Plex Sans" charset="0"/>
                      </a:endParaRPr>
                    </a:p>
                  </a:txBody>
                  <a:tcPr marL="62230" marR="62230" marT="62230" marB="62230" anchor="t">
                    <a:lnL w="12700" cap="flat" cmpd="sng" algn="ctr">
                      <a:solidFill>
                        <a:srgbClr val="BFBCB5"/>
                      </a:solidFill>
                      <a:prstDash val="solid"/>
                      <a:round/>
                      <a:headEnd type="none" w="med" len="med"/>
                      <a:tailEnd type="none" w="med" len="med"/>
                    </a:lnL>
                    <a:lnR w="12700" cap="flat" cmpd="sng" algn="ctr">
                      <a:solidFill>
                        <a:srgbClr val="BFBCB5"/>
                      </a:solidFill>
                      <a:prstDash val="solid"/>
                      <a:round/>
                      <a:headEnd type="none" w="med" len="med"/>
                      <a:tailEnd type="none" w="med" len="med"/>
                    </a:lnR>
                    <a:lnT w="12700" cap="flat" cmpd="sng" algn="ctr">
                      <a:solidFill>
                        <a:srgbClr val="C4C4BF"/>
                      </a:solidFill>
                      <a:prstDash val="solid"/>
                      <a:round/>
                      <a:headEnd type="none" w="med" len="med"/>
                      <a:tailEnd type="none" w="med" len="med"/>
                    </a:lnT>
                    <a:lnB w="12700" cap="flat" cmpd="sng" algn="ctr">
                      <a:solidFill>
                        <a:srgbClr val="BFBCB5"/>
                      </a:solidFill>
                      <a:prstDash val="solid"/>
                      <a:round/>
                      <a:headEnd type="none" w="med" len="med"/>
                      <a:tailEnd type="none" w="med" len="med"/>
                    </a:lnB>
                    <a:solidFill>
                      <a:srgbClr val="EFECE3"/>
                    </a:solidFill>
                  </a:tcPr>
                </a:tc>
                <a:tc>
                  <a:txBody>
                    <a:bodyPr/>
                    <a:lstStyle/>
                    <a:p>
                      <a:pPr algn="r" indent="0" marL="0">
                        <a:lnSpc>
                          <a:spcPts val="1960"/>
                        </a:lnSpc>
                        <a:buNone/>
                      </a:pPr>
                      <a:r>
                        <a:rPr lang="en-US" sz="1400" dirty="0">
                          <a:solidFill>
                            <a:srgbClr val="16202E"/>
                          </a:solidFill>
                          <a:latin typeface="IBM Plex Sans" pitchFamily="34" charset="0"/>
                          <a:ea typeface="IBM Plex Sans" pitchFamily="34" charset="-122"/>
                          <a:cs typeface="IBM Plex Sans" pitchFamily="34" charset="-120"/>
                        </a:rPr>
                        <a:t>72</a:t>
                      </a:r>
                      <a:endParaRPr lang="en-US" sz="1400" dirty="0">
                        <a:latin typeface="IBM Plex Sans" charset="0"/>
                        <a:ea typeface="IBM Plex Sans" charset="0"/>
                        <a:cs typeface="IBM Plex Sans" charset="0"/>
                      </a:endParaRPr>
                    </a:p>
                  </a:txBody>
                  <a:tcPr marL="62230" marR="62230" marT="62230" marB="62230" anchor="t">
                    <a:lnL w="12700" cap="flat" cmpd="sng" algn="ctr">
                      <a:solidFill>
                        <a:srgbClr val="BFBCB5"/>
                      </a:solidFill>
                      <a:prstDash val="solid"/>
                      <a:round/>
                      <a:headEnd type="none" w="med" len="med"/>
                      <a:tailEnd type="none" w="med" len="med"/>
                    </a:lnL>
                    <a:lnR w="12700" cap="flat" cmpd="sng" algn="ctr">
                      <a:solidFill>
                        <a:srgbClr val="BFBCB5"/>
                      </a:solidFill>
                      <a:prstDash val="solid"/>
                      <a:round/>
                      <a:headEnd type="none" w="med" len="med"/>
                      <a:tailEnd type="none" w="med" len="med"/>
                    </a:lnR>
                    <a:lnT w="12700" cap="flat" cmpd="sng" algn="ctr">
                      <a:solidFill>
                        <a:srgbClr val="C4C4BF"/>
                      </a:solidFill>
                      <a:prstDash val="solid"/>
                      <a:round/>
                      <a:headEnd type="none" w="med" len="med"/>
                      <a:tailEnd type="none" w="med" len="med"/>
                    </a:lnT>
                    <a:lnB w="12700" cap="flat" cmpd="sng" algn="ctr">
                      <a:solidFill>
                        <a:srgbClr val="BFBCB5"/>
                      </a:solidFill>
                      <a:prstDash val="solid"/>
                      <a:round/>
                      <a:headEnd type="none" w="med" len="med"/>
                      <a:tailEnd type="none" w="med" len="med"/>
                    </a:lnB>
                    <a:solidFill>
                      <a:srgbClr val="EFECE3"/>
                    </a:solidFill>
                  </a:tcPr>
                </a:tc>
              </a:tr>
              <a:tr h="386011">
                <a:tc>
                  <a:txBody>
                    <a:bodyPr/>
                    <a:lstStyle/>
                    <a:p>
                      <a:pPr indent="0" marL="0">
                        <a:lnSpc>
                          <a:spcPts val="1960"/>
                        </a:lnSpc>
                        <a:buNone/>
                      </a:pPr>
                      <a:r>
                        <a:rPr lang="en-US" sz="1400" dirty="0">
                          <a:solidFill>
                            <a:srgbClr val="16202E"/>
                          </a:solidFill>
                          <a:latin typeface="IBM Plex Sans" pitchFamily="34" charset="0"/>
                          <a:ea typeface="IBM Plex Sans" pitchFamily="34" charset="-122"/>
                          <a:cs typeface="IBM Plex Sans" pitchFamily="34" charset="-120"/>
                        </a:rPr>
                        <a:t>QA pairs</a:t>
                      </a:r>
                      <a:endParaRPr lang="en-US" sz="1400" dirty="0">
                        <a:latin typeface="IBM Plex Sans" charset="0"/>
                        <a:ea typeface="IBM Plex Sans" charset="0"/>
                        <a:cs typeface="IBM Plex Sans" charset="0"/>
                      </a:endParaRPr>
                    </a:p>
                  </a:txBody>
                  <a:tcPr marL="62230" marR="62230" marT="62230" marB="62230" anchor="t">
                    <a:lnL w="12700" cap="flat" cmpd="sng" algn="ctr">
                      <a:solidFill>
                        <a:srgbClr val="C4C4BF"/>
                      </a:solidFill>
                      <a:prstDash val="solid"/>
                      <a:round/>
                      <a:headEnd type="none" w="med" len="med"/>
                      <a:tailEnd type="none" w="med" len="med"/>
                    </a:lnL>
                    <a:lnR w="12700" cap="flat" cmpd="sng" algn="ctr">
                      <a:solidFill>
                        <a:srgbClr val="C4C4BF"/>
                      </a:solidFill>
                      <a:prstDash val="solid"/>
                      <a:round/>
                      <a:headEnd type="none" w="med" len="med"/>
                      <a:tailEnd type="none" w="med" len="med"/>
                    </a:lnR>
                    <a:lnT w="12700" cap="flat" cmpd="sng" algn="ctr">
                      <a:solidFill>
                        <a:srgbClr val="BFBCB5"/>
                      </a:solidFill>
                      <a:prstDash val="solid"/>
                      <a:round/>
                      <a:headEnd type="none" w="med" len="med"/>
                      <a:tailEnd type="none" w="med" len="med"/>
                    </a:lnT>
                    <a:lnB w="12700" cap="flat" cmpd="sng" algn="ctr">
                      <a:solidFill>
                        <a:srgbClr val="C4C4BF"/>
                      </a:solidFill>
                      <a:prstDash val="solid"/>
                      <a:round/>
                      <a:headEnd type="none" w="med" len="med"/>
                      <a:tailEnd type="none" w="med" len="med"/>
                    </a:lnB>
                  </a:tcPr>
                </a:tc>
                <a:tc>
                  <a:txBody>
                    <a:bodyPr/>
                    <a:lstStyle/>
                    <a:p>
                      <a:pPr algn="r" indent="0" marL="0">
                        <a:lnSpc>
                          <a:spcPts val="1960"/>
                        </a:lnSpc>
                        <a:buNone/>
                      </a:pPr>
                      <a:r>
                        <a:rPr lang="en-US" sz="1400" dirty="0">
                          <a:solidFill>
                            <a:srgbClr val="16202E"/>
                          </a:solidFill>
                          <a:latin typeface="IBM Plex Sans" pitchFamily="34" charset="0"/>
                          <a:ea typeface="IBM Plex Sans" pitchFamily="34" charset="-122"/>
                          <a:cs typeface="IBM Plex Sans" pitchFamily="34" charset="-120"/>
                        </a:rPr>
                        <a:t>78</a:t>
                      </a:r>
                      <a:endParaRPr lang="en-US" sz="1400" dirty="0">
                        <a:latin typeface="IBM Plex Sans" charset="0"/>
                        <a:ea typeface="IBM Plex Sans" charset="0"/>
                        <a:cs typeface="IBM Plex Sans" charset="0"/>
                      </a:endParaRPr>
                    </a:p>
                  </a:txBody>
                  <a:tcPr marL="62230" marR="62230" marT="62230" marB="62230" anchor="t">
                    <a:lnL w="12700" cap="flat" cmpd="sng" algn="ctr">
                      <a:solidFill>
                        <a:srgbClr val="C4C4BF"/>
                      </a:solidFill>
                      <a:prstDash val="solid"/>
                      <a:round/>
                      <a:headEnd type="none" w="med" len="med"/>
                      <a:tailEnd type="none" w="med" len="med"/>
                    </a:lnL>
                    <a:lnR w="12700" cap="flat" cmpd="sng" algn="ctr">
                      <a:solidFill>
                        <a:srgbClr val="C4C4BF"/>
                      </a:solidFill>
                      <a:prstDash val="solid"/>
                      <a:round/>
                      <a:headEnd type="none" w="med" len="med"/>
                      <a:tailEnd type="none" w="med" len="med"/>
                    </a:lnR>
                    <a:lnT w="12700" cap="flat" cmpd="sng" algn="ctr">
                      <a:solidFill>
                        <a:srgbClr val="BFBCB5"/>
                      </a:solidFill>
                      <a:prstDash val="solid"/>
                      <a:round/>
                      <a:headEnd type="none" w="med" len="med"/>
                      <a:tailEnd type="none" w="med" len="med"/>
                    </a:lnT>
                    <a:lnB w="12700" cap="flat" cmpd="sng" algn="ctr">
                      <a:solidFill>
                        <a:srgbClr val="C4C4BF"/>
                      </a:solidFill>
                      <a:prstDash val="solid"/>
                      <a:round/>
                      <a:headEnd type="none" w="med" len="med"/>
                      <a:tailEnd type="none" w="med" len="med"/>
                    </a:lnB>
                  </a:tcPr>
                </a:tc>
                <a:tc>
                  <a:txBody>
                    <a:bodyPr/>
                    <a:lstStyle/>
                    <a:p>
                      <a:pPr algn="r" indent="0" marL="0">
                        <a:lnSpc>
                          <a:spcPts val="1960"/>
                        </a:lnSpc>
                        <a:buNone/>
                      </a:pPr>
                      <a:r>
                        <a:rPr lang="en-US" sz="1400" dirty="0">
                          <a:solidFill>
                            <a:srgbClr val="16202E"/>
                          </a:solidFill>
                          <a:latin typeface="IBM Plex Sans" pitchFamily="34" charset="0"/>
                          <a:ea typeface="IBM Plex Sans" pitchFamily="34" charset="-122"/>
                          <a:cs typeface="IBM Plex Sans" pitchFamily="34" charset="-120"/>
                        </a:rPr>
                        <a:t>24</a:t>
                      </a:r>
                      <a:endParaRPr lang="en-US" sz="1400" dirty="0">
                        <a:latin typeface="IBM Plex Sans" charset="0"/>
                        <a:ea typeface="IBM Plex Sans" charset="0"/>
                        <a:cs typeface="IBM Plex Sans" charset="0"/>
                      </a:endParaRPr>
                    </a:p>
                  </a:txBody>
                  <a:tcPr marL="62230" marR="62230" marT="62230" marB="62230" anchor="t">
                    <a:lnL w="12700" cap="flat" cmpd="sng" algn="ctr">
                      <a:solidFill>
                        <a:srgbClr val="C4C4BF"/>
                      </a:solidFill>
                      <a:prstDash val="solid"/>
                      <a:round/>
                      <a:headEnd type="none" w="med" len="med"/>
                      <a:tailEnd type="none" w="med" len="med"/>
                    </a:lnL>
                    <a:lnR w="12700" cap="flat" cmpd="sng" algn="ctr">
                      <a:solidFill>
                        <a:srgbClr val="C4C4BF"/>
                      </a:solidFill>
                      <a:prstDash val="solid"/>
                      <a:round/>
                      <a:headEnd type="none" w="med" len="med"/>
                      <a:tailEnd type="none" w="med" len="med"/>
                    </a:lnR>
                    <a:lnT w="12700" cap="flat" cmpd="sng" algn="ctr">
                      <a:solidFill>
                        <a:srgbClr val="BFBCB5"/>
                      </a:solidFill>
                      <a:prstDash val="solid"/>
                      <a:round/>
                      <a:headEnd type="none" w="med" len="med"/>
                      <a:tailEnd type="none" w="med" len="med"/>
                    </a:lnT>
                    <a:lnB w="12700" cap="flat" cmpd="sng" algn="ctr">
                      <a:solidFill>
                        <a:srgbClr val="C4C4BF"/>
                      </a:solidFill>
                      <a:prstDash val="solid"/>
                      <a:round/>
                      <a:headEnd type="none" w="med" len="med"/>
                      <a:tailEnd type="none" w="med" len="med"/>
                    </a:lnB>
                  </a:tcPr>
                </a:tc>
                <a:tc>
                  <a:txBody>
                    <a:bodyPr/>
                    <a:lstStyle/>
                    <a:p>
                      <a:pPr algn="r" indent="0" marL="0">
                        <a:lnSpc>
                          <a:spcPts val="1960"/>
                        </a:lnSpc>
                        <a:buNone/>
                      </a:pPr>
                      <a:r>
                        <a:rPr lang="en-US" sz="1400" dirty="0">
                          <a:solidFill>
                            <a:srgbClr val="16202E"/>
                          </a:solidFill>
                          <a:latin typeface="IBM Plex Sans" pitchFamily="34" charset="0"/>
                          <a:ea typeface="IBM Plex Sans" pitchFamily="34" charset="-122"/>
                          <a:cs typeface="IBM Plex Sans" pitchFamily="34" charset="-120"/>
                        </a:rPr>
                        <a:t>41</a:t>
                      </a:r>
                      <a:endParaRPr lang="en-US" sz="1400" dirty="0">
                        <a:latin typeface="IBM Plex Sans" charset="0"/>
                        <a:ea typeface="IBM Plex Sans" charset="0"/>
                        <a:cs typeface="IBM Plex Sans" charset="0"/>
                      </a:endParaRPr>
                    </a:p>
                  </a:txBody>
                  <a:tcPr marL="62230" marR="62230" marT="62230" marB="62230" anchor="t">
                    <a:lnL w="12700" cap="flat" cmpd="sng" algn="ctr">
                      <a:solidFill>
                        <a:srgbClr val="C4C4BF"/>
                      </a:solidFill>
                      <a:prstDash val="solid"/>
                      <a:round/>
                      <a:headEnd type="none" w="med" len="med"/>
                      <a:tailEnd type="none" w="med" len="med"/>
                    </a:lnL>
                    <a:lnR w="12700" cap="flat" cmpd="sng" algn="ctr">
                      <a:solidFill>
                        <a:srgbClr val="C4C4BF"/>
                      </a:solidFill>
                      <a:prstDash val="solid"/>
                      <a:round/>
                      <a:headEnd type="none" w="med" len="med"/>
                      <a:tailEnd type="none" w="med" len="med"/>
                    </a:lnR>
                    <a:lnT w="12700" cap="flat" cmpd="sng" algn="ctr">
                      <a:solidFill>
                        <a:srgbClr val="BFBCB5"/>
                      </a:solidFill>
                      <a:prstDash val="solid"/>
                      <a:round/>
                      <a:headEnd type="none" w="med" len="med"/>
                      <a:tailEnd type="none" w="med" len="med"/>
                    </a:lnT>
                    <a:lnB w="12700" cap="flat" cmpd="sng" algn="ctr">
                      <a:solidFill>
                        <a:srgbClr val="C4C4BF"/>
                      </a:solidFill>
                      <a:prstDash val="solid"/>
                      <a:round/>
                      <a:headEnd type="none" w="med" len="med"/>
                      <a:tailEnd type="none" w="med" len="med"/>
                    </a:lnB>
                  </a:tcPr>
                </a:tc>
              </a:tr>
              <a:tr h="386011">
                <a:tc>
                  <a:txBody>
                    <a:bodyPr/>
                    <a:lstStyle/>
                    <a:p>
                      <a:pPr indent="0" marL="0">
                        <a:lnSpc>
                          <a:spcPts val="1960"/>
                        </a:lnSpc>
                        <a:buNone/>
                      </a:pPr>
                      <a:r>
                        <a:rPr lang="en-US" sz="1400" dirty="0">
                          <a:solidFill>
                            <a:srgbClr val="16202E"/>
                          </a:solidFill>
                          <a:latin typeface="IBM Plex Sans" pitchFamily="34" charset="0"/>
                          <a:ea typeface="IBM Plex Sans" pitchFamily="34" charset="-122"/>
                          <a:cs typeface="IBM Plex Sans" pitchFamily="34" charset="-120"/>
                        </a:rPr>
                        <a:t>SFT examples</a:t>
                      </a:r>
                      <a:endParaRPr lang="en-US" sz="1400" dirty="0">
                        <a:latin typeface="IBM Plex Sans" charset="0"/>
                        <a:ea typeface="IBM Plex Sans" charset="0"/>
                        <a:cs typeface="IBM Plex Sans" charset="0"/>
                      </a:endParaRPr>
                    </a:p>
                  </a:txBody>
                  <a:tcPr marL="62230" marR="62230" marT="62230" marB="62230" anchor="t">
                    <a:lnL w="12700" cap="flat" cmpd="sng" algn="ctr">
                      <a:solidFill>
                        <a:srgbClr val="C4C4BF"/>
                      </a:solidFill>
                      <a:prstDash val="solid"/>
                      <a:round/>
                      <a:headEnd type="none" w="med" len="med"/>
                      <a:tailEnd type="none" w="med" len="med"/>
                    </a:lnL>
                    <a:lnR w="12700" cap="flat" cmpd="sng" algn="ctr">
                      <a:solidFill>
                        <a:srgbClr val="BFBCB5"/>
                      </a:solidFill>
                      <a:prstDash val="solid"/>
                      <a:round/>
                      <a:headEnd type="none" w="med" len="med"/>
                      <a:tailEnd type="none" w="med" len="med"/>
                    </a:lnR>
                    <a:lnT w="12700" cap="flat" cmpd="sng" algn="ctr">
                      <a:solidFill>
                        <a:srgbClr val="C4C4BF"/>
                      </a:solidFill>
                      <a:prstDash val="solid"/>
                      <a:round/>
                      <a:headEnd type="none" w="med" len="med"/>
                      <a:tailEnd type="none" w="med" len="med"/>
                    </a:lnT>
                    <a:lnB w="12700" cap="flat" cmpd="sng" algn="ctr">
                      <a:solidFill>
                        <a:srgbClr val="BFBCB5"/>
                      </a:solidFill>
                      <a:prstDash val="solid"/>
                      <a:round/>
                      <a:headEnd type="none" w="med" len="med"/>
                      <a:tailEnd type="none" w="med" len="med"/>
                    </a:lnB>
                    <a:solidFill>
                      <a:srgbClr val="EFECE3"/>
                    </a:solidFill>
                  </a:tcPr>
                </a:tc>
                <a:tc>
                  <a:txBody>
                    <a:bodyPr/>
                    <a:lstStyle/>
                    <a:p>
                      <a:pPr algn="r" indent="0" marL="0">
                        <a:lnSpc>
                          <a:spcPts val="1960"/>
                        </a:lnSpc>
                        <a:buNone/>
                      </a:pPr>
                      <a:r>
                        <a:rPr lang="en-US" sz="1400" dirty="0">
                          <a:solidFill>
                            <a:srgbClr val="16202E"/>
                          </a:solidFill>
                          <a:latin typeface="IBM Plex Sans" pitchFamily="34" charset="0"/>
                          <a:ea typeface="IBM Plex Sans" pitchFamily="34" charset="-122"/>
                          <a:cs typeface="IBM Plex Sans" pitchFamily="34" charset="-120"/>
                        </a:rPr>
                        <a:t>156</a:t>
                      </a:r>
                      <a:endParaRPr lang="en-US" sz="1400" dirty="0">
                        <a:latin typeface="IBM Plex Sans" charset="0"/>
                        <a:ea typeface="IBM Plex Sans" charset="0"/>
                        <a:cs typeface="IBM Plex Sans" charset="0"/>
                      </a:endParaRPr>
                    </a:p>
                  </a:txBody>
                  <a:tcPr marL="62230" marR="62230" marT="62230" marB="62230" anchor="t">
                    <a:lnL w="12700" cap="flat" cmpd="sng" algn="ctr">
                      <a:solidFill>
                        <a:srgbClr val="BFBCB5"/>
                      </a:solidFill>
                      <a:prstDash val="solid"/>
                      <a:round/>
                      <a:headEnd type="none" w="med" len="med"/>
                      <a:tailEnd type="none" w="med" len="med"/>
                    </a:lnL>
                    <a:lnR w="12700" cap="flat" cmpd="sng" algn="ctr">
                      <a:solidFill>
                        <a:srgbClr val="BFBCB5"/>
                      </a:solidFill>
                      <a:prstDash val="solid"/>
                      <a:round/>
                      <a:headEnd type="none" w="med" len="med"/>
                      <a:tailEnd type="none" w="med" len="med"/>
                    </a:lnR>
                    <a:lnT w="12700" cap="flat" cmpd="sng" algn="ctr">
                      <a:solidFill>
                        <a:srgbClr val="C4C4BF"/>
                      </a:solidFill>
                      <a:prstDash val="solid"/>
                      <a:round/>
                      <a:headEnd type="none" w="med" len="med"/>
                      <a:tailEnd type="none" w="med" len="med"/>
                    </a:lnT>
                    <a:lnB w="12700" cap="flat" cmpd="sng" algn="ctr">
                      <a:solidFill>
                        <a:srgbClr val="BFBCB5"/>
                      </a:solidFill>
                      <a:prstDash val="solid"/>
                      <a:round/>
                      <a:headEnd type="none" w="med" len="med"/>
                      <a:tailEnd type="none" w="med" len="med"/>
                    </a:lnB>
                    <a:solidFill>
                      <a:srgbClr val="EFECE3"/>
                    </a:solidFill>
                  </a:tcPr>
                </a:tc>
                <a:tc>
                  <a:txBody>
                    <a:bodyPr/>
                    <a:lstStyle/>
                    <a:p>
                      <a:pPr algn="r" indent="0" marL="0">
                        <a:lnSpc>
                          <a:spcPts val="1960"/>
                        </a:lnSpc>
                        <a:buNone/>
                      </a:pPr>
                      <a:r>
                        <a:rPr lang="en-US" sz="1400" dirty="0">
                          <a:solidFill>
                            <a:srgbClr val="16202E"/>
                          </a:solidFill>
                          <a:latin typeface="IBM Plex Sans" pitchFamily="34" charset="0"/>
                          <a:ea typeface="IBM Plex Sans" pitchFamily="34" charset="-122"/>
                          <a:cs typeface="IBM Plex Sans" pitchFamily="34" charset="-120"/>
                        </a:rPr>
                        <a:t>48</a:t>
                      </a:r>
                      <a:endParaRPr lang="en-US" sz="1400" dirty="0">
                        <a:latin typeface="IBM Plex Sans" charset="0"/>
                        <a:ea typeface="IBM Plex Sans" charset="0"/>
                        <a:cs typeface="IBM Plex Sans" charset="0"/>
                      </a:endParaRPr>
                    </a:p>
                  </a:txBody>
                  <a:tcPr marL="62230" marR="62230" marT="62230" marB="62230" anchor="t">
                    <a:lnL w="12700" cap="flat" cmpd="sng" algn="ctr">
                      <a:solidFill>
                        <a:srgbClr val="BFBCB5"/>
                      </a:solidFill>
                      <a:prstDash val="solid"/>
                      <a:round/>
                      <a:headEnd type="none" w="med" len="med"/>
                      <a:tailEnd type="none" w="med" len="med"/>
                    </a:lnL>
                    <a:lnR w="12700" cap="flat" cmpd="sng" algn="ctr">
                      <a:solidFill>
                        <a:srgbClr val="BFBCB5"/>
                      </a:solidFill>
                      <a:prstDash val="solid"/>
                      <a:round/>
                      <a:headEnd type="none" w="med" len="med"/>
                      <a:tailEnd type="none" w="med" len="med"/>
                    </a:lnR>
                    <a:lnT w="12700" cap="flat" cmpd="sng" algn="ctr">
                      <a:solidFill>
                        <a:srgbClr val="C4C4BF"/>
                      </a:solidFill>
                      <a:prstDash val="solid"/>
                      <a:round/>
                      <a:headEnd type="none" w="med" len="med"/>
                      <a:tailEnd type="none" w="med" len="med"/>
                    </a:lnT>
                    <a:lnB w="12700" cap="flat" cmpd="sng" algn="ctr">
                      <a:solidFill>
                        <a:srgbClr val="BFBCB5"/>
                      </a:solidFill>
                      <a:prstDash val="solid"/>
                      <a:round/>
                      <a:headEnd type="none" w="med" len="med"/>
                      <a:tailEnd type="none" w="med" len="med"/>
                    </a:lnB>
                    <a:solidFill>
                      <a:srgbClr val="EFECE3"/>
                    </a:solidFill>
                  </a:tcPr>
                </a:tc>
                <a:tc>
                  <a:txBody>
                    <a:bodyPr/>
                    <a:lstStyle/>
                    <a:p>
                      <a:pPr algn="r" indent="0" marL="0">
                        <a:lnSpc>
                          <a:spcPts val="1960"/>
                        </a:lnSpc>
                        <a:buNone/>
                      </a:pPr>
                      <a:r>
                        <a:rPr lang="en-US" sz="1400" dirty="0">
                          <a:solidFill>
                            <a:srgbClr val="16202E"/>
                          </a:solidFill>
                          <a:latin typeface="IBM Plex Sans" pitchFamily="34" charset="0"/>
                          <a:ea typeface="IBM Plex Sans" pitchFamily="34" charset="-122"/>
                          <a:cs typeface="IBM Plex Sans" pitchFamily="34" charset="-120"/>
                        </a:rPr>
                        <a:t>82</a:t>
                      </a:r>
                      <a:endParaRPr lang="en-US" sz="1400" dirty="0">
                        <a:latin typeface="IBM Plex Sans" charset="0"/>
                        <a:ea typeface="IBM Plex Sans" charset="0"/>
                        <a:cs typeface="IBM Plex Sans" charset="0"/>
                      </a:endParaRPr>
                    </a:p>
                  </a:txBody>
                  <a:tcPr marL="62230" marR="62230" marT="62230" marB="62230" anchor="t">
                    <a:lnL w="12700" cap="flat" cmpd="sng" algn="ctr">
                      <a:solidFill>
                        <a:srgbClr val="BFBCB5"/>
                      </a:solidFill>
                      <a:prstDash val="solid"/>
                      <a:round/>
                      <a:headEnd type="none" w="med" len="med"/>
                      <a:tailEnd type="none" w="med" len="med"/>
                    </a:lnL>
                    <a:lnR w="12700" cap="flat" cmpd="sng" algn="ctr">
                      <a:solidFill>
                        <a:srgbClr val="BFBCB5"/>
                      </a:solidFill>
                      <a:prstDash val="solid"/>
                      <a:round/>
                      <a:headEnd type="none" w="med" len="med"/>
                      <a:tailEnd type="none" w="med" len="med"/>
                    </a:lnR>
                    <a:lnT w="12700" cap="flat" cmpd="sng" algn="ctr">
                      <a:solidFill>
                        <a:srgbClr val="C4C4BF"/>
                      </a:solidFill>
                      <a:prstDash val="solid"/>
                      <a:round/>
                      <a:headEnd type="none" w="med" len="med"/>
                      <a:tailEnd type="none" w="med" len="med"/>
                    </a:lnT>
                    <a:lnB w="12700" cap="flat" cmpd="sng" algn="ctr">
                      <a:solidFill>
                        <a:srgbClr val="BFBCB5"/>
                      </a:solidFill>
                      <a:prstDash val="solid"/>
                      <a:round/>
                      <a:headEnd type="none" w="med" len="med"/>
                      <a:tailEnd type="none" w="med" len="med"/>
                    </a:lnB>
                    <a:solidFill>
                      <a:srgbClr val="EFECE3"/>
                    </a:solidFill>
                  </a:tcPr>
                </a:tc>
              </a:tr>
              <a:tr h="386011">
                <a:tc>
                  <a:txBody>
                    <a:bodyPr/>
                    <a:lstStyle/>
                    <a:p>
                      <a:pPr indent="0" marL="0">
                        <a:lnSpc>
                          <a:spcPts val="1960"/>
                        </a:lnSpc>
                        <a:buNone/>
                      </a:pPr>
                      <a:r>
                        <a:rPr lang="en-US" sz="1400" dirty="0">
                          <a:solidFill>
                            <a:srgbClr val="16202E"/>
                          </a:solidFill>
                          <a:latin typeface="IBM Plex Sans" pitchFamily="34" charset="0"/>
                          <a:ea typeface="IBM Plex Sans" pitchFamily="34" charset="-122"/>
                          <a:cs typeface="IBM Plex Sans" pitchFamily="34" charset="-120"/>
                        </a:rPr>
                        <a:t>Distractor pool</a:t>
                      </a:r>
                      <a:endParaRPr lang="en-US" sz="1400" dirty="0">
                        <a:latin typeface="IBM Plex Sans" charset="0"/>
                        <a:ea typeface="IBM Plex Sans" charset="0"/>
                        <a:cs typeface="IBM Plex Sans" charset="0"/>
                      </a:endParaRPr>
                    </a:p>
                  </a:txBody>
                  <a:tcPr marL="62230" marR="62230" marT="62230" marB="62230" anchor="t">
                    <a:lnL w="12700" cap="flat" cmpd="sng" algn="ctr">
                      <a:solidFill>
                        <a:srgbClr val="C4C4BF"/>
                      </a:solidFill>
                      <a:prstDash val="solid"/>
                      <a:round/>
                      <a:headEnd type="none" w="med" len="med"/>
                      <a:tailEnd type="none" w="med" len="med"/>
                    </a:lnL>
                    <a:lnR w="12700" cap="flat" cmpd="sng" algn="ctr">
                      <a:solidFill>
                        <a:srgbClr val="C4C4BF"/>
                      </a:solidFill>
                      <a:prstDash val="solid"/>
                      <a:round/>
                      <a:headEnd type="none" w="med" len="med"/>
                      <a:tailEnd type="none" w="med" len="med"/>
                    </a:lnR>
                    <a:lnT w="12700" cap="flat" cmpd="sng" algn="ctr">
                      <a:solidFill>
                        <a:srgbClr val="BFBCB5"/>
                      </a:solidFill>
                      <a:prstDash val="solid"/>
                      <a:round/>
                      <a:headEnd type="none" w="med" len="med"/>
                      <a:tailEnd type="none" w="med" len="med"/>
                    </a:lnT>
                    <a:lnB w="12700" cap="flat" cmpd="sng" algn="ctr">
                      <a:solidFill>
                        <a:srgbClr val="C4C4BF"/>
                      </a:solidFill>
                      <a:prstDash val="solid"/>
                      <a:round/>
                      <a:headEnd type="none" w="med" len="med"/>
                      <a:tailEnd type="none" w="med" len="med"/>
                    </a:lnB>
                  </a:tcPr>
                </a:tc>
                <a:tc>
                  <a:txBody>
                    <a:bodyPr/>
                    <a:lstStyle/>
                    <a:p>
                      <a:pPr algn="r" indent="0" marL="0">
                        <a:lnSpc>
                          <a:spcPts val="1960"/>
                        </a:lnSpc>
                        <a:buNone/>
                      </a:pPr>
                      <a:r>
                        <a:rPr lang="en-US" sz="1400" dirty="0">
                          <a:solidFill>
                            <a:srgbClr val="16202E"/>
                          </a:solidFill>
                          <a:latin typeface="IBM Plex Sans" pitchFamily="34" charset="0"/>
                          <a:ea typeface="IBM Plex Sans" pitchFamily="34" charset="-122"/>
                          <a:cs typeface="IBM Plex Sans" pitchFamily="34" charset="-120"/>
                        </a:rPr>
                        <a:t>34</a:t>
                      </a:r>
                      <a:endParaRPr lang="en-US" sz="1400" dirty="0">
                        <a:latin typeface="IBM Plex Sans" charset="0"/>
                        <a:ea typeface="IBM Plex Sans" charset="0"/>
                        <a:cs typeface="IBM Plex Sans" charset="0"/>
                      </a:endParaRPr>
                    </a:p>
                  </a:txBody>
                  <a:tcPr marL="62230" marR="62230" marT="62230" marB="62230" anchor="t">
                    <a:lnL w="12700" cap="flat" cmpd="sng" algn="ctr">
                      <a:solidFill>
                        <a:srgbClr val="C4C4BF"/>
                      </a:solidFill>
                      <a:prstDash val="solid"/>
                      <a:round/>
                      <a:headEnd type="none" w="med" len="med"/>
                      <a:tailEnd type="none" w="med" len="med"/>
                    </a:lnL>
                    <a:lnR w="12700" cap="flat" cmpd="sng" algn="ctr">
                      <a:solidFill>
                        <a:srgbClr val="C4C4BF"/>
                      </a:solidFill>
                      <a:prstDash val="solid"/>
                      <a:round/>
                      <a:headEnd type="none" w="med" len="med"/>
                      <a:tailEnd type="none" w="med" len="med"/>
                    </a:lnR>
                    <a:lnT w="12700" cap="flat" cmpd="sng" algn="ctr">
                      <a:solidFill>
                        <a:srgbClr val="BFBCB5"/>
                      </a:solidFill>
                      <a:prstDash val="solid"/>
                      <a:round/>
                      <a:headEnd type="none" w="med" len="med"/>
                      <a:tailEnd type="none" w="med" len="med"/>
                    </a:lnT>
                    <a:lnB w="12700" cap="flat" cmpd="sng" algn="ctr">
                      <a:solidFill>
                        <a:srgbClr val="C4C4BF"/>
                      </a:solidFill>
                      <a:prstDash val="solid"/>
                      <a:round/>
                      <a:headEnd type="none" w="med" len="med"/>
                      <a:tailEnd type="none" w="med" len="med"/>
                    </a:lnB>
                  </a:tcPr>
                </a:tc>
                <a:tc>
                  <a:txBody>
                    <a:bodyPr/>
                    <a:lstStyle/>
                    <a:p>
                      <a:pPr algn="r" indent="0" marL="0">
                        <a:lnSpc>
                          <a:spcPts val="1960"/>
                        </a:lnSpc>
                        <a:buNone/>
                      </a:pPr>
                      <a:r>
                        <a:rPr lang="en-US" sz="1400" dirty="0">
                          <a:solidFill>
                            <a:srgbClr val="16202E"/>
                          </a:solidFill>
                          <a:latin typeface="IBM Plex Sans" pitchFamily="34" charset="0"/>
                          <a:ea typeface="IBM Plex Sans" pitchFamily="34" charset="-122"/>
                          <a:cs typeface="IBM Plex Sans" pitchFamily="34" charset="-120"/>
                        </a:rPr>
                        <a:t>8</a:t>
                      </a:r>
                      <a:endParaRPr lang="en-US" sz="1400" dirty="0">
                        <a:latin typeface="IBM Plex Sans" charset="0"/>
                        <a:ea typeface="IBM Plex Sans" charset="0"/>
                        <a:cs typeface="IBM Plex Sans" charset="0"/>
                      </a:endParaRPr>
                    </a:p>
                  </a:txBody>
                  <a:tcPr marL="62230" marR="62230" marT="62230" marB="62230" anchor="t">
                    <a:lnL w="12700" cap="flat" cmpd="sng" algn="ctr">
                      <a:solidFill>
                        <a:srgbClr val="C4C4BF"/>
                      </a:solidFill>
                      <a:prstDash val="solid"/>
                      <a:round/>
                      <a:headEnd type="none" w="med" len="med"/>
                      <a:tailEnd type="none" w="med" len="med"/>
                    </a:lnL>
                    <a:lnR w="12700" cap="flat" cmpd="sng" algn="ctr">
                      <a:solidFill>
                        <a:srgbClr val="C4C4BF"/>
                      </a:solidFill>
                      <a:prstDash val="solid"/>
                      <a:round/>
                      <a:headEnd type="none" w="med" len="med"/>
                      <a:tailEnd type="none" w="med" len="med"/>
                    </a:lnR>
                    <a:lnT w="12700" cap="flat" cmpd="sng" algn="ctr">
                      <a:solidFill>
                        <a:srgbClr val="BFBCB5"/>
                      </a:solidFill>
                      <a:prstDash val="solid"/>
                      <a:round/>
                      <a:headEnd type="none" w="med" len="med"/>
                      <a:tailEnd type="none" w="med" len="med"/>
                    </a:lnT>
                    <a:lnB w="12700" cap="flat" cmpd="sng" algn="ctr">
                      <a:solidFill>
                        <a:srgbClr val="C4C4BF"/>
                      </a:solidFill>
                      <a:prstDash val="solid"/>
                      <a:round/>
                      <a:headEnd type="none" w="med" len="med"/>
                      <a:tailEnd type="none" w="med" len="med"/>
                    </a:lnB>
                  </a:tcPr>
                </a:tc>
                <a:tc>
                  <a:txBody>
                    <a:bodyPr/>
                    <a:lstStyle/>
                    <a:p>
                      <a:pPr algn="r" indent="0" marL="0">
                        <a:lnSpc>
                          <a:spcPts val="1960"/>
                        </a:lnSpc>
                        <a:buNone/>
                      </a:pPr>
                      <a:r>
                        <a:rPr lang="en-US" sz="1400" dirty="0">
                          <a:solidFill>
                            <a:srgbClr val="16202E"/>
                          </a:solidFill>
                          <a:latin typeface="IBM Plex Sans" pitchFamily="34" charset="0"/>
                          <a:ea typeface="IBM Plex Sans" pitchFamily="34" charset="-122"/>
                          <a:cs typeface="IBM Plex Sans" pitchFamily="34" charset="-120"/>
                        </a:rPr>
                        <a:t>167</a:t>
                      </a:r>
                      <a:endParaRPr lang="en-US" sz="1400" dirty="0">
                        <a:latin typeface="IBM Plex Sans" charset="0"/>
                        <a:ea typeface="IBM Plex Sans" charset="0"/>
                        <a:cs typeface="IBM Plex Sans" charset="0"/>
                      </a:endParaRPr>
                    </a:p>
                  </a:txBody>
                  <a:tcPr marL="62230" marR="62230" marT="62230" marB="62230" anchor="t">
                    <a:lnL w="12700" cap="flat" cmpd="sng" algn="ctr">
                      <a:solidFill>
                        <a:srgbClr val="C4C4BF"/>
                      </a:solidFill>
                      <a:prstDash val="solid"/>
                      <a:round/>
                      <a:headEnd type="none" w="med" len="med"/>
                      <a:tailEnd type="none" w="med" len="med"/>
                    </a:lnL>
                    <a:lnR w="12700" cap="flat" cmpd="sng" algn="ctr">
                      <a:solidFill>
                        <a:srgbClr val="C4C4BF"/>
                      </a:solidFill>
                      <a:prstDash val="solid"/>
                      <a:round/>
                      <a:headEnd type="none" w="med" len="med"/>
                      <a:tailEnd type="none" w="med" len="med"/>
                    </a:lnR>
                    <a:lnT w="12700" cap="flat" cmpd="sng" algn="ctr">
                      <a:solidFill>
                        <a:srgbClr val="BFBCB5"/>
                      </a:solidFill>
                      <a:prstDash val="solid"/>
                      <a:round/>
                      <a:headEnd type="none" w="med" len="med"/>
                      <a:tailEnd type="none" w="med" len="med"/>
                    </a:lnT>
                    <a:lnB w="12700" cap="flat" cmpd="sng" algn="ctr">
                      <a:solidFill>
                        <a:srgbClr val="C4C4BF"/>
                      </a:solidFill>
                      <a:prstDash val="solid"/>
                      <a:round/>
                      <a:headEnd type="none" w="med" len="med"/>
                      <a:tailEnd type="none" w="med" len="med"/>
                    </a:lnB>
                  </a:tcPr>
                </a:tc>
              </a:tr>
              <a:tr h="386011">
                <a:tc>
                  <a:txBody>
                    <a:bodyPr/>
                    <a:lstStyle/>
                    <a:p>
                      <a:pPr indent="0" marL="0">
                        <a:lnSpc>
                          <a:spcPts val="1960"/>
                        </a:lnSpc>
                        <a:buNone/>
                      </a:pPr>
                      <a:r>
                        <a:rPr lang="en-US" sz="1400" dirty="0">
                          <a:solidFill>
                            <a:srgbClr val="16202E"/>
                          </a:solidFill>
                          <a:latin typeface="IBM Plex Sans" pitchFamily="34" charset="0"/>
                          <a:ea typeface="IBM Plex Sans" pitchFamily="34" charset="-122"/>
                          <a:cs typeface="IBM Plex Sans" pitchFamily="34" charset="-120"/>
                        </a:rPr>
                        <a:t>Prompt tokens, mean</a:t>
                      </a:r>
                      <a:endParaRPr lang="en-US" sz="1400" dirty="0">
                        <a:latin typeface="IBM Plex Sans" charset="0"/>
                        <a:ea typeface="IBM Plex Sans" charset="0"/>
                        <a:cs typeface="IBM Plex Sans" charset="0"/>
                      </a:endParaRPr>
                    </a:p>
                  </a:txBody>
                  <a:tcPr marL="62230" marR="62230" marT="62230" marB="62230" anchor="t">
                    <a:lnL w="12700" cap="flat" cmpd="sng" algn="ctr">
                      <a:solidFill>
                        <a:srgbClr val="C4C4BF"/>
                      </a:solidFill>
                      <a:prstDash val="solid"/>
                      <a:round/>
                      <a:headEnd type="none" w="med" len="med"/>
                      <a:tailEnd type="none" w="med" len="med"/>
                    </a:lnL>
                    <a:lnR w="12700" cap="flat" cmpd="sng" algn="ctr">
                      <a:solidFill>
                        <a:srgbClr val="BFBCB5"/>
                      </a:solidFill>
                      <a:prstDash val="solid"/>
                      <a:round/>
                      <a:headEnd type="none" w="med" len="med"/>
                      <a:tailEnd type="none" w="med" len="med"/>
                    </a:lnR>
                    <a:lnT w="12700" cap="flat" cmpd="sng" algn="ctr">
                      <a:solidFill>
                        <a:srgbClr val="C4C4BF"/>
                      </a:solidFill>
                      <a:prstDash val="solid"/>
                      <a:round/>
                      <a:headEnd type="none" w="med" len="med"/>
                      <a:tailEnd type="none" w="med" len="med"/>
                    </a:lnT>
                    <a:lnB w="12700" cap="flat" cmpd="sng" algn="ctr">
                      <a:solidFill>
                        <a:srgbClr val="BFBCB5"/>
                      </a:solidFill>
                      <a:prstDash val="solid"/>
                      <a:round/>
                      <a:headEnd type="none" w="med" len="med"/>
                      <a:tailEnd type="none" w="med" len="med"/>
                    </a:lnB>
                    <a:solidFill>
                      <a:srgbClr val="EFECE3"/>
                    </a:solidFill>
                  </a:tcPr>
                </a:tc>
                <a:tc>
                  <a:txBody>
                    <a:bodyPr/>
                    <a:lstStyle/>
                    <a:p>
                      <a:pPr algn="r" indent="0" marL="0">
                        <a:lnSpc>
                          <a:spcPts val="1960"/>
                        </a:lnSpc>
                        <a:buNone/>
                      </a:pPr>
                      <a:r>
                        <a:rPr lang="en-US" sz="1400" dirty="0">
                          <a:solidFill>
                            <a:srgbClr val="16202E"/>
                          </a:solidFill>
                          <a:latin typeface="IBM Plex Sans" pitchFamily="34" charset="0"/>
                          <a:ea typeface="IBM Plex Sans" pitchFamily="34" charset="-122"/>
                          <a:cs typeface="IBM Plex Sans" pitchFamily="34" charset="-120"/>
                        </a:rPr>
                        <a:t>990</a:t>
                      </a:r>
                      <a:endParaRPr lang="en-US" sz="1400" dirty="0">
                        <a:latin typeface="IBM Plex Sans" charset="0"/>
                        <a:ea typeface="IBM Plex Sans" charset="0"/>
                        <a:cs typeface="IBM Plex Sans" charset="0"/>
                      </a:endParaRPr>
                    </a:p>
                  </a:txBody>
                  <a:tcPr marL="62230" marR="62230" marT="62230" marB="62230" anchor="t">
                    <a:lnL w="12700" cap="flat" cmpd="sng" algn="ctr">
                      <a:solidFill>
                        <a:srgbClr val="BFBCB5"/>
                      </a:solidFill>
                      <a:prstDash val="solid"/>
                      <a:round/>
                      <a:headEnd type="none" w="med" len="med"/>
                      <a:tailEnd type="none" w="med" len="med"/>
                    </a:lnL>
                    <a:lnR w="12700" cap="flat" cmpd="sng" algn="ctr">
                      <a:solidFill>
                        <a:srgbClr val="BFBCB5"/>
                      </a:solidFill>
                      <a:prstDash val="solid"/>
                      <a:round/>
                      <a:headEnd type="none" w="med" len="med"/>
                      <a:tailEnd type="none" w="med" len="med"/>
                    </a:lnR>
                    <a:lnT w="12700" cap="flat" cmpd="sng" algn="ctr">
                      <a:solidFill>
                        <a:srgbClr val="C4C4BF"/>
                      </a:solidFill>
                      <a:prstDash val="solid"/>
                      <a:round/>
                      <a:headEnd type="none" w="med" len="med"/>
                      <a:tailEnd type="none" w="med" len="med"/>
                    </a:lnT>
                    <a:lnB w="12700" cap="flat" cmpd="sng" algn="ctr">
                      <a:solidFill>
                        <a:srgbClr val="BFBCB5"/>
                      </a:solidFill>
                      <a:prstDash val="solid"/>
                      <a:round/>
                      <a:headEnd type="none" w="med" len="med"/>
                      <a:tailEnd type="none" w="med" len="med"/>
                    </a:lnB>
                    <a:solidFill>
                      <a:srgbClr val="EFECE3"/>
                    </a:solidFill>
                  </a:tcPr>
                </a:tc>
                <a:tc>
                  <a:txBody>
                    <a:bodyPr/>
                    <a:lstStyle/>
                    <a:p>
                      <a:pPr algn="r" indent="0" marL="0">
                        <a:lnSpc>
                          <a:spcPts val="1960"/>
                        </a:lnSpc>
                        <a:buNone/>
                      </a:pPr>
                      <a:r>
                        <a:rPr lang="en-US" sz="1400" dirty="0">
                          <a:solidFill>
                            <a:srgbClr val="16202E"/>
                          </a:solidFill>
                          <a:latin typeface="IBM Plex Sans" pitchFamily="34" charset="0"/>
                          <a:ea typeface="IBM Plex Sans" pitchFamily="34" charset="-122"/>
                          <a:cs typeface="IBM Plex Sans" pitchFamily="34" charset="-120"/>
                        </a:rPr>
                        <a:t>702</a:t>
                      </a:r>
                      <a:endParaRPr lang="en-US" sz="1400" dirty="0">
                        <a:latin typeface="IBM Plex Sans" charset="0"/>
                        <a:ea typeface="IBM Plex Sans" charset="0"/>
                        <a:cs typeface="IBM Plex Sans" charset="0"/>
                      </a:endParaRPr>
                    </a:p>
                  </a:txBody>
                  <a:tcPr marL="62230" marR="62230" marT="62230" marB="62230" anchor="t">
                    <a:lnL w="12700" cap="flat" cmpd="sng" algn="ctr">
                      <a:solidFill>
                        <a:srgbClr val="BFBCB5"/>
                      </a:solidFill>
                      <a:prstDash val="solid"/>
                      <a:round/>
                      <a:headEnd type="none" w="med" len="med"/>
                      <a:tailEnd type="none" w="med" len="med"/>
                    </a:lnL>
                    <a:lnR w="12700" cap="flat" cmpd="sng" algn="ctr">
                      <a:solidFill>
                        <a:srgbClr val="BFBCB5"/>
                      </a:solidFill>
                      <a:prstDash val="solid"/>
                      <a:round/>
                      <a:headEnd type="none" w="med" len="med"/>
                      <a:tailEnd type="none" w="med" len="med"/>
                    </a:lnR>
                    <a:lnT w="12700" cap="flat" cmpd="sng" algn="ctr">
                      <a:solidFill>
                        <a:srgbClr val="C4C4BF"/>
                      </a:solidFill>
                      <a:prstDash val="solid"/>
                      <a:round/>
                      <a:headEnd type="none" w="med" len="med"/>
                      <a:tailEnd type="none" w="med" len="med"/>
                    </a:lnT>
                    <a:lnB w="12700" cap="flat" cmpd="sng" algn="ctr">
                      <a:solidFill>
                        <a:srgbClr val="BFBCB5"/>
                      </a:solidFill>
                      <a:prstDash val="solid"/>
                      <a:round/>
                      <a:headEnd type="none" w="med" len="med"/>
                      <a:tailEnd type="none" w="med" len="med"/>
                    </a:lnB>
                    <a:solidFill>
                      <a:srgbClr val="EFECE3"/>
                    </a:solidFill>
                  </a:tcPr>
                </a:tc>
                <a:tc>
                  <a:txBody>
                    <a:bodyPr/>
                    <a:lstStyle/>
                    <a:p>
                      <a:pPr algn="r" indent="0" marL="0">
                        <a:lnSpc>
                          <a:spcPts val="1960"/>
                        </a:lnSpc>
                        <a:buNone/>
                      </a:pPr>
                      <a:r>
                        <a:rPr lang="en-US" sz="1400" dirty="0">
                          <a:solidFill>
                            <a:srgbClr val="16202E"/>
                          </a:solidFill>
                          <a:latin typeface="IBM Plex Sans" pitchFamily="34" charset="0"/>
                          <a:ea typeface="IBM Plex Sans" pitchFamily="34" charset="-122"/>
                          <a:cs typeface="IBM Plex Sans" pitchFamily="34" charset="-120"/>
                        </a:rPr>
                        <a:t>1,251</a:t>
                      </a:r>
                      <a:endParaRPr lang="en-US" sz="1400" dirty="0">
                        <a:latin typeface="IBM Plex Sans" charset="0"/>
                        <a:ea typeface="IBM Plex Sans" charset="0"/>
                        <a:cs typeface="IBM Plex Sans" charset="0"/>
                      </a:endParaRPr>
                    </a:p>
                  </a:txBody>
                  <a:tcPr marL="62230" marR="62230" marT="62230" marB="62230" anchor="t">
                    <a:lnL w="12700" cap="flat" cmpd="sng" algn="ctr">
                      <a:solidFill>
                        <a:srgbClr val="BFBCB5"/>
                      </a:solidFill>
                      <a:prstDash val="solid"/>
                      <a:round/>
                      <a:headEnd type="none" w="med" len="med"/>
                      <a:tailEnd type="none" w="med" len="med"/>
                    </a:lnL>
                    <a:lnR w="12700" cap="flat" cmpd="sng" algn="ctr">
                      <a:solidFill>
                        <a:srgbClr val="BFBCB5"/>
                      </a:solidFill>
                      <a:prstDash val="solid"/>
                      <a:round/>
                      <a:headEnd type="none" w="med" len="med"/>
                      <a:tailEnd type="none" w="med" len="med"/>
                    </a:lnR>
                    <a:lnT w="12700" cap="flat" cmpd="sng" algn="ctr">
                      <a:solidFill>
                        <a:srgbClr val="C4C4BF"/>
                      </a:solidFill>
                      <a:prstDash val="solid"/>
                      <a:round/>
                      <a:headEnd type="none" w="med" len="med"/>
                      <a:tailEnd type="none" w="med" len="med"/>
                    </a:lnT>
                    <a:lnB w="12700" cap="flat" cmpd="sng" algn="ctr">
                      <a:solidFill>
                        <a:srgbClr val="BFBCB5"/>
                      </a:solidFill>
                      <a:prstDash val="solid"/>
                      <a:round/>
                      <a:headEnd type="none" w="med" len="med"/>
                      <a:tailEnd type="none" w="med" len="med"/>
                    </a:lnB>
                    <a:solidFill>
                      <a:srgbClr val="EFECE3"/>
                    </a:solidFill>
                  </a:tcPr>
                </a:tc>
              </a:tr>
              <a:tr h="386011">
                <a:tc>
                  <a:txBody>
                    <a:bodyPr/>
                    <a:lstStyle/>
                    <a:p>
                      <a:pPr indent="0" marL="0">
                        <a:lnSpc>
                          <a:spcPts val="1960"/>
                        </a:lnSpc>
                        <a:buNone/>
                      </a:pPr>
                      <a:r>
                        <a:rPr lang="en-US" sz="1400" dirty="0">
                          <a:solidFill>
                            <a:srgbClr val="16202E"/>
                          </a:solidFill>
                          <a:latin typeface="IBM Plex Sans" pitchFamily="34" charset="0"/>
                          <a:ea typeface="IBM Plex Sans" pitchFamily="34" charset="-122"/>
                          <a:cs typeface="IBM Plex Sans" pitchFamily="34" charset="-120"/>
                        </a:rPr>
                        <a:t>Answer tokens, mean</a:t>
                      </a:r>
                      <a:endParaRPr lang="en-US" sz="1400" dirty="0">
                        <a:latin typeface="IBM Plex Sans" charset="0"/>
                        <a:ea typeface="IBM Plex Sans" charset="0"/>
                        <a:cs typeface="IBM Plex Sans" charset="0"/>
                      </a:endParaRPr>
                    </a:p>
                  </a:txBody>
                  <a:tcPr marL="62230" marR="62230" marT="62230" marB="62230" anchor="t">
                    <a:lnL w="12700" cap="flat" cmpd="sng" algn="ctr">
                      <a:solidFill>
                        <a:srgbClr val="C4C4BF"/>
                      </a:solidFill>
                      <a:prstDash val="solid"/>
                      <a:round/>
                      <a:headEnd type="none" w="med" len="med"/>
                      <a:tailEnd type="none" w="med" len="med"/>
                    </a:lnL>
                    <a:lnR w="12700" cap="flat" cmpd="sng" algn="ctr">
                      <a:solidFill>
                        <a:srgbClr val="C4C4BF"/>
                      </a:solidFill>
                      <a:prstDash val="solid"/>
                      <a:round/>
                      <a:headEnd type="none" w="med" len="med"/>
                      <a:tailEnd type="none" w="med" len="med"/>
                    </a:lnR>
                    <a:lnT w="12700" cap="flat" cmpd="sng" algn="ctr">
                      <a:solidFill>
                        <a:srgbClr val="BFBCB5"/>
                      </a:solidFill>
                      <a:prstDash val="solid"/>
                      <a:round/>
                      <a:headEnd type="none" w="med" len="med"/>
                      <a:tailEnd type="none" w="med" len="med"/>
                    </a:lnT>
                    <a:lnB w="12700" cap="flat" cmpd="sng" algn="ctr">
                      <a:solidFill>
                        <a:srgbClr val="C4C4BF"/>
                      </a:solidFill>
                      <a:prstDash val="solid"/>
                      <a:round/>
                      <a:headEnd type="none" w="med" len="med"/>
                      <a:tailEnd type="none" w="med" len="med"/>
                    </a:lnB>
                  </a:tcPr>
                </a:tc>
                <a:tc>
                  <a:txBody>
                    <a:bodyPr/>
                    <a:lstStyle/>
                    <a:p>
                      <a:pPr algn="r" indent="0" marL="0">
                        <a:lnSpc>
                          <a:spcPts val="1960"/>
                        </a:lnSpc>
                        <a:buNone/>
                      </a:pPr>
                      <a:r>
                        <a:rPr lang="en-US" sz="1400" dirty="0">
                          <a:solidFill>
                            <a:srgbClr val="16202E"/>
                          </a:solidFill>
                          <a:latin typeface="IBM Plex Sans" pitchFamily="34" charset="0"/>
                          <a:ea typeface="IBM Plex Sans" pitchFamily="34" charset="-122"/>
                          <a:cs typeface="IBM Plex Sans" pitchFamily="34" charset="-120"/>
                        </a:rPr>
                        <a:t>135</a:t>
                      </a:r>
                      <a:endParaRPr lang="en-US" sz="1400" dirty="0">
                        <a:latin typeface="IBM Plex Sans" charset="0"/>
                        <a:ea typeface="IBM Plex Sans" charset="0"/>
                        <a:cs typeface="IBM Plex Sans" charset="0"/>
                      </a:endParaRPr>
                    </a:p>
                  </a:txBody>
                  <a:tcPr marL="62230" marR="62230" marT="62230" marB="62230" anchor="t">
                    <a:lnL w="12700" cap="flat" cmpd="sng" algn="ctr">
                      <a:solidFill>
                        <a:srgbClr val="C4C4BF"/>
                      </a:solidFill>
                      <a:prstDash val="solid"/>
                      <a:round/>
                      <a:headEnd type="none" w="med" len="med"/>
                      <a:tailEnd type="none" w="med" len="med"/>
                    </a:lnL>
                    <a:lnR w="12700" cap="flat" cmpd="sng" algn="ctr">
                      <a:solidFill>
                        <a:srgbClr val="C4C4BF"/>
                      </a:solidFill>
                      <a:prstDash val="solid"/>
                      <a:round/>
                      <a:headEnd type="none" w="med" len="med"/>
                      <a:tailEnd type="none" w="med" len="med"/>
                    </a:lnR>
                    <a:lnT w="12700" cap="flat" cmpd="sng" algn="ctr">
                      <a:solidFill>
                        <a:srgbClr val="BFBCB5"/>
                      </a:solidFill>
                      <a:prstDash val="solid"/>
                      <a:round/>
                      <a:headEnd type="none" w="med" len="med"/>
                      <a:tailEnd type="none" w="med" len="med"/>
                    </a:lnT>
                    <a:lnB w="12700" cap="flat" cmpd="sng" algn="ctr">
                      <a:solidFill>
                        <a:srgbClr val="C4C4BF"/>
                      </a:solidFill>
                      <a:prstDash val="solid"/>
                      <a:round/>
                      <a:headEnd type="none" w="med" len="med"/>
                      <a:tailEnd type="none" w="med" len="med"/>
                    </a:lnB>
                  </a:tcPr>
                </a:tc>
                <a:tc>
                  <a:txBody>
                    <a:bodyPr/>
                    <a:lstStyle/>
                    <a:p>
                      <a:pPr algn="r" indent="0" marL="0">
                        <a:lnSpc>
                          <a:spcPts val="1960"/>
                        </a:lnSpc>
                        <a:buNone/>
                      </a:pPr>
                      <a:r>
                        <a:rPr lang="en-US" sz="1400" dirty="0">
                          <a:solidFill>
                            <a:srgbClr val="16202E"/>
                          </a:solidFill>
                          <a:latin typeface="IBM Plex Sans" pitchFamily="34" charset="0"/>
                          <a:ea typeface="IBM Plex Sans" pitchFamily="34" charset="-122"/>
                          <a:cs typeface="IBM Plex Sans" pitchFamily="34" charset="-120"/>
                        </a:rPr>
                        <a:t>120</a:t>
                      </a:r>
                      <a:endParaRPr lang="en-US" sz="1400" dirty="0">
                        <a:latin typeface="IBM Plex Sans" charset="0"/>
                        <a:ea typeface="IBM Plex Sans" charset="0"/>
                        <a:cs typeface="IBM Plex Sans" charset="0"/>
                      </a:endParaRPr>
                    </a:p>
                  </a:txBody>
                  <a:tcPr marL="62230" marR="62230" marT="62230" marB="62230" anchor="t">
                    <a:lnL w="12700" cap="flat" cmpd="sng" algn="ctr">
                      <a:solidFill>
                        <a:srgbClr val="C4C4BF"/>
                      </a:solidFill>
                      <a:prstDash val="solid"/>
                      <a:round/>
                      <a:headEnd type="none" w="med" len="med"/>
                      <a:tailEnd type="none" w="med" len="med"/>
                    </a:lnL>
                    <a:lnR w="12700" cap="flat" cmpd="sng" algn="ctr">
                      <a:solidFill>
                        <a:srgbClr val="C4C4BF"/>
                      </a:solidFill>
                      <a:prstDash val="solid"/>
                      <a:round/>
                      <a:headEnd type="none" w="med" len="med"/>
                      <a:tailEnd type="none" w="med" len="med"/>
                    </a:lnR>
                    <a:lnT w="12700" cap="flat" cmpd="sng" algn="ctr">
                      <a:solidFill>
                        <a:srgbClr val="BFBCB5"/>
                      </a:solidFill>
                      <a:prstDash val="solid"/>
                      <a:round/>
                      <a:headEnd type="none" w="med" len="med"/>
                      <a:tailEnd type="none" w="med" len="med"/>
                    </a:lnT>
                    <a:lnB w="12700" cap="flat" cmpd="sng" algn="ctr">
                      <a:solidFill>
                        <a:srgbClr val="C4C4BF"/>
                      </a:solidFill>
                      <a:prstDash val="solid"/>
                      <a:round/>
                      <a:headEnd type="none" w="med" len="med"/>
                      <a:tailEnd type="none" w="med" len="med"/>
                    </a:lnB>
                  </a:tcPr>
                </a:tc>
                <a:tc>
                  <a:txBody>
                    <a:bodyPr/>
                    <a:lstStyle/>
                    <a:p>
                      <a:pPr algn="r" indent="0" marL="0">
                        <a:lnSpc>
                          <a:spcPts val="1960"/>
                        </a:lnSpc>
                        <a:buNone/>
                      </a:pPr>
                      <a:r>
                        <a:rPr lang="en-US" sz="1400" dirty="0">
                          <a:solidFill>
                            <a:srgbClr val="16202E"/>
                          </a:solidFill>
                          <a:latin typeface="IBM Plex Sans" pitchFamily="34" charset="0"/>
                          <a:ea typeface="IBM Plex Sans" pitchFamily="34" charset="-122"/>
                          <a:cs typeface="IBM Plex Sans" pitchFamily="34" charset="-120"/>
                        </a:rPr>
                        <a:t>199</a:t>
                      </a:r>
                      <a:endParaRPr lang="en-US" sz="1400" dirty="0">
                        <a:latin typeface="IBM Plex Sans" charset="0"/>
                        <a:ea typeface="IBM Plex Sans" charset="0"/>
                        <a:cs typeface="IBM Plex Sans" charset="0"/>
                      </a:endParaRPr>
                    </a:p>
                  </a:txBody>
                  <a:tcPr marL="62230" marR="62230" marT="62230" marB="62230" anchor="t">
                    <a:lnL w="12700" cap="flat" cmpd="sng" algn="ctr">
                      <a:solidFill>
                        <a:srgbClr val="C4C4BF"/>
                      </a:solidFill>
                      <a:prstDash val="solid"/>
                      <a:round/>
                      <a:headEnd type="none" w="med" len="med"/>
                      <a:tailEnd type="none" w="med" len="med"/>
                    </a:lnL>
                    <a:lnR w="12700" cap="flat" cmpd="sng" algn="ctr">
                      <a:solidFill>
                        <a:srgbClr val="C4C4BF"/>
                      </a:solidFill>
                      <a:prstDash val="solid"/>
                      <a:round/>
                      <a:headEnd type="none" w="med" len="med"/>
                      <a:tailEnd type="none" w="med" len="med"/>
                    </a:lnR>
                    <a:lnT w="12700" cap="flat" cmpd="sng" algn="ctr">
                      <a:solidFill>
                        <a:srgbClr val="BFBCB5"/>
                      </a:solidFill>
                      <a:prstDash val="solid"/>
                      <a:round/>
                      <a:headEnd type="none" w="med" len="med"/>
                      <a:tailEnd type="none" w="med" len="med"/>
                    </a:lnT>
                    <a:lnB w="12700" cap="flat" cmpd="sng" algn="ctr">
                      <a:solidFill>
                        <a:srgbClr val="C4C4BF"/>
                      </a:solidFill>
                      <a:prstDash val="solid"/>
                      <a:round/>
                      <a:headEnd type="none" w="med" len="med"/>
                      <a:tailEnd type="none" w="med" len="med"/>
                    </a:lnB>
                  </a:tcPr>
                </a:tc>
              </a:tr>
            </a:tbl>
          </a:graphicData>
        </a:graphic>
      </p:graphicFrame>
      <p:sp>
        <p:nvSpPr>
          <p:cNvPr id="4" name="Shape 1"/>
          <p:cNvSpPr/>
          <p:nvPr/>
        </p:nvSpPr>
        <p:spPr>
          <a:xfrm>
            <a:off x="7630567" y="1621780"/>
            <a:ext cx="3742283" cy="3088084"/>
          </a:xfrm>
          <a:prstGeom prst="roundRect">
            <a:avLst>
              <a:gd name="adj" fmla="val 3907"/>
            </a:avLst>
          </a:prstGeom>
          <a:solidFill>
            <a:srgbClr val="FDFCF9"/>
          </a:solidFill>
          <a:ln w="12700">
            <a:solidFill>
              <a:srgbClr val="E2DED3"/>
            </a:solidFill>
            <a:prstDash val="solid"/>
          </a:ln>
        </p:spPr>
      </p:sp>
      <p:sp>
        <p:nvSpPr>
          <p:cNvPr id="5" name="Text 2"/>
          <p:cNvSpPr/>
          <p:nvPr/>
        </p:nvSpPr>
        <p:spPr>
          <a:xfrm>
            <a:off x="7890917" y="1882130"/>
            <a:ext cx="3318231" cy="269230"/>
          </a:xfrm>
          <a:prstGeom prst="rect">
            <a:avLst/>
          </a:prstGeom>
          <a:noFill/>
          <a:ln/>
        </p:spPr>
        <p:txBody>
          <a:bodyPr wrap="square" lIns="0" tIns="0" rIns="0" bIns="0" rtlCol="0" anchor="t">
            <a:normAutofit/>
          </a:bodyPr>
          <a:lstStyle/>
          <a:p>
            <a:pPr algn="l" indent="0" marL="0">
              <a:lnSpc>
                <a:spcPts val="1920"/>
              </a:lnSpc>
              <a:buNone/>
            </a:pPr>
            <a:r>
              <a:rPr lang="en-US" sz="1600" b="1" dirty="0">
                <a:solidFill>
                  <a:srgbClr val="16202E"/>
                </a:solidFill>
                <a:latin typeface="IBM Plex Sans" pitchFamily="34" charset="0"/>
                <a:ea typeface="IBM Plex Sans" pitchFamily="34" charset="-122"/>
                <a:cs typeface="IBM Plex Sans" pitchFamily="34" charset="-120"/>
              </a:rPr>
              <a:t>Leakage checks: 5 of 5 pass</a:t>
            </a:r>
            <a:endParaRPr lang="en-US" sz="1600" dirty="0"/>
          </a:p>
        </p:txBody>
      </p:sp>
      <p:pic>
        <p:nvPicPr>
          <p:cNvPr id="6" name="Image 0" descr="CheckCircle">    </p:cNvPr>
          <p:cNvPicPr>
            <a:picLocks noChangeAspect="1"/>
          </p:cNvPicPr>
          <p:nvPr/>
        </p:nvPicPr>
        <p:blipFill>
          <a:blip r:embed="rId1"/>
          <a:srcRect l="0" r="0" t="0" b="0"/>
          <a:stretch/>
        </p:blipFill>
        <p:spPr>
          <a:xfrm>
            <a:off x="7890917" y="2266900"/>
            <a:ext cx="203200" cy="203200"/>
          </a:xfrm>
          <a:prstGeom prst="rect">
            <a:avLst/>
          </a:prstGeom>
        </p:spPr>
      </p:pic>
      <p:sp>
        <p:nvSpPr>
          <p:cNvPr id="7" name="Text 3"/>
          <p:cNvSpPr/>
          <p:nvPr/>
        </p:nvSpPr>
        <p:spPr>
          <a:xfrm>
            <a:off x="8195717" y="2252960"/>
            <a:ext cx="1851839" cy="256530"/>
          </a:xfrm>
          <a:prstGeom prst="rect">
            <a:avLst/>
          </a:prstGeom>
          <a:noFill/>
          <a:ln/>
        </p:spPr>
        <p:txBody>
          <a:bodyPr wrap="square" lIns="0" tIns="0" rIns="0" bIns="0" rtlCol="0" anchor="t">
            <a:normAutofit/>
          </a:bodyPr>
          <a:lstStyle/>
          <a:p>
            <a:pPr algn="l" indent="0" marL="0">
              <a:lnSpc>
                <a:spcPts val="1820"/>
              </a:lnSpc>
              <a:buNone/>
            </a:pPr>
            <a:r>
              <a:rPr lang="en-US" sz="1300" dirty="0">
                <a:solidFill>
                  <a:srgbClr val="16202E"/>
                </a:solidFill>
                <a:latin typeface="IBM Plex Sans" pitchFamily="34" charset="0"/>
                <a:ea typeface="IBM Plex Sans" pitchFamily="34" charset="-122"/>
                <a:cs typeface="IBM Plex Sans" pitchFamily="34" charset="-120"/>
              </a:rPr>
              <a:t>No shared chunk IDs</a:t>
            </a:r>
            <a:endParaRPr lang="en-US" sz="1300" dirty="0"/>
          </a:p>
        </p:txBody>
      </p:sp>
      <p:pic>
        <p:nvPicPr>
          <p:cNvPr id="8" name="Image 1" descr="CheckCircle">    </p:cNvPr>
          <p:cNvPicPr>
            <a:picLocks noChangeAspect="1"/>
          </p:cNvPicPr>
          <p:nvPr/>
        </p:nvPicPr>
        <p:blipFill>
          <a:blip r:embed="rId2"/>
          <a:srcRect l="0" r="0" t="0" b="0"/>
          <a:stretch/>
        </p:blipFill>
        <p:spPr>
          <a:xfrm>
            <a:off x="7890917" y="2625030"/>
            <a:ext cx="203200" cy="203200"/>
          </a:xfrm>
          <a:prstGeom prst="rect">
            <a:avLst/>
          </a:prstGeom>
        </p:spPr>
      </p:pic>
      <p:sp>
        <p:nvSpPr>
          <p:cNvPr id="9" name="Text 4"/>
          <p:cNvSpPr/>
          <p:nvPr/>
        </p:nvSpPr>
        <p:spPr>
          <a:xfrm>
            <a:off x="8195717" y="2611090"/>
            <a:ext cx="2265938" cy="256530"/>
          </a:xfrm>
          <a:prstGeom prst="rect">
            <a:avLst/>
          </a:prstGeom>
          <a:noFill/>
          <a:ln/>
        </p:spPr>
        <p:txBody>
          <a:bodyPr wrap="square" lIns="0" tIns="0" rIns="0" bIns="0" rtlCol="0" anchor="t">
            <a:normAutofit/>
          </a:bodyPr>
          <a:lstStyle/>
          <a:p>
            <a:pPr algn="l" indent="0" marL="0">
              <a:lnSpc>
                <a:spcPts val="1820"/>
              </a:lnSpc>
              <a:buNone/>
            </a:pPr>
            <a:r>
              <a:rPr lang="en-US" sz="1300" dirty="0">
                <a:solidFill>
                  <a:srgbClr val="16202E"/>
                </a:solidFill>
                <a:latin typeface="IBM Plex Sans" pitchFamily="34" charset="0"/>
                <a:ea typeface="IBM Plex Sans" pitchFamily="34" charset="-122"/>
                <a:cs typeface="IBM Plex Sans" pitchFamily="34" charset="-120"/>
              </a:rPr>
              <a:t>Train/val sections disjoint</a:t>
            </a:r>
            <a:endParaRPr lang="en-US" sz="1300" dirty="0"/>
          </a:p>
        </p:txBody>
      </p:sp>
      <p:pic>
        <p:nvPicPr>
          <p:cNvPr id="10" name="Image 2" descr="CheckCircle">    </p:cNvPr>
          <p:cNvPicPr>
            <a:picLocks noChangeAspect="1"/>
          </p:cNvPicPr>
          <p:nvPr/>
        </p:nvPicPr>
        <p:blipFill>
          <a:blip r:embed="rId3"/>
          <a:srcRect l="0" r="0" t="0" b="0"/>
          <a:stretch/>
        </p:blipFill>
        <p:spPr>
          <a:xfrm>
            <a:off x="7890917" y="2983161"/>
            <a:ext cx="203200" cy="203200"/>
          </a:xfrm>
          <a:prstGeom prst="rect">
            <a:avLst/>
          </a:prstGeom>
        </p:spPr>
      </p:pic>
      <p:sp>
        <p:nvSpPr>
          <p:cNvPr id="11" name="Text 5"/>
          <p:cNvSpPr/>
          <p:nvPr/>
        </p:nvSpPr>
        <p:spPr>
          <a:xfrm>
            <a:off x="8195717" y="2969220"/>
            <a:ext cx="2020848" cy="256530"/>
          </a:xfrm>
          <a:prstGeom prst="rect">
            <a:avLst/>
          </a:prstGeom>
          <a:noFill/>
          <a:ln/>
        </p:spPr>
        <p:txBody>
          <a:bodyPr wrap="square" lIns="0" tIns="0" rIns="0" bIns="0" rtlCol="0" anchor="t">
            <a:normAutofit/>
          </a:bodyPr>
          <a:lstStyle/>
          <a:p>
            <a:pPr algn="l" indent="0" marL="0">
              <a:lnSpc>
                <a:spcPts val="1820"/>
              </a:lnSpc>
              <a:buNone/>
            </a:pPr>
            <a:r>
              <a:rPr lang="en-US" sz="1300" dirty="0">
                <a:solidFill>
                  <a:srgbClr val="16202E"/>
                </a:solidFill>
                <a:latin typeface="IBM Plex Sans" pitchFamily="34" charset="0"/>
                <a:ea typeface="IBM Plex Sans" pitchFamily="34" charset="-122"/>
                <a:cs typeface="IBM Plex Sans" pitchFamily="34" charset="-120"/>
              </a:rPr>
              <a:t>Test document unseen</a:t>
            </a:r>
            <a:endParaRPr lang="en-US" sz="1300" dirty="0"/>
          </a:p>
        </p:txBody>
      </p:sp>
      <p:pic>
        <p:nvPicPr>
          <p:cNvPr id="12" name="Image 3" descr="CheckCircle">    </p:cNvPr>
          <p:cNvPicPr>
            <a:picLocks noChangeAspect="1"/>
          </p:cNvPicPr>
          <p:nvPr/>
        </p:nvPicPr>
        <p:blipFill>
          <a:blip r:embed="rId4"/>
          <a:srcRect l="0" r="0" t="0" b="0"/>
          <a:stretch/>
        </p:blipFill>
        <p:spPr>
          <a:xfrm>
            <a:off x="7890917" y="3341291"/>
            <a:ext cx="203200" cy="203200"/>
          </a:xfrm>
          <a:prstGeom prst="rect">
            <a:avLst/>
          </a:prstGeom>
        </p:spPr>
      </p:pic>
      <p:sp>
        <p:nvSpPr>
          <p:cNvPr id="13" name="Text 6"/>
          <p:cNvSpPr/>
          <p:nvPr/>
        </p:nvSpPr>
        <p:spPr>
          <a:xfrm>
            <a:off x="8195717" y="3327350"/>
            <a:ext cx="2017276" cy="256530"/>
          </a:xfrm>
          <a:prstGeom prst="rect">
            <a:avLst/>
          </a:prstGeom>
          <a:noFill/>
          <a:ln/>
        </p:spPr>
        <p:txBody>
          <a:bodyPr wrap="square" lIns="0" tIns="0" rIns="0" bIns="0" rtlCol="0" anchor="t">
            <a:normAutofit/>
          </a:bodyPr>
          <a:lstStyle/>
          <a:p>
            <a:pPr algn="l" indent="0" marL="0">
              <a:lnSpc>
                <a:spcPts val="1820"/>
              </a:lnSpc>
              <a:buNone/>
            </a:pPr>
            <a:r>
              <a:rPr lang="en-US" sz="1300" dirty="0">
                <a:solidFill>
                  <a:srgbClr val="16202E"/>
                </a:solidFill>
                <a:latin typeface="IBM Plex Sans" pitchFamily="34" charset="0"/>
                <a:ea typeface="IBM Plex Sans" pitchFamily="34" charset="-122"/>
                <a:cs typeface="IBM Plex Sans" pitchFamily="34" charset="-120"/>
              </a:rPr>
              <a:t>No repeated questions</a:t>
            </a:r>
            <a:endParaRPr lang="en-US" sz="1300" dirty="0"/>
          </a:p>
        </p:txBody>
      </p:sp>
      <p:pic>
        <p:nvPicPr>
          <p:cNvPr id="14" name="Image 4" descr="CheckCircle">    </p:cNvPr>
          <p:cNvPicPr>
            <a:picLocks noChangeAspect="1"/>
          </p:cNvPicPr>
          <p:nvPr/>
        </p:nvPicPr>
        <p:blipFill>
          <a:blip r:embed="rId5"/>
          <a:srcRect l="0" r="0" t="0" b="0"/>
          <a:stretch/>
        </p:blipFill>
        <p:spPr>
          <a:xfrm>
            <a:off x="7890917" y="3699421"/>
            <a:ext cx="203200" cy="203200"/>
          </a:xfrm>
          <a:prstGeom prst="rect">
            <a:avLst/>
          </a:prstGeom>
        </p:spPr>
      </p:pic>
      <p:sp>
        <p:nvSpPr>
          <p:cNvPr id="15" name="Text 7"/>
          <p:cNvSpPr/>
          <p:nvPr/>
        </p:nvSpPr>
        <p:spPr>
          <a:xfrm>
            <a:off x="8195717" y="3685480"/>
            <a:ext cx="2145090" cy="256530"/>
          </a:xfrm>
          <a:prstGeom prst="rect">
            <a:avLst/>
          </a:prstGeom>
          <a:noFill/>
          <a:ln/>
        </p:spPr>
        <p:txBody>
          <a:bodyPr wrap="square" lIns="0" tIns="0" rIns="0" bIns="0" rtlCol="0" anchor="t">
            <a:normAutofit/>
          </a:bodyPr>
          <a:lstStyle/>
          <a:p>
            <a:pPr algn="l" indent="0" marL="0">
              <a:lnSpc>
                <a:spcPts val="1820"/>
              </a:lnSpc>
              <a:buNone/>
            </a:pPr>
            <a:r>
              <a:rPr lang="en-US" sz="1300" dirty="0">
                <a:solidFill>
                  <a:srgbClr val="16202E"/>
                </a:solidFill>
                <a:latin typeface="IBM Plex Sans" pitchFamily="34" charset="0"/>
                <a:ea typeface="IBM Plex Sans" pitchFamily="34" charset="-122"/>
                <a:cs typeface="IBM Plex Sans" pitchFamily="34" charset="-120"/>
              </a:rPr>
              <a:t>Sources inside own split</a:t>
            </a:r>
            <a:endParaRPr lang="en-US" sz="1300" dirty="0"/>
          </a:p>
        </p:txBody>
      </p:sp>
      <p:sp>
        <p:nvSpPr>
          <p:cNvPr id="16" name="Text 8"/>
          <p:cNvSpPr/>
          <p:nvPr/>
        </p:nvSpPr>
        <p:spPr>
          <a:xfrm>
            <a:off x="812800" y="6238280"/>
            <a:ext cx="10883392" cy="238720"/>
          </a:xfrm>
          <a:prstGeom prst="rect">
            <a:avLst/>
          </a:prstGeom>
          <a:noFill/>
          <a:ln/>
        </p:spPr>
        <p:txBody>
          <a:bodyPr wrap="square" lIns="0" tIns="0" rIns="0" bIns="0" rtlCol="0" anchor="t">
            <a:normAutofit/>
          </a:bodyPr>
          <a:lstStyle/>
          <a:p>
            <a:pPr algn="l" indent="0" marL="0">
              <a:lnSpc>
                <a:spcPts val="1680"/>
              </a:lnSpc>
              <a:buNone/>
            </a:pPr>
            <a:r>
              <a:rPr lang="en-US" sz="1200" dirty="0">
                <a:solidFill>
                  <a:srgbClr val="6A7280"/>
                </a:solidFill>
                <a:latin typeface="IBM Plex Sans" pitchFamily="34" charset="0"/>
                <a:ea typeface="IBM Plex Sans" pitchFamily="34" charset="-122"/>
                <a:cs typeface="IBM Plex Sans" pitchFamily="34" charset="-120"/>
              </a:rPr>
              <a:t>Guide = 2026 GEHA dental benefits guide · Brochure = 2026 plan brochure · Report: results/data_splits.md</a:t>
            </a:r>
            <a:endParaRPr lang="en-US" sz="12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6F5F0"/>
        </a:solidFill>
      </p:bgPr>
    </p:bg>
    <p:spTree>
      <p:nvGrpSpPr>
        <p:cNvPr id="1" name=""/>
        <p:cNvGrpSpPr/>
        <p:nvPr/>
      </p:nvGrpSpPr>
      <p:grpSpPr>
        <a:xfrm>
          <a:off x="0" y="0"/>
          <a:ext cx="0" cy="0"/>
          <a:chOff x="0" y="0"/>
          <a:chExt cx="0" cy="0"/>
        </a:xfrm>
      </p:grpSpPr>
      <p:sp>
        <p:nvSpPr>
          <p:cNvPr id="2" name="Text 0"/>
          <p:cNvSpPr/>
          <p:nvPr>
            <p:ph type="title"/>
          </p:nvPr>
        </p:nvSpPr>
        <p:spPr>
          <a:xfrm>
            <a:off x="812800" y="812800"/>
            <a:ext cx="10883392" cy="472430"/>
          </a:xfrm>
          <a:prstGeom prst="rect">
            <a:avLst/>
          </a:prstGeom>
          <a:noFill/>
          <a:ln/>
        </p:spPr>
        <p:txBody>
          <a:bodyPr wrap="square" lIns="0" tIns="0" rIns="0" bIns="0" rtlCol="0" anchor="t">
            <a:normAutofit/>
          </a:bodyPr>
          <a:lstStyle/>
          <a:p>
            <a:pPr algn="l" indent="0" marL="0">
              <a:lnSpc>
                <a:spcPts val="3520"/>
              </a:lnSpc>
              <a:buNone/>
            </a:pPr>
            <a:r>
              <a:rPr lang="en-US" sz="3200" b="1" i="0" dirty="0">
                <a:solidFill>
                  <a:srgbClr val="16202E"/>
                </a:solidFill>
                <a:latin typeface="IBM Plex Sans" pitchFamily="34" charset="0"/>
                <a:ea typeface="IBM Plex Sans" pitchFamily="34" charset="-122"/>
                <a:cs typeface="IBM Plex Sans" pitchFamily="34" charset="-120"/>
              </a:rPr>
              <a:t>The model: a frozen 1.5B base with a small adapter</a:t>
            </a:r>
            <a:endParaRPr lang="en-US" sz="3200" dirty="0"/>
          </a:p>
        </p:txBody>
      </p:sp>
      <p:sp>
        <p:nvSpPr>
          <p:cNvPr id="3" name="Shape 1"/>
          <p:cNvSpPr/>
          <p:nvPr/>
        </p:nvSpPr>
        <p:spPr>
          <a:xfrm>
            <a:off x="819150" y="1621780"/>
            <a:ext cx="2476500" cy="1931591"/>
          </a:xfrm>
          <a:prstGeom prst="roundRect">
            <a:avLst>
              <a:gd name="adj" fmla="val 6246"/>
            </a:avLst>
          </a:prstGeom>
          <a:solidFill>
            <a:srgbClr val="FDFCF9"/>
          </a:solidFill>
          <a:ln w="12700">
            <a:solidFill>
              <a:srgbClr val="E2DED3"/>
            </a:solidFill>
            <a:prstDash val="solid"/>
          </a:ln>
        </p:spPr>
      </p:sp>
      <p:sp>
        <p:nvSpPr>
          <p:cNvPr id="4" name="Text 2"/>
          <p:cNvSpPr/>
          <p:nvPr/>
        </p:nvSpPr>
        <p:spPr>
          <a:xfrm>
            <a:off x="1079500" y="1882130"/>
            <a:ext cx="2014474" cy="640060"/>
          </a:xfrm>
          <a:prstGeom prst="rect">
            <a:avLst/>
          </a:prstGeom>
          <a:noFill/>
          <a:ln/>
        </p:spPr>
        <p:txBody>
          <a:bodyPr wrap="square" lIns="0" tIns="0" rIns="0" bIns="0" rtlCol="0" anchor="t">
            <a:normAutofit/>
          </a:bodyPr>
          <a:lstStyle/>
          <a:p>
            <a:pPr algn="l" indent="0" marL="0">
              <a:lnSpc>
                <a:spcPts val="4840"/>
              </a:lnSpc>
              <a:buNone/>
            </a:pPr>
            <a:r>
              <a:rPr lang="en-US" sz="4400" b="1" dirty="0">
                <a:solidFill>
                  <a:srgbClr val="16202E"/>
                </a:solidFill>
                <a:latin typeface="IBM Plex Sans" pitchFamily="34" charset="0"/>
                <a:ea typeface="IBM Plex Sans" pitchFamily="34" charset="-122"/>
                <a:cs typeface="IBM Plex Sans" pitchFamily="34" charset="-120"/>
              </a:rPr>
              <a:t>1.5B</a:t>
            </a:r>
            <a:endParaRPr lang="en-US" sz="4400" dirty="0"/>
          </a:p>
        </p:txBody>
      </p:sp>
      <p:sp>
        <p:nvSpPr>
          <p:cNvPr id="5" name="Text 3"/>
          <p:cNvSpPr/>
          <p:nvPr/>
        </p:nvSpPr>
        <p:spPr>
          <a:xfrm>
            <a:off x="1079500" y="2572990"/>
            <a:ext cx="2014474" cy="505420"/>
          </a:xfrm>
          <a:prstGeom prst="rect">
            <a:avLst/>
          </a:prstGeom>
          <a:noFill/>
          <a:ln/>
        </p:spPr>
        <p:txBody>
          <a:bodyPr wrap="square" lIns="0" tIns="0" rIns="0" bIns="0" rtlCol="0" anchor="t">
            <a:normAutofit/>
          </a:bodyPr>
          <a:lstStyle/>
          <a:p>
            <a:pPr algn="l" indent="0" marL="0">
              <a:lnSpc>
                <a:spcPts val="1890"/>
              </a:lnSpc>
              <a:buNone/>
            </a:pPr>
            <a:r>
              <a:rPr lang="en-US" sz="1400" dirty="0">
                <a:solidFill>
                  <a:srgbClr val="4A5568"/>
                </a:solidFill>
                <a:latin typeface="IBM Plex Sans" pitchFamily="34" charset="0"/>
                <a:ea typeface="IBM Plex Sans" pitchFamily="34" charset="-122"/>
                <a:cs typeface="IBM Plex Sans" pitchFamily="34" charset="-120"/>
              </a:rPr>
              <a:t>frozen weights in Qwen2.5‑1.5B‑Instruct</a:t>
            </a:r>
            <a:endParaRPr lang="en-US" sz="1400" dirty="0"/>
          </a:p>
        </p:txBody>
      </p:sp>
      <p:sp>
        <p:nvSpPr>
          <p:cNvPr id="6" name="Shape 4"/>
          <p:cNvSpPr/>
          <p:nvPr/>
        </p:nvSpPr>
        <p:spPr>
          <a:xfrm>
            <a:off x="3511550" y="1621780"/>
            <a:ext cx="2476500" cy="1931591"/>
          </a:xfrm>
          <a:prstGeom prst="roundRect">
            <a:avLst>
              <a:gd name="adj" fmla="val 6246"/>
            </a:avLst>
          </a:prstGeom>
          <a:solidFill>
            <a:srgbClr val="FDFCF9"/>
          </a:solidFill>
          <a:ln w="12700">
            <a:solidFill>
              <a:srgbClr val="D9622B"/>
            </a:solidFill>
            <a:prstDash val="solid"/>
          </a:ln>
        </p:spPr>
      </p:sp>
      <p:sp>
        <p:nvSpPr>
          <p:cNvPr id="7" name="Text 5"/>
          <p:cNvSpPr/>
          <p:nvPr/>
        </p:nvSpPr>
        <p:spPr>
          <a:xfrm>
            <a:off x="3771900" y="1882130"/>
            <a:ext cx="2014474" cy="640060"/>
          </a:xfrm>
          <a:prstGeom prst="rect">
            <a:avLst/>
          </a:prstGeom>
          <a:noFill/>
          <a:ln/>
        </p:spPr>
        <p:txBody>
          <a:bodyPr wrap="square" lIns="0" tIns="0" rIns="0" bIns="0" rtlCol="0" anchor="t">
            <a:normAutofit/>
          </a:bodyPr>
          <a:lstStyle/>
          <a:p>
            <a:pPr algn="l" indent="0" marL="0">
              <a:lnSpc>
                <a:spcPts val="4840"/>
              </a:lnSpc>
              <a:buNone/>
            </a:pPr>
            <a:r>
              <a:rPr lang="en-US" sz="4400" b="1" dirty="0">
                <a:solidFill>
                  <a:srgbClr val="B4481A"/>
                </a:solidFill>
                <a:latin typeface="IBM Plex Sans" pitchFamily="34" charset="0"/>
                <a:ea typeface="IBM Plex Sans" pitchFamily="34" charset="-122"/>
                <a:cs typeface="IBM Plex Sans" pitchFamily="34" charset="-120"/>
              </a:rPr>
              <a:t>18.5M</a:t>
            </a:r>
            <a:endParaRPr lang="en-US" sz="4400" dirty="0"/>
          </a:p>
        </p:txBody>
      </p:sp>
      <p:sp>
        <p:nvSpPr>
          <p:cNvPr id="8" name="Text 6"/>
          <p:cNvSpPr/>
          <p:nvPr/>
        </p:nvSpPr>
        <p:spPr>
          <a:xfrm>
            <a:off x="3771900" y="2572990"/>
            <a:ext cx="2014474" cy="745430"/>
          </a:xfrm>
          <a:prstGeom prst="rect">
            <a:avLst/>
          </a:prstGeom>
          <a:noFill/>
          <a:ln/>
        </p:spPr>
        <p:txBody>
          <a:bodyPr wrap="square" lIns="0" tIns="0" rIns="0" bIns="0" rtlCol="0" anchor="t">
            <a:normAutofit/>
          </a:bodyPr>
          <a:lstStyle/>
          <a:p>
            <a:pPr algn="l" indent="0" marL="0">
              <a:lnSpc>
                <a:spcPts val="1890"/>
              </a:lnSpc>
              <a:buNone/>
            </a:pPr>
            <a:r>
              <a:rPr lang="en-US" sz="1400" dirty="0">
                <a:solidFill>
                  <a:srgbClr val="4A5568"/>
                </a:solidFill>
                <a:latin typeface="IBM Plex Sans" pitchFamily="34" charset="0"/>
                <a:ea typeface="IBM Plex Sans" pitchFamily="34" charset="-122"/>
                <a:cs typeface="IBM Plex Sans" pitchFamily="34" charset="-120"/>
              </a:rPr>
              <a:t>trainable LoRA weights, about 1.2% of the model</a:t>
            </a:r>
            <a:endParaRPr lang="en-US" sz="1400" dirty="0"/>
          </a:p>
        </p:txBody>
      </p:sp>
      <p:sp>
        <p:nvSpPr>
          <p:cNvPr id="9" name="Shape 7"/>
          <p:cNvSpPr/>
          <p:nvPr/>
        </p:nvSpPr>
        <p:spPr>
          <a:xfrm>
            <a:off x="6203950" y="1621780"/>
            <a:ext cx="2476500" cy="1931591"/>
          </a:xfrm>
          <a:prstGeom prst="roundRect">
            <a:avLst>
              <a:gd name="adj" fmla="val 6246"/>
            </a:avLst>
          </a:prstGeom>
          <a:solidFill>
            <a:srgbClr val="FDFCF9"/>
          </a:solidFill>
          <a:ln w="12700">
            <a:solidFill>
              <a:srgbClr val="E2DED3"/>
            </a:solidFill>
            <a:prstDash val="solid"/>
          </a:ln>
        </p:spPr>
      </p:sp>
      <p:sp>
        <p:nvSpPr>
          <p:cNvPr id="10" name="Text 8"/>
          <p:cNvSpPr/>
          <p:nvPr/>
        </p:nvSpPr>
        <p:spPr>
          <a:xfrm>
            <a:off x="6464300" y="1882130"/>
            <a:ext cx="2014474" cy="640060"/>
          </a:xfrm>
          <a:prstGeom prst="rect">
            <a:avLst/>
          </a:prstGeom>
          <a:noFill/>
          <a:ln/>
        </p:spPr>
        <p:txBody>
          <a:bodyPr wrap="square" lIns="0" tIns="0" rIns="0" bIns="0" rtlCol="0" anchor="t">
            <a:normAutofit/>
          </a:bodyPr>
          <a:lstStyle/>
          <a:p>
            <a:pPr algn="l" indent="0" marL="0">
              <a:lnSpc>
                <a:spcPts val="4840"/>
              </a:lnSpc>
              <a:buNone/>
            </a:pPr>
            <a:r>
              <a:rPr lang="en-US" sz="4400" b="1" dirty="0">
                <a:solidFill>
                  <a:srgbClr val="16202E"/>
                </a:solidFill>
                <a:latin typeface="IBM Plex Sans" pitchFamily="34" charset="0"/>
                <a:ea typeface="IBM Plex Sans" pitchFamily="34" charset="-122"/>
                <a:cs typeface="IBM Plex Sans" pitchFamily="34" charset="-120"/>
              </a:rPr>
              <a:t>20</a:t>
            </a:r>
            <a:endParaRPr lang="en-US" sz="4400" dirty="0"/>
          </a:p>
        </p:txBody>
      </p:sp>
      <p:sp>
        <p:nvSpPr>
          <p:cNvPr id="11" name="Text 9"/>
          <p:cNvSpPr/>
          <p:nvPr/>
        </p:nvSpPr>
        <p:spPr>
          <a:xfrm>
            <a:off x="6464300" y="2572990"/>
            <a:ext cx="2014474" cy="745430"/>
          </a:xfrm>
          <a:prstGeom prst="rect">
            <a:avLst/>
          </a:prstGeom>
          <a:noFill/>
          <a:ln/>
        </p:spPr>
        <p:txBody>
          <a:bodyPr wrap="square" lIns="0" tIns="0" rIns="0" bIns="0" rtlCol="0" anchor="t">
            <a:normAutofit/>
          </a:bodyPr>
          <a:lstStyle/>
          <a:p>
            <a:pPr algn="l" indent="0" marL="0">
              <a:lnSpc>
                <a:spcPts val="1890"/>
              </a:lnSpc>
              <a:buNone/>
            </a:pPr>
            <a:r>
              <a:rPr lang="en-US" sz="1400" dirty="0">
                <a:solidFill>
                  <a:srgbClr val="4A5568"/>
                </a:solidFill>
                <a:latin typeface="IBM Plex Sans" pitchFamily="34" charset="0"/>
                <a:ea typeface="IBM Plex Sans" pitchFamily="34" charset="-122"/>
                <a:cs typeface="IBM Plex Sans" pitchFamily="34" charset="-120"/>
              </a:rPr>
              <a:t>optimizer steps per epoch (156 examples ÷ batch 8)</a:t>
            </a:r>
            <a:endParaRPr lang="en-US" sz="1400" dirty="0"/>
          </a:p>
        </p:txBody>
      </p:sp>
      <p:sp>
        <p:nvSpPr>
          <p:cNvPr id="12" name="Shape 10"/>
          <p:cNvSpPr/>
          <p:nvPr/>
        </p:nvSpPr>
        <p:spPr>
          <a:xfrm>
            <a:off x="8896350" y="1621780"/>
            <a:ext cx="2476500" cy="1931591"/>
          </a:xfrm>
          <a:prstGeom prst="roundRect">
            <a:avLst>
              <a:gd name="adj" fmla="val 6246"/>
            </a:avLst>
          </a:prstGeom>
          <a:solidFill>
            <a:srgbClr val="FDFCF9"/>
          </a:solidFill>
          <a:ln w="12700">
            <a:solidFill>
              <a:srgbClr val="E2DED3"/>
            </a:solidFill>
            <a:prstDash val="solid"/>
          </a:ln>
        </p:spPr>
      </p:sp>
      <p:sp>
        <p:nvSpPr>
          <p:cNvPr id="13" name="Text 11"/>
          <p:cNvSpPr/>
          <p:nvPr/>
        </p:nvSpPr>
        <p:spPr>
          <a:xfrm>
            <a:off x="9156700" y="1882130"/>
            <a:ext cx="2014474" cy="640060"/>
          </a:xfrm>
          <a:prstGeom prst="rect">
            <a:avLst/>
          </a:prstGeom>
          <a:noFill/>
          <a:ln/>
        </p:spPr>
        <p:txBody>
          <a:bodyPr wrap="square" lIns="0" tIns="0" rIns="0" bIns="0" rtlCol="0" anchor="t">
            <a:normAutofit/>
          </a:bodyPr>
          <a:lstStyle/>
          <a:p>
            <a:pPr algn="l" indent="0" marL="0">
              <a:lnSpc>
                <a:spcPts val="4840"/>
              </a:lnSpc>
              <a:buNone/>
            </a:pPr>
            <a:r>
              <a:rPr lang="en-US" sz="4400" b="1" dirty="0">
                <a:solidFill>
                  <a:srgbClr val="16202E"/>
                </a:solidFill>
                <a:latin typeface="IBM Plex Sans" pitchFamily="34" charset="0"/>
                <a:ea typeface="IBM Plex Sans" pitchFamily="34" charset="-122"/>
                <a:cs typeface="IBM Plex Sans" pitchFamily="34" charset="-120"/>
              </a:rPr>
              <a:t>74 MB</a:t>
            </a:r>
            <a:endParaRPr lang="en-US" sz="4400" dirty="0"/>
          </a:p>
        </p:txBody>
      </p:sp>
      <p:sp>
        <p:nvSpPr>
          <p:cNvPr id="14" name="Text 12"/>
          <p:cNvSpPr/>
          <p:nvPr/>
        </p:nvSpPr>
        <p:spPr>
          <a:xfrm>
            <a:off x="9156700" y="2572990"/>
            <a:ext cx="2014474" cy="505420"/>
          </a:xfrm>
          <a:prstGeom prst="rect">
            <a:avLst/>
          </a:prstGeom>
          <a:noFill/>
          <a:ln/>
        </p:spPr>
        <p:txBody>
          <a:bodyPr wrap="square" lIns="0" tIns="0" rIns="0" bIns="0" rtlCol="0" anchor="t">
            <a:normAutofit/>
          </a:bodyPr>
          <a:lstStyle/>
          <a:p>
            <a:pPr algn="l" indent="0" marL="0">
              <a:lnSpc>
                <a:spcPts val="1890"/>
              </a:lnSpc>
              <a:buNone/>
            </a:pPr>
            <a:r>
              <a:rPr lang="en-US" sz="1400" dirty="0">
                <a:solidFill>
                  <a:srgbClr val="4A5568"/>
                </a:solidFill>
                <a:latin typeface="IBM Plex Sans" pitchFamily="34" charset="0"/>
                <a:ea typeface="IBM Plex Sans" pitchFamily="34" charset="-122"/>
                <a:cs typeface="IBM Plex Sans" pitchFamily="34" charset="-120"/>
              </a:rPr>
              <a:t>adapter file on disk, vs about 3 GB for the base</a:t>
            </a:r>
            <a:endParaRPr lang="en-US" sz="1400" dirty="0"/>
          </a:p>
        </p:txBody>
      </p:sp>
      <p:graphicFrame>
        <p:nvGraphicFramePr>
          <p:cNvPr id="15" name="Table 0"/>
          <p:cNvGraphicFramePr>
            <a:graphicFrameLocks noGrp="1"/>
          </p:cNvGraphicFramePr>
          <p:nvPr>
            <p:extLst>
              <p:ext uri="{D42A27DB-BD31-4B8C-83A1-F6EECF244321}">
                <p14:modId xmlns:p14="http://schemas.microsoft.com/office/powerpoint/2010/main" val="1579011935"/>
              </p:ext>
            </p:extLst>
          </p:nvPr>
        </p:nvGraphicFramePr>
        <p:xfrm>
          <a:off x="825500" y="3928021"/>
          <a:ext cx="10553700" cy="718641"/>
        </p:xfrm>
        <a:graphic>
          <a:graphicData uri="http://schemas.openxmlformats.org/drawingml/2006/table">
            <a:tbl>
              <a:tblPr/>
              <a:tblGrid>
                <a:gridCol w="2638425"/>
                <a:gridCol w="2638425"/>
                <a:gridCol w="2638425"/>
                <a:gridCol w="2638425"/>
              </a:tblGrid>
              <a:tr h="359321">
                <a:tc>
                  <a:txBody>
                    <a:bodyPr/>
                    <a:lstStyle/>
                    <a:p>
                      <a:pPr indent="0" marL="0">
                        <a:lnSpc>
                          <a:spcPts val="1820"/>
                        </a:lnSpc>
                        <a:buNone/>
                      </a:pPr>
                      <a:r>
                        <a:rPr lang="en-US" sz="1300" b="1" dirty="0">
                          <a:solidFill>
                            <a:srgbClr val="16202E"/>
                          </a:solidFill>
                          <a:latin typeface="IBM Plex Sans" pitchFamily="34" charset="0"/>
                          <a:ea typeface="IBM Plex Sans" pitchFamily="34" charset="-122"/>
                          <a:cs typeface="IBM Plex Sans" pitchFamily="34" charset="-120"/>
                        </a:rPr>
                        <a:t>LoRA</a:t>
                      </a:r>
                      <a:endParaRPr lang="en-US" sz="1300" dirty="0">
                        <a:latin typeface="IBM Plex Sans" charset="0"/>
                        <a:ea typeface="IBM Plex Sans" charset="0"/>
                        <a:cs typeface="IBM Plex Sans" charset="0"/>
                      </a:endParaRPr>
                    </a:p>
                  </a:txBody>
                  <a:tcPr marL="57785" marR="57785" marT="57785" marB="57785" anchor="t">
                    <a:lnL w="12700" cap="flat" cmpd="sng" algn="ctr">
                      <a:solidFill>
                        <a:srgbClr val="C4C4BF"/>
                      </a:solidFill>
                      <a:prstDash val="solid"/>
                      <a:round/>
                      <a:headEnd type="none" w="med" len="med"/>
                      <a:tailEnd type="none" w="med" len="med"/>
                    </a:lnL>
                    <a:lnR w="12700" cap="flat" cmpd="sng" algn="ctr">
                      <a:solidFill>
                        <a:srgbClr val="B6B5B1"/>
                      </a:solidFill>
                      <a:prstDash val="solid"/>
                      <a:round/>
                      <a:headEnd type="none" w="med" len="med"/>
                      <a:tailEnd type="none" w="med" len="med"/>
                    </a:lnR>
                    <a:lnT w="12700" cap="flat" cmpd="sng" algn="ctr">
                      <a:solidFill>
                        <a:srgbClr val="C4C4BF"/>
                      </a:solidFill>
                      <a:prstDash val="solid"/>
                      <a:round/>
                      <a:headEnd type="none" w="med" len="med"/>
                      <a:tailEnd type="none" w="med" len="med"/>
                    </a:lnT>
                    <a:lnB w="12700" cap="flat" cmpd="sng" algn="ctr">
                      <a:solidFill>
                        <a:srgbClr val="B6B5B1"/>
                      </a:solidFill>
                      <a:prstDash val="solid"/>
                      <a:round/>
                      <a:headEnd type="none" w="med" len="med"/>
                      <a:tailEnd type="none" w="med" len="med"/>
                    </a:lnB>
                    <a:solidFill>
                      <a:srgbClr val="E4E3DE"/>
                    </a:solidFill>
                  </a:tcPr>
                </a:tc>
                <a:tc>
                  <a:txBody>
                    <a:bodyPr/>
                    <a:lstStyle/>
                    <a:p>
                      <a:pPr indent="0" marL="0">
                        <a:lnSpc>
                          <a:spcPts val="1820"/>
                        </a:lnSpc>
                        <a:buNone/>
                      </a:pPr>
                      <a:r>
                        <a:rPr lang="en-US" sz="1300" b="1" dirty="0">
                          <a:solidFill>
                            <a:srgbClr val="16202E"/>
                          </a:solidFill>
                          <a:latin typeface="IBM Plex Sans" pitchFamily="34" charset="0"/>
                          <a:ea typeface="IBM Plex Sans" pitchFamily="34" charset="-122"/>
                          <a:cs typeface="IBM Plex Sans" pitchFamily="34" charset="-120"/>
                        </a:rPr>
                        <a:t>Targets</a:t>
                      </a:r>
                      <a:endParaRPr lang="en-US" sz="1300" dirty="0">
                        <a:latin typeface="IBM Plex Sans" charset="0"/>
                        <a:ea typeface="IBM Plex Sans" charset="0"/>
                        <a:cs typeface="IBM Plex Sans" charset="0"/>
                      </a:endParaRPr>
                    </a:p>
                  </a:txBody>
                  <a:tcPr marL="57785" marR="57785" marT="57785" marB="57785" anchor="t">
                    <a:lnL w="12700" cap="flat" cmpd="sng" algn="ctr">
                      <a:solidFill>
                        <a:srgbClr val="B6B5B1"/>
                      </a:solidFill>
                      <a:prstDash val="solid"/>
                      <a:round/>
                      <a:headEnd type="none" w="med" len="med"/>
                      <a:tailEnd type="none" w="med" len="med"/>
                    </a:lnL>
                    <a:lnR w="12700" cap="flat" cmpd="sng" algn="ctr">
                      <a:solidFill>
                        <a:srgbClr val="B6B5B1"/>
                      </a:solidFill>
                      <a:prstDash val="solid"/>
                      <a:round/>
                      <a:headEnd type="none" w="med" len="med"/>
                      <a:tailEnd type="none" w="med" len="med"/>
                    </a:lnR>
                    <a:lnT w="12700" cap="flat" cmpd="sng" algn="ctr">
                      <a:solidFill>
                        <a:srgbClr val="C4C4BF"/>
                      </a:solidFill>
                      <a:prstDash val="solid"/>
                      <a:round/>
                      <a:headEnd type="none" w="med" len="med"/>
                      <a:tailEnd type="none" w="med" len="med"/>
                    </a:lnT>
                    <a:lnB w="12700" cap="flat" cmpd="sng" algn="ctr">
                      <a:solidFill>
                        <a:srgbClr val="B6B5B1"/>
                      </a:solidFill>
                      <a:prstDash val="solid"/>
                      <a:round/>
                      <a:headEnd type="none" w="med" len="med"/>
                      <a:tailEnd type="none" w="med" len="med"/>
                    </a:lnB>
                    <a:solidFill>
                      <a:srgbClr val="E4E3DE"/>
                    </a:solidFill>
                  </a:tcPr>
                </a:tc>
                <a:tc>
                  <a:txBody>
                    <a:bodyPr/>
                    <a:lstStyle/>
                    <a:p>
                      <a:pPr indent="0" marL="0">
                        <a:lnSpc>
                          <a:spcPts val="1820"/>
                        </a:lnSpc>
                        <a:buNone/>
                      </a:pPr>
                      <a:r>
                        <a:rPr lang="en-US" sz="1300" b="1" dirty="0">
                          <a:solidFill>
                            <a:srgbClr val="16202E"/>
                          </a:solidFill>
                          <a:latin typeface="IBM Plex Sans" pitchFamily="34" charset="0"/>
                          <a:ea typeface="IBM Plex Sans" pitchFamily="34" charset="-122"/>
                          <a:cs typeface="IBM Plex Sans" pitchFamily="34" charset="-120"/>
                        </a:rPr>
                        <a:t>Optimizer</a:t>
                      </a:r>
                      <a:endParaRPr lang="en-US" sz="1300" dirty="0">
                        <a:latin typeface="IBM Plex Sans" charset="0"/>
                        <a:ea typeface="IBM Plex Sans" charset="0"/>
                        <a:cs typeface="IBM Plex Sans" charset="0"/>
                      </a:endParaRPr>
                    </a:p>
                  </a:txBody>
                  <a:tcPr marL="57785" marR="57785" marT="57785" marB="57785" anchor="t">
                    <a:lnL w="12700" cap="flat" cmpd="sng" algn="ctr">
                      <a:solidFill>
                        <a:srgbClr val="B6B5B1"/>
                      </a:solidFill>
                      <a:prstDash val="solid"/>
                      <a:round/>
                      <a:headEnd type="none" w="med" len="med"/>
                      <a:tailEnd type="none" w="med" len="med"/>
                    </a:lnL>
                    <a:lnR w="12700" cap="flat" cmpd="sng" algn="ctr">
                      <a:solidFill>
                        <a:srgbClr val="B6B5B1"/>
                      </a:solidFill>
                      <a:prstDash val="solid"/>
                      <a:round/>
                      <a:headEnd type="none" w="med" len="med"/>
                      <a:tailEnd type="none" w="med" len="med"/>
                    </a:lnR>
                    <a:lnT w="12700" cap="flat" cmpd="sng" algn="ctr">
                      <a:solidFill>
                        <a:srgbClr val="C4C4BF"/>
                      </a:solidFill>
                      <a:prstDash val="solid"/>
                      <a:round/>
                      <a:headEnd type="none" w="med" len="med"/>
                      <a:tailEnd type="none" w="med" len="med"/>
                    </a:lnT>
                    <a:lnB w="12700" cap="flat" cmpd="sng" algn="ctr">
                      <a:solidFill>
                        <a:srgbClr val="B6B5B1"/>
                      </a:solidFill>
                      <a:prstDash val="solid"/>
                      <a:round/>
                      <a:headEnd type="none" w="med" len="med"/>
                      <a:tailEnd type="none" w="med" len="med"/>
                    </a:lnB>
                    <a:solidFill>
                      <a:srgbClr val="E4E3DE"/>
                    </a:solidFill>
                  </a:tcPr>
                </a:tc>
                <a:tc>
                  <a:txBody>
                    <a:bodyPr/>
                    <a:lstStyle/>
                    <a:p>
                      <a:pPr indent="0" marL="0">
                        <a:lnSpc>
                          <a:spcPts val="1820"/>
                        </a:lnSpc>
                        <a:buNone/>
                      </a:pPr>
                      <a:r>
                        <a:rPr lang="en-US" sz="1300" b="1" dirty="0">
                          <a:solidFill>
                            <a:srgbClr val="16202E"/>
                          </a:solidFill>
                          <a:latin typeface="IBM Plex Sans" pitchFamily="34" charset="0"/>
                          <a:ea typeface="IBM Plex Sans" pitchFamily="34" charset="-122"/>
                          <a:cs typeface="IBM Plex Sans" pitchFamily="34" charset="-120"/>
                        </a:rPr>
                        <a:t>Selection</a:t>
                      </a:r>
                      <a:endParaRPr lang="en-US" sz="1300" dirty="0">
                        <a:latin typeface="IBM Plex Sans" charset="0"/>
                        <a:ea typeface="IBM Plex Sans" charset="0"/>
                        <a:cs typeface="IBM Plex Sans" charset="0"/>
                      </a:endParaRPr>
                    </a:p>
                  </a:txBody>
                  <a:tcPr marL="57785" marR="57785" marT="57785" marB="57785" anchor="t">
                    <a:lnL w="12700" cap="flat" cmpd="sng" algn="ctr">
                      <a:solidFill>
                        <a:srgbClr val="B6B5B1"/>
                      </a:solidFill>
                      <a:prstDash val="solid"/>
                      <a:round/>
                      <a:headEnd type="none" w="med" len="med"/>
                      <a:tailEnd type="none" w="med" len="med"/>
                    </a:lnL>
                    <a:lnR w="12700" cap="flat" cmpd="sng" algn="ctr">
                      <a:solidFill>
                        <a:srgbClr val="B6B5B1"/>
                      </a:solidFill>
                      <a:prstDash val="solid"/>
                      <a:round/>
                      <a:headEnd type="none" w="med" len="med"/>
                      <a:tailEnd type="none" w="med" len="med"/>
                    </a:lnR>
                    <a:lnT w="12700" cap="flat" cmpd="sng" algn="ctr">
                      <a:solidFill>
                        <a:srgbClr val="C4C4BF"/>
                      </a:solidFill>
                      <a:prstDash val="solid"/>
                      <a:round/>
                      <a:headEnd type="none" w="med" len="med"/>
                      <a:tailEnd type="none" w="med" len="med"/>
                    </a:lnT>
                    <a:lnB w="12700" cap="flat" cmpd="sng" algn="ctr">
                      <a:solidFill>
                        <a:srgbClr val="B6B5B1"/>
                      </a:solidFill>
                      <a:prstDash val="solid"/>
                      <a:round/>
                      <a:headEnd type="none" w="med" len="med"/>
                      <a:tailEnd type="none" w="med" len="med"/>
                    </a:lnB>
                    <a:solidFill>
                      <a:srgbClr val="E4E3DE"/>
                    </a:solidFill>
                  </a:tcPr>
                </a:tc>
              </a:tr>
              <a:tr h="359321">
                <a:tc>
                  <a:txBody>
                    <a:bodyPr/>
                    <a:lstStyle/>
                    <a:p>
                      <a:pPr indent="0" marL="0">
                        <a:lnSpc>
                          <a:spcPts val="1820"/>
                        </a:lnSpc>
                        <a:buNone/>
                      </a:pPr>
                      <a:r>
                        <a:rPr lang="en-US" sz="1300" dirty="0">
                          <a:solidFill>
                            <a:srgbClr val="16202E"/>
                          </a:solidFill>
                          <a:latin typeface="IBM Plex Sans" pitchFamily="34" charset="0"/>
                          <a:ea typeface="IBM Plex Sans" pitchFamily="34" charset="-122"/>
                          <a:cs typeface="IBM Plex Sans" pitchFamily="34" charset="-120"/>
                        </a:rPr>
                        <a:t>rank 16, alpha 32, dropout 0.05</a:t>
                      </a:r>
                      <a:endParaRPr lang="en-US" sz="1300" dirty="0">
                        <a:latin typeface="IBM Plex Sans" charset="0"/>
                        <a:ea typeface="IBM Plex Sans" charset="0"/>
                        <a:cs typeface="IBM Plex Sans" charset="0"/>
                      </a:endParaRPr>
                    </a:p>
                  </a:txBody>
                  <a:tcPr marL="57785" marR="57785" marT="57785" marB="57785" anchor="t">
                    <a:lnL w="12700" cap="flat" cmpd="sng" algn="ctr">
                      <a:solidFill>
                        <a:srgbClr val="C4C4BF"/>
                      </a:solidFill>
                      <a:prstDash val="solid"/>
                      <a:round/>
                      <a:headEnd type="none" w="med" len="med"/>
                      <a:tailEnd type="none" w="med" len="med"/>
                    </a:lnL>
                    <a:lnR w="12700" cap="flat" cmpd="sng" algn="ctr">
                      <a:solidFill>
                        <a:srgbClr val="C4C4BF"/>
                      </a:solidFill>
                      <a:prstDash val="solid"/>
                      <a:round/>
                      <a:headEnd type="none" w="med" len="med"/>
                      <a:tailEnd type="none" w="med" len="med"/>
                    </a:lnR>
                    <a:lnT w="12700" cap="flat" cmpd="sng" algn="ctr">
                      <a:solidFill>
                        <a:srgbClr val="B6B5B1"/>
                      </a:solidFill>
                      <a:prstDash val="solid"/>
                      <a:round/>
                      <a:headEnd type="none" w="med" len="med"/>
                      <a:tailEnd type="none" w="med" len="med"/>
                    </a:lnT>
                    <a:lnB w="12700" cap="flat" cmpd="sng" algn="ctr">
                      <a:solidFill>
                        <a:srgbClr val="C4C4BF"/>
                      </a:solidFill>
                      <a:prstDash val="solid"/>
                      <a:round/>
                      <a:headEnd type="none" w="med" len="med"/>
                      <a:tailEnd type="none" w="med" len="med"/>
                    </a:lnB>
                  </a:tcPr>
                </a:tc>
                <a:tc>
                  <a:txBody>
                    <a:bodyPr/>
                    <a:lstStyle/>
                    <a:p>
                      <a:pPr indent="0" marL="0">
                        <a:lnSpc>
                          <a:spcPts val="1820"/>
                        </a:lnSpc>
                        <a:buNone/>
                      </a:pPr>
                      <a:r>
                        <a:rPr lang="en-US" sz="1300" dirty="0">
                          <a:solidFill>
                            <a:srgbClr val="16202E"/>
                          </a:solidFill>
                          <a:latin typeface="IBM Plex Sans" pitchFamily="34" charset="0"/>
                          <a:ea typeface="IBM Plex Sans" pitchFamily="34" charset="-122"/>
                          <a:cs typeface="IBM Plex Sans" pitchFamily="34" charset="-120"/>
                        </a:rPr>
                        <a:t>q, k, v, o, gate, up, down</a:t>
                      </a:r>
                      <a:endParaRPr lang="en-US" sz="1300" dirty="0">
                        <a:latin typeface="IBM Plex Sans" charset="0"/>
                        <a:ea typeface="IBM Plex Sans" charset="0"/>
                        <a:cs typeface="IBM Plex Sans" charset="0"/>
                      </a:endParaRPr>
                    </a:p>
                  </a:txBody>
                  <a:tcPr marL="57785" marR="57785" marT="57785" marB="57785" anchor="t">
                    <a:lnL w="12700" cap="flat" cmpd="sng" algn="ctr">
                      <a:solidFill>
                        <a:srgbClr val="C4C4BF"/>
                      </a:solidFill>
                      <a:prstDash val="solid"/>
                      <a:round/>
                      <a:headEnd type="none" w="med" len="med"/>
                      <a:tailEnd type="none" w="med" len="med"/>
                    </a:lnL>
                    <a:lnR w="12700" cap="flat" cmpd="sng" algn="ctr">
                      <a:solidFill>
                        <a:srgbClr val="C4C4BF"/>
                      </a:solidFill>
                      <a:prstDash val="solid"/>
                      <a:round/>
                      <a:headEnd type="none" w="med" len="med"/>
                      <a:tailEnd type="none" w="med" len="med"/>
                    </a:lnR>
                    <a:lnT w="12700" cap="flat" cmpd="sng" algn="ctr">
                      <a:solidFill>
                        <a:srgbClr val="B6B5B1"/>
                      </a:solidFill>
                      <a:prstDash val="solid"/>
                      <a:round/>
                      <a:headEnd type="none" w="med" len="med"/>
                      <a:tailEnd type="none" w="med" len="med"/>
                    </a:lnT>
                    <a:lnB w="12700" cap="flat" cmpd="sng" algn="ctr">
                      <a:solidFill>
                        <a:srgbClr val="C4C4BF"/>
                      </a:solidFill>
                      <a:prstDash val="solid"/>
                      <a:round/>
                      <a:headEnd type="none" w="med" len="med"/>
                      <a:tailEnd type="none" w="med" len="med"/>
                    </a:lnB>
                  </a:tcPr>
                </a:tc>
                <a:tc>
                  <a:txBody>
                    <a:bodyPr/>
                    <a:lstStyle/>
                    <a:p>
                      <a:pPr indent="0" marL="0">
                        <a:lnSpc>
                          <a:spcPts val="1820"/>
                        </a:lnSpc>
                        <a:buNone/>
                      </a:pPr>
                      <a:r>
                        <a:rPr lang="en-US" sz="1300" dirty="0">
                          <a:solidFill>
                            <a:srgbClr val="16202E"/>
                          </a:solidFill>
                          <a:latin typeface="IBM Plex Sans" pitchFamily="34" charset="0"/>
                          <a:ea typeface="IBM Plex Sans" pitchFamily="34" charset="-122"/>
                          <a:cs typeface="IBM Plex Sans" pitchFamily="34" charset="-120"/>
                        </a:rPr>
                        <a:t>AdamW 2e‑4, warmup + cosine</a:t>
                      </a:r>
                      <a:endParaRPr lang="en-US" sz="1300" dirty="0">
                        <a:latin typeface="IBM Plex Sans" charset="0"/>
                        <a:ea typeface="IBM Plex Sans" charset="0"/>
                        <a:cs typeface="IBM Plex Sans" charset="0"/>
                      </a:endParaRPr>
                    </a:p>
                  </a:txBody>
                  <a:tcPr marL="57785" marR="57785" marT="57785" marB="57785" anchor="t">
                    <a:lnL w="12700" cap="flat" cmpd="sng" algn="ctr">
                      <a:solidFill>
                        <a:srgbClr val="C4C4BF"/>
                      </a:solidFill>
                      <a:prstDash val="solid"/>
                      <a:round/>
                      <a:headEnd type="none" w="med" len="med"/>
                      <a:tailEnd type="none" w="med" len="med"/>
                    </a:lnL>
                    <a:lnR w="12700" cap="flat" cmpd="sng" algn="ctr">
                      <a:solidFill>
                        <a:srgbClr val="C4C4BF"/>
                      </a:solidFill>
                      <a:prstDash val="solid"/>
                      <a:round/>
                      <a:headEnd type="none" w="med" len="med"/>
                      <a:tailEnd type="none" w="med" len="med"/>
                    </a:lnR>
                    <a:lnT w="12700" cap="flat" cmpd="sng" algn="ctr">
                      <a:solidFill>
                        <a:srgbClr val="B6B5B1"/>
                      </a:solidFill>
                      <a:prstDash val="solid"/>
                      <a:round/>
                      <a:headEnd type="none" w="med" len="med"/>
                      <a:tailEnd type="none" w="med" len="med"/>
                    </a:lnT>
                    <a:lnB w="12700" cap="flat" cmpd="sng" algn="ctr">
                      <a:solidFill>
                        <a:srgbClr val="C4C4BF"/>
                      </a:solidFill>
                      <a:prstDash val="solid"/>
                      <a:round/>
                      <a:headEnd type="none" w="med" len="med"/>
                      <a:tailEnd type="none" w="med" len="med"/>
                    </a:lnB>
                  </a:tcPr>
                </a:tc>
                <a:tc>
                  <a:txBody>
                    <a:bodyPr/>
                    <a:lstStyle/>
                    <a:p>
                      <a:pPr indent="0" marL="0">
                        <a:lnSpc>
                          <a:spcPts val="1820"/>
                        </a:lnSpc>
                        <a:buNone/>
                      </a:pPr>
                      <a:r>
                        <a:rPr lang="en-US" sz="1300" dirty="0">
                          <a:solidFill>
                            <a:srgbClr val="16202E"/>
                          </a:solidFill>
                          <a:latin typeface="IBM Plex Sans" pitchFamily="34" charset="0"/>
                          <a:ea typeface="IBM Plex Sans" pitchFamily="34" charset="-122"/>
                          <a:cs typeface="IBM Plex Sans" pitchFamily="34" charset="-120"/>
                        </a:rPr>
                        <a:t>lowest validation loss</a:t>
                      </a:r>
                      <a:endParaRPr lang="en-US" sz="1300" dirty="0">
                        <a:latin typeface="IBM Plex Sans" charset="0"/>
                        <a:ea typeface="IBM Plex Sans" charset="0"/>
                        <a:cs typeface="IBM Plex Sans" charset="0"/>
                      </a:endParaRPr>
                    </a:p>
                  </a:txBody>
                  <a:tcPr marL="57785" marR="57785" marT="57785" marB="57785" anchor="t">
                    <a:lnL w="12700" cap="flat" cmpd="sng" algn="ctr">
                      <a:solidFill>
                        <a:srgbClr val="C4C4BF"/>
                      </a:solidFill>
                      <a:prstDash val="solid"/>
                      <a:round/>
                      <a:headEnd type="none" w="med" len="med"/>
                      <a:tailEnd type="none" w="med" len="med"/>
                    </a:lnL>
                    <a:lnR w="12700" cap="flat" cmpd="sng" algn="ctr">
                      <a:solidFill>
                        <a:srgbClr val="C4C4BF"/>
                      </a:solidFill>
                      <a:prstDash val="solid"/>
                      <a:round/>
                      <a:headEnd type="none" w="med" len="med"/>
                      <a:tailEnd type="none" w="med" len="med"/>
                    </a:lnR>
                    <a:lnT w="12700" cap="flat" cmpd="sng" algn="ctr">
                      <a:solidFill>
                        <a:srgbClr val="B6B5B1"/>
                      </a:solidFill>
                      <a:prstDash val="solid"/>
                      <a:round/>
                      <a:headEnd type="none" w="med" len="med"/>
                      <a:tailEnd type="none" w="med" len="med"/>
                    </a:lnT>
                    <a:lnB w="12700" cap="flat" cmpd="sng" algn="ctr">
                      <a:solidFill>
                        <a:srgbClr val="C4C4BF"/>
                      </a:solidFill>
                      <a:prstDash val="solid"/>
                      <a:round/>
                      <a:headEnd type="none" w="med" len="med"/>
                      <a:tailEnd type="none" w="med" len="med"/>
                    </a:lnB>
                  </a:tcPr>
                </a:tc>
              </a:tr>
            </a:tbl>
          </a:graphicData>
        </a:graphic>
      </p:graphicFrame>
      <p:sp>
        <p:nvSpPr>
          <p:cNvPr id="16" name="Text 13"/>
          <p:cNvSpPr/>
          <p:nvPr/>
        </p:nvSpPr>
        <p:spPr>
          <a:xfrm>
            <a:off x="812800" y="6238280"/>
            <a:ext cx="10883392" cy="238720"/>
          </a:xfrm>
          <a:prstGeom prst="rect">
            <a:avLst/>
          </a:prstGeom>
          <a:noFill/>
          <a:ln/>
        </p:spPr>
        <p:txBody>
          <a:bodyPr wrap="square" lIns="0" tIns="0" rIns="0" bIns="0" rtlCol="0" anchor="t">
            <a:normAutofit/>
          </a:bodyPr>
          <a:lstStyle/>
          <a:p>
            <a:pPr algn="l" indent="0" marL="0">
              <a:lnSpc>
                <a:spcPts val="1680"/>
              </a:lnSpc>
              <a:buNone/>
            </a:pPr>
            <a:r>
              <a:rPr lang="en-US" sz="1200" dirty="0">
                <a:solidFill>
                  <a:srgbClr val="6A7280"/>
                </a:solidFill>
                <a:latin typeface="IBM Plex Sans" pitchFamily="34" charset="0"/>
                <a:ea typeface="IBM Plex Sans" pitchFamily="34" charset="-122"/>
                <a:cs typeface="IBM Plex Sans" pitchFamily="34" charset="-120"/>
              </a:rPr>
              <a:t>Adapter size measured from adapter_model.safetensors (fp32); base size is the bf16 checkpoint</a:t>
            </a:r>
            <a:endParaRPr lang="en-US" sz="12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6F5F0"/>
        </a:solidFill>
      </p:bgPr>
    </p:bg>
    <p:spTree>
      <p:nvGrpSpPr>
        <p:cNvPr id="1" name=""/>
        <p:cNvGrpSpPr/>
        <p:nvPr/>
      </p:nvGrpSpPr>
      <p:grpSpPr>
        <a:xfrm>
          <a:off x="0" y="0"/>
          <a:ext cx="0" cy="0"/>
          <a:chOff x="0" y="0"/>
          <a:chExt cx="0" cy="0"/>
        </a:xfrm>
      </p:grpSpPr>
      <p:sp>
        <p:nvSpPr>
          <p:cNvPr id="2" name="Text 0"/>
          <p:cNvSpPr/>
          <p:nvPr>
            <p:ph type="title"/>
          </p:nvPr>
        </p:nvSpPr>
        <p:spPr>
          <a:xfrm>
            <a:off x="812800" y="812800"/>
            <a:ext cx="10883392" cy="472430"/>
          </a:xfrm>
          <a:prstGeom prst="rect">
            <a:avLst/>
          </a:prstGeom>
          <a:noFill/>
          <a:ln/>
        </p:spPr>
        <p:txBody>
          <a:bodyPr wrap="square" lIns="0" tIns="0" rIns="0" bIns="0" rtlCol="0" anchor="t">
            <a:normAutofit/>
          </a:bodyPr>
          <a:lstStyle/>
          <a:p>
            <a:pPr algn="l" indent="0" marL="0">
              <a:lnSpc>
                <a:spcPts val="3520"/>
              </a:lnSpc>
              <a:buNone/>
            </a:pPr>
            <a:r>
              <a:rPr lang="en-US" sz="3200" b="1" i="0" dirty="0">
                <a:solidFill>
                  <a:srgbClr val="16202E"/>
                </a:solidFill>
                <a:latin typeface="IBM Plex Sans" pitchFamily="34" charset="0"/>
                <a:ea typeface="IBM Plex Sans" pitchFamily="34" charset="-122"/>
                <a:cs typeface="IBM Plex Sans" pitchFamily="34" charset="-120"/>
              </a:rPr>
              <a:t>On the Mac: 4 h 41 min, one finished epoch</a:t>
            </a:r>
            <a:endParaRPr lang="en-US" sz="3200" dirty="0"/>
          </a:p>
        </p:txBody>
      </p:sp>
      <p:pic>
        <p:nvPicPr>
          <p:cNvPr id="3" name="Image 0" descr="ellipse">    </p:cNvPr>
          <p:cNvPicPr>
            <a:picLocks noChangeAspect="1"/>
          </p:cNvPicPr>
          <p:nvPr/>
        </p:nvPicPr>
        <p:blipFill>
          <a:blip r:embed="rId1"/>
          <a:srcRect l="0" r="0" t="0" b="0"/>
          <a:stretch/>
        </p:blipFill>
        <p:spPr>
          <a:xfrm>
            <a:off x="812800" y="1920230"/>
            <a:ext cx="203200" cy="203200"/>
          </a:xfrm>
          <a:prstGeom prst="rect">
            <a:avLst/>
          </a:prstGeom>
        </p:spPr>
      </p:pic>
      <p:sp>
        <p:nvSpPr>
          <p:cNvPr id="4" name="Text 1"/>
          <p:cNvSpPr/>
          <p:nvPr/>
        </p:nvSpPr>
        <p:spPr>
          <a:xfrm>
            <a:off x="812800" y="2199630"/>
            <a:ext cx="2563876" cy="309860"/>
          </a:xfrm>
          <a:prstGeom prst="rect">
            <a:avLst/>
          </a:prstGeom>
          <a:noFill/>
          <a:ln/>
        </p:spPr>
        <p:txBody>
          <a:bodyPr wrap="square" lIns="0" tIns="0" rIns="0" bIns="0" rtlCol="0" anchor="t">
            <a:normAutofit/>
          </a:bodyPr>
          <a:lstStyle/>
          <a:p>
            <a:pPr algn="l" indent="0" marL="0">
              <a:lnSpc>
                <a:spcPts val="2240"/>
              </a:lnSpc>
              <a:buNone/>
            </a:pPr>
            <a:r>
              <a:rPr lang="en-US" sz="1600" b="1" dirty="0">
                <a:solidFill>
                  <a:srgbClr val="16202E"/>
                </a:solidFill>
                <a:latin typeface="JetBrains Mono" pitchFamily="49" charset="0"/>
                <a:ea typeface="JetBrains Mono" pitchFamily="49" charset="-122"/>
                <a:cs typeface="JetBrains Mono" pitchFamily="49" charset="-120"/>
              </a:rPr>
              <a:t>02:53</a:t>
            </a:r>
            <a:endParaRPr lang="en-US" sz="1600" dirty="0"/>
          </a:p>
        </p:txBody>
      </p:sp>
      <p:sp>
        <p:nvSpPr>
          <p:cNvPr id="5" name="Text 2"/>
          <p:cNvSpPr/>
          <p:nvPr/>
        </p:nvSpPr>
        <p:spPr>
          <a:xfrm>
            <a:off x="812800" y="2560290"/>
            <a:ext cx="2563876" cy="505420"/>
          </a:xfrm>
          <a:prstGeom prst="rect">
            <a:avLst/>
          </a:prstGeom>
          <a:noFill/>
          <a:ln/>
        </p:spPr>
        <p:txBody>
          <a:bodyPr wrap="square" lIns="0" tIns="0" rIns="0" bIns="0" rtlCol="0" anchor="t">
            <a:normAutofit/>
          </a:bodyPr>
          <a:lstStyle/>
          <a:p>
            <a:pPr algn="l" indent="0" marL="0">
              <a:lnSpc>
                <a:spcPts val="1890"/>
              </a:lnSpc>
              <a:buNone/>
            </a:pPr>
            <a:r>
              <a:rPr lang="en-US" sz="1400" dirty="0">
                <a:solidFill>
                  <a:srgbClr val="4A5568"/>
                </a:solidFill>
                <a:latin typeface="IBM Plex Sans" pitchFamily="34" charset="0"/>
                <a:ea typeface="IBM Plex Sans" pitchFamily="34" charset="-122"/>
                <a:cs typeface="IBM Plex Sans" pitchFamily="34" charset="-120"/>
              </a:rPr>
              <a:t>Start on an M1 Pro, 32 GB, fp32 on the GPU (MPS)</a:t>
            </a:r>
            <a:endParaRPr lang="en-US" sz="1400" dirty="0"/>
          </a:p>
        </p:txBody>
      </p:sp>
      <p:pic>
        <p:nvPicPr>
          <p:cNvPr id="6" name="Image 1" descr="ellipse">    </p:cNvPr>
          <p:cNvPicPr>
            <a:picLocks noChangeAspect="1"/>
          </p:cNvPicPr>
          <p:nvPr/>
        </p:nvPicPr>
        <p:blipFill>
          <a:blip r:embed="rId2"/>
          <a:srcRect l="0" r="0" t="0" b="0"/>
          <a:stretch/>
        </p:blipFill>
        <p:spPr>
          <a:xfrm>
            <a:off x="3505200" y="1920230"/>
            <a:ext cx="203200" cy="203200"/>
          </a:xfrm>
          <a:prstGeom prst="rect">
            <a:avLst/>
          </a:prstGeom>
        </p:spPr>
      </p:pic>
      <p:sp>
        <p:nvSpPr>
          <p:cNvPr id="7" name="Text 3"/>
          <p:cNvSpPr/>
          <p:nvPr/>
        </p:nvSpPr>
        <p:spPr>
          <a:xfrm>
            <a:off x="3505200" y="2199630"/>
            <a:ext cx="2563876" cy="309860"/>
          </a:xfrm>
          <a:prstGeom prst="rect">
            <a:avLst/>
          </a:prstGeom>
          <a:noFill/>
          <a:ln/>
        </p:spPr>
        <p:txBody>
          <a:bodyPr wrap="square" lIns="0" tIns="0" rIns="0" bIns="0" rtlCol="0" anchor="t">
            <a:normAutofit/>
          </a:bodyPr>
          <a:lstStyle/>
          <a:p>
            <a:pPr algn="l" indent="0" marL="0">
              <a:lnSpc>
                <a:spcPts val="2240"/>
              </a:lnSpc>
              <a:buNone/>
            </a:pPr>
            <a:r>
              <a:rPr lang="en-US" sz="1600" b="1" dirty="0">
                <a:solidFill>
                  <a:srgbClr val="16202E"/>
                </a:solidFill>
                <a:latin typeface="JetBrains Mono" pitchFamily="49" charset="0"/>
                <a:ea typeface="JetBrains Mono" pitchFamily="49" charset="-122"/>
                <a:cs typeface="JetBrains Mono" pitchFamily="49" charset="-120"/>
              </a:rPr>
              <a:t>03:57</a:t>
            </a:r>
            <a:endParaRPr lang="en-US" sz="1600" dirty="0"/>
          </a:p>
        </p:txBody>
      </p:sp>
      <p:sp>
        <p:nvSpPr>
          <p:cNvPr id="8" name="Text 4"/>
          <p:cNvSpPr/>
          <p:nvPr/>
        </p:nvSpPr>
        <p:spPr>
          <a:xfrm>
            <a:off x="3505200" y="2560290"/>
            <a:ext cx="2563876" cy="745430"/>
          </a:xfrm>
          <a:prstGeom prst="rect">
            <a:avLst/>
          </a:prstGeom>
          <a:noFill/>
          <a:ln/>
        </p:spPr>
        <p:txBody>
          <a:bodyPr wrap="square" lIns="0" tIns="0" rIns="0" bIns="0" rtlCol="0" anchor="t">
            <a:normAutofit/>
          </a:bodyPr>
          <a:lstStyle/>
          <a:p>
            <a:pPr algn="l" indent="0" marL="0">
              <a:lnSpc>
                <a:spcPts val="1890"/>
              </a:lnSpc>
              <a:buNone/>
            </a:pPr>
            <a:r>
              <a:rPr lang="en-US" sz="1400" dirty="0">
                <a:solidFill>
                  <a:srgbClr val="4A5568"/>
                </a:solidFill>
                <a:latin typeface="IBM Plex Sans" pitchFamily="34" charset="0"/>
                <a:ea typeface="IBM Plex Sans" pitchFamily="34" charset="-122"/>
                <a:cs typeface="IBM Plex Sans" pitchFamily="34" charset="-120"/>
              </a:rPr>
              <a:t>Epoch 1 done in 56 min. Validation loss 0.626 → 0.517; adapter saved</a:t>
            </a:r>
            <a:endParaRPr lang="en-US" sz="1400" dirty="0"/>
          </a:p>
        </p:txBody>
      </p:sp>
      <p:pic>
        <p:nvPicPr>
          <p:cNvPr id="9" name="Image 2" descr="ellipse">    </p:cNvPr>
          <p:cNvPicPr>
            <a:picLocks noChangeAspect="1"/>
          </p:cNvPicPr>
          <p:nvPr/>
        </p:nvPicPr>
        <p:blipFill>
          <a:blip r:embed="rId3"/>
          <a:srcRect l="0" r="0" t="0" b="0"/>
          <a:stretch/>
        </p:blipFill>
        <p:spPr>
          <a:xfrm>
            <a:off x="6197600" y="1920230"/>
            <a:ext cx="203200" cy="203200"/>
          </a:xfrm>
          <a:prstGeom prst="rect">
            <a:avLst/>
          </a:prstGeom>
        </p:spPr>
      </p:pic>
      <p:sp>
        <p:nvSpPr>
          <p:cNvPr id="10" name="Text 5"/>
          <p:cNvSpPr/>
          <p:nvPr/>
        </p:nvSpPr>
        <p:spPr>
          <a:xfrm>
            <a:off x="6197600" y="2199630"/>
            <a:ext cx="2563876" cy="309860"/>
          </a:xfrm>
          <a:prstGeom prst="rect">
            <a:avLst/>
          </a:prstGeom>
          <a:noFill/>
          <a:ln/>
        </p:spPr>
        <p:txBody>
          <a:bodyPr wrap="square" lIns="0" tIns="0" rIns="0" bIns="0" rtlCol="0" anchor="t">
            <a:normAutofit/>
          </a:bodyPr>
          <a:lstStyle/>
          <a:p>
            <a:pPr algn="l" indent="0" marL="0">
              <a:lnSpc>
                <a:spcPts val="2240"/>
              </a:lnSpc>
              <a:buNone/>
            </a:pPr>
            <a:r>
              <a:rPr lang="en-US" sz="1600" b="1" dirty="0">
                <a:solidFill>
                  <a:srgbClr val="16202E"/>
                </a:solidFill>
                <a:latin typeface="JetBrains Mono" pitchFamily="49" charset="0"/>
                <a:ea typeface="JetBrains Mono" pitchFamily="49" charset="-122"/>
                <a:cs typeface="JetBrains Mono" pitchFamily="49" charset="-120"/>
              </a:rPr>
              <a:t>06:39</a:t>
            </a:r>
            <a:endParaRPr lang="en-US" sz="1600" dirty="0"/>
          </a:p>
        </p:txBody>
      </p:sp>
      <p:sp>
        <p:nvSpPr>
          <p:cNvPr id="11" name="Text 6"/>
          <p:cNvSpPr/>
          <p:nvPr/>
        </p:nvSpPr>
        <p:spPr>
          <a:xfrm>
            <a:off x="6197600" y="2560290"/>
            <a:ext cx="2563876" cy="745430"/>
          </a:xfrm>
          <a:prstGeom prst="rect">
            <a:avLst/>
          </a:prstGeom>
          <a:noFill/>
          <a:ln/>
        </p:spPr>
        <p:txBody>
          <a:bodyPr wrap="square" lIns="0" tIns="0" rIns="0" bIns="0" rtlCol="0" anchor="t">
            <a:normAutofit/>
          </a:bodyPr>
          <a:lstStyle/>
          <a:p>
            <a:pPr algn="l" indent="0" marL="0">
              <a:lnSpc>
                <a:spcPts val="1890"/>
              </a:lnSpc>
              <a:buNone/>
            </a:pPr>
            <a:r>
              <a:rPr lang="en-US" sz="1400" dirty="0">
                <a:solidFill>
                  <a:srgbClr val="4A5568"/>
                </a:solidFill>
                <a:latin typeface="IBM Plex Sans" pitchFamily="34" charset="0"/>
                <a:ea typeface="IBM Plex Sans" pitchFamily="34" charset="-122"/>
                <a:cs typeface="IBM Plex Sans" pitchFamily="34" charset="-120"/>
              </a:rPr>
              <a:t>Battery at 1%: the Mac hibernates for 12 min, epoch 2 still unfinished</a:t>
            </a:r>
            <a:endParaRPr lang="en-US" sz="1400" dirty="0"/>
          </a:p>
        </p:txBody>
      </p:sp>
      <p:pic>
        <p:nvPicPr>
          <p:cNvPr id="12" name="Image 3" descr="ellipse">    </p:cNvPr>
          <p:cNvPicPr>
            <a:picLocks noChangeAspect="1"/>
          </p:cNvPicPr>
          <p:nvPr/>
        </p:nvPicPr>
        <p:blipFill>
          <a:blip r:embed="rId4"/>
          <a:srcRect l="0" r="0" t="0" b="0"/>
          <a:stretch/>
        </p:blipFill>
        <p:spPr>
          <a:xfrm>
            <a:off x="8890000" y="1920230"/>
            <a:ext cx="203200" cy="203200"/>
          </a:xfrm>
          <a:prstGeom prst="rect">
            <a:avLst/>
          </a:prstGeom>
        </p:spPr>
      </p:pic>
      <p:sp>
        <p:nvSpPr>
          <p:cNvPr id="13" name="Text 7"/>
          <p:cNvSpPr/>
          <p:nvPr/>
        </p:nvSpPr>
        <p:spPr>
          <a:xfrm>
            <a:off x="8890000" y="2199630"/>
            <a:ext cx="2563876" cy="309860"/>
          </a:xfrm>
          <a:prstGeom prst="rect">
            <a:avLst/>
          </a:prstGeom>
          <a:noFill/>
          <a:ln/>
        </p:spPr>
        <p:txBody>
          <a:bodyPr wrap="square" lIns="0" tIns="0" rIns="0" bIns="0" rtlCol="0" anchor="t">
            <a:normAutofit/>
          </a:bodyPr>
          <a:lstStyle/>
          <a:p>
            <a:pPr algn="l" indent="0" marL="0">
              <a:lnSpc>
                <a:spcPts val="2240"/>
              </a:lnSpc>
              <a:buNone/>
            </a:pPr>
            <a:r>
              <a:rPr lang="en-US" sz="1600" b="1" dirty="0">
                <a:solidFill>
                  <a:srgbClr val="16202E"/>
                </a:solidFill>
                <a:latin typeface="JetBrains Mono" pitchFamily="49" charset="0"/>
                <a:ea typeface="JetBrains Mono" pitchFamily="49" charset="-122"/>
                <a:cs typeface="JetBrains Mono" pitchFamily="49" charset="-120"/>
              </a:rPr>
              <a:t>07:34</a:t>
            </a:r>
            <a:endParaRPr lang="en-US" sz="1600" dirty="0"/>
          </a:p>
        </p:txBody>
      </p:sp>
      <p:sp>
        <p:nvSpPr>
          <p:cNvPr id="14" name="Text 8"/>
          <p:cNvSpPr/>
          <p:nvPr/>
        </p:nvSpPr>
        <p:spPr>
          <a:xfrm>
            <a:off x="8890000" y="2560290"/>
            <a:ext cx="2563876" cy="505420"/>
          </a:xfrm>
          <a:prstGeom prst="rect">
            <a:avLst/>
          </a:prstGeom>
          <a:noFill/>
          <a:ln/>
        </p:spPr>
        <p:txBody>
          <a:bodyPr wrap="square" lIns="0" tIns="0" rIns="0" bIns="0" rtlCol="0" anchor="t">
            <a:normAutofit/>
          </a:bodyPr>
          <a:lstStyle/>
          <a:p>
            <a:pPr algn="l" indent="0" marL="0">
              <a:lnSpc>
                <a:spcPts val="1890"/>
              </a:lnSpc>
              <a:buNone/>
            </a:pPr>
            <a:r>
              <a:rPr lang="en-US" sz="1400" dirty="0">
                <a:solidFill>
                  <a:srgbClr val="4A5568"/>
                </a:solidFill>
                <a:latin typeface="IBM Plex Sans" pitchFamily="34" charset="0"/>
                <a:ea typeface="IBM Plex Sans" pitchFamily="34" charset="-122"/>
                <a:cs typeface="IBM Plex Sans" pitchFamily="34" charset="-120"/>
              </a:rPr>
              <a:t>Stopped. Full run moves to a Colab GPU</a:t>
            </a:r>
            <a:endParaRPr lang="en-US" sz="1400" dirty="0"/>
          </a:p>
        </p:txBody>
      </p:sp>
      <p:pic>
        <p:nvPicPr>
          <p:cNvPr id="15" name="Image 4" descr="line">    </p:cNvPr>
          <p:cNvPicPr>
            <a:picLocks noChangeAspect="1"/>
          </p:cNvPicPr>
          <p:nvPr/>
        </p:nvPicPr>
        <p:blipFill>
          <a:blip r:embed="rId5"/>
          <a:srcRect l="0" r="0" t="0" b="0"/>
          <a:stretch/>
        </p:blipFill>
        <p:spPr>
          <a:xfrm>
            <a:off x="812800" y="1717030"/>
            <a:ext cx="10566400" cy="50800"/>
          </a:xfrm>
          <a:prstGeom prst="rect">
            <a:avLst/>
          </a:prstGeom>
        </p:spPr>
      </p:pic>
      <p:sp>
        <p:nvSpPr>
          <p:cNvPr id="16" name="Text 9"/>
          <p:cNvSpPr/>
          <p:nvPr/>
        </p:nvSpPr>
        <p:spPr>
          <a:xfrm>
            <a:off x="819150" y="3642271"/>
            <a:ext cx="3373934" cy="1165771"/>
          </a:xfrm>
          <a:prstGeom prst="roundRect">
            <a:avLst>
              <a:gd name="adj" fmla="val 10349"/>
            </a:avLst>
          </a:prstGeom>
          <a:solidFill>
            <a:srgbClr val="FDFCF9"/>
          </a:solidFill>
          <a:ln w="12700">
            <a:solidFill>
              <a:srgbClr val="E2DED3"/>
            </a:solidFill>
            <a:prstDash val="solid"/>
          </a:ln>
        </p:spPr>
        <p:txBody>
          <a:bodyPr wrap="square" lIns="174213" tIns="174213" rIns="85568" bIns="148813" rtlCol="0" anchor="t">
            <a:normAutofit/>
          </a:bodyPr>
          <a:lstStyle/>
          <a:p>
            <a:pPr algn="l" indent="0" marL="0">
              <a:lnSpc>
                <a:spcPts val="1960"/>
              </a:lnSpc>
              <a:buNone/>
            </a:pPr>
            <a:r>
              <a:rPr lang="en-US" sz="1400" b="1" dirty="0">
                <a:solidFill>
                  <a:srgbClr val="16202E"/>
                </a:solidFill>
                <a:latin typeface="IBM Plex Sans" pitchFamily="34" charset="0"/>
                <a:ea typeface="IBM Plex Sans" pitchFamily="34" charset="-122"/>
                <a:cs typeface="IBM Plex Sans" pitchFamily="34" charset="-120"/>
              </a:rPr>
              <a:t>No bf16 on M1.</a:t>
            </a:r>
            <a:r>
              <a:rPr lang="en-US" sz="1400" dirty="0">
                <a:solidFill>
                  <a:srgbClr val="16202E"/>
                </a:solidFill>
                <a:latin typeface="IBM Plex Sans" pitchFamily="34" charset="0"/>
                <a:ea typeface="IBM Plex Sans" pitchFamily="34" charset="-122"/>
                <a:cs typeface="IBM Plex Sans" pitchFamily="34" charset="-120"/>
              </a:rPr>
              <a:t> fp32 doubles memory and compute compared with a bf16 GPU.</a:t>
            </a:r>
            <a:endParaRPr lang="en-US" sz="1400" dirty="0"/>
          </a:p>
        </p:txBody>
      </p:sp>
      <p:sp>
        <p:nvSpPr>
          <p:cNvPr id="17" name="Text 10"/>
          <p:cNvSpPr/>
          <p:nvPr/>
        </p:nvSpPr>
        <p:spPr>
          <a:xfrm>
            <a:off x="4408984" y="3642271"/>
            <a:ext cx="3373983" cy="1165771"/>
          </a:xfrm>
          <a:prstGeom prst="roundRect">
            <a:avLst>
              <a:gd name="adj" fmla="val 10349"/>
            </a:avLst>
          </a:prstGeom>
          <a:solidFill>
            <a:srgbClr val="FDFCF9"/>
          </a:solidFill>
          <a:ln w="12700">
            <a:solidFill>
              <a:srgbClr val="E2DED3"/>
            </a:solidFill>
            <a:prstDash val="solid"/>
          </a:ln>
        </p:spPr>
        <p:txBody>
          <a:bodyPr wrap="square" lIns="174213" tIns="174213" rIns="85566" bIns="174213" rtlCol="0" anchor="t">
            <a:normAutofit/>
          </a:bodyPr>
          <a:lstStyle/>
          <a:p>
            <a:pPr algn="l" indent="0" marL="0">
              <a:lnSpc>
                <a:spcPts val="1960"/>
              </a:lnSpc>
              <a:buNone/>
            </a:pPr>
            <a:r>
              <a:rPr lang="en-US" sz="1400" b="1" dirty="0">
                <a:solidFill>
                  <a:srgbClr val="16202E"/>
                </a:solidFill>
                <a:latin typeface="IBM Plex Sans" pitchFamily="34" charset="0"/>
                <a:ea typeface="IBM Plex Sans" pitchFamily="34" charset="-122"/>
                <a:cs typeface="IBM Plex Sans" pitchFamily="34" charset="-120"/>
              </a:rPr>
              <a:t>Ran on battery.</a:t>
            </a:r>
            <a:r>
              <a:rPr lang="en-US" sz="1400" dirty="0">
                <a:solidFill>
                  <a:srgbClr val="16202E"/>
                </a:solidFill>
                <a:latin typeface="IBM Plex Sans" pitchFamily="34" charset="0"/>
                <a:ea typeface="IBM Plex Sans" pitchFamily="34" charset="-122"/>
                <a:cs typeface="IBM Plex Sans" pitchFamily="34" charset="-120"/>
              </a:rPr>
              <a:t> macOS throttled the job, then hibernated it.</a:t>
            </a:r>
            <a:endParaRPr lang="en-US" sz="1400" dirty="0"/>
          </a:p>
        </p:txBody>
      </p:sp>
      <p:sp>
        <p:nvSpPr>
          <p:cNvPr id="18" name="Text 11"/>
          <p:cNvSpPr/>
          <p:nvPr/>
        </p:nvSpPr>
        <p:spPr>
          <a:xfrm>
            <a:off x="7998867" y="3642271"/>
            <a:ext cx="3373983" cy="1165771"/>
          </a:xfrm>
          <a:prstGeom prst="roundRect">
            <a:avLst>
              <a:gd name="adj" fmla="val 10349"/>
            </a:avLst>
          </a:prstGeom>
          <a:solidFill>
            <a:srgbClr val="FDFCF9"/>
          </a:solidFill>
          <a:ln w="12700">
            <a:solidFill>
              <a:srgbClr val="E2DED3"/>
            </a:solidFill>
            <a:prstDash val="solid"/>
          </a:ln>
        </p:spPr>
        <p:txBody>
          <a:bodyPr wrap="square" lIns="174213" tIns="174213" rIns="85566" bIns="174213" rtlCol="0" anchor="t">
            <a:normAutofit/>
          </a:bodyPr>
          <a:lstStyle/>
          <a:p>
            <a:pPr algn="l" indent="0" marL="0">
              <a:lnSpc>
                <a:spcPts val="1960"/>
              </a:lnSpc>
              <a:buNone/>
            </a:pPr>
            <a:r>
              <a:rPr lang="en-US" sz="1400" b="1" dirty="0">
                <a:solidFill>
                  <a:srgbClr val="16202E"/>
                </a:solidFill>
                <a:latin typeface="IBM Plex Sans" pitchFamily="34" charset="0"/>
                <a:ea typeface="IBM Plex Sans" pitchFamily="34" charset="-122"/>
                <a:cs typeface="IBM Plex Sans" pitchFamily="34" charset="-120"/>
              </a:rPr>
              <a:t>Memory pressure.</a:t>
            </a:r>
            <a:r>
              <a:rPr lang="en-US" sz="1400" dirty="0">
                <a:solidFill>
                  <a:srgbClr val="16202E"/>
                </a:solidFill>
                <a:latin typeface="IBM Plex Sans" pitchFamily="34" charset="0"/>
                <a:ea typeface="IBM Plex Sans" pitchFamily="34" charset="-122"/>
                <a:cs typeface="IBM Plex Sans" pitchFamily="34" charset="-120"/>
              </a:rPr>
              <a:t> 15.8 of 17 GB swap in use slowed every step.</a:t>
            </a:r>
            <a:endParaRPr lang="en-US" sz="1400" dirty="0"/>
          </a:p>
        </p:txBody>
      </p:sp>
      <p:sp>
        <p:nvSpPr>
          <p:cNvPr id="19" name="Text 12"/>
          <p:cNvSpPr/>
          <p:nvPr/>
        </p:nvSpPr>
        <p:spPr>
          <a:xfrm>
            <a:off x="812800" y="6238280"/>
            <a:ext cx="10883392" cy="238720"/>
          </a:xfrm>
          <a:prstGeom prst="rect">
            <a:avLst/>
          </a:prstGeom>
          <a:noFill/>
          <a:ln/>
        </p:spPr>
        <p:txBody>
          <a:bodyPr wrap="square" lIns="0" tIns="0" rIns="0" bIns="0" rtlCol="0" anchor="t">
            <a:normAutofit/>
          </a:bodyPr>
          <a:lstStyle/>
          <a:p>
            <a:pPr algn="l" indent="0" marL="0">
              <a:lnSpc>
                <a:spcPts val="1680"/>
              </a:lnSpc>
              <a:buNone/>
            </a:pPr>
            <a:r>
              <a:rPr lang="en-US" sz="1200" dirty="0">
                <a:solidFill>
                  <a:srgbClr val="6A7280"/>
                </a:solidFill>
                <a:latin typeface="IBM Plex Sans" pitchFamily="34" charset="0"/>
                <a:ea typeface="IBM Plex Sans" pitchFamily="34" charset="-122"/>
                <a:cs typeface="IBM Plex Sans" pitchFamily="34" charset="-120"/>
              </a:rPr>
              <a:t>Times are local (PDT), 21 Oct 2026, from the training log and macOS power log</a:t>
            </a:r>
            <a:endParaRPr lang="en-US" sz="12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6F5F0"/>
        </a:solidFill>
      </p:bgPr>
    </p:bg>
    <p:spTree>
      <p:nvGrpSpPr>
        <p:cNvPr id="1" name=""/>
        <p:cNvGrpSpPr/>
        <p:nvPr/>
      </p:nvGrpSpPr>
      <p:grpSpPr>
        <a:xfrm>
          <a:off x="0" y="0"/>
          <a:ext cx="0" cy="0"/>
          <a:chOff x="0" y="0"/>
          <a:chExt cx="0" cy="0"/>
        </a:xfrm>
      </p:grpSpPr>
      <p:sp>
        <p:nvSpPr>
          <p:cNvPr id="2" name="Text 0"/>
          <p:cNvSpPr/>
          <p:nvPr>
            <p:ph type="title"/>
          </p:nvPr>
        </p:nvSpPr>
        <p:spPr>
          <a:xfrm>
            <a:off x="812800" y="812800"/>
            <a:ext cx="10883392" cy="472430"/>
          </a:xfrm>
          <a:prstGeom prst="rect">
            <a:avLst/>
          </a:prstGeom>
          <a:noFill/>
          <a:ln/>
        </p:spPr>
        <p:txBody>
          <a:bodyPr wrap="square" lIns="0" tIns="0" rIns="0" bIns="0" rtlCol="0" anchor="t">
            <a:normAutofit/>
          </a:bodyPr>
          <a:lstStyle/>
          <a:p>
            <a:pPr algn="l" indent="0" marL="0">
              <a:lnSpc>
                <a:spcPts val="3520"/>
              </a:lnSpc>
              <a:buNone/>
            </a:pPr>
            <a:r>
              <a:rPr lang="en-US" sz="3200" b="1" i="0" dirty="0">
                <a:solidFill>
                  <a:srgbClr val="16202E"/>
                </a:solidFill>
                <a:latin typeface="IBM Plex Sans" pitchFamily="34" charset="0"/>
                <a:ea typeface="IBM Plex Sans" pitchFamily="34" charset="-122"/>
                <a:cs typeface="IBM Plex Sans" pitchFamily="34" charset="-120"/>
              </a:rPr>
              <a:t>On a Colab A100: all 3 epochs in 3.5 minutes</a:t>
            </a:r>
            <a:endParaRPr lang="en-US" sz="3200" dirty="0"/>
          </a:p>
        </p:txBody>
      </p:sp>
      <p:sp>
        <p:nvSpPr>
          <p:cNvPr id="3" name="Shape 1"/>
          <p:cNvSpPr/>
          <p:nvPr/>
        </p:nvSpPr>
        <p:spPr>
          <a:xfrm>
            <a:off x="819150" y="1621780"/>
            <a:ext cx="3373934" cy="1931591"/>
          </a:xfrm>
          <a:prstGeom prst="roundRect">
            <a:avLst>
              <a:gd name="adj" fmla="val 6246"/>
            </a:avLst>
          </a:prstGeom>
          <a:solidFill>
            <a:srgbClr val="FDFCF9"/>
          </a:solidFill>
          <a:ln w="12700">
            <a:solidFill>
              <a:srgbClr val="E2DED3"/>
            </a:solidFill>
            <a:prstDash val="solid"/>
          </a:ln>
        </p:spPr>
      </p:sp>
      <p:sp>
        <p:nvSpPr>
          <p:cNvPr id="4" name="Text 2"/>
          <p:cNvSpPr/>
          <p:nvPr/>
        </p:nvSpPr>
        <p:spPr>
          <a:xfrm>
            <a:off x="1079500" y="1882130"/>
            <a:ext cx="2938831" cy="640060"/>
          </a:xfrm>
          <a:prstGeom prst="rect">
            <a:avLst/>
          </a:prstGeom>
          <a:noFill/>
          <a:ln/>
        </p:spPr>
        <p:txBody>
          <a:bodyPr wrap="square" lIns="0" tIns="0" rIns="0" bIns="0" rtlCol="0" anchor="t">
            <a:normAutofit/>
          </a:bodyPr>
          <a:lstStyle/>
          <a:p>
            <a:pPr algn="l" indent="0" marL="0">
              <a:lnSpc>
                <a:spcPts val="4840"/>
              </a:lnSpc>
              <a:buNone/>
            </a:pPr>
            <a:r>
              <a:rPr lang="en-US" sz="4400" b="1" dirty="0">
                <a:solidFill>
                  <a:srgbClr val="16202E"/>
                </a:solidFill>
                <a:latin typeface="IBM Plex Sans" pitchFamily="34" charset="0"/>
                <a:ea typeface="IBM Plex Sans" pitchFamily="34" charset="-122"/>
                <a:cs typeface="IBM Plex Sans" pitchFamily="34" charset="-120"/>
              </a:rPr>
              <a:t>56 min</a:t>
            </a:r>
            <a:endParaRPr lang="en-US" sz="4400" dirty="0"/>
          </a:p>
        </p:txBody>
      </p:sp>
      <p:sp>
        <p:nvSpPr>
          <p:cNvPr id="5" name="Text 3"/>
          <p:cNvSpPr/>
          <p:nvPr/>
        </p:nvSpPr>
        <p:spPr>
          <a:xfrm>
            <a:off x="1079500" y="2572990"/>
            <a:ext cx="2938831" cy="505420"/>
          </a:xfrm>
          <a:prstGeom prst="rect">
            <a:avLst/>
          </a:prstGeom>
          <a:noFill/>
          <a:ln/>
        </p:spPr>
        <p:txBody>
          <a:bodyPr wrap="square" lIns="0" tIns="0" rIns="0" bIns="0" rtlCol="0" anchor="t">
            <a:normAutofit/>
          </a:bodyPr>
          <a:lstStyle/>
          <a:p>
            <a:pPr algn="l" indent="0" marL="0">
              <a:lnSpc>
                <a:spcPts val="1890"/>
              </a:lnSpc>
              <a:buNone/>
            </a:pPr>
            <a:r>
              <a:rPr lang="en-US" sz="1400" dirty="0">
                <a:solidFill>
                  <a:srgbClr val="4A5568"/>
                </a:solidFill>
                <a:latin typeface="IBM Plex Sans" pitchFamily="34" charset="0"/>
                <a:ea typeface="IBM Plex Sans" pitchFamily="34" charset="-122"/>
                <a:cs typeface="IBM Plex Sans" pitchFamily="34" charset="-120"/>
              </a:rPr>
              <a:t>one epoch on the M1 Pro, fp32 on MPS</a:t>
            </a:r>
            <a:endParaRPr lang="en-US" sz="1400" dirty="0"/>
          </a:p>
        </p:txBody>
      </p:sp>
      <p:sp>
        <p:nvSpPr>
          <p:cNvPr id="6" name="Shape 4"/>
          <p:cNvSpPr/>
          <p:nvPr/>
        </p:nvSpPr>
        <p:spPr>
          <a:xfrm>
            <a:off x="4408984" y="1621780"/>
            <a:ext cx="3373983" cy="1931591"/>
          </a:xfrm>
          <a:prstGeom prst="roundRect">
            <a:avLst>
              <a:gd name="adj" fmla="val 6246"/>
            </a:avLst>
          </a:prstGeom>
          <a:solidFill>
            <a:srgbClr val="FDFCF9"/>
          </a:solidFill>
          <a:ln w="12700">
            <a:solidFill>
              <a:srgbClr val="D9622B"/>
            </a:solidFill>
            <a:prstDash val="solid"/>
          </a:ln>
        </p:spPr>
      </p:sp>
      <p:sp>
        <p:nvSpPr>
          <p:cNvPr id="7" name="Text 5"/>
          <p:cNvSpPr/>
          <p:nvPr/>
        </p:nvSpPr>
        <p:spPr>
          <a:xfrm>
            <a:off x="4669334" y="1882130"/>
            <a:ext cx="2938882" cy="640060"/>
          </a:xfrm>
          <a:prstGeom prst="rect">
            <a:avLst/>
          </a:prstGeom>
          <a:noFill/>
          <a:ln/>
        </p:spPr>
        <p:txBody>
          <a:bodyPr wrap="square" lIns="0" tIns="0" rIns="0" bIns="0" rtlCol="0" anchor="t">
            <a:normAutofit/>
          </a:bodyPr>
          <a:lstStyle/>
          <a:p>
            <a:pPr algn="l" indent="0" marL="0">
              <a:lnSpc>
                <a:spcPts val="4840"/>
              </a:lnSpc>
              <a:buNone/>
            </a:pPr>
            <a:r>
              <a:rPr lang="en-US" sz="4400" b="1" dirty="0">
                <a:solidFill>
                  <a:srgbClr val="B4481A"/>
                </a:solidFill>
                <a:latin typeface="IBM Plex Sans" pitchFamily="34" charset="0"/>
                <a:ea typeface="IBM Plex Sans" pitchFamily="34" charset="-122"/>
                <a:cs typeface="IBM Plex Sans" pitchFamily="34" charset="-120"/>
              </a:rPr>
              <a:t>71 s</a:t>
            </a:r>
            <a:endParaRPr lang="en-US" sz="4400" dirty="0"/>
          </a:p>
        </p:txBody>
      </p:sp>
      <p:sp>
        <p:nvSpPr>
          <p:cNvPr id="8" name="Text 6"/>
          <p:cNvSpPr/>
          <p:nvPr/>
        </p:nvSpPr>
        <p:spPr>
          <a:xfrm>
            <a:off x="4669334" y="2572990"/>
            <a:ext cx="2938882" cy="745430"/>
          </a:xfrm>
          <a:prstGeom prst="rect">
            <a:avLst/>
          </a:prstGeom>
          <a:noFill/>
          <a:ln/>
        </p:spPr>
        <p:txBody>
          <a:bodyPr wrap="square" lIns="0" tIns="0" rIns="0" bIns="0" rtlCol="0" anchor="t">
            <a:normAutofit/>
          </a:bodyPr>
          <a:lstStyle/>
          <a:p>
            <a:pPr algn="l" indent="0" marL="0">
              <a:lnSpc>
                <a:spcPts val="1890"/>
              </a:lnSpc>
              <a:buNone/>
            </a:pPr>
            <a:r>
              <a:rPr lang="en-US" sz="1400" dirty="0">
                <a:solidFill>
                  <a:srgbClr val="4A5568"/>
                </a:solidFill>
                <a:latin typeface="IBM Plex Sans" pitchFamily="34" charset="0"/>
                <a:ea typeface="IBM Plex Sans" pitchFamily="34" charset="-122"/>
                <a:cs typeface="IBM Plex Sans" pitchFamily="34" charset="-120"/>
              </a:rPr>
              <a:t>one epoch on an A100‑SXM4‑40GB, bf16, validation included</a:t>
            </a:r>
            <a:endParaRPr lang="en-US" sz="1400" dirty="0"/>
          </a:p>
        </p:txBody>
      </p:sp>
      <p:sp>
        <p:nvSpPr>
          <p:cNvPr id="9" name="Shape 7"/>
          <p:cNvSpPr/>
          <p:nvPr/>
        </p:nvSpPr>
        <p:spPr>
          <a:xfrm>
            <a:off x="7998867" y="1621780"/>
            <a:ext cx="3373983" cy="1931591"/>
          </a:xfrm>
          <a:prstGeom prst="roundRect">
            <a:avLst>
              <a:gd name="adj" fmla="val 6246"/>
            </a:avLst>
          </a:prstGeom>
          <a:solidFill>
            <a:srgbClr val="FDFCF9"/>
          </a:solidFill>
          <a:ln w="12700">
            <a:solidFill>
              <a:srgbClr val="E2DED3"/>
            </a:solidFill>
            <a:prstDash val="solid"/>
          </a:ln>
        </p:spPr>
      </p:sp>
      <p:sp>
        <p:nvSpPr>
          <p:cNvPr id="10" name="Text 8"/>
          <p:cNvSpPr/>
          <p:nvPr/>
        </p:nvSpPr>
        <p:spPr>
          <a:xfrm>
            <a:off x="8259217" y="1882130"/>
            <a:ext cx="2938882" cy="640060"/>
          </a:xfrm>
          <a:prstGeom prst="rect">
            <a:avLst/>
          </a:prstGeom>
          <a:noFill/>
          <a:ln/>
        </p:spPr>
        <p:txBody>
          <a:bodyPr wrap="square" lIns="0" tIns="0" rIns="0" bIns="0" rtlCol="0" anchor="t">
            <a:normAutofit/>
          </a:bodyPr>
          <a:lstStyle/>
          <a:p>
            <a:pPr algn="l" indent="0" marL="0">
              <a:lnSpc>
                <a:spcPts val="4840"/>
              </a:lnSpc>
              <a:buNone/>
            </a:pPr>
            <a:r>
              <a:rPr lang="en-US" sz="4400" b="1" dirty="0">
                <a:solidFill>
                  <a:srgbClr val="16202E"/>
                </a:solidFill>
                <a:latin typeface="IBM Plex Sans" pitchFamily="34" charset="0"/>
                <a:ea typeface="IBM Plex Sans" pitchFamily="34" charset="-122"/>
                <a:cs typeface="IBM Plex Sans" pitchFamily="34" charset="-120"/>
              </a:rPr>
              <a:t>≈47×</a:t>
            </a:r>
            <a:endParaRPr lang="en-US" sz="4400" dirty="0"/>
          </a:p>
        </p:txBody>
      </p:sp>
      <p:sp>
        <p:nvSpPr>
          <p:cNvPr id="11" name="Text 9"/>
          <p:cNvSpPr/>
          <p:nvPr/>
        </p:nvSpPr>
        <p:spPr>
          <a:xfrm>
            <a:off x="8259217" y="2572990"/>
            <a:ext cx="2938882" cy="505420"/>
          </a:xfrm>
          <a:prstGeom prst="rect">
            <a:avLst/>
          </a:prstGeom>
          <a:noFill/>
          <a:ln/>
        </p:spPr>
        <p:txBody>
          <a:bodyPr wrap="square" lIns="0" tIns="0" rIns="0" bIns="0" rtlCol="0" anchor="t">
            <a:normAutofit/>
          </a:bodyPr>
          <a:lstStyle/>
          <a:p>
            <a:pPr algn="l" indent="0" marL="0">
              <a:lnSpc>
                <a:spcPts val="1890"/>
              </a:lnSpc>
              <a:buNone/>
            </a:pPr>
            <a:r>
              <a:rPr lang="en-US" sz="1400" dirty="0">
                <a:solidFill>
                  <a:srgbClr val="4A5568"/>
                </a:solidFill>
                <a:latin typeface="IBM Plex Sans" pitchFamily="34" charset="0"/>
                <a:ea typeface="IBM Plex Sans" pitchFamily="34" charset="-122"/>
                <a:cs typeface="IBM Plex Sans" pitchFamily="34" charset="-120"/>
              </a:rPr>
              <a:t>faster per epoch, same code and data</a:t>
            </a:r>
            <a:endParaRPr lang="en-US" sz="1400" dirty="0"/>
          </a:p>
        </p:txBody>
      </p:sp>
      <p:graphicFrame>
        <p:nvGraphicFramePr>
          <p:cNvPr id="12" name="Table 0"/>
          <p:cNvGraphicFramePr>
            <a:graphicFrameLocks noGrp="1"/>
          </p:cNvGraphicFramePr>
          <p:nvPr>
            <p:extLst>
              <p:ext uri="{D42A27DB-BD31-4B8C-83A1-F6EECF244321}">
                <p14:modId xmlns:p14="http://schemas.microsoft.com/office/powerpoint/2010/main" val="1579011935"/>
              </p:ext>
            </p:extLst>
          </p:nvPr>
        </p:nvGraphicFramePr>
        <p:xfrm>
          <a:off x="825500" y="3928021"/>
          <a:ext cx="10553700" cy="1158032"/>
        </p:xfrm>
        <a:graphic>
          <a:graphicData uri="http://schemas.openxmlformats.org/drawingml/2006/table">
            <a:tbl>
              <a:tblPr/>
              <a:tblGrid>
                <a:gridCol w="4221480"/>
                <a:gridCol w="2110740"/>
                <a:gridCol w="4221480"/>
              </a:tblGrid>
              <a:tr h="386011">
                <a:tc>
                  <a:txBody>
                    <a:bodyPr/>
                    <a:lstStyle/>
                    <a:p>
                      <a:pPr indent="0" marL="0">
                        <a:lnSpc>
                          <a:spcPts val="1960"/>
                        </a:lnSpc>
                        <a:buNone/>
                      </a:pPr>
                      <a:r>
                        <a:rPr lang="en-US" sz="1400" b="1" dirty="0">
                          <a:solidFill>
                            <a:srgbClr val="16202E"/>
                          </a:solidFill>
                          <a:latin typeface="IBM Plex Sans" pitchFamily="34" charset="0"/>
                          <a:ea typeface="IBM Plex Sans" pitchFamily="34" charset="-122"/>
                          <a:cs typeface="IBM Plex Sans" pitchFamily="34" charset="-120"/>
                        </a:rPr>
                        <a:t>Colab stage</a:t>
                      </a:r>
                      <a:endParaRPr lang="en-US" sz="1400" dirty="0">
                        <a:latin typeface="IBM Plex Sans" charset="0"/>
                        <a:ea typeface="IBM Plex Sans" charset="0"/>
                        <a:cs typeface="IBM Plex Sans" charset="0"/>
                      </a:endParaRPr>
                    </a:p>
                  </a:txBody>
                  <a:tcPr marL="62230" marR="62230" marT="62230" marB="62230" anchor="t">
                    <a:lnL w="12700" cap="flat" cmpd="sng" algn="ctr">
                      <a:solidFill>
                        <a:srgbClr val="C4C4BF"/>
                      </a:solidFill>
                      <a:prstDash val="solid"/>
                      <a:round/>
                      <a:headEnd type="none" w="med" len="med"/>
                      <a:tailEnd type="none" w="med" len="med"/>
                    </a:lnL>
                    <a:lnR w="12700" cap="flat" cmpd="sng" algn="ctr">
                      <a:solidFill>
                        <a:srgbClr val="B6B5B1"/>
                      </a:solidFill>
                      <a:prstDash val="solid"/>
                      <a:round/>
                      <a:headEnd type="none" w="med" len="med"/>
                      <a:tailEnd type="none" w="med" len="med"/>
                    </a:lnR>
                    <a:lnT w="12700" cap="flat" cmpd="sng" algn="ctr">
                      <a:solidFill>
                        <a:srgbClr val="C4C4BF"/>
                      </a:solidFill>
                      <a:prstDash val="solid"/>
                      <a:round/>
                      <a:headEnd type="none" w="med" len="med"/>
                      <a:tailEnd type="none" w="med" len="med"/>
                    </a:lnT>
                    <a:lnB w="12700" cap="flat" cmpd="sng" algn="ctr">
                      <a:solidFill>
                        <a:srgbClr val="B6B5B1"/>
                      </a:solidFill>
                      <a:prstDash val="solid"/>
                      <a:round/>
                      <a:headEnd type="none" w="med" len="med"/>
                      <a:tailEnd type="none" w="med" len="med"/>
                    </a:lnB>
                    <a:solidFill>
                      <a:srgbClr val="E4E3DE"/>
                    </a:solidFill>
                  </a:tcPr>
                </a:tc>
                <a:tc>
                  <a:txBody>
                    <a:bodyPr/>
                    <a:lstStyle/>
                    <a:p>
                      <a:pPr algn="r" indent="0" marL="0">
                        <a:lnSpc>
                          <a:spcPts val="1960"/>
                        </a:lnSpc>
                        <a:buNone/>
                      </a:pPr>
                      <a:r>
                        <a:rPr lang="en-US" sz="1400" b="1" dirty="0">
                          <a:solidFill>
                            <a:srgbClr val="16202E"/>
                          </a:solidFill>
                          <a:latin typeface="IBM Plex Sans" pitchFamily="34" charset="0"/>
                          <a:ea typeface="IBM Plex Sans" pitchFamily="34" charset="-122"/>
                          <a:cs typeface="IBM Plex Sans" pitchFamily="34" charset="-120"/>
                        </a:rPr>
                        <a:t>Time</a:t>
                      </a:r>
                      <a:endParaRPr lang="en-US" sz="1400" dirty="0">
                        <a:latin typeface="IBM Plex Sans" charset="0"/>
                        <a:ea typeface="IBM Plex Sans" charset="0"/>
                        <a:cs typeface="IBM Plex Sans" charset="0"/>
                      </a:endParaRPr>
                    </a:p>
                  </a:txBody>
                  <a:tcPr marL="62230" marR="62230" marT="62230" marB="62230" anchor="t">
                    <a:lnL w="12700" cap="flat" cmpd="sng" algn="ctr">
                      <a:solidFill>
                        <a:srgbClr val="B6B5B1"/>
                      </a:solidFill>
                      <a:prstDash val="solid"/>
                      <a:round/>
                      <a:headEnd type="none" w="med" len="med"/>
                      <a:tailEnd type="none" w="med" len="med"/>
                    </a:lnL>
                    <a:lnR w="12700" cap="flat" cmpd="sng" algn="ctr">
                      <a:solidFill>
                        <a:srgbClr val="B6B5B1"/>
                      </a:solidFill>
                      <a:prstDash val="solid"/>
                      <a:round/>
                      <a:headEnd type="none" w="med" len="med"/>
                      <a:tailEnd type="none" w="med" len="med"/>
                    </a:lnR>
                    <a:lnT w="12700" cap="flat" cmpd="sng" algn="ctr">
                      <a:solidFill>
                        <a:srgbClr val="C4C4BF"/>
                      </a:solidFill>
                      <a:prstDash val="solid"/>
                      <a:round/>
                      <a:headEnd type="none" w="med" len="med"/>
                      <a:tailEnd type="none" w="med" len="med"/>
                    </a:lnT>
                    <a:lnB w="12700" cap="flat" cmpd="sng" algn="ctr">
                      <a:solidFill>
                        <a:srgbClr val="B6B5B1"/>
                      </a:solidFill>
                      <a:prstDash val="solid"/>
                      <a:round/>
                      <a:headEnd type="none" w="med" len="med"/>
                      <a:tailEnd type="none" w="med" len="med"/>
                    </a:lnB>
                    <a:solidFill>
                      <a:srgbClr val="E4E3DE"/>
                    </a:solidFill>
                  </a:tcPr>
                </a:tc>
                <a:tc>
                  <a:txBody>
                    <a:bodyPr/>
                    <a:lstStyle/>
                    <a:p>
                      <a:pPr indent="0" marL="0">
                        <a:lnSpc>
                          <a:spcPts val="1960"/>
                        </a:lnSpc>
                        <a:buNone/>
                      </a:pPr>
                      <a:r>
                        <a:rPr lang="en-US" sz="1400" b="1" dirty="0">
                          <a:solidFill>
                            <a:srgbClr val="16202E"/>
                          </a:solidFill>
                          <a:latin typeface="IBM Plex Sans" pitchFamily="34" charset="0"/>
                          <a:ea typeface="IBM Plex Sans" pitchFamily="34" charset="-122"/>
                          <a:cs typeface="IBM Plex Sans" pitchFamily="34" charset="-120"/>
                        </a:rPr>
                        <a:t>Output</a:t>
                      </a:r>
                      <a:endParaRPr lang="en-US" sz="1400" dirty="0">
                        <a:latin typeface="IBM Plex Sans" charset="0"/>
                        <a:ea typeface="IBM Plex Sans" charset="0"/>
                        <a:cs typeface="IBM Plex Sans" charset="0"/>
                      </a:endParaRPr>
                    </a:p>
                  </a:txBody>
                  <a:tcPr marL="62230" marR="62230" marT="62230" marB="62230" anchor="t">
                    <a:lnL w="12700" cap="flat" cmpd="sng" algn="ctr">
                      <a:solidFill>
                        <a:srgbClr val="B6B5B1"/>
                      </a:solidFill>
                      <a:prstDash val="solid"/>
                      <a:round/>
                      <a:headEnd type="none" w="med" len="med"/>
                      <a:tailEnd type="none" w="med" len="med"/>
                    </a:lnL>
                    <a:lnR w="12700" cap="flat" cmpd="sng" algn="ctr">
                      <a:solidFill>
                        <a:srgbClr val="B6B5B1"/>
                      </a:solidFill>
                      <a:prstDash val="solid"/>
                      <a:round/>
                      <a:headEnd type="none" w="med" len="med"/>
                      <a:tailEnd type="none" w="med" len="med"/>
                    </a:lnR>
                    <a:lnT w="12700" cap="flat" cmpd="sng" algn="ctr">
                      <a:solidFill>
                        <a:srgbClr val="C4C4BF"/>
                      </a:solidFill>
                      <a:prstDash val="solid"/>
                      <a:round/>
                      <a:headEnd type="none" w="med" len="med"/>
                      <a:tailEnd type="none" w="med" len="med"/>
                    </a:lnT>
                    <a:lnB w="12700" cap="flat" cmpd="sng" algn="ctr">
                      <a:solidFill>
                        <a:srgbClr val="B6B5B1"/>
                      </a:solidFill>
                      <a:prstDash val="solid"/>
                      <a:round/>
                      <a:headEnd type="none" w="med" len="med"/>
                      <a:tailEnd type="none" w="med" len="med"/>
                    </a:lnB>
                    <a:solidFill>
                      <a:srgbClr val="E4E3DE"/>
                    </a:solidFill>
                  </a:tcPr>
                </a:tc>
              </a:tr>
              <a:tr h="386011">
                <a:tc>
                  <a:txBody>
                    <a:bodyPr/>
                    <a:lstStyle/>
                    <a:p>
                      <a:pPr indent="0" marL="0">
                        <a:lnSpc>
                          <a:spcPts val="1960"/>
                        </a:lnSpc>
                        <a:buNone/>
                      </a:pPr>
                      <a:r>
                        <a:rPr lang="en-US" sz="1400" dirty="0">
                          <a:solidFill>
                            <a:srgbClr val="16202E"/>
                          </a:solidFill>
                          <a:latin typeface="IBM Plex Sans" pitchFamily="34" charset="0"/>
                          <a:ea typeface="IBM Plex Sans" pitchFamily="34" charset="-122"/>
                          <a:cs typeface="IBM Plex Sans" pitchFamily="34" charset="-120"/>
                        </a:rPr>
                        <a:t>Training: 60 steps, 7 validation passes</a:t>
                      </a:r>
                      <a:endParaRPr lang="en-US" sz="1400" dirty="0">
                        <a:latin typeface="IBM Plex Sans" charset="0"/>
                        <a:ea typeface="IBM Plex Sans" charset="0"/>
                        <a:cs typeface="IBM Plex Sans" charset="0"/>
                      </a:endParaRPr>
                    </a:p>
                  </a:txBody>
                  <a:tcPr marL="62230" marR="62230" marT="62230" marB="62230" anchor="t">
                    <a:lnL w="12700" cap="flat" cmpd="sng" algn="ctr">
                      <a:solidFill>
                        <a:srgbClr val="C4C4BF"/>
                      </a:solidFill>
                      <a:prstDash val="solid"/>
                      <a:round/>
                      <a:headEnd type="none" w="med" len="med"/>
                      <a:tailEnd type="none" w="med" len="med"/>
                    </a:lnL>
                    <a:lnR w="12700" cap="flat" cmpd="sng" algn="ctr">
                      <a:solidFill>
                        <a:srgbClr val="C4C4BF"/>
                      </a:solidFill>
                      <a:prstDash val="solid"/>
                      <a:round/>
                      <a:headEnd type="none" w="med" len="med"/>
                      <a:tailEnd type="none" w="med" len="med"/>
                    </a:lnR>
                    <a:lnT w="12700" cap="flat" cmpd="sng" algn="ctr">
                      <a:solidFill>
                        <a:srgbClr val="B6B5B1"/>
                      </a:solidFill>
                      <a:prstDash val="solid"/>
                      <a:round/>
                      <a:headEnd type="none" w="med" len="med"/>
                      <a:tailEnd type="none" w="med" len="med"/>
                    </a:lnT>
                    <a:lnB w="12700" cap="flat" cmpd="sng" algn="ctr">
                      <a:solidFill>
                        <a:srgbClr val="C4C4BF"/>
                      </a:solidFill>
                      <a:prstDash val="solid"/>
                      <a:round/>
                      <a:headEnd type="none" w="med" len="med"/>
                      <a:tailEnd type="none" w="med" len="med"/>
                    </a:lnB>
                  </a:tcPr>
                </a:tc>
                <a:tc>
                  <a:txBody>
                    <a:bodyPr/>
                    <a:lstStyle/>
                    <a:p>
                      <a:pPr algn="r" indent="0" marL="0">
                        <a:lnSpc>
                          <a:spcPts val="1960"/>
                        </a:lnSpc>
                        <a:buNone/>
                      </a:pPr>
                      <a:r>
                        <a:rPr lang="en-US" sz="1400" dirty="0">
                          <a:solidFill>
                            <a:srgbClr val="16202E"/>
                          </a:solidFill>
                          <a:latin typeface="IBM Plex Sans" pitchFamily="34" charset="0"/>
                          <a:ea typeface="IBM Plex Sans" pitchFamily="34" charset="-122"/>
                          <a:cs typeface="IBM Plex Sans" pitchFamily="34" charset="-120"/>
                        </a:rPr>
                        <a:t>3.5 min</a:t>
                      </a:r>
                      <a:endParaRPr lang="en-US" sz="1400" dirty="0">
                        <a:latin typeface="IBM Plex Sans" charset="0"/>
                        <a:ea typeface="IBM Plex Sans" charset="0"/>
                        <a:cs typeface="IBM Plex Sans" charset="0"/>
                      </a:endParaRPr>
                    </a:p>
                  </a:txBody>
                  <a:tcPr marL="62230" marR="62230" marT="62230" marB="62230" anchor="t">
                    <a:lnL w="12700" cap="flat" cmpd="sng" algn="ctr">
                      <a:solidFill>
                        <a:srgbClr val="C4C4BF"/>
                      </a:solidFill>
                      <a:prstDash val="solid"/>
                      <a:round/>
                      <a:headEnd type="none" w="med" len="med"/>
                      <a:tailEnd type="none" w="med" len="med"/>
                    </a:lnL>
                    <a:lnR w="12700" cap="flat" cmpd="sng" algn="ctr">
                      <a:solidFill>
                        <a:srgbClr val="C4C4BF"/>
                      </a:solidFill>
                      <a:prstDash val="solid"/>
                      <a:round/>
                      <a:headEnd type="none" w="med" len="med"/>
                      <a:tailEnd type="none" w="med" len="med"/>
                    </a:lnR>
                    <a:lnT w="12700" cap="flat" cmpd="sng" algn="ctr">
                      <a:solidFill>
                        <a:srgbClr val="B6B5B1"/>
                      </a:solidFill>
                      <a:prstDash val="solid"/>
                      <a:round/>
                      <a:headEnd type="none" w="med" len="med"/>
                      <a:tailEnd type="none" w="med" len="med"/>
                    </a:lnT>
                    <a:lnB w="12700" cap="flat" cmpd="sng" algn="ctr">
                      <a:solidFill>
                        <a:srgbClr val="C4C4BF"/>
                      </a:solidFill>
                      <a:prstDash val="solid"/>
                      <a:round/>
                      <a:headEnd type="none" w="med" len="med"/>
                      <a:tailEnd type="none" w="med" len="med"/>
                    </a:lnB>
                  </a:tcPr>
                </a:tc>
                <a:tc>
                  <a:txBody>
                    <a:bodyPr/>
                    <a:lstStyle/>
                    <a:p>
                      <a:pPr indent="0" marL="0">
                        <a:lnSpc>
                          <a:spcPts val="1960"/>
                        </a:lnSpc>
                        <a:buNone/>
                      </a:pPr>
                      <a:r>
                        <a:rPr lang="en-US" sz="1400" dirty="0">
                          <a:solidFill>
                            <a:srgbClr val="16202E"/>
                          </a:solidFill>
                          <a:latin typeface="IBM Plex Sans" pitchFamily="34" charset="0"/>
                          <a:ea typeface="IBM Plex Sans" pitchFamily="34" charset="-122"/>
                          <a:cs typeface="IBM Plex Sans" pitchFamily="34" charset="-120"/>
                        </a:rPr>
                        <a:t>train_log.jsonl, best adapter</a:t>
                      </a:r>
                      <a:endParaRPr lang="en-US" sz="1400" dirty="0">
                        <a:latin typeface="IBM Plex Sans" charset="0"/>
                        <a:ea typeface="IBM Plex Sans" charset="0"/>
                        <a:cs typeface="IBM Plex Sans" charset="0"/>
                      </a:endParaRPr>
                    </a:p>
                  </a:txBody>
                  <a:tcPr marL="62230" marR="62230" marT="62230" marB="62230" anchor="t">
                    <a:lnL w="12700" cap="flat" cmpd="sng" algn="ctr">
                      <a:solidFill>
                        <a:srgbClr val="C4C4BF"/>
                      </a:solidFill>
                      <a:prstDash val="solid"/>
                      <a:round/>
                      <a:headEnd type="none" w="med" len="med"/>
                      <a:tailEnd type="none" w="med" len="med"/>
                    </a:lnL>
                    <a:lnR w="12700" cap="flat" cmpd="sng" algn="ctr">
                      <a:solidFill>
                        <a:srgbClr val="C4C4BF"/>
                      </a:solidFill>
                      <a:prstDash val="solid"/>
                      <a:round/>
                      <a:headEnd type="none" w="med" len="med"/>
                      <a:tailEnd type="none" w="med" len="med"/>
                    </a:lnR>
                    <a:lnT w="12700" cap="flat" cmpd="sng" algn="ctr">
                      <a:solidFill>
                        <a:srgbClr val="B6B5B1"/>
                      </a:solidFill>
                      <a:prstDash val="solid"/>
                      <a:round/>
                      <a:headEnd type="none" w="med" len="med"/>
                      <a:tailEnd type="none" w="med" len="med"/>
                    </a:lnT>
                    <a:lnB w="12700" cap="flat" cmpd="sng" algn="ctr">
                      <a:solidFill>
                        <a:srgbClr val="C4C4BF"/>
                      </a:solidFill>
                      <a:prstDash val="solid"/>
                      <a:round/>
                      <a:headEnd type="none" w="med" len="med"/>
                      <a:tailEnd type="none" w="med" len="med"/>
                    </a:lnB>
                  </a:tcPr>
                </a:tc>
              </a:tr>
              <a:tr h="386011">
                <a:tc>
                  <a:txBody>
                    <a:bodyPr/>
                    <a:lstStyle/>
                    <a:p>
                      <a:pPr indent="0" marL="0">
                        <a:lnSpc>
                          <a:spcPts val="1960"/>
                        </a:lnSpc>
                        <a:buNone/>
                      </a:pPr>
                      <a:r>
                        <a:rPr lang="en-US" sz="1400" dirty="0">
                          <a:solidFill>
                            <a:srgbClr val="16202E"/>
                          </a:solidFill>
                          <a:latin typeface="IBM Plex Sans" pitchFamily="34" charset="0"/>
                          <a:ea typeface="IBM Plex Sans" pitchFamily="34" charset="-122"/>
                          <a:cs typeface="IBM Plex Sans" pitchFamily="34" charset="-120"/>
                        </a:rPr>
                        <a:t>Eval: 82 examples × 2 models</a:t>
                      </a:r>
                      <a:endParaRPr lang="en-US" sz="1400" dirty="0">
                        <a:latin typeface="IBM Plex Sans" charset="0"/>
                        <a:ea typeface="IBM Plex Sans" charset="0"/>
                        <a:cs typeface="IBM Plex Sans" charset="0"/>
                      </a:endParaRPr>
                    </a:p>
                  </a:txBody>
                  <a:tcPr marL="62230" marR="62230" marT="62230" marB="62230" anchor="t">
                    <a:lnL w="12700" cap="flat" cmpd="sng" algn="ctr">
                      <a:solidFill>
                        <a:srgbClr val="C4C4BF"/>
                      </a:solidFill>
                      <a:prstDash val="solid"/>
                      <a:round/>
                      <a:headEnd type="none" w="med" len="med"/>
                      <a:tailEnd type="none" w="med" len="med"/>
                    </a:lnL>
                    <a:lnR w="12700" cap="flat" cmpd="sng" algn="ctr">
                      <a:solidFill>
                        <a:srgbClr val="BFBCB5"/>
                      </a:solidFill>
                      <a:prstDash val="solid"/>
                      <a:round/>
                      <a:headEnd type="none" w="med" len="med"/>
                      <a:tailEnd type="none" w="med" len="med"/>
                    </a:lnR>
                    <a:lnT w="12700" cap="flat" cmpd="sng" algn="ctr">
                      <a:solidFill>
                        <a:srgbClr val="C4C4BF"/>
                      </a:solidFill>
                      <a:prstDash val="solid"/>
                      <a:round/>
                      <a:headEnd type="none" w="med" len="med"/>
                      <a:tailEnd type="none" w="med" len="med"/>
                    </a:lnT>
                    <a:lnB w="12700" cap="flat" cmpd="sng" algn="ctr">
                      <a:solidFill>
                        <a:srgbClr val="BFBCB5"/>
                      </a:solidFill>
                      <a:prstDash val="solid"/>
                      <a:round/>
                      <a:headEnd type="none" w="med" len="med"/>
                      <a:tailEnd type="none" w="med" len="med"/>
                    </a:lnB>
                    <a:solidFill>
                      <a:srgbClr val="EFECE3"/>
                    </a:solidFill>
                  </a:tcPr>
                </a:tc>
                <a:tc>
                  <a:txBody>
                    <a:bodyPr/>
                    <a:lstStyle/>
                    <a:p>
                      <a:pPr algn="r" indent="0" marL="0">
                        <a:lnSpc>
                          <a:spcPts val="1960"/>
                        </a:lnSpc>
                        <a:buNone/>
                      </a:pPr>
                      <a:r>
                        <a:rPr lang="en-US" sz="1400" dirty="0">
                          <a:solidFill>
                            <a:srgbClr val="16202E"/>
                          </a:solidFill>
                          <a:latin typeface="IBM Plex Sans" pitchFamily="34" charset="0"/>
                          <a:ea typeface="IBM Plex Sans" pitchFamily="34" charset="-122"/>
                          <a:cs typeface="IBM Plex Sans" pitchFamily="34" charset="-120"/>
                        </a:rPr>
                        <a:t>≈23 min</a:t>
                      </a:r>
                      <a:endParaRPr lang="en-US" sz="1400" dirty="0">
                        <a:latin typeface="IBM Plex Sans" charset="0"/>
                        <a:ea typeface="IBM Plex Sans" charset="0"/>
                        <a:cs typeface="IBM Plex Sans" charset="0"/>
                      </a:endParaRPr>
                    </a:p>
                  </a:txBody>
                  <a:tcPr marL="62230" marR="62230" marT="62230" marB="62230" anchor="t">
                    <a:lnL w="12700" cap="flat" cmpd="sng" algn="ctr">
                      <a:solidFill>
                        <a:srgbClr val="BFBCB5"/>
                      </a:solidFill>
                      <a:prstDash val="solid"/>
                      <a:round/>
                      <a:headEnd type="none" w="med" len="med"/>
                      <a:tailEnd type="none" w="med" len="med"/>
                    </a:lnL>
                    <a:lnR w="12700" cap="flat" cmpd="sng" algn="ctr">
                      <a:solidFill>
                        <a:srgbClr val="BFBCB5"/>
                      </a:solidFill>
                      <a:prstDash val="solid"/>
                      <a:round/>
                      <a:headEnd type="none" w="med" len="med"/>
                      <a:tailEnd type="none" w="med" len="med"/>
                    </a:lnR>
                    <a:lnT w="12700" cap="flat" cmpd="sng" algn="ctr">
                      <a:solidFill>
                        <a:srgbClr val="C4C4BF"/>
                      </a:solidFill>
                      <a:prstDash val="solid"/>
                      <a:round/>
                      <a:headEnd type="none" w="med" len="med"/>
                      <a:tailEnd type="none" w="med" len="med"/>
                    </a:lnT>
                    <a:lnB w="12700" cap="flat" cmpd="sng" algn="ctr">
                      <a:solidFill>
                        <a:srgbClr val="BFBCB5"/>
                      </a:solidFill>
                      <a:prstDash val="solid"/>
                      <a:round/>
                      <a:headEnd type="none" w="med" len="med"/>
                      <a:tailEnd type="none" w="med" len="med"/>
                    </a:lnB>
                    <a:solidFill>
                      <a:srgbClr val="EFECE3"/>
                    </a:solidFill>
                  </a:tcPr>
                </a:tc>
                <a:tc>
                  <a:txBody>
                    <a:bodyPr/>
                    <a:lstStyle/>
                    <a:p>
                      <a:pPr indent="0" marL="0">
                        <a:lnSpc>
                          <a:spcPts val="1960"/>
                        </a:lnSpc>
                        <a:buNone/>
                      </a:pPr>
                      <a:r>
                        <a:rPr lang="en-US" sz="1400" dirty="0">
                          <a:solidFill>
                            <a:srgbClr val="16202E"/>
                          </a:solidFill>
                          <a:latin typeface="IBM Plex Sans" pitchFamily="34" charset="0"/>
                          <a:ea typeface="IBM Plex Sans" pitchFamily="34" charset="-122"/>
                          <a:cs typeface="IBM Plex Sans" pitchFamily="34" charset="-120"/>
                        </a:rPr>
                        <a:t>generator_comparison.json</a:t>
                      </a:r>
                      <a:endParaRPr lang="en-US" sz="1400" dirty="0">
                        <a:latin typeface="IBM Plex Sans" charset="0"/>
                        <a:ea typeface="IBM Plex Sans" charset="0"/>
                        <a:cs typeface="IBM Plex Sans" charset="0"/>
                      </a:endParaRPr>
                    </a:p>
                  </a:txBody>
                  <a:tcPr marL="62230" marR="62230" marT="62230" marB="62230" anchor="t">
                    <a:lnL w="12700" cap="flat" cmpd="sng" algn="ctr">
                      <a:solidFill>
                        <a:srgbClr val="BFBCB5"/>
                      </a:solidFill>
                      <a:prstDash val="solid"/>
                      <a:round/>
                      <a:headEnd type="none" w="med" len="med"/>
                      <a:tailEnd type="none" w="med" len="med"/>
                    </a:lnL>
                    <a:lnR w="12700" cap="flat" cmpd="sng" algn="ctr">
                      <a:solidFill>
                        <a:srgbClr val="BFBCB5"/>
                      </a:solidFill>
                      <a:prstDash val="solid"/>
                      <a:round/>
                      <a:headEnd type="none" w="med" len="med"/>
                      <a:tailEnd type="none" w="med" len="med"/>
                    </a:lnR>
                    <a:lnT w="12700" cap="flat" cmpd="sng" algn="ctr">
                      <a:solidFill>
                        <a:srgbClr val="C4C4BF"/>
                      </a:solidFill>
                      <a:prstDash val="solid"/>
                      <a:round/>
                      <a:headEnd type="none" w="med" len="med"/>
                      <a:tailEnd type="none" w="med" len="med"/>
                    </a:lnT>
                    <a:lnB w="12700" cap="flat" cmpd="sng" algn="ctr">
                      <a:solidFill>
                        <a:srgbClr val="BFBCB5"/>
                      </a:solidFill>
                      <a:prstDash val="solid"/>
                      <a:round/>
                      <a:headEnd type="none" w="med" len="med"/>
                      <a:tailEnd type="none" w="med" len="med"/>
                    </a:lnB>
                    <a:solidFill>
                      <a:srgbClr val="EFECE3"/>
                    </a:solidFill>
                  </a:tcPr>
                </a:tc>
              </a:tr>
            </a:tbl>
          </a:graphicData>
        </a:graphic>
      </p:graphicFrame>
      <p:sp>
        <p:nvSpPr>
          <p:cNvPr id="13" name="Text 10"/>
          <p:cNvSpPr/>
          <p:nvPr/>
        </p:nvSpPr>
        <p:spPr>
          <a:xfrm>
            <a:off x="812800" y="6238280"/>
            <a:ext cx="10883392" cy="238720"/>
          </a:xfrm>
          <a:prstGeom prst="rect">
            <a:avLst/>
          </a:prstGeom>
          <a:noFill/>
          <a:ln/>
        </p:spPr>
        <p:txBody>
          <a:bodyPr wrap="square" lIns="0" tIns="0" rIns="0" bIns="0" rtlCol="0" anchor="t">
            <a:normAutofit/>
          </a:bodyPr>
          <a:lstStyle/>
          <a:p>
            <a:pPr algn="l" indent="0" marL="0">
              <a:lnSpc>
                <a:spcPts val="1680"/>
              </a:lnSpc>
              <a:buNone/>
            </a:pPr>
            <a:r>
              <a:rPr lang="en-US" sz="1200" dirty="0">
                <a:solidFill>
                  <a:srgbClr val="6A7280"/>
                </a:solidFill>
                <a:latin typeface="IBM Plex Sans" pitchFamily="34" charset="0"/>
                <a:ea typeface="IBM Plex Sans" pitchFamily="34" charset="-122"/>
                <a:cs typeface="IBM Plex Sans" pitchFamily="34" charset="-120"/>
              </a:rPr>
              <a:t>Training time from train_log.jsonl (elapsed_s = 212); eval time from result file timestamps</a:t>
            </a:r>
            <a:endParaRPr lang="en-US" sz="120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6F5F0"/>
        </a:solidFill>
      </p:bgPr>
    </p:bg>
    <p:spTree>
      <p:nvGrpSpPr>
        <p:cNvPr id="1" name=""/>
        <p:cNvGrpSpPr/>
        <p:nvPr/>
      </p:nvGrpSpPr>
      <p:grpSpPr>
        <a:xfrm>
          <a:off x="0" y="0"/>
          <a:ext cx="0" cy="0"/>
          <a:chOff x="0" y="0"/>
          <a:chExt cx="0" cy="0"/>
        </a:xfrm>
      </p:grpSpPr>
      <p:sp>
        <p:nvSpPr>
          <p:cNvPr id="2" name="Text 0"/>
          <p:cNvSpPr/>
          <p:nvPr>
            <p:ph type="title"/>
          </p:nvPr>
        </p:nvSpPr>
        <p:spPr>
          <a:xfrm>
            <a:off x="812800" y="812800"/>
            <a:ext cx="10883392" cy="919460"/>
          </a:xfrm>
          <a:prstGeom prst="rect">
            <a:avLst/>
          </a:prstGeom>
          <a:noFill/>
          <a:ln/>
        </p:spPr>
        <p:txBody>
          <a:bodyPr wrap="square" lIns="0" tIns="0" rIns="0" bIns="0" rtlCol="0" anchor="t">
            <a:normAutofit/>
          </a:bodyPr>
          <a:lstStyle/>
          <a:p>
            <a:pPr algn="l" indent="0" marL="0">
              <a:lnSpc>
                <a:spcPts val="3520"/>
              </a:lnSpc>
              <a:buNone/>
            </a:pPr>
            <a:r>
              <a:rPr lang="en-US" sz="3200" b="1" i="0" dirty="0">
                <a:solidFill>
                  <a:srgbClr val="16202E"/>
                </a:solidFill>
                <a:latin typeface="IBM Plex Sans" pitchFamily="34" charset="0"/>
                <a:ea typeface="IBM Plex Sans" pitchFamily="34" charset="-122"/>
                <a:cs typeface="IBM Plex Sans" pitchFamily="34" charset="-120"/>
              </a:rPr>
              <a:t>Validation loss bottoms out after one epoch, then climbs</a:t>
            </a:r>
            <a:endParaRPr lang="en-US" sz="3200" dirty="0"/>
          </a:p>
        </p:txBody>
      </p:sp>
      <p:sp>
        <p:nvSpPr>
          <p:cNvPr id="3" name="Shape 1"/>
          <p:cNvSpPr/>
          <p:nvPr/>
        </p:nvSpPr>
        <p:spPr>
          <a:xfrm>
            <a:off x="812800" y="5253434"/>
            <a:ext cx="6096000" cy="0"/>
          </a:xfrm>
          <a:prstGeom prst="line">
            <a:avLst/>
          </a:prstGeom>
          <a:noFill/>
          <a:ln w="19050">
            <a:solidFill>
              <a:srgbClr val="C9C3B5"/>
            </a:solidFill>
            <a:prstDash val="solid"/>
          </a:ln>
        </p:spPr>
      </p:sp>
      <p:sp>
        <p:nvSpPr>
          <p:cNvPr id="4" name="Text 2"/>
          <p:cNvSpPr/>
          <p:nvPr/>
        </p:nvSpPr>
        <p:spPr>
          <a:xfrm>
            <a:off x="1300480" y="1785739"/>
            <a:ext cx="548640" cy="238720"/>
          </a:xfrm>
          <a:prstGeom prst="rect">
            <a:avLst/>
          </a:prstGeom>
          <a:noFill/>
          <a:ln/>
        </p:spPr>
        <p:txBody>
          <a:bodyPr wrap="square" lIns="0" tIns="0" rIns="0" bIns="0" rtlCol="0" anchor="t">
            <a:normAutofit/>
          </a:bodyPr>
          <a:lstStyle/>
          <a:p>
            <a:pPr algn="ctr" indent="0" marL="0">
              <a:lnSpc>
                <a:spcPts val="1680"/>
              </a:lnSpc>
              <a:buNone/>
            </a:pPr>
            <a:r>
              <a:rPr lang="en-US" sz="1200" dirty="0">
                <a:solidFill>
                  <a:srgbClr val="16202E"/>
                </a:solidFill>
                <a:latin typeface="JetBrains Mono" pitchFamily="49" charset="0"/>
                <a:ea typeface="JetBrains Mono" pitchFamily="49" charset="-122"/>
                <a:cs typeface="JetBrains Mono" pitchFamily="49" charset="-120"/>
              </a:rPr>
              <a:t>0.627</a:t>
            </a:r>
            <a:endParaRPr lang="en-US" sz="1200" dirty="0"/>
          </a:p>
        </p:txBody>
      </p:sp>
      <p:sp>
        <p:nvSpPr>
          <p:cNvPr id="5" name="Shape 3"/>
          <p:cNvSpPr/>
          <p:nvPr/>
        </p:nvSpPr>
        <p:spPr>
          <a:xfrm>
            <a:off x="1270000" y="2062559"/>
            <a:ext cx="609600" cy="3181350"/>
          </a:xfrm>
          <a:custGeom>
            <a:avLst/>
            <a:gdLst/>
            <a:ahLst/>
            <a:cxnLst/>
            <a:rect l="l" t="t" r="r" b="b"/>
            <a:pathLst>
              <a:path w="609600" h="3181350">
                <a:moveTo>
                  <a:pt x="50800" y="0"/>
                </a:moveTo>
                <a:lnTo>
                  <a:pt x="558800" y="0"/>
                </a:lnTo>
                <a:arcTo hR="50800" wR="50800" stAng="16200000" swAng="5400000"/>
                <a:lnTo>
                  <a:pt x="609600" y="3181350"/>
                </a:lnTo>
                <a:lnTo>
                  <a:pt x="0" y="3181350"/>
                </a:lnTo>
                <a:lnTo>
                  <a:pt x="0" y="50800"/>
                </a:lnTo>
                <a:arcTo hR="50800" wR="50800" stAng="10800000" swAng="5400000"/>
                <a:close/>
              </a:path>
            </a:pathLst>
          </a:custGeom>
          <a:solidFill>
            <a:srgbClr val="C9C3B5"/>
          </a:solidFill>
          <a:ln/>
        </p:spPr>
      </p:sp>
      <p:sp>
        <p:nvSpPr>
          <p:cNvPr id="6" name="Text 4"/>
          <p:cNvSpPr/>
          <p:nvPr/>
        </p:nvSpPr>
        <p:spPr>
          <a:xfrm>
            <a:off x="2062480" y="2249289"/>
            <a:ext cx="548640" cy="238720"/>
          </a:xfrm>
          <a:prstGeom prst="rect">
            <a:avLst/>
          </a:prstGeom>
          <a:noFill/>
          <a:ln/>
        </p:spPr>
        <p:txBody>
          <a:bodyPr wrap="square" lIns="0" tIns="0" rIns="0" bIns="0" rtlCol="0" anchor="t">
            <a:normAutofit/>
          </a:bodyPr>
          <a:lstStyle/>
          <a:p>
            <a:pPr algn="ctr" indent="0" marL="0">
              <a:lnSpc>
                <a:spcPts val="1680"/>
              </a:lnSpc>
              <a:buNone/>
            </a:pPr>
            <a:r>
              <a:rPr lang="en-US" sz="1200" dirty="0">
                <a:solidFill>
                  <a:srgbClr val="16202E"/>
                </a:solidFill>
                <a:latin typeface="JetBrains Mono" pitchFamily="49" charset="0"/>
                <a:ea typeface="JetBrains Mono" pitchFamily="49" charset="-122"/>
                <a:cs typeface="JetBrains Mono" pitchFamily="49" charset="-120"/>
              </a:rPr>
              <a:t>0.535</a:t>
            </a:r>
            <a:endParaRPr lang="en-US" sz="1200" dirty="0"/>
          </a:p>
        </p:txBody>
      </p:sp>
      <p:sp>
        <p:nvSpPr>
          <p:cNvPr id="7" name="Shape 5"/>
          <p:cNvSpPr/>
          <p:nvPr/>
        </p:nvSpPr>
        <p:spPr>
          <a:xfrm>
            <a:off x="2032000" y="2526109"/>
            <a:ext cx="609600" cy="2717800"/>
          </a:xfrm>
          <a:custGeom>
            <a:avLst/>
            <a:gdLst/>
            <a:ahLst/>
            <a:cxnLst/>
            <a:rect l="l" t="t" r="r" b="b"/>
            <a:pathLst>
              <a:path w="609600" h="2717800">
                <a:moveTo>
                  <a:pt x="50800" y="0"/>
                </a:moveTo>
                <a:lnTo>
                  <a:pt x="558800" y="0"/>
                </a:lnTo>
                <a:arcTo hR="50800" wR="50800" stAng="16200000" swAng="5400000"/>
                <a:lnTo>
                  <a:pt x="609600" y="2717800"/>
                </a:lnTo>
                <a:lnTo>
                  <a:pt x="0" y="2717800"/>
                </a:lnTo>
                <a:lnTo>
                  <a:pt x="0" y="50800"/>
                </a:lnTo>
                <a:arcTo hR="50800" wR="50800" stAng="10800000" swAng="5400000"/>
                <a:close/>
              </a:path>
            </a:pathLst>
          </a:custGeom>
          <a:solidFill>
            <a:srgbClr val="C9C3B5"/>
          </a:solidFill>
          <a:ln/>
        </p:spPr>
      </p:sp>
      <p:sp>
        <p:nvSpPr>
          <p:cNvPr id="8" name="Text 6"/>
          <p:cNvSpPr/>
          <p:nvPr/>
        </p:nvSpPr>
        <p:spPr>
          <a:xfrm>
            <a:off x="2824480" y="2338189"/>
            <a:ext cx="548640" cy="238720"/>
          </a:xfrm>
          <a:prstGeom prst="rect">
            <a:avLst/>
          </a:prstGeom>
          <a:noFill/>
          <a:ln/>
        </p:spPr>
        <p:txBody>
          <a:bodyPr wrap="square" lIns="0" tIns="0" rIns="0" bIns="0" rtlCol="0" anchor="t">
            <a:normAutofit/>
          </a:bodyPr>
          <a:lstStyle/>
          <a:p>
            <a:pPr algn="ctr" indent="0" marL="0">
              <a:lnSpc>
                <a:spcPts val="1680"/>
              </a:lnSpc>
              <a:buNone/>
            </a:pPr>
            <a:r>
              <a:rPr lang="en-US" sz="1200" b="1" dirty="0">
                <a:solidFill>
                  <a:srgbClr val="B4481A"/>
                </a:solidFill>
                <a:latin typeface="JetBrains Mono" pitchFamily="49" charset="0"/>
                <a:ea typeface="JetBrains Mono" pitchFamily="49" charset="-122"/>
                <a:cs typeface="JetBrains Mono" pitchFamily="49" charset="-120"/>
              </a:rPr>
              <a:t>0.517</a:t>
            </a:r>
            <a:endParaRPr lang="en-US" sz="1200" dirty="0"/>
          </a:p>
        </p:txBody>
      </p:sp>
      <p:sp>
        <p:nvSpPr>
          <p:cNvPr id="9" name="Shape 7"/>
          <p:cNvSpPr/>
          <p:nvPr/>
        </p:nvSpPr>
        <p:spPr>
          <a:xfrm>
            <a:off x="2794000" y="2615009"/>
            <a:ext cx="609600" cy="2628900"/>
          </a:xfrm>
          <a:custGeom>
            <a:avLst/>
            <a:gdLst/>
            <a:ahLst/>
            <a:cxnLst/>
            <a:rect l="l" t="t" r="r" b="b"/>
            <a:pathLst>
              <a:path w="609600" h="2628900">
                <a:moveTo>
                  <a:pt x="50800" y="0"/>
                </a:moveTo>
                <a:lnTo>
                  <a:pt x="558800" y="0"/>
                </a:lnTo>
                <a:arcTo hR="50800" wR="50800" stAng="16200000" swAng="5400000"/>
                <a:lnTo>
                  <a:pt x="609600" y="2628900"/>
                </a:lnTo>
                <a:lnTo>
                  <a:pt x="0" y="2628900"/>
                </a:lnTo>
                <a:lnTo>
                  <a:pt x="0" y="50800"/>
                </a:lnTo>
                <a:arcTo hR="50800" wR="50800" stAng="10800000" swAng="5400000"/>
                <a:close/>
              </a:path>
            </a:pathLst>
          </a:custGeom>
          <a:solidFill>
            <a:srgbClr val="D9622B"/>
          </a:solidFill>
          <a:ln/>
        </p:spPr>
      </p:sp>
      <p:sp>
        <p:nvSpPr>
          <p:cNvPr id="10" name="Text 8"/>
          <p:cNvSpPr/>
          <p:nvPr/>
        </p:nvSpPr>
        <p:spPr>
          <a:xfrm>
            <a:off x="3586480" y="2217539"/>
            <a:ext cx="548640" cy="238720"/>
          </a:xfrm>
          <a:prstGeom prst="rect">
            <a:avLst/>
          </a:prstGeom>
          <a:noFill/>
          <a:ln/>
        </p:spPr>
        <p:txBody>
          <a:bodyPr wrap="square" lIns="0" tIns="0" rIns="0" bIns="0" rtlCol="0" anchor="t">
            <a:normAutofit/>
          </a:bodyPr>
          <a:lstStyle/>
          <a:p>
            <a:pPr algn="ctr" indent="0" marL="0">
              <a:lnSpc>
                <a:spcPts val="1680"/>
              </a:lnSpc>
              <a:buNone/>
            </a:pPr>
            <a:r>
              <a:rPr lang="en-US" sz="1200" dirty="0">
                <a:solidFill>
                  <a:srgbClr val="16202E"/>
                </a:solidFill>
                <a:latin typeface="JetBrains Mono" pitchFamily="49" charset="0"/>
                <a:ea typeface="JetBrains Mono" pitchFamily="49" charset="-122"/>
                <a:cs typeface="JetBrains Mono" pitchFamily="49" charset="-120"/>
              </a:rPr>
              <a:t>0.541</a:t>
            </a:r>
            <a:endParaRPr lang="en-US" sz="1200" dirty="0"/>
          </a:p>
        </p:txBody>
      </p:sp>
      <p:sp>
        <p:nvSpPr>
          <p:cNvPr id="11" name="Shape 9"/>
          <p:cNvSpPr/>
          <p:nvPr/>
        </p:nvSpPr>
        <p:spPr>
          <a:xfrm>
            <a:off x="3556000" y="2494359"/>
            <a:ext cx="609600" cy="2749550"/>
          </a:xfrm>
          <a:custGeom>
            <a:avLst/>
            <a:gdLst/>
            <a:ahLst/>
            <a:cxnLst/>
            <a:rect l="l" t="t" r="r" b="b"/>
            <a:pathLst>
              <a:path w="609600" h="2749550">
                <a:moveTo>
                  <a:pt x="50800" y="0"/>
                </a:moveTo>
                <a:lnTo>
                  <a:pt x="558800" y="0"/>
                </a:lnTo>
                <a:arcTo hR="50800" wR="50800" stAng="16200000" swAng="5400000"/>
                <a:lnTo>
                  <a:pt x="609600" y="2749550"/>
                </a:lnTo>
                <a:lnTo>
                  <a:pt x="0" y="2749550"/>
                </a:lnTo>
                <a:lnTo>
                  <a:pt x="0" y="50800"/>
                </a:lnTo>
                <a:arcTo hR="50800" wR="50800" stAng="10800000" swAng="5400000"/>
                <a:close/>
              </a:path>
            </a:pathLst>
          </a:custGeom>
          <a:solidFill>
            <a:srgbClr val="C9C3B5"/>
          </a:solidFill>
          <a:ln/>
        </p:spPr>
      </p:sp>
      <p:sp>
        <p:nvSpPr>
          <p:cNvPr id="12" name="Text 10"/>
          <p:cNvSpPr/>
          <p:nvPr/>
        </p:nvSpPr>
        <p:spPr>
          <a:xfrm>
            <a:off x="4348480" y="2039739"/>
            <a:ext cx="548640" cy="238720"/>
          </a:xfrm>
          <a:prstGeom prst="rect">
            <a:avLst/>
          </a:prstGeom>
          <a:noFill/>
          <a:ln/>
        </p:spPr>
        <p:txBody>
          <a:bodyPr wrap="square" lIns="0" tIns="0" rIns="0" bIns="0" rtlCol="0" anchor="t">
            <a:normAutofit/>
          </a:bodyPr>
          <a:lstStyle/>
          <a:p>
            <a:pPr algn="ctr" indent="0" marL="0">
              <a:lnSpc>
                <a:spcPts val="1680"/>
              </a:lnSpc>
              <a:buNone/>
            </a:pPr>
            <a:r>
              <a:rPr lang="en-US" sz="1200" dirty="0">
                <a:solidFill>
                  <a:srgbClr val="16202E"/>
                </a:solidFill>
                <a:latin typeface="JetBrains Mono" pitchFamily="49" charset="0"/>
                <a:ea typeface="JetBrains Mono" pitchFamily="49" charset="-122"/>
                <a:cs typeface="JetBrains Mono" pitchFamily="49" charset="-120"/>
              </a:rPr>
              <a:t>0.576</a:t>
            </a:r>
            <a:endParaRPr lang="en-US" sz="1200" dirty="0"/>
          </a:p>
        </p:txBody>
      </p:sp>
      <p:sp>
        <p:nvSpPr>
          <p:cNvPr id="13" name="Shape 11"/>
          <p:cNvSpPr/>
          <p:nvPr/>
        </p:nvSpPr>
        <p:spPr>
          <a:xfrm>
            <a:off x="4318000" y="2316559"/>
            <a:ext cx="609600" cy="2927350"/>
          </a:xfrm>
          <a:custGeom>
            <a:avLst/>
            <a:gdLst/>
            <a:ahLst/>
            <a:cxnLst/>
            <a:rect l="l" t="t" r="r" b="b"/>
            <a:pathLst>
              <a:path w="609600" h="2927350">
                <a:moveTo>
                  <a:pt x="50800" y="0"/>
                </a:moveTo>
                <a:lnTo>
                  <a:pt x="558800" y="0"/>
                </a:lnTo>
                <a:arcTo hR="50800" wR="50800" stAng="16200000" swAng="5400000"/>
                <a:lnTo>
                  <a:pt x="609600" y="2927350"/>
                </a:lnTo>
                <a:lnTo>
                  <a:pt x="0" y="2927350"/>
                </a:lnTo>
                <a:lnTo>
                  <a:pt x="0" y="50800"/>
                </a:lnTo>
                <a:arcTo hR="50800" wR="50800" stAng="10800000" swAng="5400000"/>
                <a:close/>
              </a:path>
            </a:pathLst>
          </a:custGeom>
          <a:solidFill>
            <a:srgbClr val="C9C3B5"/>
          </a:solidFill>
          <a:ln/>
        </p:spPr>
      </p:sp>
      <p:sp>
        <p:nvSpPr>
          <p:cNvPr id="14" name="Text 12"/>
          <p:cNvSpPr/>
          <p:nvPr/>
        </p:nvSpPr>
        <p:spPr>
          <a:xfrm>
            <a:off x="5110480" y="1912739"/>
            <a:ext cx="548640" cy="238720"/>
          </a:xfrm>
          <a:prstGeom prst="rect">
            <a:avLst/>
          </a:prstGeom>
          <a:noFill/>
          <a:ln/>
        </p:spPr>
        <p:txBody>
          <a:bodyPr wrap="square" lIns="0" tIns="0" rIns="0" bIns="0" rtlCol="0" anchor="t">
            <a:normAutofit/>
          </a:bodyPr>
          <a:lstStyle/>
          <a:p>
            <a:pPr algn="ctr" indent="0" marL="0">
              <a:lnSpc>
                <a:spcPts val="1680"/>
              </a:lnSpc>
              <a:buNone/>
            </a:pPr>
            <a:r>
              <a:rPr lang="en-US" sz="1200" dirty="0">
                <a:solidFill>
                  <a:srgbClr val="16202E"/>
                </a:solidFill>
                <a:latin typeface="JetBrains Mono" pitchFamily="49" charset="0"/>
                <a:ea typeface="JetBrains Mono" pitchFamily="49" charset="-122"/>
                <a:cs typeface="JetBrains Mono" pitchFamily="49" charset="-120"/>
              </a:rPr>
              <a:t>0.601</a:t>
            </a:r>
            <a:endParaRPr lang="en-US" sz="1200" dirty="0"/>
          </a:p>
        </p:txBody>
      </p:sp>
      <p:sp>
        <p:nvSpPr>
          <p:cNvPr id="15" name="Shape 13"/>
          <p:cNvSpPr/>
          <p:nvPr/>
        </p:nvSpPr>
        <p:spPr>
          <a:xfrm>
            <a:off x="5080000" y="2189559"/>
            <a:ext cx="609600" cy="3054350"/>
          </a:xfrm>
          <a:custGeom>
            <a:avLst/>
            <a:gdLst/>
            <a:ahLst/>
            <a:cxnLst/>
            <a:rect l="l" t="t" r="r" b="b"/>
            <a:pathLst>
              <a:path w="609600" h="3054350">
                <a:moveTo>
                  <a:pt x="50800" y="0"/>
                </a:moveTo>
                <a:lnTo>
                  <a:pt x="558800" y="0"/>
                </a:lnTo>
                <a:arcTo hR="50800" wR="50800" stAng="16200000" swAng="5400000"/>
                <a:lnTo>
                  <a:pt x="609600" y="3054350"/>
                </a:lnTo>
                <a:lnTo>
                  <a:pt x="0" y="3054350"/>
                </a:lnTo>
                <a:lnTo>
                  <a:pt x="0" y="50800"/>
                </a:lnTo>
                <a:arcTo hR="50800" wR="50800" stAng="10800000" swAng="5400000"/>
                <a:close/>
              </a:path>
            </a:pathLst>
          </a:custGeom>
          <a:solidFill>
            <a:srgbClr val="C9C3B5"/>
          </a:solidFill>
          <a:ln/>
        </p:spPr>
      </p:sp>
      <p:sp>
        <p:nvSpPr>
          <p:cNvPr id="16" name="Text 14"/>
          <p:cNvSpPr/>
          <p:nvPr/>
        </p:nvSpPr>
        <p:spPr>
          <a:xfrm>
            <a:off x="5872480" y="1880989"/>
            <a:ext cx="548640" cy="238720"/>
          </a:xfrm>
          <a:prstGeom prst="rect">
            <a:avLst/>
          </a:prstGeom>
          <a:noFill/>
          <a:ln/>
        </p:spPr>
        <p:txBody>
          <a:bodyPr wrap="square" lIns="0" tIns="0" rIns="0" bIns="0" rtlCol="0" anchor="t">
            <a:normAutofit/>
          </a:bodyPr>
          <a:lstStyle/>
          <a:p>
            <a:pPr algn="ctr" indent="0" marL="0">
              <a:lnSpc>
                <a:spcPts val="1680"/>
              </a:lnSpc>
              <a:buNone/>
            </a:pPr>
            <a:r>
              <a:rPr lang="en-US" sz="1200" dirty="0">
                <a:solidFill>
                  <a:srgbClr val="16202E"/>
                </a:solidFill>
                <a:latin typeface="JetBrains Mono" pitchFamily="49" charset="0"/>
                <a:ea typeface="JetBrains Mono" pitchFamily="49" charset="-122"/>
                <a:cs typeface="JetBrains Mono" pitchFamily="49" charset="-120"/>
              </a:rPr>
              <a:t>0.607</a:t>
            </a:r>
            <a:endParaRPr lang="en-US" sz="1200" dirty="0"/>
          </a:p>
        </p:txBody>
      </p:sp>
      <p:sp>
        <p:nvSpPr>
          <p:cNvPr id="17" name="Shape 15"/>
          <p:cNvSpPr/>
          <p:nvPr/>
        </p:nvSpPr>
        <p:spPr>
          <a:xfrm>
            <a:off x="5842000" y="2157809"/>
            <a:ext cx="609600" cy="3086100"/>
          </a:xfrm>
          <a:custGeom>
            <a:avLst/>
            <a:gdLst/>
            <a:ahLst/>
            <a:cxnLst/>
            <a:rect l="l" t="t" r="r" b="b"/>
            <a:pathLst>
              <a:path w="609600" h="3086100">
                <a:moveTo>
                  <a:pt x="50800" y="0"/>
                </a:moveTo>
                <a:lnTo>
                  <a:pt x="558800" y="0"/>
                </a:lnTo>
                <a:arcTo hR="50800" wR="50800" stAng="16200000" swAng="5400000"/>
                <a:lnTo>
                  <a:pt x="609600" y="3086100"/>
                </a:lnTo>
                <a:lnTo>
                  <a:pt x="0" y="3086100"/>
                </a:lnTo>
                <a:lnTo>
                  <a:pt x="0" y="50800"/>
                </a:lnTo>
                <a:arcTo hR="50800" wR="50800" stAng="10800000" swAng="5400000"/>
                <a:close/>
              </a:path>
            </a:pathLst>
          </a:custGeom>
          <a:solidFill>
            <a:srgbClr val="C9C3B5"/>
          </a:solidFill>
          <a:ln/>
        </p:spPr>
      </p:sp>
      <p:sp>
        <p:nvSpPr>
          <p:cNvPr id="18" name="Text 16"/>
          <p:cNvSpPr/>
          <p:nvPr/>
        </p:nvSpPr>
        <p:spPr>
          <a:xfrm>
            <a:off x="1244600" y="5339159"/>
            <a:ext cx="660400" cy="238720"/>
          </a:xfrm>
          <a:prstGeom prst="rect">
            <a:avLst/>
          </a:prstGeom>
          <a:noFill/>
          <a:ln/>
        </p:spPr>
        <p:txBody>
          <a:bodyPr wrap="square" lIns="0" tIns="0" rIns="0" bIns="0" rtlCol="0" anchor="t">
            <a:normAutofit/>
          </a:bodyPr>
          <a:lstStyle/>
          <a:p>
            <a:pPr algn="ctr" indent="0" marL="0">
              <a:lnSpc>
                <a:spcPts val="1680"/>
              </a:lnSpc>
              <a:buNone/>
            </a:pPr>
            <a:r>
              <a:rPr lang="en-US" sz="1200" dirty="0">
                <a:solidFill>
                  <a:srgbClr val="4A5568"/>
                </a:solidFill>
                <a:latin typeface="IBM Plex Sans" pitchFamily="34" charset="0"/>
                <a:ea typeface="IBM Plex Sans" pitchFamily="34" charset="-122"/>
                <a:cs typeface="IBM Plex Sans" pitchFamily="34" charset="-120"/>
              </a:rPr>
              <a:t>0</a:t>
            </a:r>
            <a:endParaRPr lang="en-US" sz="1200" dirty="0"/>
          </a:p>
        </p:txBody>
      </p:sp>
      <p:sp>
        <p:nvSpPr>
          <p:cNvPr id="19" name="Text 17"/>
          <p:cNvSpPr/>
          <p:nvPr/>
        </p:nvSpPr>
        <p:spPr>
          <a:xfrm>
            <a:off x="2006600" y="5339159"/>
            <a:ext cx="660400" cy="238720"/>
          </a:xfrm>
          <a:prstGeom prst="rect">
            <a:avLst/>
          </a:prstGeom>
          <a:noFill/>
          <a:ln/>
        </p:spPr>
        <p:txBody>
          <a:bodyPr wrap="square" lIns="0" tIns="0" rIns="0" bIns="0" rtlCol="0" anchor="t">
            <a:normAutofit/>
          </a:bodyPr>
          <a:lstStyle/>
          <a:p>
            <a:pPr algn="ctr" indent="0" marL="0">
              <a:lnSpc>
                <a:spcPts val="1680"/>
              </a:lnSpc>
              <a:buNone/>
            </a:pPr>
            <a:r>
              <a:rPr lang="en-US" sz="1200" dirty="0">
                <a:solidFill>
                  <a:srgbClr val="4A5568"/>
                </a:solidFill>
                <a:latin typeface="IBM Plex Sans" pitchFamily="34" charset="0"/>
                <a:ea typeface="IBM Plex Sans" pitchFamily="34" charset="-122"/>
                <a:cs typeface="IBM Plex Sans" pitchFamily="34" charset="-120"/>
              </a:rPr>
              <a:t>0.5</a:t>
            </a:r>
            <a:endParaRPr lang="en-US" sz="1200" dirty="0"/>
          </a:p>
        </p:txBody>
      </p:sp>
      <p:sp>
        <p:nvSpPr>
          <p:cNvPr id="20" name="Text 18"/>
          <p:cNvSpPr/>
          <p:nvPr/>
        </p:nvSpPr>
        <p:spPr>
          <a:xfrm>
            <a:off x="2768600" y="5339159"/>
            <a:ext cx="660400" cy="238720"/>
          </a:xfrm>
          <a:prstGeom prst="rect">
            <a:avLst/>
          </a:prstGeom>
          <a:noFill/>
          <a:ln/>
        </p:spPr>
        <p:txBody>
          <a:bodyPr wrap="square" lIns="0" tIns="0" rIns="0" bIns="0" rtlCol="0" anchor="t">
            <a:normAutofit/>
          </a:bodyPr>
          <a:lstStyle/>
          <a:p>
            <a:pPr algn="ctr" indent="0" marL="0">
              <a:lnSpc>
                <a:spcPts val="1680"/>
              </a:lnSpc>
              <a:buNone/>
            </a:pPr>
            <a:r>
              <a:rPr lang="en-US" sz="1200" b="1" dirty="0">
                <a:solidFill>
                  <a:srgbClr val="B4481A"/>
                </a:solidFill>
                <a:latin typeface="IBM Plex Sans" pitchFamily="34" charset="0"/>
                <a:ea typeface="IBM Plex Sans" pitchFamily="34" charset="-122"/>
                <a:cs typeface="IBM Plex Sans" pitchFamily="34" charset="-120"/>
              </a:rPr>
              <a:t>1</a:t>
            </a:r>
            <a:endParaRPr lang="en-US" sz="1200" dirty="0"/>
          </a:p>
        </p:txBody>
      </p:sp>
      <p:sp>
        <p:nvSpPr>
          <p:cNvPr id="21" name="Text 19"/>
          <p:cNvSpPr/>
          <p:nvPr/>
        </p:nvSpPr>
        <p:spPr>
          <a:xfrm>
            <a:off x="3530600" y="5339159"/>
            <a:ext cx="660400" cy="238720"/>
          </a:xfrm>
          <a:prstGeom prst="rect">
            <a:avLst/>
          </a:prstGeom>
          <a:noFill/>
          <a:ln/>
        </p:spPr>
        <p:txBody>
          <a:bodyPr wrap="square" lIns="0" tIns="0" rIns="0" bIns="0" rtlCol="0" anchor="t">
            <a:normAutofit/>
          </a:bodyPr>
          <a:lstStyle/>
          <a:p>
            <a:pPr algn="ctr" indent="0" marL="0">
              <a:lnSpc>
                <a:spcPts val="1680"/>
              </a:lnSpc>
              <a:buNone/>
            </a:pPr>
            <a:r>
              <a:rPr lang="en-US" sz="1200" dirty="0">
                <a:solidFill>
                  <a:srgbClr val="4A5568"/>
                </a:solidFill>
                <a:latin typeface="IBM Plex Sans" pitchFamily="34" charset="0"/>
                <a:ea typeface="IBM Plex Sans" pitchFamily="34" charset="-122"/>
                <a:cs typeface="IBM Plex Sans" pitchFamily="34" charset="-120"/>
              </a:rPr>
              <a:t>1.5</a:t>
            </a:r>
            <a:endParaRPr lang="en-US" sz="1200" dirty="0"/>
          </a:p>
        </p:txBody>
      </p:sp>
      <p:sp>
        <p:nvSpPr>
          <p:cNvPr id="22" name="Text 20"/>
          <p:cNvSpPr/>
          <p:nvPr/>
        </p:nvSpPr>
        <p:spPr>
          <a:xfrm>
            <a:off x="4292600" y="5339159"/>
            <a:ext cx="660400" cy="238720"/>
          </a:xfrm>
          <a:prstGeom prst="rect">
            <a:avLst/>
          </a:prstGeom>
          <a:noFill/>
          <a:ln/>
        </p:spPr>
        <p:txBody>
          <a:bodyPr wrap="square" lIns="0" tIns="0" rIns="0" bIns="0" rtlCol="0" anchor="t">
            <a:normAutofit/>
          </a:bodyPr>
          <a:lstStyle/>
          <a:p>
            <a:pPr algn="ctr" indent="0" marL="0">
              <a:lnSpc>
                <a:spcPts val="1680"/>
              </a:lnSpc>
              <a:buNone/>
            </a:pPr>
            <a:r>
              <a:rPr lang="en-US" sz="1200" dirty="0">
                <a:solidFill>
                  <a:srgbClr val="4A5568"/>
                </a:solidFill>
                <a:latin typeface="IBM Plex Sans" pitchFamily="34" charset="0"/>
                <a:ea typeface="IBM Plex Sans" pitchFamily="34" charset="-122"/>
                <a:cs typeface="IBM Plex Sans" pitchFamily="34" charset="-120"/>
              </a:rPr>
              <a:t>2</a:t>
            </a:r>
            <a:endParaRPr lang="en-US" sz="1200" dirty="0"/>
          </a:p>
        </p:txBody>
      </p:sp>
      <p:sp>
        <p:nvSpPr>
          <p:cNvPr id="23" name="Text 21"/>
          <p:cNvSpPr/>
          <p:nvPr/>
        </p:nvSpPr>
        <p:spPr>
          <a:xfrm>
            <a:off x="5054600" y="5339159"/>
            <a:ext cx="660400" cy="238720"/>
          </a:xfrm>
          <a:prstGeom prst="rect">
            <a:avLst/>
          </a:prstGeom>
          <a:noFill/>
          <a:ln/>
        </p:spPr>
        <p:txBody>
          <a:bodyPr wrap="square" lIns="0" tIns="0" rIns="0" bIns="0" rtlCol="0" anchor="t">
            <a:normAutofit/>
          </a:bodyPr>
          <a:lstStyle/>
          <a:p>
            <a:pPr algn="ctr" indent="0" marL="0">
              <a:lnSpc>
                <a:spcPts val="1680"/>
              </a:lnSpc>
              <a:buNone/>
            </a:pPr>
            <a:r>
              <a:rPr lang="en-US" sz="1200" dirty="0">
                <a:solidFill>
                  <a:srgbClr val="4A5568"/>
                </a:solidFill>
                <a:latin typeface="IBM Plex Sans" pitchFamily="34" charset="0"/>
                <a:ea typeface="IBM Plex Sans" pitchFamily="34" charset="-122"/>
                <a:cs typeface="IBM Plex Sans" pitchFamily="34" charset="-120"/>
              </a:rPr>
              <a:t>2.5</a:t>
            </a:r>
            <a:endParaRPr lang="en-US" sz="1200" dirty="0"/>
          </a:p>
        </p:txBody>
      </p:sp>
      <p:sp>
        <p:nvSpPr>
          <p:cNvPr id="24" name="Text 22"/>
          <p:cNvSpPr/>
          <p:nvPr/>
        </p:nvSpPr>
        <p:spPr>
          <a:xfrm>
            <a:off x="5816600" y="5339159"/>
            <a:ext cx="660400" cy="238720"/>
          </a:xfrm>
          <a:prstGeom prst="rect">
            <a:avLst/>
          </a:prstGeom>
          <a:noFill/>
          <a:ln/>
        </p:spPr>
        <p:txBody>
          <a:bodyPr wrap="square" lIns="0" tIns="0" rIns="0" bIns="0" rtlCol="0" anchor="t">
            <a:normAutofit/>
          </a:bodyPr>
          <a:lstStyle/>
          <a:p>
            <a:pPr algn="ctr" indent="0" marL="0">
              <a:lnSpc>
                <a:spcPts val="1680"/>
              </a:lnSpc>
              <a:buNone/>
            </a:pPr>
            <a:r>
              <a:rPr lang="en-US" sz="1200" dirty="0">
                <a:solidFill>
                  <a:srgbClr val="4A5568"/>
                </a:solidFill>
                <a:latin typeface="IBM Plex Sans" pitchFamily="34" charset="0"/>
                <a:ea typeface="IBM Plex Sans" pitchFamily="34" charset="-122"/>
                <a:cs typeface="IBM Plex Sans" pitchFamily="34" charset="-120"/>
              </a:rPr>
              <a:t>3</a:t>
            </a:r>
            <a:endParaRPr lang="en-US" sz="1200" dirty="0"/>
          </a:p>
        </p:txBody>
      </p:sp>
      <p:sp>
        <p:nvSpPr>
          <p:cNvPr id="25" name="Text 23"/>
          <p:cNvSpPr/>
          <p:nvPr/>
        </p:nvSpPr>
        <p:spPr>
          <a:xfrm>
            <a:off x="721360" y="5628680"/>
            <a:ext cx="6278880" cy="238720"/>
          </a:xfrm>
          <a:prstGeom prst="rect">
            <a:avLst/>
          </a:prstGeom>
          <a:noFill/>
          <a:ln/>
        </p:spPr>
        <p:txBody>
          <a:bodyPr wrap="square" lIns="0" tIns="0" rIns="0" bIns="0" rtlCol="0" anchor="t">
            <a:normAutofit/>
          </a:bodyPr>
          <a:lstStyle/>
          <a:p>
            <a:pPr algn="ctr" indent="0" marL="0">
              <a:lnSpc>
                <a:spcPts val="1680"/>
              </a:lnSpc>
              <a:buNone/>
            </a:pPr>
            <a:r>
              <a:rPr lang="en-US" sz="1200" dirty="0">
                <a:solidFill>
                  <a:srgbClr val="4A5568"/>
                </a:solidFill>
                <a:latin typeface="IBM Plex Sans" pitchFamily="34" charset="0"/>
                <a:ea typeface="IBM Plex Sans" pitchFamily="34" charset="-122"/>
                <a:cs typeface="IBM Plex Sans" pitchFamily="34" charset="-120"/>
              </a:rPr>
              <a:t>epoch</a:t>
            </a:r>
            <a:endParaRPr lang="en-US" sz="1200" dirty="0"/>
          </a:p>
        </p:txBody>
      </p:sp>
      <p:sp>
        <p:nvSpPr>
          <p:cNvPr id="26" name="Text 24"/>
          <p:cNvSpPr/>
          <p:nvPr/>
        </p:nvSpPr>
        <p:spPr>
          <a:xfrm>
            <a:off x="7315200" y="3009900"/>
            <a:ext cx="4185920" cy="558800"/>
          </a:xfrm>
          <a:prstGeom prst="rect">
            <a:avLst/>
          </a:prstGeom>
          <a:noFill/>
          <a:ln/>
        </p:spPr>
        <p:txBody>
          <a:bodyPr wrap="square" lIns="0" tIns="0" rIns="0" bIns="0" rtlCol="0" anchor="t">
            <a:normAutofit/>
          </a:bodyPr>
          <a:lstStyle/>
          <a:p>
            <a:pPr algn="l" indent="0" marL="0">
              <a:lnSpc>
                <a:spcPts val="2100"/>
              </a:lnSpc>
              <a:buNone/>
            </a:pPr>
            <a:r>
              <a:rPr lang="en-US" sz="1500" b="1" dirty="0">
                <a:solidFill>
                  <a:srgbClr val="B4481A"/>
                </a:solidFill>
                <a:latin typeface="IBM Plex Sans" pitchFamily="34" charset="0"/>
                <a:ea typeface="IBM Plex Sans" pitchFamily="34" charset="-122"/>
                <a:cs typeface="IBM Plex Sans" pitchFamily="34" charset="-120"/>
              </a:rPr>
              <a:t>Best at epoch 1 (step 20):</a:t>
            </a:r>
            <a:r>
              <a:rPr lang="en-US" sz="1500" dirty="0">
                <a:solidFill>
                  <a:srgbClr val="4A5568"/>
                </a:solidFill>
                <a:latin typeface="IBM Plex Sans" pitchFamily="34" charset="0"/>
                <a:ea typeface="IBM Plex Sans" pitchFamily="34" charset="-122"/>
                <a:cs typeface="IBM Plex Sans" pitchFamily="34" charset="-120"/>
              </a:rPr>
              <a:t> 0.517, down 17% from 0.627 before training.</a:t>
            </a:r>
            <a:endParaRPr lang="en-US" sz="1500" dirty="0"/>
          </a:p>
        </p:txBody>
      </p:sp>
      <p:sp>
        <p:nvSpPr>
          <p:cNvPr id="27" name="Text 25"/>
          <p:cNvSpPr/>
          <p:nvPr/>
        </p:nvSpPr>
        <p:spPr>
          <a:xfrm>
            <a:off x="7315200" y="3721100"/>
            <a:ext cx="4185920" cy="825500"/>
          </a:xfrm>
          <a:prstGeom prst="rect">
            <a:avLst/>
          </a:prstGeom>
          <a:noFill/>
          <a:ln/>
        </p:spPr>
        <p:txBody>
          <a:bodyPr wrap="square" lIns="0" tIns="0" rIns="0" bIns="0" rtlCol="0" anchor="t">
            <a:normAutofit/>
          </a:bodyPr>
          <a:lstStyle/>
          <a:p>
            <a:pPr algn="l" indent="0" marL="0">
              <a:lnSpc>
                <a:spcPts val="2100"/>
              </a:lnSpc>
              <a:buNone/>
            </a:pPr>
            <a:r>
              <a:rPr lang="en-US" sz="1500" b="1" dirty="0">
                <a:solidFill>
                  <a:srgbClr val="16202E"/>
                </a:solidFill>
                <a:latin typeface="IBM Plex Sans" pitchFamily="34" charset="0"/>
                <a:ea typeface="IBM Plex Sans" pitchFamily="34" charset="-122"/>
                <a:cs typeface="IBM Plex Sans" pitchFamily="34" charset="-120"/>
              </a:rPr>
              <a:t>Epochs 2–3:</a:t>
            </a:r>
            <a:r>
              <a:rPr lang="en-US" sz="1500" dirty="0">
                <a:solidFill>
                  <a:srgbClr val="4A5568"/>
                </a:solidFill>
                <a:latin typeface="IBM Plex Sans" pitchFamily="34" charset="0"/>
                <a:ea typeface="IBM Plex Sans" pitchFamily="34" charset="-122"/>
                <a:cs typeface="IBM Plex Sans" pitchFamily="34" charset="-120"/>
              </a:rPr>
              <a:t> validation loss climbs back to 0.607 while train loss keeps falling to about 0.11.</a:t>
            </a:r>
            <a:endParaRPr lang="en-US" sz="1500" dirty="0"/>
          </a:p>
        </p:txBody>
      </p:sp>
      <p:sp>
        <p:nvSpPr>
          <p:cNvPr id="28" name="Text 26"/>
          <p:cNvSpPr/>
          <p:nvPr/>
        </p:nvSpPr>
        <p:spPr>
          <a:xfrm>
            <a:off x="7315200" y="4699000"/>
            <a:ext cx="4185920" cy="558800"/>
          </a:xfrm>
          <a:prstGeom prst="rect">
            <a:avLst/>
          </a:prstGeom>
          <a:noFill/>
          <a:ln/>
        </p:spPr>
        <p:txBody>
          <a:bodyPr wrap="square" lIns="0" tIns="0" rIns="0" bIns="0" rtlCol="0" anchor="t">
            <a:normAutofit/>
          </a:bodyPr>
          <a:lstStyle/>
          <a:p>
            <a:pPr algn="l" indent="0" marL="0">
              <a:lnSpc>
                <a:spcPts val="2100"/>
              </a:lnSpc>
              <a:buNone/>
            </a:pPr>
            <a:r>
              <a:rPr lang="en-US" sz="1500" b="1" dirty="0">
                <a:solidFill>
                  <a:srgbClr val="16202E"/>
                </a:solidFill>
                <a:latin typeface="IBM Plex Sans" pitchFamily="34" charset="0"/>
                <a:ea typeface="IBM Plex Sans" pitchFamily="34" charset="-122"/>
                <a:cs typeface="IBM Plex Sans" pitchFamily="34" charset="-120"/>
              </a:rPr>
              <a:t>Kept:</a:t>
            </a:r>
            <a:r>
              <a:rPr lang="en-US" sz="1500" dirty="0">
                <a:solidFill>
                  <a:srgbClr val="4A5568"/>
                </a:solidFill>
                <a:latin typeface="IBM Plex Sans" pitchFamily="34" charset="0"/>
                <a:ea typeface="IBM Plex Sans" pitchFamily="34" charset="-122"/>
                <a:cs typeface="IBM Plex Sans" pitchFamily="34" charset="-120"/>
              </a:rPr>
              <a:t> only the epoch‑1 adapter, so the later epochs never reach the eval.</a:t>
            </a:r>
            <a:endParaRPr lang="en-US" sz="1500" dirty="0"/>
          </a:p>
        </p:txBody>
      </p:sp>
      <p:sp>
        <p:nvSpPr>
          <p:cNvPr id="29" name="Text 27"/>
          <p:cNvSpPr/>
          <p:nvPr/>
        </p:nvSpPr>
        <p:spPr>
          <a:xfrm>
            <a:off x="812800" y="6238280"/>
            <a:ext cx="10883392" cy="238720"/>
          </a:xfrm>
          <a:prstGeom prst="rect">
            <a:avLst/>
          </a:prstGeom>
          <a:noFill/>
          <a:ln/>
        </p:spPr>
        <p:txBody>
          <a:bodyPr wrap="square" lIns="0" tIns="0" rIns="0" bIns="0" rtlCol="0" anchor="t">
            <a:normAutofit/>
          </a:bodyPr>
          <a:lstStyle/>
          <a:p>
            <a:pPr algn="l" indent="0" marL="0">
              <a:lnSpc>
                <a:spcPts val="1680"/>
              </a:lnSpc>
              <a:buNone/>
            </a:pPr>
            <a:r>
              <a:rPr lang="en-US" sz="1200" dirty="0">
                <a:solidFill>
                  <a:srgbClr val="6A7280"/>
                </a:solidFill>
                <a:latin typeface="IBM Plex Sans" pitchFamily="34" charset="0"/>
                <a:ea typeface="IBM Plex Sans" pitchFamily="34" charset="-122"/>
                <a:cs typeface="IBM Plex Sans" pitchFamily="34" charset="-120"/>
              </a:rPr>
              <a:t>Validation = 24 questions × 2 formats from guide sections never trained on · Colab A100 run · bars start at zero</a:t>
            </a:r>
            <a:endParaRPr lang="en-US" sz="120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16202E"/>
        </a:solidFill>
      </p:bgPr>
    </p:bg>
    <p:spTree>
      <p:nvGrpSpPr>
        <p:cNvPr id="1" name=""/>
        <p:cNvGrpSpPr/>
        <p:nvPr/>
      </p:nvGrpSpPr>
      <p:grpSpPr>
        <a:xfrm>
          <a:off x="0" y="0"/>
          <a:ext cx="0" cy="0"/>
          <a:chOff x="0" y="0"/>
          <a:chExt cx="0" cy="0"/>
        </a:xfrm>
      </p:grpSpPr>
      <p:sp>
        <p:nvSpPr>
          <p:cNvPr id="2" name="Text 0"/>
          <p:cNvSpPr/>
          <p:nvPr>
            <p:ph type="title"/>
          </p:nvPr>
        </p:nvSpPr>
        <p:spPr>
          <a:xfrm>
            <a:off x="812800" y="812800"/>
            <a:ext cx="10883392" cy="919460"/>
          </a:xfrm>
          <a:prstGeom prst="rect">
            <a:avLst/>
          </a:prstGeom>
          <a:noFill/>
          <a:ln/>
        </p:spPr>
        <p:txBody>
          <a:bodyPr wrap="square" lIns="0" tIns="0" rIns="0" bIns="0" rtlCol="0" anchor="t">
            <a:normAutofit/>
          </a:bodyPr>
          <a:lstStyle/>
          <a:p>
            <a:pPr algn="l" indent="0" marL="0">
              <a:lnSpc>
                <a:spcPts val="3520"/>
              </a:lnSpc>
              <a:buNone/>
            </a:pPr>
            <a:r>
              <a:rPr lang="en-US" sz="3200" b="1" i="0" dirty="0">
                <a:solidFill>
                  <a:srgbClr val="F3F1EA"/>
                </a:solidFill>
                <a:latin typeface="IBM Plex Sans" pitchFamily="34" charset="0"/>
                <a:ea typeface="IBM Plex Sans" pitchFamily="34" charset="-122"/>
                <a:cs typeface="IBM Plex Sans" pitchFamily="34" charset="-120"/>
              </a:rPr>
              <a:t>Is it overfit? Yes after epoch 1, and the kept adapter avoids it</a:t>
            </a:r>
            <a:endParaRPr lang="en-US" sz="3200" dirty="0"/>
          </a:p>
        </p:txBody>
      </p:sp>
      <p:sp>
        <p:nvSpPr>
          <p:cNvPr id="3" name="Shape 1"/>
          <p:cNvSpPr/>
          <p:nvPr/>
        </p:nvSpPr>
        <p:spPr>
          <a:xfrm>
            <a:off x="812800" y="2011660"/>
            <a:ext cx="3352800" cy="3830340"/>
          </a:xfrm>
          <a:prstGeom prst="roundRect">
            <a:avLst>
              <a:gd name="adj" fmla="val 3788"/>
            </a:avLst>
          </a:prstGeom>
          <a:solidFill>
            <a:srgbClr val="1F2B3C"/>
          </a:solidFill>
          <a:ln/>
        </p:spPr>
      </p:sp>
      <p:sp>
        <p:nvSpPr>
          <p:cNvPr id="4" name="Text 2"/>
          <p:cNvSpPr/>
          <p:nvPr/>
        </p:nvSpPr>
        <p:spPr>
          <a:xfrm>
            <a:off x="1066800" y="2265660"/>
            <a:ext cx="2930144" cy="238720"/>
          </a:xfrm>
          <a:prstGeom prst="rect">
            <a:avLst/>
          </a:prstGeom>
          <a:noFill/>
          <a:ln/>
        </p:spPr>
        <p:txBody>
          <a:bodyPr wrap="square" lIns="0" tIns="0" rIns="0" bIns="0" rtlCol="0" anchor="t">
            <a:normAutofit/>
          </a:bodyPr>
          <a:lstStyle/>
          <a:p>
            <a:pPr algn="l" indent="0" marL="0">
              <a:lnSpc>
                <a:spcPts val="1680"/>
              </a:lnSpc>
              <a:buNone/>
            </a:pPr>
            <a:r>
              <a:rPr lang="en-US" sz="1200" spc="50" kern="0" dirty="0">
                <a:solidFill>
                  <a:srgbClr val="F08A5D"/>
                </a:solidFill>
                <a:latin typeface="JetBrains Mono" pitchFamily="49" charset="0"/>
                <a:ea typeface="JetBrains Mono" pitchFamily="49" charset="-122"/>
                <a:cs typeface="JetBrains Mono" pitchFamily="49" charset="-120"/>
              </a:rPr>
              <a:t>EPOCH 3</a:t>
            </a:r>
            <a:endParaRPr lang="en-US" sz="1200" dirty="0"/>
          </a:p>
        </p:txBody>
      </p:sp>
      <p:sp>
        <p:nvSpPr>
          <p:cNvPr id="5" name="Text 3"/>
          <p:cNvSpPr/>
          <p:nvPr/>
        </p:nvSpPr>
        <p:spPr>
          <a:xfrm>
            <a:off x="1066800" y="2605980"/>
            <a:ext cx="2930144" cy="751780"/>
          </a:xfrm>
          <a:prstGeom prst="rect">
            <a:avLst/>
          </a:prstGeom>
          <a:noFill/>
          <a:ln/>
        </p:spPr>
        <p:txBody>
          <a:bodyPr wrap="square" lIns="0" tIns="0" rIns="0" bIns="0" rtlCol="0" anchor="t">
            <a:normAutofit/>
          </a:bodyPr>
          <a:lstStyle/>
          <a:p>
            <a:pPr algn="l" indent="0" marL="0">
              <a:lnSpc>
                <a:spcPts val="2860"/>
              </a:lnSpc>
              <a:buNone/>
            </a:pPr>
            <a:r>
              <a:rPr lang="en-US" sz="2200" b="1" dirty="0">
                <a:solidFill>
                  <a:srgbClr val="F3F1EA"/>
                </a:solidFill>
                <a:latin typeface="JetBrains Mono" pitchFamily="49" charset="0"/>
                <a:ea typeface="JetBrains Mono" pitchFamily="49" charset="-122"/>
                <a:cs typeface="JetBrains Mono" pitchFamily="49" charset="-120"/>
              </a:rPr>
              <a:t>train ≈0.11</a:t>
            </a:r>
            <a:endParaRPr lang="en-US" sz="2200" dirty="0"/>
          </a:p>
          <a:p>
            <a:pPr algn="l" indent="0" marL="0">
              <a:lnSpc>
                <a:spcPts val="2860"/>
              </a:lnSpc>
              <a:buNone/>
            </a:pPr>
            <a:r>
              <a:rPr lang="en-US" sz="2200" b="1" dirty="0">
                <a:solidFill>
                  <a:srgbClr val="F3F1EA"/>
                </a:solidFill>
                <a:latin typeface="JetBrains Mono" pitchFamily="49" charset="0"/>
                <a:ea typeface="JetBrains Mono" pitchFamily="49" charset="-122"/>
                <a:cs typeface="JetBrains Mono" pitchFamily="49" charset="-120"/>
              </a:rPr>
              <a:t>val   0.607</a:t>
            </a:r>
            <a:endParaRPr lang="en-US" sz="2200" dirty="0"/>
          </a:p>
        </p:txBody>
      </p:sp>
      <p:sp>
        <p:nvSpPr>
          <p:cNvPr id="6" name="Text 4"/>
          <p:cNvSpPr/>
          <p:nvPr/>
        </p:nvSpPr>
        <p:spPr>
          <a:xfrm>
            <a:off x="1066800" y="3459361"/>
            <a:ext cx="2930144" cy="1020961"/>
          </a:xfrm>
          <a:prstGeom prst="rect">
            <a:avLst/>
          </a:prstGeom>
          <a:noFill/>
          <a:ln/>
        </p:spPr>
        <p:txBody>
          <a:bodyPr wrap="square" lIns="0" tIns="0" rIns="0" bIns="0" rtlCol="0" anchor="t">
            <a:normAutofit/>
          </a:bodyPr>
          <a:lstStyle/>
          <a:p>
            <a:pPr algn="l" indent="0" marL="0">
              <a:lnSpc>
                <a:spcPts val="1960"/>
              </a:lnSpc>
              <a:buNone/>
            </a:pPr>
            <a:r>
              <a:rPr lang="en-US" sz="1400" dirty="0">
                <a:solidFill>
                  <a:srgbClr val="B9C3D1"/>
                </a:solidFill>
                <a:latin typeface="IBM Plex Sans" pitchFamily="34" charset="0"/>
                <a:ea typeface="IBM Plex Sans" pitchFamily="34" charset="-122"/>
                <a:cs typeface="IBM Plex Sans" pitchFamily="34" charset="-120"/>
              </a:rPr>
              <a:t>The gap between validation and recent training loss grows from −0.07 to +0.48: the model memorizes the 78 training answers.</a:t>
            </a:r>
            <a:endParaRPr lang="en-US" sz="1400" dirty="0"/>
          </a:p>
        </p:txBody>
      </p:sp>
      <p:sp>
        <p:nvSpPr>
          <p:cNvPr id="7" name="Shape 5"/>
          <p:cNvSpPr/>
          <p:nvPr/>
        </p:nvSpPr>
        <p:spPr>
          <a:xfrm>
            <a:off x="4419600" y="2011660"/>
            <a:ext cx="3352800" cy="3830340"/>
          </a:xfrm>
          <a:prstGeom prst="roundRect">
            <a:avLst>
              <a:gd name="adj" fmla="val 3788"/>
            </a:avLst>
          </a:prstGeom>
          <a:solidFill>
            <a:srgbClr val="1F2B3C"/>
          </a:solidFill>
          <a:ln/>
        </p:spPr>
      </p:sp>
      <p:sp>
        <p:nvSpPr>
          <p:cNvPr id="8" name="Text 6"/>
          <p:cNvSpPr/>
          <p:nvPr/>
        </p:nvSpPr>
        <p:spPr>
          <a:xfrm>
            <a:off x="4673600" y="2265660"/>
            <a:ext cx="2930144" cy="238720"/>
          </a:xfrm>
          <a:prstGeom prst="rect">
            <a:avLst/>
          </a:prstGeom>
          <a:noFill/>
          <a:ln/>
        </p:spPr>
        <p:txBody>
          <a:bodyPr wrap="square" lIns="0" tIns="0" rIns="0" bIns="0" rtlCol="0" anchor="t">
            <a:normAutofit/>
          </a:bodyPr>
          <a:lstStyle/>
          <a:p>
            <a:pPr algn="l" indent="0" marL="0">
              <a:lnSpc>
                <a:spcPts val="1680"/>
              </a:lnSpc>
              <a:buNone/>
            </a:pPr>
            <a:r>
              <a:rPr lang="en-US" sz="1200" spc="50" kern="0" dirty="0">
                <a:solidFill>
                  <a:srgbClr val="F08A5D"/>
                </a:solidFill>
                <a:latin typeface="JetBrains Mono" pitchFamily="49" charset="0"/>
                <a:ea typeface="JetBrains Mono" pitchFamily="49" charset="-122"/>
                <a:cs typeface="JetBrains Mono" pitchFamily="49" charset="-120"/>
              </a:rPr>
              <a:t>EPOCH 1 (KEPT)</a:t>
            </a:r>
            <a:endParaRPr lang="en-US" sz="1200" dirty="0"/>
          </a:p>
        </p:txBody>
      </p:sp>
      <p:sp>
        <p:nvSpPr>
          <p:cNvPr id="9" name="Text 7"/>
          <p:cNvSpPr/>
          <p:nvPr/>
        </p:nvSpPr>
        <p:spPr>
          <a:xfrm>
            <a:off x="4673600" y="2605980"/>
            <a:ext cx="2930144" cy="388590"/>
          </a:xfrm>
          <a:prstGeom prst="rect">
            <a:avLst/>
          </a:prstGeom>
          <a:noFill/>
          <a:ln/>
        </p:spPr>
        <p:txBody>
          <a:bodyPr wrap="square" lIns="0" tIns="0" rIns="0" bIns="0" rtlCol="0" anchor="t">
            <a:normAutofit/>
          </a:bodyPr>
          <a:lstStyle/>
          <a:p>
            <a:pPr algn="l" indent="0" marL="0">
              <a:lnSpc>
                <a:spcPts val="2860"/>
              </a:lnSpc>
              <a:buNone/>
            </a:pPr>
            <a:r>
              <a:rPr lang="en-US" sz="2200" b="1" dirty="0">
                <a:solidFill>
                  <a:srgbClr val="F3F1EA"/>
                </a:solidFill>
                <a:latin typeface="JetBrains Mono" pitchFamily="49" charset="0"/>
                <a:ea typeface="JetBrains Mono" pitchFamily="49" charset="-122"/>
                <a:cs typeface="JetBrains Mono" pitchFamily="49" charset="-120"/>
              </a:rPr>
              <a:t>val 0.517</a:t>
            </a:r>
            <a:endParaRPr lang="en-US" sz="2200" dirty="0"/>
          </a:p>
        </p:txBody>
      </p:sp>
      <p:sp>
        <p:nvSpPr>
          <p:cNvPr id="10" name="Text 8"/>
          <p:cNvSpPr/>
          <p:nvPr/>
        </p:nvSpPr>
        <p:spPr>
          <a:xfrm>
            <a:off x="4673600" y="3096171"/>
            <a:ext cx="2930144" cy="1020961"/>
          </a:xfrm>
          <a:prstGeom prst="rect">
            <a:avLst/>
          </a:prstGeom>
          <a:noFill/>
          <a:ln/>
        </p:spPr>
        <p:txBody>
          <a:bodyPr wrap="square" lIns="0" tIns="0" rIns="0" bIns="0" rtlCol="0" anchor="t">
            <a:normAutofit/>
          </a:bodyPr>
          <a:lstStyle/>
          <a:p>
            <a:pPr algn="l" indent="0" marL="0">
              <a:lnSpc>
                <a:spcPts val="1960"/>
              </a:lnSpc>
              <a:buNone/>
            </a:pPr>
            <a:r>
              <a:rPr lang="en-US" sz="1400" dirty="0">
                <a:solidFill>
                  <a:srgbClr val="B9C3D1"/>
                </a:solidFill>
                <a:latin typeface="IBM Plex Sans" pitchFamily="34" charset="0"/>
                <a:ea typeface="IBM Plex Sans" pitchFamily="34" charset="-122"/>
                <a:cs typeface="IBM Plex Sans" pitchFamily="34" charset="-120"/>
              </a:rPr>
              <a:t>Lowest validation loss of the run. Best‑checkpoint selection saved this adapter, and it is the one evaluated.</a:t>
            </a:r>
            <a:endParaRPr lang="en-US" sz="1400" dirty="0"/>
          </a:p>
        </p:txBody>
      </p:sp>
      <p:sp>
        <p:nvSpPr>
          <p:cNvPr id="11" name="Shape 9"/>
          <p:cNvSpPr/>
          <p:nvPr/>
        </p:nvSpPr>
        <p:spPr>
          <a:xfrm>
            <a:off x="8026400" y="2011660"/>
            <a:ext cx="3352800" cy="3830340"/>
          </a:xfrm>
          <a:prstGeom prst="roundRect">
            <a:avLst>
              <a:gd name="adj" fmla="val 3788"/>
            </a:avLst>
          </a:prstGeom>
          <a:solidFill>
            <a:srgbClr val="1F2B3C"/>
          </a:solidFill>
          <a:ln/>
        </p:spPr>
      </p:sp>
      <p:sp>
        <p:nvSpPr>
          <p:cNvPr id="12" name="Text 10"/>
          <p:cNvSpPr/>
          <p:nvPr/>
        </p:nvSpPr>
        <p:spPr>
          <a:xfrm>
            <a:off x="8280400" y="2265660"/>
            <a:ext cx="2930144" cy="238720"/>
          </a:xfrm>
          <a:prstGeom prst="rect">
            <a:avLst/>
          </a:prstGeom>
          <a:noFill/>
          <a:ln/>
        </p:spPr>
        <p:txBody>
          <a:bodyPr wrap="square" lIns="0" tIns="0" rIns="0" bIns="0" rtlCol="0" anchor="t">
            <a:normAutofit/>
          </a:bodyPr>
          <a:lstStyle/>
          <a:p>
            <a:pPr algn="l" indent="0" marL="0">
              <a:lnSpc>
                <a:spcPts val="1680"/>
              </a:lnSpc>
              <a:buNone/>
            </a:pPr>
            <a:r>
              <a:rPr lang="en-US" sz="1200" spc="50" kern="0" dirty="0">
                <a:solidFill>
                  <a:srgbClr val="F08A5D"/>
                </a:solidFill>
                <a:latin typeface="JetBrains Mono" pitchFamily="49" charset="0"/>
                <a:ea typeface="JetBrains Mono" pitchFamily="49" charset="-122"/>
                <a:cs typeface="JetBrains Mono" pitchFamily="49" charset="-120"/>
              </a:rPr>
              <a:t>UNSEEN DOCUMENT</a:t>
            </a:r>
            <a:endParaRPr lang="en-US" sz="1200" dirty="0"/>
          </a:p>
        </p:txBody>
      </p:sp>
      <p:sp>
        <p:nvSpPr>
          <p:cNvPr id="13" name="Text 11"/>
          <p:cNvSpPr/>
          <p:nvPr/>
        </p:nvSpPr>
        <p:spPr>
          <a:xfrm>
            <a:off x="8280400" y="2605980"/>
            <a:ext cx="2930144" cy="772071"/>
          </a:xfrm>
          <a:prstGeom prst="rect">
            <a:avLst/>
          </a:prstGeom>
          <a:noFill/>
          <a:ln/>
        </p:spPr>
        <p:txBody>
          <a:bodyPr wrap="square" lIns="0" tIns="0" rIns="0" bIns="0" rtlCol="0" anchor="t">
            <a:normAutofit/>
          </a:bodyPr>
          <a:lstStyle/>
          <a:p>
            <a:pPr algn="l" indent="0" marL="0">
              <a:lnSpc>
                <a:spcPts val="1960"/>
              </a:lnSpc>
              <a:buNone/>
            </a:pPr>
            <a:r>
              <a:rPr lang="en-US" sz="1400" dirty="0">
                <a:solidFill>
                  <a:srgbClr val="D6DCE4"/>
                </a:solidFill>
                <a:latin typeface="IBM Plex Sans" pitchFamily="34" charset="0"/>
                <a:ea typeface="IBM Plex Sans" pitchFamily="34" charset="-122"/>
                <a:cs typeface="IBM Plex Sans" pitchFamily="34" charset="-120"/>
              </a:rPr>
              <a:t>On the brochure the kept adapter beats the base model: answer F1 +0.06, gold citations +0.12.</a:t>
            </a:r>
            <a:endParaRPr lang="en-US" sz="1400" dirty="0"/>
          </a:p>
        </p:txBody>
      </p:sp>
      <p:sp>
        <p:nvSpPr>
          <p:cNvPr id="14" name="Text 12"/>
          <p:cNvSpPr/>
          <p:nvPr/>
        </p:nvSpPr>
        <p:spPr>
          <a:xfrm>
            <a:off x="8280400" y="3479651"/>
            <a:ext cx="2930144" cy="523180"/>
          </a:xfrm>
          <a:prstGeom prst="rect">
            <a:avLst/>
          </a:prstGeom>
          <a:noFill/>
          <a:ln/>
        </p:spPr>
        <p:txBody>
          <a:bodyPr wrap="square" lIns="0" tIns="0" rIns="0" bIns="0" rtlCol="0" anchor="t">
            <a:normAutofit/>
          </a:bodyPr>
          <a:lstStyle/>
          <a:p>
            <a:pPr algn="l" indent="0" marL="0">
              <a:lnSpc>
                <a:spcPts val="1960"/>
              </a:lnSpc>
              <a:buNone/>
            </a:pPr>
            <a:r>
              <a:rPr lang="en-US" sz="1400" dirty="0">
                <a:solidFill>
                  <a:srgbClr val="D6DCE4"/>
                </a:solidFill>
                <a:latin typeface="IBM Plex Sans" pitchFamily="34" charset="0"/>
                <a:ea typeface="IBM Plex Sans" pitchFamily="34" charset="-122"/>
                <a:cs typeface="IBM Plex Sans" pitchFamily="34" charset="-120"/>
              </a:rPr>
              <a:t>So it generalizes, but the margin is small and part of it is style.</a:t>
            </a:r>
            <a:endParaRPr lang="en-US" sz="1400" dirty="0"/>
          </a:p>
        </p:txBody>
      </p:sp>
      <p:sp>
        <p:nvSpPr>
          <p:cNvPr id="15" name="Text 13"/>
          <p:cNvSpPr/>
          <p:nvPr/>
        </p:nvSpPr>
        <p:spPr>
          <a:xfrm>
            <a:off x="812800" y="6238280"/>
            <a:ext cx="10883392" cy="238720"/>
          </a:xfrm>
          <a:prstGeom prst="rect">
            <a:avLst/>
          </a:prstGeom>
          <a:noFill/>
          <a:ln/>
        </p:spPr>
        <p:txBody>
          <a:bodyPr wrap="square" lIns="0" tIns="0" rIns="0" bIns="0" rtlCol="0" anchor="t">
            <a:normAutofit/>
          </a:bodyPr>
          <a:lstStyle/>
          <a:p>
            <a:pPr algn="l" indent="0" marL="0">
              <a:lnSpc>
                <a:spcPts val="1680"/>
              </a:lnSpc>
              <a:buNone/>
            </a:pPr>
            <a:r>
              <a:rPr lang="en-US" sz="1200" dirty="0">
                <a:solidFill>
                  <a:srgbClr val="8C98A8"/>
                </a:solidFill>
                <a:latin typeface="IBM Plex Sans" pitchFamily="34" charset="0"/>
                <a:ea typeface="IBM Plex Sans" pitchFamily="34" charset="-122"/>
                <a:cs typeface="IBM Plex Sans" pitchFamily="34" charset="-120"/>
              </a:rPr>
              <a:t>Your 1–2 epoch instinct was right for this data: 20 optimizer steps were enough</a:t>
            </a:r>
            <a:endParaRPr lang="en-US" sz="120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6F5F0"/>
        </a:solidFill>
      </p:bgPr>
    </p:bg>
    <p:spTree>
      <p:nvGrpSpPr>
        <p:cNvPr id="1" name=""/>
        <p:cNvGrpSpPr/>
        <p:nvPr/>
      </p:nvGrpSpPr>
      <p:grpSpPr>
        <a:xfrm>
          <a:off x="0" y="0"/>
          <a:ext cx="0" cy="0"/>
          <a:chOff x="0" y="0"/>
          <a:chExt cx="0" cy="0"/>
        </a:xfrm>
      </p:grpSpPr>
      <p:sp>
        <p:nvSpPr>
          <p:cNvPr id="2" name="Text 0"/>
          <p:cNvSpPr/>
          <p:nvPr>
            <p:ph type="title"/>
          </p:nvPr>
        </p:nvSpPr>
        <p:spPr>
          <a:xfrm>
            <a:off x="812800" y="812800"/>
            <a:ext cx="11379200" cy="895995"/>
          </a:xfrm>
          <a:prstGeom prst="rect">
            <a:avLst/>
          </a:prstGeom>
          <a:noFill/>
          <a:ln/>
        </p:spPr>
        <p:txBody>
          <a:bodyPr wrap="square" lIns="0" tIns="0" rIns="0" bIns="0" rtlCol="0" anchor="t">
            <a:normAutofit/>
          </a:bodyPr>
          <a:lstStyle/>
          <a:p>
            <a:pPr algn="l" indent="0" marL="0">
              <a:lnSpc>
                <a:spcPts val="3454"/>
              </a:lnSpc>
              <a:buNone/>
            </a:pPr>
            <a:r>
              <a:rPr lang="en-US" sz="3140" b="1" i="0" dirty="0">
                <a:solidFill>
                  <a:srgbClr val="16202E"/>
                </a:solidFill>
                <a:latin typeface="IBM Plex Sans" pitchFamily="34" charset="0"/>
                <a:ea typeface="IBM Plex Sans" pitchFamily="34" charset="-122"/>
                <a:cs typeface="IBM Plex Sans" pitchFamily="34" charset="-120"/>
              </a:rPr>
              <a:t>On the unseen brochure, the tuned model answers better</a:t>
            </a:r>
            <a:endParaRPr lang="en-US" sz="3140" dirty="0"/>
          </a:p>
        </p:txBody>
      </p:sp>
      <p:graphicFrame>
        <p:nvGraphicFramePr>
          <p:cNvPr id="3" name="Table 0"/>
          <p:cNvGraphicFramePr>
            <a:graphicFrameLocks noGrp="1"/>
          </p:cNvGraphicFramePr>
          <p:nvPr>
            <p:extLst>
              <p:ext uri="{D42A27DB-BD31-4B8C-83A1-F6EECF244321}">
                <p14:modId xmlns:p14="http://schemas.microsoft.com/office/powerpoint/2010/main" val="1579011935"/>
              </p:ext>
            </p:extLst>
          </p:nvPr>
        </p:nvGraphicFramePr>
        <p:xfrm>
          <a:off x="825500" y="2000895"/>
          <a:ext cx="10553700" cy="2631182"/>
        </p:xfrm>
        <a:graphic>
          <a:graphicData uri="http://schemas.openxmlformats.org/drawingml/2006/table">
            <a:tbl>
              <a:tblPr/>
              <a:tblGrid>
                <a:gridCol w="3271647"/>
                <a:gridCol w="1160907"/>
                <a:gridCol w="1371981"/>
                <a:gridCol w="1160907"/>
                <a:gridCol w="2110740"/>
                <a:gridCol w="1477518"/>
              </a:tblGrid>
              <a:tr h="375841">
                <a:tc>
                  <a:txBody>
                    <a:bodyPr/>
                    <a:lstStyle/>
                    <a:p>
                      <a:pPr indent="0" marL="0">
                        <a:lnSpc>
                          <a:spcPts val="1905"/>
                        </a:lnSpc>
                        <a:buNone/>
                      </a:pPr>
                      <a:r>
                        <a:rPr lang="en-US" sz="1361" b="1" dirty="0">
                          <a:solidFill>
                            <a:srgbClr val="16202E"/>
                          </a:solidFill>
                          <a:latin typeface="IBM Plex Sans" pitchFamily="34" charset="0"/>
                          <a:ea typeface="IBM Plex Sans" pitchFamily="34" charset="-122"/>
                          <a:cs typeface="IBM Plex Sans" pitchFamily="34" charset="-120"/>
                        </a:rPr>
                        <a:t>Metric (41 questions each)</a:t>
                      </a:r>
                      <a:endParaRPr lang="en-US" sz="1361" dirty="0">
                        <a:latin typeface="IBM Plex Sans" charset="0"/>
                        <a:ea typeface="IBM Plex Sans" charset="0"/>
                        <a:cs typeface="IBM Plex Sans" charset="0"/>
                      </a:endParaRPr>
                    </a:p>
                  </a:txBody>
                  <a:tcPr marL="60480" marR="60480" marT="60480" marB="60480" anchor="t">
                    <a:lnL w="12700" cap="flat" cmpd="sng" algn="ctr">
                      <a:solidFill>
                        <a:srgbClr val="C4C4BF"/>
                      </a:solidFill>
                      <a:prstDash val="solid"/>
                      <a:round/>
                      <a:headEnd type="none" w="med" len="med"/>
                      <a:tailEnd type="none" w="med" len="med"/>
                    </a:lnL>
                    <a:lnR w="12700" cap="flat" cmpd="sng" algn="ctr">
                      <a:solidFill>
                        <a:srgbClr val="B6B5B1"/>
                      </a:solidFill>
                      <a:prstDash val="solid"/>
                      <a:round/>
                      <a:headEnd type="none" w="med" len="med"/>
                      <a:tailEnd type="none" w="med" len="med"/>
                    </a:lnR>
                    <a:lnT w="12700" cap="flat" cmpd="sng" algn="ctr">
                      <a:solidFill>
                        <a:srgbClr val="C4C4BF"/>
                      </a:solidFill>
                      <a:prstDash val="solid"/>
                      <a:round/>
                      <a:headEnd type="none" w="med" len="med"/>
                      <a:tailEnd type="none" w="med" len="med"/>
                    </a:lnT>
                    <a:lnB w="12700" cap="flat" cmpd="sng" algn="ctr">
                      <a:solidFill>
                        <a:srgbClr val="B6B5B1"/>
                      </a:solidFill>
                      <a:prstDash val="solid"/>
                      <a:round/>
                      <a:headEnd type="none" w="med" len="med"/>
                      <a:tailEnd type="none" w="med" len="med"/>
                    </a:lnB>
                    <a:solidFill>
                      <a:srgbClr val="E4E3DE"/>
                    </a:solidFill>
                  </a:tcPr>
                </a:tc>
                <a:tc>
                  <a:txBody>
                    <a:bodyPr/>
                    <a:lstStyle/>
                    <a:p>
                      <a:pPr algn="r" indent="0" marL="0">
                        <a:lnSpc>
                          <a:spcPts val="1905"/>
                        </a:lnSpc>
                        <a:buNone/>
                      </a:pPr>
                      <a:r>
                        <a:rPr lang="en-US" sz="1361" b="1" dirty="0">
                          <a:solidFill>
                            <a:srgbClr val="16202E"/>
                          </a:solidFill>
                          <a:latin typeface="IBM Plex Sans" pitchFamily="34" charset="0"/>
                          <a:ea typeface="IBM Plex Sans" pitchFamily="34" charset="-122"/>
                          <a:cs typeface="IBM Plex Sans" pitchFamily="34" charset="-120"/>
                        </a:rPr>
                        <a:t>Base</a:t>
                      </a:r>
                      <a:endParaRPr lang="en-US" sz="1361" dirty="0">
                        <a:latin typeface="IBM Plex Sans" charset="0"/>
                        <a:ea typeface="IBM Plex Sans" charset="0"/>
                        <a:cs typeface="IBM Plex Sans" charset="0"/>
                      </a:endParaRPr>
                    </a:p>
                  </a:txBody>
                  <a:tcPr marL="60480" marR="60480" marT="60480" marB="60480" anchor="t">
                    <a:lnL w="12700" cap="flat" cmpd="sng" algn="ctr">
                      <a:solidFill>
                        <a:srgbClr val="B6B5B1"/>
                      </a:solidFill>
                      <a:prstDash val="solid"/>
                      <a:round/>
                      <a:headEnd type="none" w="med" len="med"/>
                      <a:tailEnd type="none" w="med" len="med"/>
                    </a:lnL>
                    <a:lnR w="12700" cap="flat" cmpd="sng" algn="ctr">
                      <a:solidFill>
                        <a:srgbClr val="B6B5B1"/>
                      </a:solidFill>
                      <a:prstDash val="solid"/>
                      <a:round/>
                      <a:headEnd type="none" w="med" len="med"/>
                      <a:tailEnd type="none" w="med" len="med"/>
                    </a:lnR>
                    <a:lnT w="12700" cap="flat" cmpd="sng" algn="ctr">
                      <a:solidFill>
                        <a:srgbClr val="C4C4BF"/>
                      </a:solidFill>
                      <a:prstDash val="solid"/>
                      <a:round/>
                      <a:headEnd type="none" w="med" len="med"/>
                      <a:tailEnd type="none" w="med" len="med"/>
                    </a:lnT>
                    <a:lnB w="12700" cap="flat" cmpd="sng" algn="ctr">
                      <a:solidFill>
                        <a:srgbClr val="B6B5B1"/>
                      </a:solidFill>
                      <a:prstDash val="solid"/>
                      <a:round/>
                      <a:headEnd type="none" w="med" len="med"/>
                      <a:tailEnd type="none" w="med" len="med"/>
                    </a:lnB>
                    <a:solidFill>
                      <a:srgbClr val="E4E3DE"/>
                    </a:solidFill>
                  </a:tcPr>
                </a:tc>
                <a:tc>
                  <a:txBody>
                    <a:bodyPr/>
                    <a:lstStyle/>
                    <a:p>
                      <a:pPr algn="r" indent="0" marL="0">
                        <a:lnSpc>
                          <a:spcPts val="1905"/>
                        </a:lnSpc>
                        <a:buNone/>
                      </a:pPr>
                      <a:r>
                        <a:rPr lang="en-US" sz="1361" b="1" dirty="0">
                          <a:solidFill>
                            <a:srgbClr val="16202E"/>
                          </a:solidFill>
                          <a:latin typeface="IBM Plex Sans" pitchFamily="34" charset="0"/>
                          <a:ea typeface="IBM Plex Sans" pitchFamily="34" charset="-122"/>
                          <a:cs typeface="IBM Plex Sans" pitchFamily="34" charset="-120"/>
                        </a:rPr>
                        <a:t>Tuned</a:t>
                      </a:r>
                      <a:endParaRPr lang="en-US" sz="1361" dirty="0">
                        <a:latin typeface="IBM Plex Sans" charset="0"/>
                        <a:ea typeface="IBM Plex Sans" charset="0"/>
                        <a:cs typeface="IBM Plex Sans" charset="0"/>
                      </a:endParaRPr>
                    </a:p>
                  </a:txBody>
                  <a:tcPr marL="60480" marR="60480" marT="60480" marB="60480" anchor="t">
                    <a:lnL w="12700" cap="flat" cmpd="sng" algn="ctr">
                      <a:solidFill>
                        <a:srgbClr val="B6B5B1"/>
                      </a:solidFill>
                      <a:prstDash val="solid"/>
                      <a:round/>
                      <a:headEnd type="none" w="med" len="med"/>
                      <a:tailEnd type="none" w="med" len="med"/>
                    </a:lnL>
                    <a:lnR w="12700" cap="flat" cmpd="sng" algn="ctr">
                      <a:solidFill>
                        <a:srgbClr val="B6B5B1"/>
                      </a:solidFill>
                      <a:prstDash val="solid"/>
                      <a:round/>
                      <a:headEnd type="none" w="med" len="med"/>
                      <a:tailEnd type="none" w="med" len="med"/>
                    </a:lnR>
                    <a:lnT w="12700" cap="flat" cmpd="sng" algn="ctr">
                      <a:solidFill>
                        <a:srgbClr val="C4C4BF"/>
                      </a:solidFill>
                      <a:prstDash val="solid"/>
                      <a:round/>
                      <a:headEnd type="none" w="med" len="med"/>
                      <a:tailEnd type="none" w="med" len="med"/>
                    </a:lnT>
                    <a:lnB w="12700" cap="flat" cmpd="sng" algn="ctr">
                      <a:solidFill>
                        <a:srgbClr val="B6B5B1"/>
                      </a:solidFill>
                      <a:prstDash val="solid"/>
                      <a:round/>
                      <a:headEnd type="none" w="med" len="med"/>
                      <a:tailEnd type="none" w="med" len="med"/>
                    </a:lnB>
                    <a:solidFill>
                      <a:srgbClr val="E4E3DE"/>
                    </a:solidFill>
                  </a:tcPr>
                </a:tc>
                <a:tc>
                  <a:txBody>
                    <a:bodyPr/>
                    <a:lstStyle/>
                    <a:p>
                      <a:pPr algn="r" indent="0" marL="0">
                        <a:lnSpc>
                          <a:spcPts val="1905"/>
                        </a:lnSpc>
                        <a:buNone/>
                      </a:pPr>
                      <a:r>
                        <a:rPr lang="en-US" sz="1361" b="1" dirty="0">
                          <a:solidFill>
                            <a:srgbClr val="16202E"/>
                          </a:solidFill>
                          <a:latin typeface="IBM Plex Sans" pitchFamily="34" charset="0"/>
                          <a:ea typeface="IBM Plex Sans" pitchFamily="34" charset="-122"/>
                          <a:cs typeface="IBM Plex Sans" pitchFamily="34" charset="-120"/>
                        </a:rPr>
                        <a:t>Change</a:t>
                      </a:r>
                      <a:endParaRPr lang="en-US" sz="1361" dirty="0">
                        <a:latin typeface="IBM Plex Sans" charset="0"/>
                        <a:ea typeface="IBM Plex Sans" charset="0"/>
                        <a:cs typeface="IBM Plex Sans" charset="0"/>
                      </a:endParaRPr>
                    </a:p>
                  </a:txBody>
                  <a:tcPr marL="60480" marR="60480" marT="60480" marB="60480" anchor="t">
                    <a:lnL w="12700" cap="flat" cmpd="sng" algn="ctr">
                      <a:solidFill>
                        <a:srgbClr val="B6B5B1"/>
                      </a:solidFill>
                      <a:prstDash val="solid"/>
                      <a:round/>
                      <a:headEnd type="none" w="med" len="med"/>
                      <a:tailEnd type="none" w="med" len="med"/>
                    </a:lnL>
                    <a:lnR w="12700" cap="flat" cmpd="sng" algn="ctr">
                      <a:solidFill>
                        <a:srgbClr val="B6B5B1"/>
                      </a:solidFill>
                      <a:prstDash val="solid"/>
                      <a:round/>
                      <a:headEnd type="none" w="med" len="med"/>
                      <a:tailEnd type="none" w="med" len="med"/>
                    </a:lnR>
                    <a:lnT w="12700" cap="flat" cmpd="sng" algn="ctr">
                      <a:solidFill>
                        <a:srgbClr val="C4C4BF"/>
                      </a:solidFill>
                      <a:prstDash val="solid"/>
                      <a:round/>
                      <a:headEnd type="none" w="med" len="med"/>
                      <a:tailEnd type="none" w="med" len="med"/>
                    </a:lnT>
                    <a:lnB w="12700" cap="flat" cmpd="sng" algn="ctr">
                      <a:solidFill>
                        <a:srgbClr val="B6B5B1"/>
                      </a:solidFill>
                      <a:prstDash val="solid"/>
                      <a:round/>
                      <a:headEnd type="none" w="med" len="med"/>
                      <a:tailEnd type="none" w="med" len="med"/>
                    </a:lnB>
                    <a:solidFill>
                      <a:srgbClr val="E4E3DE"/>
                    </a:solidFill>
                  </a:tcPr>
                </a:tc>
                <a:tc>
                  <a:txBody>
                    <a:bodyPr/>
                    <a:lstStyle/>
                    <a:p>
                      <a:pPr algn="r" indent="0" marL="0">
                        <a:lnSpc>
                          <a:spcPts val="1905"/>
                        </a:lnSpc>
                        <a:buNone/>
                      </a:pPr>
                      <a:r>
                        <a:rPr lang="en-US" sz="1361" b="1" dirty="0">
                          <a:solidFill>
                            <a:srgbClr val="16202E"/>
                          </a:solidFill>
                          <a:latin typeface="IBM Plex Sans" pitchFamily="34" charset="0"/>
                          <a:ea typeface="IBM Plex Sans" pitchFamily="34" charset="-122"/>
                          <a:cs typeface="IBM Plex Sans" pitchFamily="34" charset="-120"/>
                        </a:rPr>
                        <a:t>95% CI</a:t>
                      </a:r>
                      <a:endParaRPr lang="en-US" sz="1361" dirty="0">
                        <a:latin typeface="IBM Plex Sans" charset="0"/>
                        <a:ea typeface="IBM Plex Sans" charset="0"/>
                        <a:cs typeface="IBM Plex Sans" charset="0"/>
                      </a:endParaRPr>
                    </a:p>
                  </a:txBody>
                  <a:tcPr marL="60480" marR="60480" marT="60480" marB="60480" anchor="t">
                    <a:lnL w="12700" cap="flat" cmpd="sng" algn="ctr">
                      <a:solidFill>
                        <a:srgbClr val="B6B5B1"/>
                      </a:solidFill>
                      <a:prstDash val="solid"/>
                      <a:round/>
                      <a:headEnd type="none" w="med" len="med"/>
                      <a:tailEnd type="none" w="med" len="med"/>
                    </a:lnL>
                    <a:lnR w="12700" cap="flat" cmpd="sng" algn="ctr">
                      <a:solidFill>
                        <a:srgbClr val="B6B5B1"/>
                      </a:solidFill>
                      <a:prstDash val="solid"/>
                      <a:round/>
                      <a:headEnd type="none" w="med" len="med"/>
                      <a:tailEnd type="none" w="med" len="med"/>
                    </a:lnR>
                    <a:lnT w="12700" cap="flat" cmpd="sng" algn="ctr">
                      <a:solidFill>
                        <a:srgbClr val="C4C4BF"/>
                      </a:solidFill>
                      <a:prstDash val="solid"/>
                      <a:round/>
                      <a:headEnd type="none" w="med" len="med"/>
                      <a:tailEnd type="none" w="med" len="med"/>
                    </a:lnT>
                    <a:lnB w="12700" cap="flat" cmpd="sng" algn="ctr">
                      <a:solidFill>
                        <a:srgbClr val="B6B5B1"/>
                      </a:solidFill>
                      <a:prstDash val="solid"/>
                      <a:round/>
                      <a:headEnd type="none" w="med" len="med"/>
                      <a:tailEnd type="none" w="med" len="med"/>
                    </a:lnB>
                    <a:solidFill>
                      <a:srgbClr val="E4E3DE"/>
                    </a:solidFill>
                  </a:tcPr>
                </a:tc>
                <a:tc>
                  <a:txBody>
                    <a:bodyPr/>
                    <a:lstStyle/>
                    <a:p>
                      <a:pPr algn="r" indent="0" marL="0">
                        <a:lnSpc>
                          <a:spcPts val="1905"/>
                        </a:lnSpc>
                        <a:buNone/>
                      </a:pPr>
                      <a:r>
                        <a:rPr lang="en-US" sz="1361" b="1" dirty="0">
                          <a:solidFill>
                            <a:srgbClr val="16202E"/>
                          </a:solidFill>
                          <a:latin typeface="IBM Plex Sans" pitchFamily="34" charset="0"/>
                          <a:ea typeface="IBM Plex Sans" pitchFamily="34" charset="-122"/>
                          <a:cs typeface="IBM Plex Sans" pitchFamily="34" charset="-120"/>
                        </a:rPr>
                        <a:t>Better / worse</a:t>
                      </a:r>
                      <a:endParaRPr lang="en-US" sz="1361" dirty="0">
                        <a:latin typeface="IBM Plex Sans" charset="0"/>
                        <a:ea typeface="IBM Plex Sans" charset="0"/>
                        <a:cs typeface="IBM Plex Sans" charset="0"/>
                      </a:endParaRPr>
                    </a:p>
                  </a:txBody>
                  <a:tcPr marL="60480" marR="60480" marT="60480" marB="60480" anchor="t">
                    <a:lnL w="12700" cap="flat" cmpd="sng" algn="ctr">
                      <a:solidFill>
                        <a:srgbClr val="B6B5B1"/>
                      </a:solidFill>
                      <a:prstDash val="solid"/>
                      <a:round/>
                      <a:headEnd type="none" w="med" len="med"/>
                      <a:tailEnd type="none" w="med" len="med"/>
                    </a:lnL>
                    <a:lnR w="12700" cap="flat" cmpd="sng" algn="ctr">
                      <a:solidFill>
                        <a:srgbClr val="B6B5B1"/>
                      </a:solidFill>
                      <a:prstDash val="solid"/>
                      <a:round/>
                      <a:headEnd type="none" w="med" len="med"/>
                      <a:tailEnd type="none" w="med" len="med"/>
                    </a:lnR>
                    <a:lnT w="12700" cap="flat" cmpd="sng" algn="ctr">
                      <a:solidFill>
                        <a:srgbClr val="C4C4BF"/>
                      </a:solidFill>
                      <a:prstDash val="solid"/>
                      <a:round/>
                      <a:headEnd type="none" w="med" len="med"/>
                      <a:tailEnd type="none" w="med" len="med"/>
                    </a:lnT>
                    <a:lnB w="12700" cap="flat" cmpd="sng" algn="ctr">
                      <a:solidFill>
                        <a:srgbClr val="B6B5B1"/>
                      </a:solidFill>
                      <a:prstDash val="solid"/>
                      <a:round/>
                      <a:headEnd type="none" w="med" len="med"/>
                      <a:tailEnd type="none" w="med" len="med"/>
                    </a:lnB>
                    <a:solidFill>
                      <a:srgbClr val="E4E3DE"/>
                    </a:solidFill>
                  </a:tcPr>
                </a:tc>
              </a:tr>
              <a:tr h="375890">
                <a:tc>
                  <a:txBody>
                    <a:bodyPr/>
                    <a:lstStyle/>
                    <a:p>
                      <a:pPr indent="0" marL="0">
                        <a:lnSpc>
                          <a:spcPts val="1905"/>
                        </a:lnSpc>
                        <a:buNone/>
                      </a:pPr>
                      <a:r>
                        <a:rPr lang="en-US" sz="1361" dirty="0">
                          <a:solidFill>
                            <a:srgbClr val="16202E"/>
                          </a:solidFill>
                          <a:latin typeface="IBM Plex Sans" pitchFamily="34" charset="0"/>
                          <a:ea typeface="IBM Plex Sans" pitchFamily="34" charset="-122"/>
                          <a:cs typeface="IBM Plex Sans" pitchFamily="34" charset="-120"/>
                        </a:rPr>
                        <a:t>Answer F1, direct</a:t>
                      </a:r>
                      <a:endParaRPr lang="en-US" sz="1361" dirty="0">
                        <a:latin typeface="IBM Plex Sans" charset="0"/>
                        <a:ea typeface="IBM Plex Sans" charset="0"/>
                        <a:cs typeface="IBM Plex Sans" charset="0"/>
                      </a:endParaRPr>
                    </a:p>
                  </a:txBody>
                  <a:tcPr marL="60480" marR="60480" marT="60480" marB="60480" anchor="t">
                    <a:lnL w="12700" cap="flat" cmpd="sng" algn="ctr">
                      <a:solidFill>
                        <a:srgbClr val="C4C4BF"/>
                      </a:solidFill>
                      <a:prstDash val="solid"/>
                      <a:round/>
                      <a:headEnd type="none" w="med" len="med"/>
                      <a:tailEnd type="none" w="med" len="med"/>
                    </a:lnL>
                    <a:lnR w="12700" cap="flat" cmpd="sng" algn="ctr">
                      <a:solidFill>
                        <a:srgbClr val="C4C4BF"/>
                      </a:solidFill>
                      <a:prstDash val="solid"/>
                      <a:round/>
                      <a:headEnd type="none" w="med" len="med"/>
                      <a:tailEnd type="none" w="med" len="med"/>
                    </a:lnR>
                    <a:lnT w="12700" cap="flat" cmpd="sng" algn="ctr">
                      <a:solidFill>
                        <a:srgbClr val="B6B5B1"/>
                      </a:solidFill>
                      <a:prstDash val="solid"/>
                      <a:round/>
                      <a:headEnd type="none" w="med" len="med"/>
                      <a:tailEnd type="none" w="med" len="med"/>
                    </a:lnT>
                    <a:lnB w="12700" cap="flat" cmpd="sng" algn="ctr">
                      <a:solidFill>
                        <a:srgbClr val="C4C4BF"/>
                      </a:solidFill>
                      <a:prstDash val="solid"/>
                      <a:round/>
                      <a:headEnd type="none" w="med" len="med"/>
                      <a:tailEnd type="none" w="med" len="med"/>
                    </a:lnB>
                  </a:tcPr>
                </a:tc>
                <a:tc>
                  <a:txBody>
                    <a:bodyPr/>
                    <a:lstStyle/>
                    <a:p>
                      <a:pPr algn="r" indent="0" marL="0">
                        <a:lnSpc>
                          <a:spcPts val="1905"/>
                        </a:lnSpc>
                        <a:buNone/>
                      </a:pPr>
                      <a:r>
                        <a:rPr lang="en-US" sz="1361" dirty="0">
                          <a:solidFill>
                            <a:srgbClr val="16202E"/>
                          </a:solidFill>
                          <a:latin typeface="IBM Plex Sans" pitchFamily="34" charset="0"/>
                          <a:ea typeface="IBM Plex Sans" pitchFamily="34" charset="-122"/>
                          <a:cs typeface="IBM Plex Sans" pitchFamily="34" charset="-120"/>
                        </a:rPr>
                        <a:t>0.51</a:t>
                      </a:r>
                      <a:endParaRPr lang="en-US" sz="1361" dirty="0">
                        <a:latin typeface="IBM Plex Sans" charset="0"/>
                        <a:ea typeface="IBM Plex Sans" charset="0"/>
                        <a:cs typeface="IBM Plex Sans" charset="0"/>
                      </a:endParaRPr>
                    </a:p>
                  </a:txBody>
                  <a:tcPr marL="60480" marR="60480" marT="60480" marB="60480" anchor="t">
                    <a:lnL w="12700" cap="flat" cmpd="sng" algn="ctr">
                      <a:solidFill>
                        <a:srgbClr val="C4C4BF"/>
                      </a:solidFill>
                      <a:prstDash val="solid"/>
                      <a:round/>
                      <a:headEnd type="none" w="med" len="med"/>
                      <a:tailEnd type="none" w="med" len="med"/>
                    </a:lnL>
                    <a:lnR w="12700" cap="flat" cmpd="sng" algn="ctr">
                      <a:solidFill>
                        <a:srgbClr val="C4C4BF"/>
                      </a:solidFill>
                      <a:prstDash val="solid"/>
                      <a:round/>
                      <a:headEnd type="none" w="med" len="med"/>
                      <a:tailEnd type="none" w="med" len="med"/>
                    </a:lnR>
                    <a:lnT w="12700" cap="flat" cmpd="sng" algn="ctr">
                      <a:solidFill>
                        <a:srgbClr val="B6B5B1"/>
                      </a:solidFill>
                      <a:prstDash val="solid"/>
                      <a:round/>
                      <a:headEnd type="none" w="med" len="med"/>
                      <a:tailEnd type="none" w="med" len="med"/>
                    </a:lnT>
                    <a:lnB w="12700" cap="flat" cmpd="sng" algn="ctr">
                      <a:solidFill>
                        <a:srgbClr val="C4C4BF"/>
                      </a:solidFill>
                      <a:prstDash val="solid"/>
                      <a:round/>
                      <a:headEnd type="none" w="med" len="med"/>
                      <a:tailEnd type="none" w="med" len="med"/>
                    </a:lnB>
                  </a:tcPr>
                </a:tc>
                <a:tc>
                  <a:txBody>
                    <a:bodyPr/>
                    <a:lstStyle/>
                    <a:p>
                      <a:pPr algn="r" indent="0" marL="0">
                        <a:lnSpc>
                          <a:spcPts val="1905"/>
                        </a:lnSpc>
                        <a:buNone/>
                      </a:pPr>
                      <a:r>
                        <a:rPr lang="en-US" sz="1361" dirty="0">
                          <a:solidFill>
                            <a:srgbClr val="16202E"/>
                          </a:solidFill>
                          <a:latin typeface="IBM Plex Sans" pitchFamily="34" charset="0"/>
                          <a:ea typeface="IBM Plex Sans" pitchFamily="34" charset="-122"/>
                          <a:cs typeface="IBM Plex Sans" pitchFamily="34" charset="-120"/>
                        </a:rPr>
                        <a:t>0.57</a:t>
                      </a:r>
                      <a:endParaRPr lang="en-US" sz="1361" dirty="0">
                        <a:latin typeface="IBM Plex Sans" charset="0"/>
                        <a:ea typeface="IBM Plex Sans" charset="0"/>
                        <a:cs typeface="IBM Plex Sans" charset="0"/>
                      </a:endParaRPr>
                    </a:p>
                  </a:txBody>
                  <a:tcPr marL="60480" marR="60480" marT="60480" marB="60480" anchor="t">
                    <a:lnL w="12700" cap="flat" cmpd="sng" algn="ctr">
                      <a:solidFill>
                        <a:srgbClr val="C4C4BF"/>
                      </a:solidFill>
                      <a:prstDash val="solid"/>
                      <a:round/>
                      <a:headEnd type="none" w="med" len="med"/>
                      <a:tailEnd type="none" w="med" len="med"/>
                    </a:lnL>
                    <a:lnR w="12700" cap="flat" cmpd="sng" algn="ctr">
                      <a:solidFill>
                        <a:srgbClr val="C4C4BF"/>
                      </a:solidFill>
                      <a:prstDash val="solid"/>
                      <a:round/>
                      <a:headEnd type="none" w="med" len="med"/>
                      <a:tailEnd type="none" w="med" len="med"/>
                    </a:lnR>
                    <a:lnT w="12700" cap="flat" cmpd="sng" algn="ctr">
                      <a:solidFill>
                        <a:srgbClr val="B6B5B1"/>
                      </a:solidFill>
                      <a:prstDash val="solid"/>
                      <a:round/>
                      <a:headEnd type="none" w="med" len="med"/>
                      <a:tailEnd type="none" w="med" len="med"/>
                    </a:lnT>
                    <a:lnB w="12700" cap="flat" cmpd="sng" algn="ctr">
                      <a:solidFill>
                        <a:srgbClr val="C4C4BF"/>
                      </a:solidFill>
                      <a:prstDash val="solid"/>
                      <a:round/>
                      <a:headEnd type="none" w="med" len="med"/>
                      <a:tailEnd type="none" w="med" len="med"/>
                    </a:lnB>
                  </a:tcPr>
                </a:tc>
                <a:tc>
                  <a:txBody>
                    <a:bodyPr/>
                    <a:lstStyle/>
                    <a:p>
                      <a:pPr algn="r" indent="0" marL="0">
                        <a:lnSpc>
                          <a:spcPts val="1905"/>
                        </a:lnSpc>
                        <a:buNone/>
                      </a:pPr>
                      <a:r>
                        <a:rPr lang="en-US" sz="1361" dirty="0">
                          <a:solidFill>
                            <a:srgbClr val="16202E"/>
                          </a:solidFill>
                          <a:latin typeface="IBM Plex Sans" pitchFamily="34" charset="0"/>
                          <a:ea typeface="IBM Plex Sans" pitchFamily="34" charset="-122"/>
                          <a:cs typeface="IBM Plex Sans" pitchFamily="34" charset="-120"/>
                        </a:rPr>
                        <a:t>+0.06</a:t>
                      </a:r>
                      <a:endParaRPr lang="en-US" sz="1361" dirty="0">
                        <a:latin typeface="IBM Plex Sans" charset="0"/>
                        <a:ea typeface="IBM Plex Sans" charset="0"/>
                        <a:cs typeface="IBM Plex Sans" charset="0"/>
                      </a:endParaRPr>
                    </a:p>
                  </a:txBody>
                  <a:tcPr marL="60480" marR="60480" marT="60480" marB="60480" anchor="t">
                    <a:lnL w="12700" cap="flat" cmpd="sng" algn="ctr">
                      <a:solidFill>
                        <a:srgbClr val="C4C4BF"/>
                      </a:solidFill>
                      <a:prstDash val="solid"/>
                      <a:round/>
                      <a:headEnd type="none" w="med" len="med"/>
                      <a:tailEnd type="none" w="med" len="med"/>
                    </a:lnL>
                    <a:lnR w="12700" cap="flat" cmpd="sng" algn="ctr">
                      <a:solidFill>
                        <a:srgbClr val="C4C4BF"/>
                      </a:solidFill>
                      <a:prstDash val="solid"/>
                      <a:round/>
                      <a:headEnd type="none" w="med" len="med"/>
                      <a:tailEnd type="none" w="med" len="med"/>
                    </a:lnR>
                    <a:lnT w="12700" cap="flat" cmpd="sng" algn="ctr">
                      <a:solidFill>
                        <a:srgbClr val="B6B5B1"/>
                      </a:solidFill>
                      <a:prstDash val="solid"/>
                      <a:round/>
                      <a:headEnd type="none" w="med" len="med"/>
                      <a:tailEnd type="none" w="med" len="med"/>
                    </a:lnT>
                    <a:lnB w="12700" cap="flat" cmpd="sng" algn="ctr">
                      <a:solidFill>
                        <a:srgbClr val="C4C4BF"/>
                      </a:solidFill>
                      <a:prstDash val="solid"/>
                      <a:round/>
                      <a:headEnd type="none" w="med" len="med"/>
                      <a:tailEnd type="none" w="med" len="med"/>
                    </a:lnB>
                  </a:tcPr>
                </a:tc>
                <a:tc>
                  <a:txBody>
                    <a:bodyPr/>
                    <a:lstStyle/>
                    <a:p>
                      <a:pPr algn="r" indent="0" marL="0">
                        <a:lnSpc>
                          <a:spcPts val="1905"/>
                        </a:lnSpc>
                        <a:buNone/>
                      </a:pPr>
                      <a:r>
                        <a:rPr lang="en-US" sz="1361" dirty="0">
                          <a:solidFill>
                            <a:srgbClr val="16202E"/>
                          </a:solidFill>
                          <a:latin typeface="IBM Plex Sans" pitchFamily="34" charset="0"/>
                          <a:ea typeface="IBM Plex Sans" pitchFamily="34" charset="-122"/>
                          <a:cs typeface="IBM Plex Sans" pitchFamily="34" charset="-120"/>
                        </a:rPr>
                        <a:t>+0.002 to +0.109</a:t>
                      </a:r>
                      <a:endParaRPr lang="en-US" sz="1361" dirty="0">
                        <a:latin typeface="IBM Plex Sans" charset="0"/>
                        <a:ea typeface="IBM Plex Sans" charset="0"/>
                        <a:cs typeface="IBM Plex Sans" charset="0"/>
                      </a:endParaRPr>
                    </a:p>
                  </a:txBody>
                  <a:tcPr marL="60480" marR="60480" marT="60480" marB="60480" anchor="t">
                    <a:lnL w="12700" cap="flat" cmpd="sng" algn="ctr">
                      <a:solidFill>
                        <a:srgbClr val="C4C4BF"/>
                      </a:solidFill>
                      <a:prstDash val="solid"/>
                      <a:round/>
                      <a:headEnd type="none" w="med" len="med"/>
                      <a:tailEnd type="none" w="med" len="med"/>
                    </a:lnL>
                    <a:lnR w="12700" cap="flat" cmpd="sng" algn="ctr">
                      <a:solidFill>
                        <a:srgbClr val="C4C4BF"/>
                      </a:solidFill>
                      <a:prstDash val="solid"/>
                      <a:round/>
                      <a:headEnd type="none" w="med" len="med"/>
                      <a:tailEnd type="none" w="med" len="med"/>
                    </a:lnR>
                    <a:lnT w="12700" cap="flat" cmpd="sng" algn="ctr">
                      <a:solidFill>
                        <a:srgbClr val="B6B5B1"/>
                      </a:solidFill>
                      <a:prstDash val="solid"/>
                      <a:round/>
                      <a:headEnd type="none" w="med" len="med"/>
                      <a:tailEnd type="none" w="med" len="med"/>
                    </a:lnT>
                    <a:lnB w="12700" cap="flat" cmpd="sng" algn="ctr">
                      <a:solidFill>
                        <a:srgbClr val="C4C4BF"/>
                      </a:solidFill>
                      <a:prstDash val="solid"/>
                      <a:round/>
                      <a:headEnd type="none" w="med" len="med"/>
                      <a:tailEnd type="none" w="med" len="med"/>
                    </a:lnB>
                  </a:tcPr>
                </a:tc>
                <a:tc>
                  <a:txBody>
                    <a:bodyPr/>
                    <a:lstStyle/>
                    <a:p>
                      <a:pPr algn="r" indent="0" marL="0">
                        <a:lnSpc>
                          <a:spcPts val="1905"/>
                        </a:lnSpc>
                        <a:buNone/>
                      </a:pPr>
                      <a:r>
                        <a:rPr lang="en-US" sz="1361" dirty="0">
                          <a:solidFill>
                            <a:srgbClr val="16202E"/>
                          </a:solidFill>
                          <a:latin typeface="IBM Plex Sans" pitchFamily="34" charset="0"/>
                          <a:ea typeface="IBM Plex Sans" pitchFamily="34" charset="-122"/>
                          <a:cs typeface="IBM Plex Sans" pitchFamily="34" charset="-120"/>
                        </a:rPr>
                        <a:t>27 / 14</a:t>
                      </a:r>
                      <a:endParaRPr lang="en-US" sz="1361" dirty="0">
                        <a:latin typeface="IBM Plex Sans" charset="0"/>
                        <a:ea typeface="IBM Plex Sans" charset="0"/>
                        <a:cs typeface="IBM Plex Sans" charset="0"/>
                      </a:endParaRPr>
                    </a:p>
                  </a:txBody>
                  <a:tcPr marL="60480" marR="60480" marT="60480" marB="60480" anchor="t">
                    <a:lnL w="12700" cap="flat" cmpd="sng" algn="ctr">
                      <a:solidFill>
                        <a:srgbClr val="C4C4BF"/>
                      </a:solidFill>
                      <a:prstDash val="solid"/>
                      <a:round/>
                      <a:headEnd type="none" w="med" len="med"/>
                      <a:tailEnd type="none" w="med" len="med"/>
                    </a:lnL>
                    <a:lnR w="12700" cap="flat" cmpd="sng" algn="ctr">
                      <a:solidFill>
                        <a:srgbClr val="C4C4BF"/>
                      </a:solidFill>
                      <a:prstDash val="solid"/>
                      <a:round/>
                      <a:headEnd type="none" w="med" len="med"/>
                      <a:tailEnd type="none" w="med" len="med"/>
                    </a:lnR>
                    <a:lnT w="12700" cap="flat" cmpd="sng" algn="ctr">
                      <a:solidFill>
                        <a:srgbClr val="B6B5B1"/>
                      </a:solidFill>
                      <a:prstDash val="solid"/>
                      <a:round/>
                      <a:headEnd type="none" w="med" len="med"/>
                      <a:tailEnd type="none" w="med" len="med"/>
                    </a:lnT>
                    <a:lnB w="12700" cap="flat" cmpd="sng" algn="ctr">
                      <a:solidFill>
                        <a:srgbClr val="C4C4BF"/>
                      </a:solidFill>
                      <a:prstDash val="solid"/>
                      <a:round/>
                      <a:headEnd type="none" w="med" len="med"/>
                      <a:tailEnd type="none" w="med" len="med"/>
                    </a:lnB>
                  </a:tcPr>
                </a:tc>
              </a:tr>
              <a:tr h="375890">
                <a:tc>
                  <a:txBody>
                    <a:bodyPr/>
                    <a:lstStyle/>
                    <a:p>
                      <a:pPr indent="0" marL="0">
                        <a:lnSpc>
                          <a:spcPts val="1905"/>
                        </a:lnSpc>
                        <a:buNone/>
                      </a:pPr>
                      <a:r>
                        <a:rPr lang="en-US" sz="1361" dirty="0">
                          <a:solidFill>
                            <a:srgbClr val="16202E"/>
                          </a:solidFill>
                          <a:latin typeface="IBM Plex Sans" pitchFamily="34" charset="0"/>
                          <a:ea typeface="IBM Plex Sans" pitchFamily="34" charset="-122"/>
                          <a:cs typeface="IBM Plex Sans" pitchFamily="34" charset="-120"/>
                        </a:rPr>
                        <a:t>Answer F1, chain of thought</a:t>
                      </a:r>
                      <a:endParaRPr lang="en-US" sz="1361" dirty="0">
                        <a:latin typeface="IBM Plex Sans" charset="0"/>
                        <a:ea typeface="IBM Plex Sans" charset="0"/>
                        <a:cs typeface="IBM Plex Sans" charset="0"/>
                      </a:endParaRPr>
                    </a:p>
                  </a:txBody>
                  <a:tcPr marL="60480" marR="60480" marT="60480" marB="60480" anchor="t">
                    <a:lnL w="12700" cap="flat" cmpd="sng" algn="ctr">
                      <a:solidFill>
                        <a:srgbClr val="C4C4BF"/>
                      </a:solidFill>
                      <a:prstDash val="solid"/>
                      <a:round/>
                      <a:headEnd type="none" w="med" len="med"/>
                      <a:tailEnd type="none" w="med" len="med"/>
                    </a:lnL>
                    <a:lnR w="12700" cap="flat" cmpd="sng" algn="ctr">
                      <a:solidFill>
                        <a:srgbClr val="BFBCB5"/>
                      </a:solidFill>
                      <a:prstDash val="solid"/>
                      <a:round/>
                      <a:headEnd type="none" w="med" len="med"/>
                      <a:tailEnd type="none" w="med" len="med"/>
                    </a:lnR>
                    <a:lnT w="12700" cap="flat" cmpd="sng" algn="ctr">
                      <a:solidFill>
                        <a:srgbClr val="C4C4BF"/>
                      </a:solidFill>
                      <a:prstDash val="solid"/>
                      <a:round/>
                      <a:headEnd type="none" w="med" len="med"/>
                      <a:tailEnd type="none" w="med" len="med"/>
                    </a:lnT>
                    <a:lnB w="12700" cap="flat" cmpd="sng" algn="ctr">
                      <a:solidFill>
                        <a:srgbClr val="BFBCB5"/>
                      </a:solidFill>
                      <a:prstDash val="solid"/>
                      <a:round/>
                      <a:headEnd type="none" w="med" len="med"/>
                      <a:tailEnd type="none" w="med" len="med"/>
                    </a:lnB>
                    <a:solidFill>
                      <a:srgbClr val="EFECE3"/>
                    </a:solidFill>
                  </a:tcPr>
                </a:tc>
                <a:tc>
                  <a:txBody>
                    <a:bodyPr/>
                    <a:lstStyle/>
                    <a:p>
                      <a:pPr algn="r" indent="0" marL="0">
                        <a:lnSpc>
                          <a:spcPts val="1905"/>
                        </a:lnSpc>
                        <a:buNone/>
                      </a:pPr>
                      <a:r>
                        <a:rPr lang="en-US" sz="1361" dirty="0">
                          <a:solidFill>
                            <a:srgbClr val="16202E"/>
                          </a:solidFill>
                          <a:latin typeface="IBM Plex Sans" pitchFamily="34" charset="0"/>
                          <a:ea typeface="IBM Plex Sans" pitchFamily="34" charset="-122"/>
                          <a:cs typeface="IBM Plex Sans" pitchFamily="34" charset="-120"/>
                        </a:rPr>
                        <a:t>0.49</a:t>
                      </a:r>
                      <a:endParaRPr lang="en-US" sz="1361" dirty="0">
                        <a:latin typeface="IBM Plex Sans" charset="0"/>
                        <a:ea typeface="IBM Plex Sans" charset="0"/>
                        <a:cs typeface="IBM Plex Sans" charset="0"/>
                      </a:endParaRPr>
                    </a:p>
                  </a:txBody>
                  <a:tcPr marL="60480" marR="60480" marT="60480" marB="60480" anchor="t">
                    <a:lnL w="12700" cap="flat" cmpd="sng" algn="ctr">
                      <a:solidFill>
                        <a:srgbClr val="BFBCB5"/>
                      </a:solidFill>
                      <a:prstDash val="solid"/>
                      <a:round/>
                      <a:headEnd type="none" w="med" len="med"/>
                      <a:tailEnd type="none" w="med" len="med"/>
                    </a:lnL>
                    <a:lnR w="12700" cap="flat" cmpd="sng" algn="ctr">
                      <a:solidFill>
                        <a:srgbClr val="BFBCB5"/>
                      </a:solidFill>
                      <a:prstDash val="solid"/>
                      <a:round/>
                      <a:headEnd type="none" w="med" len="med"/>
                      <a:tailEnd type="none" w="med" len="med"/>
                    </a:lnR>
                    <a:lnT w="12700" cap="flat" cmpd="sng" algn="ctr">
                      <a:solidFill>
                        <a:srgbClr val="C4C4BF"/>
                      </a:solidFill>
                      <a:prstDash val="solid"/>
                      <a:round/>
                      <a:headEnd type="none" w="med" len="med"/>
                      <a:tailEnd type="none" w="med" len="med"/>
                    </a:lnT>
                    <a:lnB w="12700" cap="flat" cmpd="sng" algn="ctr">
                      <a:solidFill>
                        <a:srgbClr val="BFBCB5"/>
                      </a:solidFill>
                      <a:prstDash val="solid"/>
                      <a:round/>
                      <a:headEnd type="none" w="med" len="med"/>
                      <a:tailEnd type="none" w="med" len="med"/>
                    </a:lnB>
                    <a:solidFill>
                      <a:srgbClr val="EFECE3"/>
                    </a:solidFill>
                  </a:tcPr>
                </a:tc>
                <a:tc>
                  <a:txBody>
                    <a:bodyPr/>
                    <a:lstStyle/>
                    <a:p>
                      <a:pPr algn="r" indent="0" marL="0">
                        <a:lnSpc>
                          <a:spcPts val="1905"/>
                        </a:lnSpc>
                        <a:buNone/>
                      </a:pPr>
                      <a:r>
                        <a:rPr lang="en-US" sz="1361" dirty="0">
                          <a:solidFill>
                            <a:srgbClr val="16202E"/>
                          </a:solidFill>
                          <a:latin typeface="IBM Plex Sans" pitchFamily="34" charset="0"/>
                          <a:ea typeface="IBM Plex Sans" pitchFamily="34" charset="-122"/>
                          <a:cs typeface="IBM Plex Sans" pitchFamily="34" charset="-120"/>
                        </a:rPr>
                        <a:t>0.54</a:t>
                      </a:r>
                      <a:endParaRPr lang="en-US" sz="1361" dirty="0">
                        <a:latin typeface="IBM Plex Sans" charset="0"/>
                        <a:ea typeface="IBM Plex Sans" charset="0"/>
                        <a:cs typeface="IBM Plex Sans" charset="0"/>
                      </a:endParaRPr>
                    </a:p>
                  </a:txBody>
                  <a:tcPr marL="60480" marR="60480" marT="60480" marB="60480" anchor="t">
                    <a:lnL w="12700" cap="flat" cmpd="sng" algn="ctr">
                      <a:solidFill>
                        <a:srgbClr val="BFBCB5"/>
                      </a:solidFill>
                      <a:prstDash val="solid"/>
                      <a:round/>
                      <a:headEnd type="none" w="med" len="med"/>
                      <a:tailEnd type="none" w="med" len="med"/>
                    </a:lnL>
                    <a:lnR w="12700" cap="flat" cmpd="sng" algn="ctr">
                      <a:solidFill>
                        <a:srgbClr val="BFBCB5"/>
                      </a:solidFill>
                      <a:prstDash val="solid"/>
                      <a:round/>
                      <a:headEnd type="none" w="med" len="med"/>
                      <a:tailEnd type="none" w="med" len="med"/>
                    </a:lnR>
                    <a:lnT w="12700" cap="flat" cmpd="sng" algn="ctr">
                      <a:solidFill>
                        <a:srgbClr val="C4C4BF"/>
                      </a:solidFill>
                      <a:prstDash val="solid"/>
                      <a:round/>
                      <a:headEnd type="none" w="med" len="med"/>
                      <a:tailEnd type="none" w="med" len="med"/>
                    </a:lnT>
                    <a:lnB w="12700" cap="flat" cmpd="sng" algn="ctr">
                      <a:solidFill>
                        <a:srgbClr val="BFBCB5"/>
                      </a:solidFill>
                      <a:prstDash val="solid"/>
                      <a:round/>
                      <a:headEnd type="none" w="med" len="med"/>
                      <a:tailEnd type="none" w="med" len="med"/>
                    </a:lnB>
                    <a:solidFill>
                      <a:srgbClr val="EFECE3"/>
                    </a:solidFill>
                  </a:tcPr>
                </a:tc>
                <a:tc>
                  <a:txBody>
                    <a:bodyPr/>
                    <a:lstStyle/>
                    <a:p>
                      <a:pPr algn="r" indent="0" marL="0">
                        <a:lnSpc>
                          <a:spcPts val="1905"/>
                        </a:lnSpc>
                        <a:buNone/>
                      </a:pPr>
                      <a:r>
                        <a:rPr lang="en-US" sz="1361" dirty="0">
                          <a:solidFill>
                            <a:srgbClr val="16202E"/>
                          </a:solidFill>
                          <a:latin typeface="IBM Plex Sans" pitchFamily="34" charset="0"/>
                          <a:ea typeface="IBM Plex Sans" pitchFamily="34" charset="-122"/>
                          <a:cs typeface="IBM Plex Sans" pitchFamily="34" charset="-120"/>
                        </a:rPr>
                        <a:t>+0.06</a:t>
                      </a:r>
                      <a:endParaRPr lang="en-US" sz="1361" dirty="0">
                        <a:latin typeface="IBM Plex Sans" charset="0"/>
                        <a:ea typeface="IBM Plex Sans" charset="0"/>
                        <a:cs typeface="IBM Plex Sans" charset="0"/>
                      </a:endParaRPr>
                    </a:p>
                  </a:txBody>
                  <a:tcPr marL="60480" marR="60480" marT="60480" marB="60480" anchor="t">
                    <a:lnL w="12700" cap="flat" cmpd="sng" algn="ctr">
                      <a:solidFill>
                        <a:srgbClr val="BFBCB5"/>
                      </a:solidFill>
                      <a:prstDash val="solid"/>
                      <a:round/>
                      <a:headEnd type="none" w="med" len="med"/>
                      <a:tailEnd type="none" w="med" len="med"/>
                    </a:lnL>
                    <a:lnR w="12700" cap="flat" cmpd="sng" algn="ctr">
                      <a:solidFill>
                        <a:srgbClr val="BFBCB5"/>
                      </a:solidFill>
                      <a:prstDash val="solid"/>
                      <a:round/>
                      <a:headEnd type="none" w="med" len="med"/>
                      <a:tailEnd type="none" w="med" len="med"/>
                    </a:lnR>
                    <a:lnT w="12700" cap="flat" cmpd="sng" algn="ctr">
                      <a:solidFill>
                        <a:srgbClr val="C4C4BF"/>
                      </a:solidFill>
                      <a:prstDash val="solid"/>
                      <a:round/>
                      <a:headEnd type="none" w="med" len="med"/>
                      <a:tailEnd type="none" w="med" len="med"/>
                    </a:lnT>
                    <a:lnB w="12700" cap="flat" cmpd="sng" algn="ctr">
                      <a:solidFill>
                        <a:srgbClr val="BFBCB5"/>
                      </a:solidFill>
                      <a:prstDash val="solid"/>
                      <a:round/>
                      <a:headEnd type="none" w="med" len="med"/>
                      <a:tailEnd type="none" w="med" len="med"/>
                    </a:lnB>
                    <a:solidFill>
                      <a:srgbClr val="EFECE3"/>
                    </a:solidFill>
                  </a:tcPr>
                </a:tc>
                <a:tc>
                  <a:txBody>
                    <a:bodyPr/>
                    <a:lstStyle/>
                    <a:p>
                      <a:pPr algn="r" indent="0" marL="0">
                        <a:lnSpc>
                          <a:spcPts val="1905"/>
                        </a:lnSpc>
                        <a:buNone/>
                      </a:pPr>
                      <a:r>
                        <a:rPr lang="en-US" sz="1361" dirty="0">
                          <a:solidFill>
                            <a:srgbClr val="16202E"/>
                          </a:solidFill>
                          <a:latin typeface="IBM Plex Sans" pitchFamily="34" charset="0"/>
                          <a:ea typeface="IBM Plex Sans" pitchFamily="34" charset="-122"/>
                          <a:cs typeface="IBM Plex Sans" pitchFamily="34" charset="-120"/>
                        </a:rPr>
                        <a:t>+0.000 to +0.108</a:t>
                      </a:r>
                      <a:endParaRPr lang="en-US" sz="1361" dirty="0">
                        <a:latin typeface="IBM Plex Sans" charset="0"/>
                        <a:ea typeface="IBM Plex Sans" charset="0"/>
                        <a:cs typeface="IBM Plex Sans" charset="0"/>
                      </a:endParaRPr>
                    </a:p>
                  </a:txBody>
                  <a:tcPr marL="60480" marR="60480" marT="60480" marB="60480" anchor="t">
                    <a:lnL w="12700" cap="flat" cmpd="sng" algn="ctr">
                      <a:solidFill>
                        <a:srgbClr val="BFBCB5"/>
                      </a:solidFill>
                      <a:prstDash val="solid"/>
                      <a:round/>
                      <a:headEnd type="none" w="med" len="med"/>
                      <a:tailEnd type="none" w="med" len="med"/>
                    </a:lnL>
                    <a:lnR w="12700" cap="flat" cmpd="sng" algn="ctr">
                      <a:solidFill>
                        <a:srgbClr val="BFBCB5"/>
                      </a:solidFill>
                      <a:prstDash val="solid"/>
                      <a:round/>
                      <a:headEnd type="none" w="med" len="med"/>
                      <a:tailEnd type="none" w="med" len="med"/>
                    </a:lnR>
                    <a:lnT w="12700" cap="flat" cmpd="sng" algn="ctr">
                      <a:solidFill>
                        <a:srgbClr val="C4C4BF"/>
                      </a:solidFill>
                      <a:prstDash val="solid"/>
                      <a:round/>
                      <a:headEnd type="none" w="med" len="med"/>
                      <a:tailEnd type="none" w="med" len="med"/>
                    </a:lnT>
                    <a:lnB w="12700" cap="flat" cmpd="sng" algn="ctr">
                      <a:solidFill>
                        <a:srgbClr val="BFBCB5"/>
                      </a:solidFill>
                      <a:prstDash val="solid"/>
                      <a:round/>
                      <a:headEnd type="none" w="med" len="med"/>
                      <a:tailEnd type="none" w="med" len="med"/>
                    </a:lnB>
                    <a:solidFill>
                      <a:srgbClr val="EFECE3"/>
                    </a:solidFill>
                  </a:tcPr>
                </a:tc>
                <a:tc>
                  <a:txBody>
                    <a:bodyPr/>
                    <a:lstStyle/>
                    <a:p>
                      <a:pPr algn="r" indent="0" marL="0">
                        <a:lnSpc>
                          <a:spcPts val="1905"/>
                        </a:lnSpc>
                        <a:buNone/>
                      </a:pPr>
                      <a:r>
                        <a:rPr lang="en-US" sz="1361" dirty="0">
                          <a:solidFill>
                            <a:srgbClr val="16202E"/>
                          </a:solidFill>
                          <a:latin typeface="IBM Plex Sans" pitchFamily="34" charset="0"/>
                          <a:ea typeface="IBM Plex Sans" pitchFamily="34" charset="-122"/>
                          <a:cs typeface="IBM Plex Sans" pitchFamily="34" charset="-120"/>
                        </a:rPr>
                        <a:t>29 / 11</a:t>
                      </a:r>
                      <a:endParaRPr lang="en-US" sz="1361" dirty="0">
                        <a:latin typeface="IBM Plex Sans" charset="0"/>
                        <a:ea typeface="IBM Plex Sans" charset="0"/>
                        <a:cs typeface="IBM Plex Sans" charset="0"/>
                      </a:endParaRPr>
                    </a:p>
                  </a:txBody>
                  <a:tcPr marL="60480" marR="60480" marT="60480" marB="60480" anchor="t">
                    <a:lnL w="12700" cap="flat" cmpd="sng" algn="ctr">
                      <a:solidFill>
                        <a:srgbClr val="BFBCB5"/>
                      </a:solidFill>
                      <a:prstDash val="solid"/>
                      <a:round/>
                      <a:headEnd type="none" w="med" len="med"/>
                      <a:tailEnd type="none" w="med" len="med"/>
                    </a:lnL>
                    <a:lnR w="12700" cap="flat" cmpd="sng" algn="ctr">
                      <a:solidFill>
                        <a:srgbClr val="BFBCB5"/>
                      </a:solidFill>
                      <a:prstDash val="solid"/>
                      <a:round/>
                      <a:headEnd type="none" w="med" len="med"/>
                      <a:tailEnd type="none" w="med" len="med"/>
                    </a:lnR>
                    <a:lnT w="12700" cap="flat" cmpd="sng" algn="ctr">
                      <a:solidFill>
                        <a:srgbClr val="C4C4BF"/>
                      </a:solidFill>
                      <a:prstDash val="solid"/>
                      <a:round/>
                      <a:headEnd type="none" w="med" len="med"/>
                      <a:tailEnd type="none" w="med" len="med"/>
                    </a:lnT>
                    <a:lnB w="12700" cap="flat" cmpd="sng" algn="ctr">
                      <a:solidFill>
                        <a:srgbClr val="BFBCB5"/>
                      </a:solidFill>
                      <a:prstDash val="solid"/>
                      <a:round/>
                      <a:headEnd type="none" w="med" len="med"/>
                      <a:tailEnd type="none" w="med" len="med"/>
                    </a:lnB>
                    <a:solidFill>
                      <a:srgbClr val="EFECE3"/>
                    </a:solidFill>
                  </a:tcPr>
                </a:tc>
              </a:tr>
              <a:tr h="375890">
                <a:tc>
                  <a:txBody>
                    <a:bodyPr/>
                    <a:lstStyle/>
                    <a:p>
                      <a:pPr indent="0" marL="0">
                        <a:lnSpc>
                          <a:spcPts val="1905"/>
                        </a:lnSpc>
                        <a:buNone/>
                      </a:pPr>
                      <a:r>
                        <a:rPr lang="en-US" sz="1361" dirty="0">
                          <a:solidFill>
                            <a:srgbClr val="16202E"/>
                          </a:solidFill>
                          <a:latin typeface="IBM Plex Sans" pitchFamily="34" charset="0"/>
                          <a:ea typeface="IBM Plex Sans" pitchFamily="34" charset="-122"/>
                          <a:cs typeface="IBM Plex Sans" pitchFamily="34" charset="-120"/>
                        </a:rPr>
                        <a:t>Cites the gold passage</a:t>
                      </a:r>
                      <a:endParaRPr lang="en-US" sz="1361" dirty="0">
                        <a:latin typeface="IBM Plex Sans" charset="0"/>
                        <a:ea typeface="IBM Plex Sans" charset="0"/>
                        <a:cs typeface="IBM Plex Sans" charset="0"/>
                      </a:endParaRPr>
                    </a:p>
                  </a:txBody>
                  <a:tcPr marL="60480" marR="60480" marT="60480" marB="60480" anchor="t">
                    <a:lnL w="12700" cap="flat" cmpd="sng" algn="ctr">
                      <a:solidFill>
                        <a:srgbClr val="C4C4BF"/>
                      </a:solidFill>
                      <a:prstDash val="solid"/>
                      <a:round/>
                      <a:headEnd type="none" w="med" len="med"/>
                      <a:tailEnd type="none" w="med" len="med"/>
                    </a:lnL>
                    <a:lnR w="12700" cap="flat" cmpd="sng" algn="ctr">
                      <a:solidFill>
                        <a:srgbClr val="C4C4BF"/>
                      </a:solidFill>
                      <a:prstDash val="solid"/>
                      <a:round/>
                      <a:headEnd type="none" w="med" len="med"/>
                      <a:tailEnd type="none" w="med" len="med"/>
                    </a:lnR>
                    <a:lnT w="12700" cap="flat" cmpd="sng" algn="ctr">
                      <a:solidFill>
                        <a:srgbClr val="BFBCB5"/>
                      </a:solidFill>
                      <a:prstDash val="solid"/>
                      <a:round/>
                      <a:headEnd type="none" w="med" len="med"/>
                      <a:tailEnd type="none" w="med" len="med"/>
                    </a:lnT>
                    <a:lnB w="12700" cap="flat" cmpd="sng" algn="ctr">
                      <a:solidFill>
                        <a:srgbClr val="C4C4BF"/>
                      </a:solidFill>
                      <a:prstDash val="solid"/>
                      <a:round/>
                      <a:headEnd type="none" w="med" len="med"/>
                      <a:tailEnd type="none" w="med" len="med"/>
                    </a:lnB>
                  </a:tcPr>
                </a:tc>
                <a:tc>
                  <a:txBody>
                    <a:bodyPr/>
                    <a:lstStyle/>
                    <a:p>
                      <a:pPr algn="r" indent="0" marL="0">
                        <a:lnSpc>
                          <a:spcPts val="1905"/>
                        </a:lnSpc>
                        <a:buNone/>
                      </a:pPr>
                      <a:r>
                        <a:rPr lang="en-US" sz="1361" dirty="0">
                          <a:solidFill>
                            <a:srgbClr val="16202E"/>
                          </a:solidFill>
                          <a:latin typeface="IBM Plex Sans" pitchFamily="34" charset="0"/>
                          <a:ea typeface="IBM Plex Sans" pitchFamily="34" charset="-122"/>
                          <a:cs typeface="IBM Plex Sans" pitchFamily="34" charset="-120"/>
                        </a:rPr>
                        <a:t>0.72</a:t>
                      </a:r>
                      <a:endParaRPr lang="en-US" sz="1361" dirty="0">
                        <a:latin typeface="IBM Plex Sans" charset="0"/>
                        <a:ea typeface="IBM Plex Sans" charset="0"/>
                        <a:cs typeface="IBM Plex Sans" charset="0"/>
                      </a:endParaRPr>
                    </a:p>
                  </a:txBody>
                  <a:tcPr marL="60480" marR="60480" marT="60480" marB="60480" anchor="t">
                    <a:lnL w="12700" cap="flat" cmpd="sng" algn="ctr">
                      <a:solidFill>
                        <a:srgbClr val="C4C4BF"/>
                      </a:solidFill>
                      <a:prstDash val="solid"/>
                      <a:round/>
                      <a:headEnd type="none" w="med" len="med"/>
                      <a:tailEnd type="none" w="med" len="med"/>
                    </a:lnL>
                    <a:lnR w="12700" cap="flat" cmpd="sng" algn="ctr">
                      <a:solidFill>
                        <a:srgbClr val="C4C4BF"/>
                      </a:solidFill>
                      <a:prstDash val="solid"/>
                      <a:round/>
                      <a:headEnd type="none" w="med" len="med"/>
                      <a:tailEnd type="none" w="med" len="med"/>
                    </a:lnR>
                    <a:lnT w="12700" cap="flat" cmpd="sng" algn="ctr">
                      <a:solidFill>
                        <a:srgbClr val="BFBCB5"/>
                      </a:solidFill>
                      <a:prstDash val="solid"/>
                      <a:round/>
                      <a:headEnd type="none" w="med" len="med"/>
                      <a:tailEnd type="none" w="med" len="med"/>
                    </a:lnT>
                    <a:lnB w="12700" cap="flat" cmpd="sng" algn="ctr">
                      <a:solidFill>
                        <a:srgbClr val="C4C4BF"/>
                      </a:solidFill>
                      <a:prstDash val="solid"/>
                      <a:round/>
                      <a:headEnd type="none" w="med" len="med"/>
                      <a:tailEnd type="none" w="med" len="med"/>
                    </a:lnB>
                  </a:tcPr>
                </a:tc>
                <a:tc>
                  <a:txBody>
                    <a:bodyPr/>
                    <a:lstStyle/>
                    <a:p>
                      <a:pPr algn="r" indent="0" marL="0">
                        <a:lnSpc>
                          <a:spcPts val="1905"/>
                        </a:lnSpc>
                        <a:buNone/>
                      </a:pPr>
                      <a:r>
                        <a:rPr lang="en-US" sz="1361" dirty="0">
                          <a:solidFill>
                            <a:srgbClr val="16202E"/>
                          </a:solidFill>
                          <a:latin typeface="IBM Plex Sans" pitchFamily="34" charset="0"/>
                          <a:ea typeface="IBM Plex Sans" pitchFamily="34" charset="-122"/>
                          <a:cs typeface="IBM Plex Sans" pitchFamily="34" charset="-120"/>
                        </a:rPr>
                        <a:t>0.84</a:t>
                      </a:r>
                      <a:endParaRPr lang="en-US" sz="1361" dirty="0">
                        <a:latin typeface="IBM Plex Sans" charset="0"/>
                        <a:ea typeface="IBM Plex Sans" charset="0"/>
                        <a:cs typeface="IBM Plex Sans" charset="0"/>
                      </a:endParaRPr>
                    </a:p>
                  </a:txBody>
                  <a:tcPr marL="60480" marR="60480" marT="60480" marB="60480" anchor="t">
                    <a:lnL w="12700" cap="flat" cmpd="sng" algn="ctr">
                      <a:solidFill>
                        <a:srgbClr val="C4C4BF"/>
                      </a:solidFill>
                      <a:prstDash val="solid"/>
                      <a:round/>
                      <a:headEnd type="none" w="med" len="med"/>
                      <a:tailEnd type="none" w="med" len="med"/>
                    </a:lnL>
                    <a:lnR w="12700" cap="flat" cmpd="sng" algn="ctr">
                      <a:solidFill>
                        <a:srgbClr val="C4C4BF"/>
                      </a:solidFill>
                      <a:prstDash val="solid"/>
                      <a:round/>
                      <a:headEnd type="none" w="med" len="med"/>
                      <a:tailEnd type="none" w="med" len="med"/>
                    </a:lnR>
                    <a:lnT w="12700" cap="flat" cmpd="sng" algn="ctr">
                      <a:solidFill>
                        <a:srgbClr val="BFBCB5"/>
                      </a:solidFill>
                      <a:prstDash val="solid"/>
                      <a:round/>
                      <a:headEnd type="none" w="med" len="med"/>
                      <a:tailEnd type="none" w="med" len="med"/>
                    </a:lnT>
                    <a:lnB w="12700" cap="flat" cmpd="sng" algn="ctr">
                      <a:solidFill>
                        <a:srgbClr val="C4C4BF"/>
                      </a:solidFill>
                      <a:prstDash val="solid"/>
                      <a:round/>
                      <a:headEnd type="none" w="med" len="med"/>
                      <a:tailEnd type="none" w="med" len="med"/>
                    </a:lnB>
                  </a:tcPr>
                </a:tc>
                <a:tc>
                  <a:txBody>
                    <a:bodyPr/>
                    <a:lstStyle/>
                    <a:p>
                      <a:pPr algn="r" indent="0" marL="0">
                        <a:lnSpc>
                          <a:spcPts val="1905"/>
                        </a:lnSpc>
                        <a:buNone/>
                      </a:pPr>
                      <a:r>
                        <a:rPr lang="en-US" sz="1361" dirty="0">
                          <a:solidFill>
                            <a:srgbClr val="16202E"/>
                          </a:solidFill>
                          <a:latin typeface="IBM Plex Sans" pitchFamily="34" charset="0"/>
                          <a:ea typeface="IBM Plex Sans" pitchFamily="34" charset="-122"/>
                          <a:cs typeface="IBM Plex Sans" pitchFamily="34" charset="-120"/>
                        </a:rPr>
                        <a:t>+0.12</a:t>
                      </a:r>
                      <a:endParaRPr lang="en-US" sz="1361" dirty="0">
                        <a:latin typeface="IBM Plex Sans" charset="0"/>
                        <a:ea typeface="IBM Plex Sans" charset="0"/>
                        <a:cs typeface="IBM Plex Sans" charset="0"/>
                      </a:endParaRPr>
                    </a:p>
                  </a:txBody>
                  <a:tcPr marL="60480" marR="60480" marT="60480" marB="60480" anchor="t">
                    <a:lnL w="12700" cap="flat" cmpd="sng" algn="ctr">
                      <a:solidFill>
                        <a:srgbClr val="C4C4BF"/>
                      </a:solidFill>
                      <a:prstDash val="solid"/>
                      <a:round/>
                      <a:headEnd type="none" w="med" len="med"/>
                      <a:tailEnd type="none" w="med" len="med"/>
                    </a:lnL>
                    <a:lnR w="12700" cap="flat" cmpd="sng" algn="ctr">
                      <a:solidFill>
                        <a:srgbClr val="C4C4BF"/>
                      </a:solidFill>
                      <a:prstDash val="solid"/>
                      <a:round/>
                      <a:headEnd type="none" w="med" len="med"/>
                      <a:tailEnd type="none" w="med" len="med"/>
                    </a:lnR>
                    <a:lnT w="12700" cap="flat" cmpd="sng" algn="ctr">
                      <a:solidFill>
                        <a:srgbClr val="BFBCB5"/>
                      </a:solidFill>
                      <a:prstDash val="solid"/>
                      <a:round/>
                      <a:headEnd type="none" w="med" len="med"/>
                      <a:tailEnd type="none" w="med" len="med"/>
                    </a:lnT>
                    <a:lnB w="12700" cap="flat" cmpd="sng" algn="ctr">
                      <a:solidFill>
                        <a:srgbClr val="C4C4BF"/>
                      </a:solidFill>
                      <a:prstDash val="solid"/>
                      <a:round/>
                      <a:headEnd type="none" w="med" len="med"/>
                      <a:tailEnd type="none" w="med" len="med"/>
                    </a:lnB>
                  </a:tcPr>
                </a:tc>
                <a:tc>
                  <a:txBody>
                    <a:bodyPr/>
                    <a:lstStyle/>
                    <a:p>
                      <a:pPr algn="r" indent="0" marL="0">
                        <a:lnSpc>
                          <a:spcPts val="1905"/>
                        </a:lnSpc>
                        <a:buNone/>
                      </a:pPr>
                      <a:r>
                        <a:rPr lang="en-US" sz="1361" dirty="0">
                          <a:solidFill>
                            <a:srgbClr val="16202E"/>
                          </a:solidFill>
                          <a:latin typeface="IBM Plex Sans" pitchFamily="34" charset="0"/>
                          <a:ea typeface="IBM Plex Sans" pitchFamily="34" charset="-122"/>
                          <a:cs typeface="IBM Plex Sans" pitchFamily="34" charset="-120"/>
                        </a:rPr>
                        <a:t>−0.008 to +0.240</a:t>
                      </a:r>
                      <a:endParaRPr lang="en-US" sz="1361" dirty="0">
                        <a:latin typeface="IBM Plex Sans" charset="0"/>
                        <a:ea typeface="IBM Plex Sans" charset="0"/>
                        <a:cs typeface="IBM Plex Sans" charset="0"/>
                      </a:endParaRPr>
                    </a:p>
                  </a:txBody>
                  <a:tcPr marL="60480" marR="60480" marT="60480" marB="60480" anchor="t">
                    <a:lnL w="12700" cap="flat" cmpd="sng" algn="ctr">
                      <a:solidFill>
                        <a:srgbClr val="C4C4BF"/>
                      </a:solidFill>
                      <a:prstDash val="solid"/>
                      <a:round/>
                      <a:headEnd type="none" w="med" len="med"/>
                      <a:tailEnd type="none" w="med" len="med"/>
                    </a:lnL>
                    <a:lnR w="12700" cap="flat" cmpd="sng" algn="ctr">
                      <a:solidFill>
                        <a:srgbClr val="C4C4BF"/>
                      </a:solidFill>
                      <a:prstDash val="solid"/>
                      <a:round/>
                      <a:headEnd type="none" w="med" len="med"/>
                      <a:tailEnd type="none" w="med" len="med"/>
                    </a:lnR>
                    <a:lnT w="12700" cap="flat" cmpd="sng" algn="ctr">
                      <a:solidFill>
                        <a:srgbClr val="BFBCB5"/>
                      </a:solidFill>
                      <a:prstDash val="solid"/>
                      <a:round/>
                      <a:headEnd type="none" w="med" len="med"/>
                      <a:tailEnd type="none" w="med" len="med"/>
                    </a:lnT>
                    <a:lnB w="12700" cap="flat" cmpd="sng" algn="ctr">
                      <a:solidFill>
                        <a:srgbClr val="C4C4BF"/>
                      </a:solidFill>
                      <a:prstDash val="solid"/>
                      <a:round/>
                      <a:headEnd type="none" w="med" len="med"/>
                      <a:tailEnd type="none" w="med" len="med"/>
                    </a:lnB>
                  </a:tcPr>
                </a:tc>
                <a:tc>
                  <a:txBody>
                    <a:bodyPr/>
                    <a:lstStyle/>
                    <a:p>
                      <a:pPr algn="r" indent="0" marL="0">
                        <a:lnSpc>
                          <a:spcPts val="1905"/>
                        </a:lnSpc>
                        <a:buNone/>
                      </a:pPr>
                      <a:r>
                        <a:rPr lang="en-US" sz="1361" dirty="0">
                          <a:solidFill>
                            <a:srgbClr val="16202E"/>
                          </a:solidFill>
                          <a:latin typeface="IBM Plex Sans" pitchFamily="34" charset="0"/>
                          <a:ea typeface="IBM Plex Sans" pitchFamily="34" charset="-122"/>
                          <a:cs typeface="IBM Plex Sans" pitchFamily="34" charset="-120"/>
                        </a:rPr>
                        <a:t>15 / 4</a:t>
                      </a:r>
                      <a:endParaRPr lang="en-US" sz="1361" dirty="0">
                        <a:latin typeface="IBM Plex Sans" charset="0"/>
                        <a:ea typeface="IBM Plex Sans" charset="0"/>
                        <a:cs typeface="IBM Plex Sans" charset="0"/>
                      </a:endParaRPr>
                    </a:p>
                  </a:txBody>
                  <a:tcPr marL="60480" marR="60480" marT="60480" marB="60480" anchor="t">
                    <a:lnL w="12700" cap="flat" cmpd="sng" algn="ctr">
                      <a:solidFill>
                        <a:srgbClr val="C4C4BF"/>
                      </a:solidFill>
                      <a:prstDash val="solid"/>
                      <a:round/>
                      <a:headEnd type="none" w="med" len="med"/>
                      <a:tailEnd type="none" w="med" len="med"/>
                    </a:lnL>
                    <a:lnR w="12700" cap="flat" cmpd="sng" algn="ctr">
                      <a:solidFill>
                        <a:srgbClr val="C4C4BF"/>
                      </a:solidFill>
                      <a:prstDash val="solid"/>
                      <a:round/>
                      <a:headEnd type="none" w="med" len="med"/>
                      <a:tailEnd type="none" w="med" len="med"/>
                    </a:lnR>
                    <a:lnT w="12700" cap="flat" cmpd="sng" algn="ctr">
                      <a:solidFill>
                        <a:srgbClr val="BFBCB5"/>
                      </a:solidFill>
                      <a:prstDash val="solid"/>
                      <a:round/>
                      <a:headEnd type="none" w="med" len="med"/>
                      <a:tailEnd type="none" w="med" len="med"/>
                    </a:lnT>
                    <a:lnB w="12700" cap="flat" cmpd="sng" algn="ctr">
                      <a:solidFill>
                        <a:srgbClr val="C4C4BF"/>
                      </a:solidFill>
                      <a:prstDash val="solid"/>
                      <a:round/>
                      <a:headEnd type="none" w="med" len="med"/>
                      <a:tailEnd type="none" w="med" len="med"/>
                    </a:lnB>
                  </a:tcPr>
                </a:tc>
              </a:tr>
              <a:tr h="375890">
                <a:tc>
                  <a:txBody>
                    <a:bodyPr/>
                    <a:lstStyle/>
                    <a:p>
                      <a:pPr indent="0" marL="0">
                        <a:lnSpc>
                          <a:spcPts val="1905"/>
                        </a:lnSpc>
                        <a:buNone/>
                      </a:pPr>
                      <a:r>
                        <a:rPr lang="en-US" sz="1361" dirty="0">
                          <a:solidFill>
                            <a:srgbClr val="16202E"/>
                          </a:solidFill>
                          <a:latin typeface="IBM Plex Sans" pitchFamily="34" charset="0"/>
                          <a:ea typeface="IBM Plex Sans" pitchFamily="34" charset="-122"/>
                          <a:cs typeface="IBM Plex Sans" pitchFamily="34" charset="-120"/>
                        </a:rPr>
                        <a:t>Quotes found in passages</a:t>
                      </a:r>
                      <a:endParaRPr lang="en-US" sz="1361" dirty="0">
                        <a:latin typeface="IBM Plex Sans" charset="0"/>
                        <a:ea typeface="IBM Plex Sans" charset="0"/>
                        <a:cs typeface="IBM Plex Sans" charset="0"/>
                      </a:endParaRPr>
                    </a:p>
                  </a:txBody>
                  <a:tcPr marL="60480" marR="60480" marT="60480" marB="60480" anchor="t">
                    <a:lnL w="12700" cap="flat" cmpd="sng" algn="ctr">
                      <a:solidFill>
                        <a:srgbClr val="C4C4BF"/>
                      </a:solidFill>
                      <a:prstDash val="solid"/>
                      <a:round/>
                      <a:headEnd type="none" w="med" len="med"/>
                      <a:tailEnd type="none" w="med" len="med"/>
                    </a:lnL>
                    <a:lnR w="12700" cap="flat" cmpd="sng" algn="ctr">
                      <a:solidFill>
                        <a:srgbClr val="BFBCB5"/>
                      </a:solidFill>
                      <a:prstDash val="solid"/>
                      <a:round/>
                      <a:headEnd type="none" w="med" len="med"/>
                      <a:tailEnd type="none" w="med" len="med"/>
                    </a:lnR>
                    <a:lnT w="12700" cap="flat" cmpd="sng" algn="ctr">
                      <a:solidFill>
                        <a:srgbClr val="C4C4BF"/>
                      </a:solidFill>
                      <a:prstDash val="solid"/>
                      <a:round/>
                      <a:headEnd type="none" w="med" len="med"/>
                      <a:tailEnd type="none" w="med" len="med"/>
                    </a:lnT>
                    <a:lnB w="12700" cap="flat" cmpd="sng" algn="ctr">
                      <a:solidFill>
                        <a:srgbClr val="BFBCB5"/>
                      </a:solidFill>
                      <a:prstDash val="solid"/>
                      <a:round/>
                      <a:headEnd type="none" w="med" len="med"/>
                      <a:tailEnd type="none" w="med" len="med"/>
                    </a:lnB>
                    <a:solidFill>
                      <a:srgbClr val="EFECE3"/>
                    </a:solidFill>
                  </a:tcPr>
                </a:tc>
                <a:tc>
                  <a:txBody>
                    <a:bodyPr/>
                    <a:lstStyle/>
                    <a:p>
                      <a:pPr algn="r" indent="0" marL="0">
                        <a:lnSpc>
                          <a:spcPts val="1905"/>
                        </a:lnSpc>
                        <a:buNone/>
                      </a:pPr>
                      <a:r>
                        <a:rPr lang="en-US" sz="1361" dirty="0">
                          <a:solidFill>
                            <a:srgbClr val="16202E"/>
                          </a:solidFill>
                          <a:latin typeface="IBM Plex Sans" pitchFamily="34" charset="0"/>
                          <a:ea typeface="IBM Plex Sans" pitchFamily="34" charset="-122"/>
                          <a:cs typeface="IBM Plex Sans" pitchFamily="34" charset="-120"/>
                        </a:rPr>
                        <a:t>0.87</a:t>
                      </a:r>
                      <a:endParaRPr lang="en-US" sz="1361" dirty="0">
                        <a:latin typeface="IBM Plex Sans" charset="0"/>
                        <a:ea typeface="IBM Plex Sans" charset="0"/>
                        <a:cs typeface="IBM Plex Sans" charset="0"/>
                      </a:endParaRPr>
                    </a:p>
                  </a:txBody>
                  <a:tcPr marL="60480" marR="60480" marT="60480" marB="60480" anchor="t">
                    <a:lnL w="12700" cap="flat" cmpd="sng" algn="ctr">
                      <a:solidFill>
                        <a:srgbClr val="BFBCB5"/>
                      </a:solidFill>
                      <a:prstDash val="solid"/>
                      <a:round/>
                      <a:headEnd type="none" w="med" len="med"/>
                      <a:tailEnd type="none" w="med" len="med"/>
                    </a:lnL>
                    <a:lnR w="12700" cap="flat" cmpd="sng" algn="ctr">
                      <a:solidFill>
                        <a:srgbClr val="BFBCB5"/>
                      </a:solidFill>
                      <a:prstDash val="solid"/>
                      <a:round/>
                      <a:headEnd type="none" w="med" len="med"/>
                      <a:tailEnd type="none" w="med" len="med"/>
                    </a:lnR>
                    <a:lnT w="12700" cap="flat" cmpd="sng" algn="ctr">
                      <a:solidFill>
                        <a:srgbClr val="C4C4BF"/>
                      </a:solidFill>
                      <a:prstDash val="solid"/>
                      <a:round/>
                      <a:headEnd type="none" w="med" len="med"/>
                      <a:tailEnd type="none" w="med" len="med"/>
                    </a:lnT>
                    <a:lnB w="12700" cap="flat" cmpd="sng" algn="ctr">
                      <a:solidFill>
                        <a:srgbClr val="BFBCB5"/>
                      </a:solidFill>
                      <a:prstDash val="solid"/>
                      <a:round/>
                      <a:headEnd type="none" w="med" len="med"/>
                      <a:tailEnd type="none" w="med" len="med"/>
                    </a:lnB>
                    <a:solidFill>
                      <a:srgbClr val="EFECE3"/>
                    </a:solidFill>
                  </a:tcPr>
                </a:tc>
                <a:tc>
                  <a:txBody>
                    <a:bodyPr/>
                    <a:lstStyle/>
                    <a:p>
                      <a:pPr algn="r" indent="0" marL="0">
                        <a:lnSpc>
                          <a:spcPts val="1905"/>
                        </a:lnSpc>
                        <a:buNone/>
                      </a:pPr>
                      <a:r>
                        <a:rPr lang="en-US" sz="1361" dirty="0">
                          <a:solidFill>
                            <a:srgbClr val="16202E"/>
                          </a:solidFill>
                          <a:latin typeface="IBM Plex Sans" pitchFamily="34" charset="0"/>
                          <a:ea typeface="IBM Plex Sans" pitchFamily="34" charset="-122"/>
                          <a:cs typeface="IBM Plex Sans" pitchFamily="34" charset="-120"/>
                        </a:rPr>
                        <a:t>0.87</a:t>
                      </a:r>
                      <a:endParaRPr lang="en-US" sz="1361" dirty="0">
                        <a:latin typeface="IBM Plex Sans" charset="0"/>
                        <a:ea typeface="IBM Plex Sans" charset="0"/>
                        <a:cs typeface="IBM Plex Sans" charset="0"/>
                      </a:endParaRPr>
                    </a:p>
                  </a:txBody>
                  <a:tcPr marL="60480" marR="60480" marT="60480" marB="60480" anchor="t">
                    <a:lnL w="12700" cap="flat" cmpd="sng" algn="ctr">
                      <a:solidFill>
                        <a:srgbClr val="BFBCB5"/>
                      </a:solidFill>
                      <a:prstDash val="solid"/>
                      <a:round/>
                      <a:headEnd type="none" w="med" len="med"/>
                      <a:tailEnd type="none" w="med" len="med"/>
                    </a:lnL>
                    <a:lnR w="12700" cap="flat" cmpd="sng" algn="ctr">
                      <a:solidFill>
                        <a:srgbClr val="BFBCB5"/>
                      </a:solidFill>
                      <a:prstDash val="solid"/>
                      <a:round/>
                      <a:headEnd type="none" w="med" len="med"/>
                      <a:tailEnd type="none" w="med" len="med"/>
                    </a:lnR>
                    <a:lnT w="12700" cap="flat" cmpd="sng" algn="ctr">
                      <a:solidFill>
                        <a:srgbClr val="C4C4BF"/>
                      </a:solidFill>
                      <a:prstDash val="solid"/>
                      <a:round/>
                      <a:headEnd type="none" w="med" len="med"/>
                      <a:tailEnd type="none" w="med" len="med"/>
                    </a:lnT>
                    <a:lnB w="12700" cap="flat" cmpd="sng" algn="ctr">
                      <a:solidFill>
                        <a:srgbClr val="BFBCB5"/>
                      </a:solidFill>
                      <a:prstDash val="solid"/>
                      <a:round/>
                      <a:headEnd type="none" w="med" len="med"/>
                      <a:tailEnd type="none" w="med" len="med"/>
                    </a:lnB>
                    <a:solidFill>
                      <a:srgbClr val="EFECE3"/>
                    </a:solidFill>
                  </a:tcPr>
                </a:tc>
                <a:tc>
                  <a:txBody>
                    <a:bodyPr/>
                    <a:lstStyle/>
                    <a:p>
                      <a:pPr algn="r" indent="0" marL="0">
                        <a:lnSpc>
                          <a:spcPts val="1905"/>
                        </a:lnSpc>
                        <a:buNone/>
                      </a:pPr>
                      <a:r>
                        <a:rPr lang="en-US" sz="1361" dirty="0">
                          <a:solidFill>
                            <a:srgbClr val="16202E"/>
                          </a:solidFill>
                          <a:latin typeface="IBM Plex Sans" pitchFamily="34" charset="0"/>
                          <a:ea typeface="IBM Plex Sans" pitchFamily="34" charset="-122"/>
                          <a:cs typeface="IBM Plex Sans" pitchFamily="34" charset="-120"/>
                        </a:rPr>
                        <a:t>0.00</a:t>
                      </a:r>
                      <a:endParaRPr lang="en-US" sz="1361" dirty="0">
                        <a:latin typeface="IBM Plex Sans" charset="0"/>
                        <a:ea typeface="IBM Plex Sans" charset="0"/>
                        <a:cs typeface="IBM Plex Sans" charset="0"/>
                      </a:endParaRPr>
                    </a:p>
                  </a:txBody>
                  <a:tcPr marL="60480" marR="60480" marT="60480" marB="60480" anchor="t">
                    <a:lnL w="12700" cap="flat" cmpd="sng" algn="ctr">
                      <a:solidFill>
                        <a:srgbClr val="BFBCB5"/>
                      </a:solidFill>
                      <a:prstDash val="solid"/>
                      <a:round/>
                      <a:headEnd type="none" w="med" len="med"/>
                      <a:tailEnd type="none" w="med" len="med"/>
                    </a:lnL>
                    <a:lnR w="12700" cap="flat" cmpd="sng" algn="ctr">
                      <a:solidFill>
                        <a:srgbClr val="BFBCB5"/>
                      </a:solidFill>
                      <a:prstDash val="solid"/>
                      <a:round/>
                      <a:headEnd type="none" w="med" len="med"/>
                      <a:tailEnd type="none" w="med" len="med"/>
                    </a:lnR>
                    <a:lnT w="12700" cap="flat" cmpd="sng" algn="ctr">
                      <a:solidFill>
                        <a:srgbClr val="C4C4BF"/>
                      </a:solidFill>
                      <a:prstDash val="solid"/>
                      <a:round/>
                      <a:headEnd type="none" w="med" len="med"/>
                      <a:tailEnd type="none" w="med" len="med"/>
                    </a:lnT>
                    <a:lnB w="12700" cap="flat" cmpd="sng" algn="ctr">
                      <a:solidFill>
                        <a:srgbClr val="BFBCB5"/>
                      </a:solidFill>
                      <a:prstDash val="solid"/>
                      <a:round/>
                      <a:headEnd type="none" w="med" len="med"/>
                      <a:tailEnd type="none" w="med" len="med"/>
                    </a:lnB>
                    <a:solidFill>
                      <a:srgbClr val="EFECE3"/>
                    </a:solidFill>
                  </a:tcPr>
                </a:tc>
                <a:tc>
                  <a:txBody>
                    <a:bodyPr/>
                    <a:lstStyle/>
                    <a:p>
                      <a:pPr algn="r" indent="0" marL="0">
                        <a:lnSpc>
                          <a:spcPts val="1905"/>
                        </a:lnSpc>
                        <a:buNone/>
                      </a:pPr>
                      <a:r>
                        <a:rPr lang="en-US" sz="1361" dirty="0">
                          <a:solidFill>
                            <a:srgbClr val="16202E"/>
                          </a:solidFill>
                          <a:latin typeface="IBM Plex Sans" pitchFamily="34" charset="0"/>
                          <a:ea typeface="IBM Plex Sans" pitchFamily="34" charset="-122"/>
                          <a:cs typeface="IBM Plex Sans" pitchFamily="34" charset="-120"/>
                        </a:rPr>
                        <a:t>−0.104 to +0.097</a:t>
                      </a:r>
                      <a:endParaRPr lang="en-US" sz="1361" dirty="0">
                        <a:latin typeface="IBM Plex Sans" charset="0"/>
                        <a:ea typeface="IBM Plex Sans" charset="0"/>
                        <a:cs typeface="IBM Plex Sans" charset="0"/>
                      </a:endParaRPr>
                    </a:p>
                  </a:txBody>
                  <a:tcPr marL="60480" marR="60480" marT="60480" marB="60480" anchor="t">
                    <a:lnL w="12700" cap="flat" cmpd="sng" algn="ctr">
                      <a:solidFill>
                        <a:srgbClr val="BFBCB5"/>
                      </a:solidFill>
                      <a:prstDash val="solid"/>
                      <a:round/>
                      <a:headEnd type="none" w="med" len="med"/>
                      <a:tailEnd type="none" w="med" len="med"/>
                    </a:lnL>
                    <a:lnR w="12700" cap="flat" cmpd="sng" algn="ctr">
                      <a:solidFill>
                        <a:srgbClr val="BFBCB5"/>
                      </a:solidFill>
                      <a:prstDash val="solid"/>
                      <a:round/>
                      <a:headEnd type="none" w="med" len="med"/>
                      <a:tailEnd type="none" w="med" len="med"/>
                    </a:lnR>
                    <a:lnT w="12700" cap="flat" cmpd="sng" algn="ctr">
                      <a:solidFill>
                        <a:srgbClr val="C4C4BF"/>
                      </a:solidFill>
                      <a:prstDash val="solid"/>
                      <a:round/>
                      <a:headEnd type="none" w="med" len="med"/>
                      <a:tailEnd type="none" w="med" len="med"/>
                    </a:lnT>
                    <a:lnB w="12700" cap="flat" cmpd="sng" algn="ctr">
                      <a:solidFill>
                        <a:srgbClr val="BFBCB5"/>
                      </a:solidFill>
                      <a:prstDash val="solid"/>
                      <a:round/>
                      <a:headEnd type="none" w="med" len="med"/>
                      <a:tailEnd type="none" w="med" len="med"/>
                    </a:lnB>
                    <a:solidFill>
                      <a:srgbClr val="EFECE3"/>
                    </a:solidFill>
                  </a:tcPr>
                </a:tc>
                <a:tc>
                  <a:txBody>
                    <a:bodyPr/>
                    <a:lstStyle/>
                    <a:p>
                      <a:pPr algn="r" indent="0" marL="0">
                        <a:lnSpc>
                          <a:spcPts val="1905"/>
                        </a:lnSpc>
                        <a:buNone/>
                      </a:pPr>
                      <a:r>
                        <a:rPr lang="en-US" sz="1361" dirty="0">
                          <a:solidFill>
                            <a:srgbClr val="16202E"/>
                          </a:solidFill>
                          <a:latin typeface="IBM Plex Sans" pitchFamily="34" charset="0"/>
                          <a:ea typeface="IBM Plex Sans" pitchFamily="34" charset="-122"/>
                          <a:cs typeface="IBM Plex Sans" pitchFamily="34" charset="-120"/>
                        </a:rPr>
                        <a:t>7 / 7</a:t>
                      </a:r>
                      <a:endParaRPr lang="en-US" sz="1361" dirty="0">
                        <a:latin typeface="IBM Plex Sans" charset="0"/>
                        <a:ea typeface="IBM Plex Sans" charset="0"/>
                        <a:cs typeface="IBM Plex Sans" charset="0"/>
                      </a:endParaRPr>
                    </a:p>
                  </a:txBody>
                  <a:tcPr marL="60480" marR="60480" marT="60480" marB="60480" anchor="t">
                    <a:lnL w="12700" cap="flat" cmpd="sng" algn="ctr">
                      <a:solidFill>
                        <a:srgbClr val="BFBCB5"/>
                      </a:solidFill>
                      <a:prstDash val="solid"/>
                      <a:round/>
                      <a:headEnd type="none" w="med" len="med"/>
                      <a:tailEnd type="none" w="med" len="med"/>
                    </a:lnL>
                    <a:lnR w="12700" cap="flat" cmpd="sng" algn="ctr">
                      <a:solidFill>
                        <a:srgbClr val="BFBCB5"/>
                      </a:solidFill>
                      <a:prstDash val="solid"/>
                      <a:round/>
                      <a:headEnd type="none" w="med" len="med"/>
                      <a:tailEnd type="none" w="med" len="med"/>
                    </a:lnR>
                    <a:lnT w="12700" cap="flat" cmpd="sng" algn="ctr">
                      <a:solidFill>
                        <a:srgbClr val="C4C4BF"/>
                      </a:solidFill>
                      <a:prstDash val="solid"/>
                      <a:round/>
                      <a:headEnd type="none" w="med" len="med"/>
                      <a:tailEnd type="none" w="med" len="med"/>
                    </a:lnT>
                    <a:lnB w="12700" cap="flat" cmpd="sng" algn="ctr">
                      <a:solidFill>
                        <a:srgbClr val="BFBCB5"/>
                      </a:solidFill>
                      <a:prstDash val="solid"/>
                      <a:round/>
                      <a:headEnd type="none" w="med" len="med"/>
                      <a:tailEnd type="none" w="med" len="med"/>
                    </a:lnB>
                    <a:solidFill>
                      <a:srgbClr val="EFECE3"/>
                    </a:solidFill>
                  </a:tcPr>
                </a:tc>
              </a:tr>
              <a:tr h="375890">
                <a:tc>
                  <a:txBody>
                    <a:bodyPr/>
                    <a:lstStyle/>
                    <a:p>
                      <a:pPr indent="0" marL="0">
                        <a:lnSpc>
                          <a:spcPts val="1905"/>
                        </a:lnSpc>
                        <a:buNone/>
                      </a:pPr>
                      <a:r>
                        <a:rPr lang="en-US" sz="1361" dirty="0">
                          <a:solidFill>
                            <a:srgbClr val="16202E"/>
                          </a:solidFill>
                          <a:latin typeface="IBM Plex Sans" pitchFamily="34" charset="0"/>
                          <a:ea typeface="IBM Plex Sans" pitchFamily="34" charset="-122"/>
                          <a:cs typeface="IBM Plex Sans" pitchFamily="34" charset="-120"/>
                        </a:rPr>
                        <a:t>CoT format followed</a:t>
                      </a:r>
                      <a:endParaRPr lang="en-US" sz="1361" dirty="0">
                        <a:latin typeface="IBM Plex Sans" charset="0"/>
                        <a:ea typeface="IBM Plex Sans" charset="0"/>
                        <a:cs typeface="IBM Plex Sans" charset="0"/>
                      </a:endParaRPr>
                    </a:p>
                  </a:txBody>
                  <a:tcPr marL="60480" marR="60480" marT="60480" marB="60480" anchor="t">
                    <a:lnL w="12700" cap="flat" cmpd="sng" algn="ctr">
                      <a:solidFill>
                        <a:srgbClr val="C4C4BF"/>
                      </a:solidFill>
                      <a:prstDash val="solid"/>
                      <a:round/>
                      <a:headEnd type="none" w="med" len="med"/>
                      <a:tailEnd type="none" w="med" len="med"/>
                    </a:lnL>
                    <a:lnR w="12700" cap="flat" cmpd="sng" algn="ctr">
                      <a:solidFill>
                        <a:srgbClr val="C4C4BF"/>
                      </a:solidFill>
                      <a:prstDash val="solid"/>
                      <a:round/>
                      <a:headEnd type="none" w="med" len="med"/>
                      <a:tailEnd type="none" w="med" len="med"/>
                    </a:lnR>
                    <a:lnT w="12700" cap="flat" cmpd="sng" algn="ctr">
                      <a:solidFill>
                        <a:srgbClr val="BFBCB5"/>
                      </a:solidFill>
                      <a:prstDash val="solid"/>
                      <a:round/>
                      <a:headEnd type="none" w="med" len="med"/>
                      <a:tailEnd type="none" w="med" len="med"/>
                    </a:lnT>
                    <a:lnB w="12700" cap="flat" cmpd="sng" algn="ctr">
                      <a:solidFill>
                        <a:srgbClr val="C4C4BF"/>
                      </a:solidFill>
                      <a:prstDash val="solid"/>
                      <a:round/>
                      <a:headEnd type="none" w="med" len="med"/>
                      <a:tailEnd type="none" w="med" len="med"/>
                    </a:lnB>
                  </a:tcPr>
                </a:tc>
                <a:tc>
                  <a:txBody>
                    <a:bodyPr/>
                    <a:lstStyle/>
                    <a:p>
                      <a:pPr algn="r" indent="0" marL="0">
                        <a:lnSpc>
                          <a:spcPts val="1905"/>
                        </a:lnSpc>
                        <a:buNone/>
                      </a:pPr>
                      <a:r>
                        <a:rPr lang="en-US" sz="1361" dirty="0">
                          <a:solidFill>
                            <a:srgbClr val="16202E"/>
                          </a:solidFill>
                          <a:latin typeface="IBM Plex Sans" pitchFamily="34" charset="0"/>
                          <a:ea typeface="IBM Plex Sans" pitchFamily="34" charset="-122"/>
                          <a:cs typeface="IBM Plex Sans" pitchFamily="34" charset="-120"/>
                        </a:rPr>
                        <a:t>1.00</a:t>
                      </a:r>
                      <a:endParaRPr lang="en-US" sz="1361" dirty="0">
                        <a:latin typeface="IBM Plex Sans" charset="0"/>
                        <a:ea typeface="IBM Plex Sans" charset="0"/>
                        <a:cs typeface="IBM Plex Sans" charset="0"/>
                      </a:endParaRPr>
                    </a:p>
                  </a:txBody>
                  <a:tcPr marL="60480" marR="60480" marT="60480" marB="60480" anchor="t">
                    <a:lnL w="12700" cap="flat" cmpd="sng" algn="ctr">
                      <a:solidFill>
                        <a:srgbClr val="C4C4BF"/>
                      </a:solidFill>
                      <a:prstDash val="solid"/>
                      <a:round/>
                      <a:headEnd type="none" w="med" len="med"/>
                      <a:tailEnd type="none" w="med" len="med"/>
                    </a:lnL>
                    <a:lnR w="12700" cap="flat" cmpd="sng" algn="ctr">
                      <a:solidFill>
                        <a:srgbClr val="C4C4BF"/>
                      </a:solidFill>
                      <a:prstDash val="solid"/>
                      <a:round/>
                      <a:headEnd type="none" w="med" len="med"/>
                      <a:tailEnd type="none" w="med" len="med"/>
                    </a:lnR>
                    <a:lnT w="12700" cap="flat" cmpd="sng" algn="ctr">
                      <a:solidFill>
                        <a:srgbClr val="BFBCB5"/>
                      </a:solidFill>
                      <a:prstDash val="solid"/>
                      <a:round/>
                      <a:headEnd type="none" w="med" len="med"/>
                      <a:tailEnd type="none" w="med" len="med"/>
                    </a:lnT>
                    <a:lnB w="12700" cap="flat" cmpd="sng" algn="ctr">
                      <a:solidFill>
                        <a:srgbClr val="C4C4BF"/>
                      </a:solidFill>
                      <a:prstDash val="solid"/>
                      <a:round/>
                      <a:headEnd type="none" w="med" len="med"/>
                      <a:tailEnd type="none" w="med" len="med"/>
                    </a:lnB>
                  </a:tcPr>
                </a:tc>
                <a:tc>
                  <a:txBody>
                    <a:bodyPr/>
                    <a:lstStyle/>
                    <a:p>
                      <a:pPr algn="r" indent="0" marL="0">
                        <a:lnSpc>
                          <a:spcPts val="1905"/>
                        </a:lnSpc>
                        <a:buNone/>
                      </a:pPr>
                      <a:r>
                        <a:rPr lang="en-US" sz="1361" dirty="0">
                          <a:solidFill>
                            <a:srgbClr val="16202E"/>
                          </a:solidFill>
                          <a:latin typeface="IBM Plex Sans" pitchFamily="34" charset="0"/>
                          <a:ea typeface="IBM Plex Sans" pitchFamily="34" charset="-122"/>
                          <a:cs typeface="IBM Plex Sans" pitchFamily="34" charset="-120"/>
                        </a:rPr>
                        <a:t>1.00</a:t>
                      </a:r>
                      <a:endParaRPr lang="en-US" sz="1361" dirty="0">
                        <a:latin typeface="IBM Plex Sans" charset="0"/>
                        <a:ea typeface="IBM Plex Sans" charset="0"/>
                        <a:cs typeface="IBM Plex Sans" charset="0"/>
                      </a:endParaRPr>
                    </a:p>
                  </a:txBody>
                  <a:tcPr marL="60480" marR="60480" marT="60480" marB="60480" anchor="t">
                    <a:lnL w="12700" cap="flat" cmpd="sng" algn="ctr">
                      <a:solidFill>
                        <a:srgbClr val="C4C4BF"/>
                      </a:solidFill>
                      <a:prstDash val="solid"/>
                      <a:round/>
                      <a:headEnd type="none" w="med" len="med"/>
                      <a:tailEnd type="none" w="med" len="med"/>
                    </a:lnL>
                    <a:lnR w="12700" cap="flat" cmpd="sng" algn="ctr">
                      <a:solidFill>
                        <a:srgbClr val="C4C4BF"/>
                      </a:solidFill>
                      <a:prstDash val="solid"/>
                      <a:round/>
                      <a:headEnd type="none" w="med" len="med"/>
                      <a:tailEnd type="none" w="med" len="med"/>
                    </a:lnR>
                    <a:lnT w="12700" cap="flat" cmpd="sng" algn="ctr">
                      <a:solidFill>
                        <a:srgbClr val="BFBCB5"/>
                      </a:solidFill>
                      <a:prstDash val="solid"/>
                      <a:round/>
                      <a:headEnd type="none" w="med" len="med"/>
                      <a:tailEnd type="none" w="med" len="med"/>
                    </a:lnT>
                    <a:lnB w="12700" cap="flat" cmpd="sng" algn="ctr">
                      <a:solidFill>
                        <a:srgbClr val="C4C4BF"/>
                      </a:solidFill>
                      <a:prstDash val="solid"/>
                      <a:round/>
                      <a:headEnd type="none" w="med" len="med"/>
                      <a:tailEnd type="none" w="med" len="med"/>
                    </a:lnB>
                  </a:tcPr>
                </a:tc>
                <a:tc>
                  <a:txBody>
                    <a:bodyPr/>
                    <a:lstStyle/>
                    <a:p>
                      <a:pPr algn="r" indent="0" marL="0">
                        <a:lnSpc>
                          <a:spcPts val="1905"/>
                        </a:lnSpc>
                        <a:buNone/>
                      </a:pPr>
                      <a:r>
                        <a:rPr lang="en-US" sz="1361" dirty="0">
                          <a:solidFill>
                            <a:srgbClr val="16202E"/>
                          </a:solidFill>
                          <a:latin typeface="IBM Plex Sans" pitchFamily="34" charset="0"/>
                          <a:ea typeface="IBM Plex Sans" pitchFamily="34" charset="-122"/>
                          <a:cs typeface="IBM Plex Sans" pitchFamily="34" charset="-120"/>
                        </a:rPr>
                        <a:t>0.00</a:t>
                      </a:r>
                      <a:endParaRPr lang="en-US" sz="1361" dirty="0">
                        <a:latin typeface="IBM Plex Sans" charset="0"/>
                        <a:ea typeface="IBM Plex Sans" charset="0"/>
                        <a:cs typeface="IBM Plex Sans" charset="0"/>
                      </a:endParaRPr>
                    </a:p>
                  </a:txBody>
                  <a:tcPr marL="60480" marR="60480" marT="60480" marB="60480" anchor="t">
                    <a:lnL w="12700" cap="flat" cmpd="sng" algn="ctr">
                      <a:solidFill>
                        <a:srgbClr val="C4C4BF"/>
                      </a:solidFill>
                      <a:prstDash val="solid"/>
                      <a:round/>
                      <a:headEnd type="none" w="med" len="med"/>
                      <a:tailEnd type="none" w="med" len="med"/>
                    </a:lnL>
                    <a:lnR w="12700" cap="flat" cmpd="sng" algn="ctr">
                      <a:solidFill>
                        <a:srgbClr val="C4C4BF"/>
                      </a:solidFill>
                      <a:prstDash val="solid"/>
                      <a:round/>
                      <a:headEnd type="none" w="med" len="med"/>
                      <a:tailEnd type="none" w="med" len="med"/>
                    </a:lnR>
                    <a:lnT w="12700" cap="flat" cmpd="sng" algn="ctr">
                      <a:solidFill>
                        <a:srgbClr val="BFBCB5"/>
                      </a:solidFill>
                      <a:prstDash val="solid"/>
                      <a:round/>
                      <a:headEnd type="none" w="med" len="med"/>
                      <a:tailEnd type="none" w="med" len="med"/>
                    </a:lnT>
                    <a:lnB w="12700" cap="flat" cmpd="sng" algn="ctr">
                      <a:solidFill>
                        <a:srgbClr val="C4C4BF"/>
                      </a:solidFill>
                      <a:prstDash val="solid"/>
                      <a:round/>
                      <a:headEnd type="none" w="med" len="med"/>
                      <a:tailEnd type="none" w="med" len="med"/>
                    </a:lnB>
                  </a:tcPr>
                </a:tc>
                <a:tc>
                  <a:txBody>
                    <a:bodyPr/>
                    <a:lstStyle/>
                    <a:p>
                      <a:pPr algn="r" indent="0" marL="0">
                        <a:lnSpc>
                          <a:spcPts val="1905"/>
                        </a:lnSpc>
                        <a:buNone/>
                      </a:pPr>
                      <a:r>
                        <a:rPr lang="en-US" sz="1361" dirty="0">
                          <a:solidFill>
                            <a:srgbClr val="16202E"/>
                          </a:solidFill>
                          <a:latin typeface="IBM Plex Sans" pitchFamily="34" charset="0"/>
                          <a:ea typeface="IBM Plex Sans" pitchFamily="34" charset="-122"/>
                          <a:cs typeface="IBM Plex Sans" pitchFamily="34" charset="-120"/>
                        </a:rPr>
                        <a:t>–</a:t>
                      </a:r>
                      <a:endParaRPr lang="en-US" sz="1361" dirty="0">
                        <a:latin typeface="IBM Plex Sans" charset="0"/>
                        <a:ea typeface="IBM Plex Sans" charset="0"/>
                        <a:cs typeface="IBM Plex Sans" charset="0"/>
                      </a:endParaRPr>
                    </a:p>
                  </a:txBody>
                  <a:tcPr marL="60480" marR="60480" marT="60480" marB="60480" anchor="t">
                    <a:lnL w="12700" cap="flat" cmpd="sng" algn="ctr">
                      <a:solidFill>
                        <a:srgbClr val="C4C4BF"/>
                      </a:solidFill>
                      <a:prstDash val="solid"/>
                      <a:round/>
                      <a:headEnd type="none" w="med" len="med"/>
                      <a:tailEnd type="none" w="med" len="med"/>
                    </a:lnL>
                    <a:lnR w="12700" cap="flat" cmpd="sng" algn="ctr">
                      <a:solidFill>
                        <a:srgbClr val="C4C4BF"/>
                      </a:solidFill>
                      <a:prstDash val="solid"/>
                      <a:round/>
                      <a:headEnd type="none" w="med" len="med"/>
                      <a:tailEnd type="none" w="med" len="med"/>
                    </a:lnR>
                    <a:lnT w="12700" cap="flat" cmpd="sng" algn="ctr">
                      <a:solidFill>
                        <a:srgbClr val="BFBCB5"/>
                      </a:solidFill>
                      <a:prstDash val="solid"/>
                      <a:round/>
                      <a:headEnd type="none" w="med" len="med"/>
                      <a:tailEnd type="none" w="med" len="med"/>
                    </a:lnT>
                    <a:lnB w="12700" cap="flat" cmpd="sng" algn="ctr">
                      <a:solidFill>
                        <a:srgbClr val="C4C4BF"/>
                      </a:solidFill>
                      <a:prstDash val="solid"/>
                      <a:round/>
                      <a:headEnd type="none" w="med" len="med"/>
                      <a:tailEnd type="none" w="med" len="med"/>
                    </a:lnB>
                  </a:tcPr>
                </a:tc>
                <a:tc>
                  <a:txBody>
                    <a:bodyPr/>
                    <a:lstStyle/>
                    <a:p>
                      <a:pPr algn="r" indent="0" marL="0">
                        <a:lnSpc>
                          <a:spcPts val="1905"/>
                        </a:lnSpc>
                        <a:buNone/>
                      </a:pPr>
                      <a:r>
                        <a:rPr lang="en-US" sz="1361" dirty="0">
                          <a:solidFill>
                            <a:srgbClr val="16202E"/>
                          </a:solidFill>
                          <a:latin typeface="IBM Plex Sans" pitchFamily="34" charset="0"/>
                          <a:ea typeface="IBM Plex Sans" pitchFamily="34" charset="-122"/>
                          <a:cs typeface="IBM Plex Sans" pitchFamily="34" charset="-120"/>
                        </a:rPr>
                        <a:t>–</a:t>
                      </a:r>
                      <a:endParaRPr lang="en-US" sz="1361" dirty="0">
                        <a:latin typeface="IBM Plex Sans" charset="0"/>
                        <a:ea typeface="IBM Plex Sans" charset="0"/>
                        <a:cs typeface="IBM Plex Sans" charset="0"/>
                      </a:endParaRPr>
                    </a:p>
                  </a:txBody>
                  <a:tcPr marL="60480" marR="60480" marT="60480" marB="60480" anchor="t">
                    <a:lnL w="12700" cap="flat" cmpd="sng" algn="ctr">
                      <a:solidFill>
                        <a:srgbClr val="C4C4BF"/>
                      </a:solidFill>
                      <a:prstDash val="solid"/>
                      <a:round/>
                      <a:headEnd type="none" w="med" len="med"/>
                      <a:tailEnd type="none" w="med" len="med"/>
                    </a:lnL>
                    <a:lnR w="12700" cap="flat" cmpd="sng" algn="ctr">
                      <a:solidFill>
                        <a:srgbClr val="C4C4BF"/>
                      </a:solidFill>
                      <a:prstDash val="solid"/>
                      <a:round/>
                      <a:headEnd type="none" w="med" len="med"/>
                      <a:tailEnd type="none" w="med" len="med"/>
                    </a:lnR>
                    <a:lnT w="12700" cap="flat" cmpd="sng" algn="ctr">
                      <a:solidFill>
                        <a:srgbClr val="BFBCB5"/>
                      </a:solidFill>
                      <a:prstDash val="solid"/>
                      <a:round/>
                      <a:headEnd type="none" w="med" len="med"/>
                      <a:tailEnd type="none" w="med" len="med"/>
                    </a:lnT>
                    <a:lnB w="12700" cap="flat" cmpd="sng" algn="ctr">
                      <a:solidFill>
                        <a:srgbClr val="C4C4BF"/>
                      </a:solidFill>
                      <a:prstDash val="solid"/>
                      <a:round/>
                      <a:headEnd type="none" w="med" len="med"/>
                      <a:tailEnd type="none" w="med" len="med"/>
                    </a:lnB>
                  </a:tcPr>
                </a:tc>
              </a:tr>
              <a:tr h="375890">
                <a:tc>
                  <a:txBody>
                    <a:bodyPr/>
                    <a:lstStyle/>
                    <a:p>
                      <a:pPr indent="0" marL="0">
                        <a:lnSpc>
                          <a:spcPts val="1905"/>
                        </a:lnSpc>
                        <a:buNone/>
                      </a:pPr>
                      <a:r>
                        <a:rPr lang="en-US" sz="1361" dirty="0">
                          <a:solidFill>
                            <a:srgbClr val="16202E"/>
                          </a:solidFill>
                          <a:latin typeface="IBM Plex Sans" pitchFamily="34" charset="0"/>
                          <a:ea typeface="IBM Plex Sans" pitchFamily="34" charset="-122"/>
                          <a:cs typeface="IBM Plex Sans" pitchFamily="34" charset="-120"/>
                        </a:rPr>
                        <a:t>Answer length, words</a:t>
                      </a:r>
                      <a:endParaRPr lang="en-US" sz="1361" dirty="0">
                        <a:latin typeface="IBM Plex Sans" charset="0"/>
                        <a:ea typeface="IBM Plex Sans" charset="0"/>
                        <a:cs typeface="IBM Plex Sans" charset="0"/>
                      </a:endParaRPr>
                    </a:p>
                  </a:txBody>
                  <a:tcPr marL="60480" marR="60480" marT="60480" marB="60480" anchor="t">
                    <a:lnL w="12700" cap="flat" cmpd="sng" algn="ctr">
                      <a:solidFill>
                        <a:srgbClr val="C4C4BF"/>
                      </a:solidFill>
                      <a:prstDash val="solid"/>
                      <a:round/>
                      <a:headEnd type="none" w="med" len="med"/>
                      <a:tailEnd type="none" w="med" len="med"/>
                    </a:lnL>
                    <a:lnR w="12700" cap="flat" cmpd="sng" algn="ctr">
                      <a:solidFill>
                        <a:srgbClr val="BFBCB5"/>
                      </a:solidFill>
                      <a:prstDash val="solid"/>
                      <a:round/>
                      <a:headEnd type="none" w="med" len="med"/>
                      <a:tailEnd type="none" w="med" len="med"/>
                    </a:lnR>
                    <a:lnT w="12700" cap="flat" cmpd="sng" algn="ctr">
                      <a:solidFill>
                        <a:srgbClr val="C4C4BF"/>
                      </a:solidFill>
                      <a:prstDash val="solid"/>
                      <a:round/>
                      <a:headEnd type="none" w="med" len="med"/>
                      <a:tailEnd type="none" w="med" len="med"/>
                    </a:lnT>
                    <a:lnB w="12700" cap="flat" cmpd="sng" algn="ctr">
                      <a:solidFill>
                        <a:srgbClr val="BFBCB5"/>
                      </a:solidFill>
                      <a:prstDash val="solid"/>
                      <a:round/>
                      <a:headEnd type="none" w="med" len="med"/>
                      <a:tailEnd type="none" w="med" len="med"/>
                    </a:lnB>
                    <a:solidFill>
                      <a:srgbClr val="EFECE3"/>
                    </a:solidFill>
                  </a:tcPr>
                </a:tc>
                <a:tc>
                  <a:txBody>
                    <a:bodyPr/>
                    <a:lstStyle/>
                    <a:p>
                      <a:pPr algn="r" indent="0" marL="0">
                        <a:lnSpc>
                          <a:spcPts val="1905"/>
                        </a:lnSpc>
                        <a:buNone/>
                      </a:pPr>
                      <a:r>
                        <a:rPr lang="en-US" sz="1361" dirty="0">
                          <a:solidFill>
                            <a:srgbClr val="16202E"/>
                          </a:solidFill>
                          <a:latin typeface="IBM Plex Sans" pitchFamily="34" charset="0"/>
                          <a:ea typeface="IBM Plex Sans" pitchFamily="34" charset="-122"/>
                          <a:cs typeface="IBM Plex Sans" pitchFamily="34" charset="-120"/>
                        </a:rPr>
                        <a:t>62</a:t>
                      </a:r>
                      <a:endParaRPr lang="en-US" sz="1361" dirty="0">
                        <a:latin typeface="IBM Plex Sans" charset="0"/>
                        <a:ea typeface="IBM Plex Sans" charset="0"/>
                        <a:cs typeface="IBM Plex Sans" charset="0"/>
                      </a:endParaRPr>
                    </a:p>
                  </a:txBody>
                  <a:tcPr marL="60480" marR="60480" marT="60480" marB="60480" anchor="t">
                    <a:lnL w="12700" cap="flat" cmpd="sng" algn="ctr">
                      <a:solidFill>
                        <a:srgbClr val="BFBCB5"/>
                      </a:solidFill>
                      <a:prstDash val="solid"/>
                      <a:round/>
                      <a:headEnd type="none" w="med" len="med"/>
                      <a:tailEnd type="none" w="med" len="med"/>
                    </a:lnL>
                    <a:lnR w="12700" cap="flat" cmpd="sng" algn="ctr">
                      <a:solidFill>
                        <a:srgbClr val="BFBCB5"/>
                      </a:solidFill>
                      <a:prstDash val="solid"/>
                      <a:round/>
                      <a:headEnd type="none" w="med" len="med"/>
                      <a:tailEnd type="none" w="med" len="med"/>
                    </a:lnR>
                    <a:lnT w="12700" cap="flat" cmpd="sng" algn="ctr">
                      <a:solidFill>
                        <a:srgbClr val="C4C4BF"/>
                      </a:solidFill>
                      <a:prstDash val="solid"/>
                      <a:round/>
                      <a:headEnd type="none" w="med" len="med"/>
                      <a:tailEnd type="none" w="med" len="med"/>
                    </a:lnT>
                    <a:lnB w="12700" cap="flat" cmpd="sng" algn="ctr">
                      <a:solidFill>
                        <a:srgbClr val="BFBCB5"/>
                      </a:solidFill>
                      <a:prstDash val="solid"/>
                      <a:round/>
                      <a:headEnd type="none" w="med" len="med"/>
                      <a:tailEnd type="none" w="med" len="med"/>
                    </a:lnB>
                    <a:solidFill>
                      <a:srgbClr val="EFECE3"/>
                    </a:solidFill>
                  </a:tcPr>
                </a:tc>
                <a:tc>
                  <a:txBody>
                    <a:bodyPr/>
                    <a:lstStyle/>
                    <a:p>
                      <a:pPr algn="r" indent="0" marL="0">
                        <a:lnSpc>
                          <a:spcPts val="1905"/>
                        </a:lnSpc>
                        <a:buNone/>
                      </a:pPr>
                      <a:r>
                        <a:rPr lang="en-US" sz="1361" dirty="0">
                          <a:solidFill>
                            <a:srgbClr val="16202E"/>
                          </a:solidFill>
                          <a:latin typeface="IBM Plex Sans" pitchFamily="34" charset="0"/>
                          <a:ea typeface="IBM Plex Sans" pitchFamily="34" charset="-122"/>
                          <a:cs typeface="IBM Plex Sans" pitchFamily="34" charset="-120"/>
                        </a:rPr>
                        <a:t>88</a:t>
                      </a:r>
                      <a:endParaRPr lang="en-US" sz="1361" dirty="0">
                        <a:latin typeface="IBM Plex Sans" charset="0"/>
                        <a:ea typeface="IBM Plex Sans" charset="0"/>
                        <a:cs typeface="IBM Plex Sans" charset="0"/>
                      </a:endParaRPr>
                    </a:p>
                  </a:txBody>
                  <a:tcPr marL="60480" marR="60480" marT="60480" marB="60480" anchor="t">
                    <a:lnL w="12700" cap="flat" cmpd="sng" algn="ctr">
                      <a:solidFill>
                        <a:srgbClr val="BFBCB5"/>
                      </a:solidFill>
                      <a:prstDash val="solid"/>
                      <a:round/>
                      <a:headEnd type="none" w="med" len="med"/>
                      <a:tailEnd type="none" w="med" len="med"/>
                    </a:lnL>
                    <a:lnR w="12700" cap="flat" cmpd="sng" algn="ctr">
                      <a:solidFill>
                        <a:srgbClr val="BFBCB5"/>
                      </a:solidFill>
                      <a:prstDash val="solid"/>
                      <a:round/>
                      <a:headEnd type="none" w="med" len="med"/>
                      <a:tailEnd type="none" w="med" len="med"/>
                    </a:lnR>
                    <a:lnT w="12700" cap="flat" cmpd="sng" algn="ctr">
                      <a:solidFill>
                        <a:srgbClr val="C4C4BF"/>
                      </a:solidFill>
                      <a:prstDash val="solid"/>
                      <a:round/>
                      <a:headEnd type="none" w="med" len="med"/>
                      <a:tailEnd type="none" w="med" len="med"/>
                    </a:lnT>
                    <a:lnB w="12700" cap="flat" cmpd="sng" algn="ctr">
                      <a:solidFill>
                        <a:srgbClr val="BFBCB5"/>
                      </a:solidFill>
                      <a:prstDash val="solid"/>
                      <a:round/>
                      <a:headEnd type="none" w="med" len="med"/>
                      <a:tailEnd type="none" w="med" len="med"/>
                    </a:lnB>
                    <a:solidFill>
                      <a:srgbClr val="EFECE3"/>
                    </a:solidFill>
                  </a:tcPr>
                </a:tc>
                <a:tc>
                  <a:txBody>
                    <a:bodyPr/>
                    <a:lstStyle/>
                    <a:p>
                      <a:pPr algn="r" indent="0" marL="0">
                        <a:lnSpc>
                          <a:spcPts val="1905"/>
                        </a:lnSpc>
                        <a:buNone/>
                      </a:pPr>
                      <a:r>
                        <a:rPr lang="en-US" sz="1361" dirty="0">
                          <a:solidFill>
                            <a:srgbClr val="16202E"/>
                          </a:solidFill>
                          <a:latin typeface="IBM Plex Sans" pitchFamily="34" charset="0"/>
                          <a:ea typeface="IBM Plex Sans" pitchFamily="34" charset="-122"/>
                          <a:cs typeface="IBM Plex Sans" pitchFamily="34" charset="-120"/>
                        </a:rPr>
                        <a:t>+26</a:t>
                      </a:r>
                      <a:endParaRPr lang="en-US" sz="1361" dirty="0">
                        <a:latin typeface="IBM Plex Sans" charset="0"/>
                        <a:ea typeface="IBM Plex Sans" charset="0"/>
                        <a:cs typeface="IBM Plex Sans" charset="0"/>
                      </a:endParaRPr>
                    </a:p>
                  </a:txBody>
                  <a:tcPr marL="60480" marR="60480" marT="60480" marB="60480" anchor="t">
                    <a:lnL w="12700" cap="flat" cmpd="sng" algn="ctr">
                      <a:solidFill>
                        <a:srgbClr val="BFBCB5"/>
                      </a:solidFill>
                      <a:prstDash val="solid"/>
                      <a:round/>
                      <a:headEnd type="none" w="med" len="med"/>
                      <a:tailEnd type="none" w="med" len="med"/>
                    </a:lnL>
                    <a:lnR w="12700" cap="flat" cmpd="sng" algn="ctr">
                      <a:solidFill>
                        <a:srgbClr val="BFBCB5"/>
                      </a:solidFill>
                      <a:prstDash val="solid"/>
                      <a:round/>
                      <a:headEnd type="none" w="med" len="med"/>
                      <a:tailEnd type="none" w="med" len="med"/>
                    </a:lnR>
                    <a:lnT w="12700" cap="flat" cmpd="sng" algn="ctr">
                      <a:solidFill>
                        <a:srgbClr val="C4C4BF"/>
                      </a:solidFill>
                      <a:prstDash val="solid"/>
                      <a:round/>
                      <a:headEnd type="none" w="med" len="med"/>
                      <a:tailEnd type="none" w="med" len="med"/>
                    </a:lnT>
                    <a:lnB w="12700" cap="flat" cmpd="sng" algn="ctr">
                      <a:solidFill>
                        <a:srgbClr val="BFBCB5"/>
                      </a:solidFill>
                      <a:prstDash val="solid"/>
                      <a:round/>
                      <a:headEnd type="none" w="med" len="med"/>
                      <a:tailEnd type="none" w="med" len="med"/>
                    </a:lnB>
                    <a:solidFill>
                      <a:srgbClr val="EFECE3"/>
                    </a:solidFill>
                  </a:tcPr>
                </a:tc>
                <a:tc>
                  <a:txBody>
                    <a:bodyPr/>
                    <a:lstStyle/>
                    <a:p>
                      <a:pPr algn="r" indent="0" marL="0">
                        <a:lnSpc>
                          <a:spcPts val="1905"/>
                        </a:lnSpc>
                        <a:buNone/>
                      </a:pPr>
                      <a:r>
                        <a:rPr lang="en-US" sz="1361" dirty="0">
                          <a:solidFill>
                            <a:srgbClr val="16202E"/>
                          </a:solidFill>
                          <a:latin typeface="IBM Plex Sans" pitchFamily="34" charset="0"/>
                          <a:ea typeface="IBM Plex Sans" pitchFamily="34" charset="-122"/>
                          <a:cs typeface="IBM Plex Sans" pitchFamily="34" charset="-120"/>
                        </a:rPr>
                        <a:t>reference: 107</a:t>
                      </a:r>
                      <a:endParaRPr lang="en-US" sz="1361" dirty="0">
                        <a:latin typeface="IBM Plex Sans" charset="0"/>
                        <a:ea typeface="IBM Plex Sans" charset="0"/>
                        <a:cs typeface="IBM Plex Sans" charset="0"/>
                      </a:endParaRPr>
                    </a:p>
                  </a:txBody>
                  <a:tcPr marL="60480" marR="60480" marT="60480" marB="60480" anchor="t">
                    <a:lnL w="12700" cap="flat" cmpd="sng" algn="ctr">
                      <a:solidFill>
                        <a:srgbClr val="BFBCB5"/>
                      </a:solidFill>
                      <a:prstDash val="solid"/>
                      <a:round/>
                      <a:headEnd type="none" w="med" len="med"/>
                      <a:tailEnd type="none" w="med" len="med"/>
                    </a:lnL>
                    <a:lnR w="12700" cap="flat" cmpd="sng" algn="ctr">
                      <a:solidFill>
                        <a:srgbClr val="BFBCB5"/>
                      </a:solidFill>
                      <a:prstDash val="solid"/>
                      <a:round/>
                      <a:headEnd type="none" w="med" len="med"/>
                      <a:tailEnd type="none" w="med" len="med"/>
                    </a:lnR>
                    <a:lnT w="12700" cap="flat" cmpd="sng" algn="ctr">
                      <a:solidFill>
                        <a:srgbClr val="C4C4BF"/>
                      </a:solidFill>
                      <a:prstDash val="solid"/>
                      <a:round/>
                      <a:headEnd type="none" w="med" len="med"/>
                      <a:tailEnd type="none" w="med" len="med"/>
                    </a:lnT>
                    <a:lnB w="12700" cap="flat" cmpd="sng" algn="ctr">
                      <a:solidFill>
                        <a:srgbClr val="BFBCB5"/>
                      </a:solidFill>
                      <a:prstDash val="solid"/>
                      <a:round/>
                      <a:headEnd type="none" w="med" len="med"/>
                      <a:tailEnd type="none" w="med" len="med"/>
                    </a:lnB>
                    <a:solidFill>
                      <a:srgbClr val="EFECE3"/>
                    </a:solidFill>
                  </a:tcPr>
                </a:tc>
                <a:tc>
                  <a:txBody>
                    <a:bodyPr/>
                    <a:lstStyle/>
                    <a:p>
                      <a:pPr algn="r" indent="0" marL="0">
                        <a:lnSpc>
                          <a:spcPts val="1905"/>
                        </a:lnSpc>
                        <a:buNone/>
                      </a:pPr>
                      <a:r>
                        <a:rPr lang="en-US" sz="1361" dirty="0">
                          <a:solidFill>
                            <a:srgbClr val="16202E"/>
                          </a:solidFill>
                          <a:latin typeface="IBM Plex Sans" pitchFamily="34" charset="0"/>
                          <a:ea typeface="IBM Plex Sans" pitchFamily="34" charset="-122"/>
                          <a:cs typeface="IBM Plex Sans" pitchFamily="34" charset="-120"/>
                        </a:rPr>
                        <a:t>–</a:t>
                      </a:r>
                      <a:endParaRPr lang="en-US" sz="1361" dirty="0">
                        <a:latin typeface="IBM Plex Sans" charset="0"/>
                        <a:ea typeface="IBM Plex Sans" charset="0"/>
                        <a:cs typeface="IBM Plex Sans" charset="0"/>
                      </a:endParaRPr>
                    </a:p>
                  </a:txBody>
                  <a:tcPr marL="60480" marR="60480" marT="60480" marB="60480" anchor="t">
                    <a:lnL w="12700" cap="flat" cmpd="sng" algn="ctr">
                      <a:solidFill>
                        <a:srgbClr val="BFBCB5"/>
                      </a:solidFill>
                      <a:prstDash val="solid"/>
                      <a:round/>
                      <a:headEnd type="none" w="med" len="med"/>
                      <a:tailEnd type="none" w="med" len="med"/>
                    </a:lnL>
                    <a:lnR w="12700" cap="flat" cmpd="sng" algn="ctr">
                      <a:solidFill>
                        <a:srgbClr val="BFBCB5"/>
                      </a:solidFill>
                      <a:prstDash val="solid"/>
                      <a:round/>
                      <a:headEnd type="none" w="med" len="med"/>
                      <a:tailEnd type="none" w="med" len="med"/>
                    </a:lnR>
                    <a:lnT w="12700" cap="flat" cmpd="sng" algn="ctr">
                      <a:solidFill>
                        <a:srgbClr val="C4C4BF"/>
                      </a:solidFill>
                      <a:prstDash val="solid"/>
                      <a:round/>
                      <a:headEnd type="none" w="med" len="med"/>
                      <a:tailEnd type="none" w="med" len="med"/>
                    </a:lnT>
                    <a:lnB w="12700" cap="flat" cmpd="sng" algn="ctr">
                      <a:solidFill>
                        <a:srgbClr val="BFBCB5"/>
                      </a:solidFill>
                      <a:prstDash val="solid"/>
                      <a:round/>
                      <a:headEnd type="none" w="med" len="med"/>
                      <a:tailEnd type="none" w="med" len="med"/>
                    </a:lnB>
                    <a:solidFill>
                      <a:srgbClr val="EFECE3"/>
                    </a:solidFill>
                  </a:tcPr>
                </a:tc>
              </a:tr>
            </a:tbl>
          </a:graphicData>
        </a:graphic>
      </p:graphicFrame>
      <p:sp>
        <p:nvSpPr>
          <p:cNvPr id="4" name="Shape 1"/>
          <p:cNvSpPr/>
          <p:nvPr/>
        </p:nvSpPr>
        <p:spPr>
          <a:xfrm>
            <a:off x="819150" y="4943227"/>
            <a:ext cx="5168900" cy="892423"/>
          </a:xfrm>
          <a:prstGeom prst="roundRect">
            <a:avLst>
              <a:gd name="adj" fmla="val 13519"/>
            </a:avLst>
          </a:prstGeom>
          <a:solidFill>
            <a:srgbClr val="FDFCF9"/>
          </a:solidFill>
          <a:ln w="12700">
            <a:solidFill>
              <a:srgbClr val="D9622B"/>
            </a:solidFill>
            <a:prstDash val="solid"/>
          </a:ln>
        </p:spPr>
      </p:sp>
      <p:sp>
        <p:nvSpPr>
          <p:cNvPr id="5" name="Text 2"/>
          <p:cNvSpPr/>
          <p:nvPr/>
        </p:nvSpPr>
        <p:spPr>
          <a:xfrm>
            <a:off x="1028700" y="5152777"/>
            <a:ext cx="4892294" cy="498723"/>
          </a:xfrm>
          <a:prstGeom prst="rect">
            <a:avLst/>
          </a:prstGeom>
          <a:noFill/>
          <a:ln/>
        </p:spPr>
        <p:txBody>
          <a:bodyPr wrap="square" lIns="0" tIns="0" rIns="0" bIns="0" rtlCol="0" anchor="t">
            <a:normAutofit/>
          </a:bodyPr>
          <a:lstStyle/>
          <a:p>
            <a:pPr algn="l" indent="0" marL="0">
              <a:lnSpc>
                <a:spcPts val="1886"/>
              </a:lnSpc>
              <a:buNone/>
            </a:pPr>
            <a:r>
              <a:rPr lang="en-US" sz="1347" b="1" dirty="0">
                <a:solidFill>
                  <a:srgbClr val="16202E"/>
                </a:solidFill>
                <a:latin typeface="IBM Plex Sans" pitchFamily="34" charset="0"/>
                <a:ea typeface="IBM Plex Sans" pitchFamily="34" charset="-122"/>
                <a:cs typeface="IBM Plex Sans" pitchFamily="34" charset="-120"/>
              </a:rPr>
              <a:t>Real gain:</a:t>
            </a:r>
            <a:r>
              <a:rPr lang="en-US" sz="1347" dirty="0">
                <a:solidFill>
                  <a:srgbClr val="16202E"/>
                </a:solidFill>
                <a:latin typeface="IBM Plex Sans" pitchFamily="34" charset="0"/>
                <a:ea typeface="IBM Plex Sans" pitchFamily="34" charset="-122"/>
                <a:cs typeface="IBM Plex Sans" pitchFamily="34" charset="-120"/>
              </a:rPr>
              <a:t> better on about two‑thirds of questions, and cites the gold passage over a distractor more often.</a:t>
            </a:r>
            <a:endParaRPr lang="en-US" sz="1347" dirty="0"/>
          </a:p>
        </p:txBody>
      </p:sp>
      <p:sp>
        <p:nvSpPr>
          <p:cNvPr id="6" name="Shape 3"/>
          <p:cNvSpPr/>
          <p:nvPr/>
        </p:nvSpPr>
        <p:spPr>
          <a:xfrm>
            <a:off x="6203950" y="4943227"/>
            <a:ext cx="5168900" cy="892423"/>
          </a:xfrm>
          <a:prstGeom prst="roundRect">
            <a:avLst>
              <a:gd name="adj" fmla="val 13519"/>
            </a:avLst>
          </a:prstGeom>
          <a:solidFill>
            <a:srgbClr val="FDFCF9"/>
          </a:solidFill>
          <a:ln w="12700">
            <a:solidFill>
              <a:srgbClr val="E2DED3"/>
            </a:solidFill>
            <a:prstDash val="solid"/>
          </a:ln>
        </p:spPr>
      </p:sp>
      <p:sp>
        <p:nvSpPr>
          <p:cNvPr id="7" name="Text 4"/>
          <p:cNvSpPr/>
          <p:nvPr/>
        </p:nvSpPr>
        <p:spPr>
          <a:xfrm>
            <a:off x="6413500" y="5152777"/>
            <a:ext cx="4892294" cy="498723"/>
          </a:xfrm>
          <a:prstGeom prst="rect">
            <a:avLst/>
          </a:prstGeom>
          <a:noFill/>
          <a:ln/>
        </p:spPr>
        <p:txBody>
          <a:bodyPr wrap="square" lIns="0" tIns="0" rIns="0" bIns="0" rtlCol="0" anchor="t">
            <a:normAutofit/>
          </a:bodyPr>
          <a:lstStyle/>
          <a:p>
            <a:pPr algn="l" indent="0" marL="0">
              <a:lnSpc>
                <a:spcPts val="1886"/>
              </a:lnSpc>
              <a:buNone/>
            </a:pPr>
            <a:r>
              <a:rPr lang="en-US" sz="1347" b="1" dirty="0">
                <a:solidFill>
                  <a:srgbClr val="16202E"/>
                </a:solidFill>
                <a:latin typeface="IBM Plex Sans" pitchFamily="34" charset="0"/>
                <a:ea typeface="IBM Plex Sans" pitchFamily="34" charset="-122"/>
                <a:cs typeface="IBM Plex Sans" pitchFamily="34" charset="-120"/>
              </a:rPr>
              <a:t>Read with care:</a:t>
            </a:r>
            <a:r>
              <a:rPr lang="en-US" sz="1347" dirty="0">
                <a:solidFill>
                  <a:srgbClr val="16202E"/>
                </a:solidFill>
                <a:latin typeface="IBM Plex Sans" pitchFamily="34" charset="0"/>
                <a:ea typeface="IBM Plex Sans" pitchFamily="34" charset="-122"/>
                <a:cs typeface="IBM Plex Sans" pitchFamily="34" charset="-120"/>
              </a:rPr>
              <a:t> the intervals almost touch zero, and longer answers closer to the reference length also raise F1.</a:t>
            </a:r>
            <a:endParaRPr lang="en-US" sz="1347" dirty="0"/>
          </a:p>
        </p:txBody>
      </p:sp>
      <p:sp>
        <p:nvSpPr>
          <p:cNvPr id="8" name="Text 5"/>
          <p:cNvSpPr/>
          <p:nvPr/>
        </p:nvSpPr>
        <p:spPr>
          <a:xfrm>
            <a:off x="812800" y="6238280"/>
            <a:ext cx="10883392" cy="238720"/>
          </a:xfrm>
          <a:prstGeom prst="rect">
            <a:avLst/>
          </a:prstGeom>
          <a:noFill/>
          <a:ln/>
        </p:spPr>
        <p:txBody>
          <a:bodyPr wrap="square" lIns="0" tIns="0" rIns="0" bIns="0" rtlCol="0" anchor="t">
            <a:normAutofit/>
          </a:bodyPr>
          <a:lstStyle/>
          <a:p>
            <a:pPr algn="l" indent="0" marL="0">
              <a:lnSpc>
                <a:spcPts val="1680"/>
              </a:lnSpc>
              <a:buNone/>
            </a:pPr>
            <a:r>
              <a:rPr lang="en-US" sz="1200" dirty="0">
                <a:solidFill>
                  <a:srgbClr val="6A7280"/>
                </a:solidFill>
                <a:latin typeface="IBM Plex Sans" pitchFamily="34" charset="0"/>
                <a:ea typeface="IBM Plex Sans" pitchFamily="34" charset="-122"/>
                <a:cs typeface="IBM Plex Sans" pitchFamily="34" charset="-120"/>
              </a:rPr>
              <a:t>Epoch‑1 adapter vs base, same prompts, greedy decoding · paired bootstrap over questions, 5,000 resamples · one training seed</a:t>
            </a:r>
            <a:endParaRPr lang="en-US" sz="120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FCFCFB"/>
        </a:solidFill>
      </p:bgPr>
    </p:bg>
    <p:spTree>
      <p:nvGrpSpPr>
        <p:cNvPr id="1" name=""/>
        <p:cNvGrpSpPr/>
        <p:nvPr/>
      </p:nvGrpSpPr>
      <p:grpSpPr>
        <a:xfrm>
          <a:off x="0" y="0"/>
          <a:ext cx="0" cy="0"/>
          <a:chOff x="0" y="0"/>
          <a:chExt cx="0" cy="0"/>
        </a:xfrm>
      </p:grpSpPr>
      <p:sp>
        <p:nvSpPr>
          <p:cNvPr id="2" name="Text 0"/>
          <p:cNvSpPr/>
          <p:nvPr>
            <p:ph type="title"/>
          </p:nvPr>
        </p:nvSpPr>
        <p:spPr>
          <a:xfrm>
            <a:off x="812800" y="609600"/>
            <a:ext cx="10883392" cy="416520"/>
          </a:xfrm>
          <a:prstGeom prst="rect">
            <a:avLst/>
          </a:prstGeom>
          <a:noFill/>
          <a:ln/>
        </p:spPr>
        <p:txBody>
          <a:bodyPr wrap="square" lIns="0" tIns="0" rIns="0" bIns="0" rtlCol="0" anchor="t">
            <a:normAutofit/>
          </a:bodyPr>
          <a:lstStyle/>
          <a:p>
            <a:pPr algn="l" indent="0" marL="0">
              <a:lnSpc>
                <a:spcPts val="3080"/>
              </a:lnSpc>
              <a:buNone/>
            </a:pPr>
            <a:r>
              <a:rPr lang="en-US" sz="2800" b="1" i="0" dirty="0">
                <a:solidFill>
                  <a:srgbClr val="16202E"/>
                </a:solidFill>
                <a:latin typeface="IBM Plex Sans" pitchFamily="34" charset="0"/>
                <a:ea typeface="IBM Plex Sans" pitchFamily="34" charset="-122"/>
                <a:cs typeface="IBM Plex Sans" pitchFamily="34" charset="-120"/>
              </a:rPr>
              <a:t>The whole run on one page</a:t>
            </a:r>
            <a:endParaRPr lang="en-US" sz="2800" dirty="0"/>
          </a:p>
        </p:txBody>
      </p:sp>
      <p:pic>
        <p:nvPicPr>
          <p:cNvPr id="3" name="Image 0" descr="Six-panel training dashboard for the Colab A100 run: train and validation loss, generalization gap, learning rate, gradient norm, wall clock, and base versus finetuned eval scores">    </p:cNvPr>
          <p:cNvPicPr>
            <a:picLocks noChangeAspect="1"/>
          </p:cNvPicPr>
          <p:nvPr/>
        </p:nvPicPr>
        <p:blipFill>
          <a:blip r:embed="rId1"/>
          <a:srcRect l="-11176" r="-11176" t="0" b="0"/>
          <a:stretch/>
        </p:blipFill>
        <p:spPr>
          <a:xfrm>
            <a:off x="812800" y="1203920"/>
            <a:ext cx="10566400" cy="4826000"/>
          </a:xfrm>
          <a:prstGeom prst="rect">
            <a:avLst/>
          </a:prstGeom>
        </p:spPr>
      </p:pic>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F6F5F0"/>
        </a:solidFill>
      </p:bgPr>
    </p:bg>
    <p:spTree>
      <p:nvGrpSpPr>
        <p:cNvPr id="1" name=""/>
        <p:cNvGrpSpPr/>
        <p:nvPr/>
      </p:nvGrpSpPr>
      <p:grpSpPr>
        <a:xfrm>
          <a:off x="0" y="0"/>
          <a:ext cx="0" cy="0"/>
          <a:chOff x="0" y="0"/>
          <a:chExt cx="0" cy="0"/>
        </a:xfrm>
      </p:grpSpPr>
      <p:sp>
        <p:nvSpPr>
          <p:cNvPr id="2" name="Text 0"/>
          <p:cNvSpPr/>
          <p:nvPr>
            <p:ph type="title"/>
          </p:nvPr>
        </p:nvSpPr>
        <p:spPr>
          <a:xfrm>
            <a:off x="812800" y="812800"/>
            <a:ext cx="10883392" cy="472430"/>
          </a:xfrm>
          <a:prstGeom prst="rect">
            <a:avLst/>
          </a:prstGeom>
          <a:noFill/>
          <a:ln/>
        </p:spPr>
        <p:txBody>
          <a:bodyPr wrap="square" lIns="0" tIns="0" rIns="0" bIns="0" rtlCol="0" anchor="t">
            <a:normAutofit/>
          </a:bodyPr>
          <a:lstStyle/>
          <a:p>
            <a:pPr algn="l" indent="0" marL="0">
              <a:lnSpc>
                <a:spcPts val="3520"/>
              </a:lnSpc>
              <a:buNone/>
            </a:pPr>
            <a:r>
              <a:rPr lang="en-US" sz="3200" b="1" i="0" dirty="0">
                <a:solidFill>
                  <a:srgbClr val="16202E"/>
                </a:solidFill>
                <a:latin typeface="IBM Plex Sans" pitchFamily="34" charset="0"/>
                <a:ea typeface="IBM Plex Sans" pitchFamily="34" charset="-122"/>
                <a:cs typeface="IBM Plex Sans" pitchFamily="34" charset="-120"/>
              </a:rPr>
              <a:t>What we learned, and what to run next</a:t>
            </a:r>
            <a:endParaRPr lang="en-US" sz="3200" dirty="0"/>
          </a:p>
        </p:txBody>
      </p:sp>
      <p:sp>
        <p:nvSpPr>
          <p:cNvPr id="3" name="Shape 1"/>
          <p:cNvSpPr/>
          <p:nvPr/>
        </p:nvSpPr>
        <p:spPr>
          <a:xfrm>
            <a:off x="819150" y="1570980"/>
            <a:ext cx="5168900" cy="1302941"/>
          </a:xfrm>
          <a:prstGeom prst="roundRect">
            <a:avLst>
              <a:gd name="adj" fmla="val 9260"/>
            </a:avLst>
          </a:prstGeom>
          <a:solidFill>
            <a:srgbClr val="FDFCF9"/>
          </a:solidFill>
          <a:ln w="12700">
            <a:solidFill>
              <a:srgbClr val="D9622B"/>
            </a:solidFill>
            <a:prstDash val="solid"/>
          </a:ln>
        </p:spPr>
      </p:sp>
      <p:sp>
        <p:nvSpPr>
          <p:cNvPr id="4" name="Text 2"/>
          <p:cNvSpPr/>
          <p:nvPr/>
        </p:nvSpPr>
        <p:spPr>
          <a:xfrm>
            <a:off x="1054100" y="1805930"/>
            <a:ext cx="4839970" cy="284460"/>
          </a:xfrm>
          <a:prstGeom prst="rect">
            <a:avLst/>
          </a:prstGeom>
          <a:noFill/>
          <a:ln/>
        </p:spPr>
        <p:txBody>
          <a:bodyPr wrap="square" lIns="0" tIns="0" rIns="0" bIns="0" rtlCol="0" anchor="t">
            <a:normAutofit/>
          </a:bodyPr>
          <a:lstStyle/>
          <a:p>
            <a:pPr algn="l" indent="0" marL="0">
              <a:lnSpc>
                <a:spcPts val="2040"/>
              </a:lnSpc>
              <a:buNone/>
            </a:pPr>
            <a:r>
              <a:rPr lang="en-US" sz="1700" b="1" dirty="0">
                <a:solidFill>
                  <a:srgbClr val="16202E"/>
                </a:solidFill>
                <a:latin typeface="IBM Plex Sans" pitchFamily="34" charset="0"/>
                <a:ea typeface="IBM Plex Sans" pitchFamily="34" charset="-122"/>
                <a:cs typeface="IBM Plex Sans" pitchFamily="34" charset="-120"/>
              </a:rPr>
              <a:t>One epoch is enough here</a:t>
            </a:r>
            <a:endParaRPr lang="en-US" sz="1700" dirty="0"/>
          </a:p>
        </p:txBody>
      </p:sp>
      <p:sp>
        <p:nvSpPr>
          <p:cNvPr id="5" name="Text 3"/>
          <p:cNvSpPr/>
          <p:nvPr/>
        </p:nvSpPr>
        <p:spPr>
          <a:xfrm>
            <a:off x="1054100" y="2141190"/>
            <a:ext cx="4839970" cy="523180"/>
          </a:xfrm>
          <a:prstGeom prst="rect">
            <a:avLst/>
          </a:prstGeom>
          <a:noFill/>
          <a:ln/>
        </p:spPr>
        <p:txBody>
          <a:bodyPr wrap="square" lIns="0" tIns="0" rIns="0" bIns="0" rtlCol="0" anchor="t">
            <a:normAutofit/>
          </a:bodyPr>
          <a:lstStyle/>
          <a:p>
            <a:pPr algn="l" indent="0" marL="0">
              <a:lnSpc>
                <a:spcPts val="1960"/>
              </a:lnSpc>
              <a:buNone/>
            </a:pPr>
            <a:r>
              <a:rPr lang="en-US" sz="1400" dirty="0">
                <a:solidFill>
                  <a:srgbClr val="4A5568"/>
                </a:solidFill>
                <a:latin typeface="IBM Plex Sans" pitchFamily="34" charset="0"/>
                <a:ea typeface="IBM Plex Sans" pitchFamily="34" charset="-122"/>
                <a:cs typeface="IBM Plex Sans" pitchFamily="34" charset="-120"/>
              </a:rPr>
              <a:t>With 156 examples, 20 steps reach the best validation loss. Next run: --epochs 1, or --patience 2.</a:t>
            </a:r>
            <a:endParaRPr lang="en-US" sz="1400" dirty="0"/>
          </a:p>
        </p:txBody>
      </p:sp>
      <p:sp>
        <p:nvSpPr>
          <p:cNvPr id="6" name="Shape 4"/>
          <p:cNvSpPr/>
          <p:nvPr/>
        </p:nvSpPr>
        <p:spPr>
          <a:xfrm>
            <a:off x="6203950" y="1570980"/>
            <a:ext cx="5168900" cy="1302941"/>
          </a:xfrm>
          <a:prstGeom prst="roundRect">
            <a:avLst>
              <a:gd name="adj" fmla="val 9260"/>
            </a:avLst>
          </a:prstGeom>
          <a:solidFill>
            <a:srgbClr val="FDFCF9"/>
          </a:solidFill>
          <a:ln w="12700">
            <a:solidFill>
              <a:srgbClr val="E2DED3"/>
            </a:solidFill>
            <a:prstDash val="solid"/>
          </a:ln>
        </p:spPr>
      </p:sp>
      <p:sp>
        <p:nvSpPr>
          <p:cNvPr id="7" name="Text 5"/>
          <p:cNvSpPr/>
          <p:nvPr/>
        </p:nvSpPr>
        <p:spPr>
          <a:xfrm>
            <a:off x="6438900" y="1805930"/>
            <a:ext cx="4839970" cy="284460"/>
          </a:xfrm>
          <a:prstGeom prst="rect">
            <a:avLst/>
          </a:prstGeom>
          <a:noFill/>
          <a:ln/>
        </p:spPr>
        <p:txBody>
          <a:bodyPr wrap="square" lIns="0" tIns="0" rIns="0" bIns="0" rtlCol="0" anchor="t">
            <a:normAutofit/>
          </a:bodyPr>
          <a:lstStyle/>
          <a:p>
            <a:pPr algn="l" indent="0" marL="0">
              <a:lnSpc>
                <a:spcPts val="2040"/>
              </a:lnSpc>
              <a:buNone/>
            </a:pPr>
            <a:r>
              <a:rPr lang="en-US" sz="1700" b="1" dirty="0">
                <a:solidFill>
                  <a:srgbClr val="16202E"/>
                </a:solidFill>
                <a:latin typeface="IBM Plex Sans" pitchFamily="34" charset="0"/>
                <a:ea typeface="IBM Plex Sans" pitchFamily="34" charset="-122"/>
                <a:cs typeface="IBM Plex Sans" pitchFamily="34" charset="-120"/>
              </a:rPr>
              <a:t>The gain is real but modest</a:t>
            </a:r>
            <a:endParaRPr lang="en-US" sz="1700" dirty="0"/>
          </a:p>
        </p:txBody>
      </p:sp>
      <p:sp>
        <p:nvSpPr>
          <p:cNvPr id="8" name="Text 6"/>
          <p:cNvSpPr/>
          <p:nvPr/>
        </p:nvSpPr>
        <p:spPr>
          <a:xfrm>
            <a:off x="6438900" y="2141190"/>
            <a:ext cx="4839970" cy="523180"/>
          </a:xfrm>
          <a:prstGeom prst="rect">
            <a:avLst/>
          </a:prstGeom>
          <a:noFill/>
          <a:ln/>
        </p:spPr>
        <p:txBody>
          <a:bodyPr wrap="square" lIns="0" tIns="0" rIns="0" bIns="0" rtlCol="0" anchor="t">
            <a:normAutofit/>
          </a:bodyPr>
          <a:lstStyle/>
          <a:p>
            <a:pPr algn="l" indent="0" marL="0">
              <a:lnSpc>
                <a:spcPts val="1960"/>
              </a:lnSpc>
              <a:buNone/>
            </a:pPr>
            <a:r>
              <a:rPr lang="en-US" sz="1400" dirty="0">
                <a:solidFill>
                  <a:srgbClr val="4A5568"/>
                </a:solidFill>
                <a:latin typeface="IBM Plex Sans" pitchFamily="34" charset="0"/>
                <a:ea typeface="IBM Plex Sans" pitchFamily="34" charset="-122"/>
                <a:cs typeface="IBM Plex Sans" pitchFamily="34" charset="-120"/>
              </a:rPr>
              <a:t>+0.06 answer F1 and +0.12 gold citations on an unseen document, from one seed and 41 questions.</a:t>
            </a:r>
            <a:endParaRPr lang="en-US" sz="1400" dirty="0"/>
          </a:p>
        </p:txBody>
      </p:sp>
      <p:sp>
        <p:nvSpPr>
          <p:cNvPr id="9" name="Shape 7"/>
          <p:cNvSpPr/>
          <p:nvPr/>
        </p:nvSpPr>
        <p:spPr>
          <a:xfrm>
            <a:off x="819150" y="3089821"/>
            <a:ext cx="5168900" cy="1302941"/>
          </a:xfrm>
          <a:prstGeom prst="roundRect">
            <a:avLst>
              <a:gd name="adj" fmla="val 9260"/>
            </a:avLst>
          </a:prstGeom>
          <a:solidFill>
            <a:srgbClr val="FDFCF9"/>
          </a:solidFill>
          <a:ln w="12700">
            <a:solidFill>
              <a:srgbClr val="E2DED3"/>
            </a:solidFill>
            <a:prstDash val="solid"/>
          </a:ln>
        </p:spPr>
      </p:sp>
      <p:sp>
        <p:nvSpPr>
          <p:cNvPr id="10" name="Text 8"/>
          <p:cNvSpPr/>
          <p:nvPr/>
        </p:nvSpPr>
        <p:spPr>
          <a:xfrm>
            <a:off x="1054100" y="3324771"/>
            <a:ext cx="4839970" cy="284460"/>
          </a:xfrm>
          <a:prstGeom prst="rect">
            <a:avLst/>
          </a:prstGeom>
          <a:noFill/>
          <a:ln/>
        </p:spPr>
        <p:txBody>
          <a:bodyPr wrap="square" lIns="0" tIns="0" rIns="0" bIns="0" rtlCol="0" anchor="t">
            <a:normAutofit/>
          </a:bodyPr>
          <a:lstStyle/>
          <a:p>
            <a:pPr algn="l" indent="0" marL="0">
              <a:lnSpc>
                <a:spcPts val="2040"/>
              </a:lnSpc>
              <a:buNone/>
            </a:pPr>
            <a:r>
              <a:rPr lang="en-US" sz="1700" b="1" dirty="0">
                <a:solidFill>
                  <a:srgbClr val="16202E"/>
                </a:solidFill>
                <a:latin typeface="IBM Plex Sans" pitchFamily="34" charset="0"/>
                <a:ea typeface="IBM Plex Sans" pitchFamily="34" charset="-122"/>
                <a:cs typeface="IBM Plex Sans" pitchFamily="34" charset="-120"/>
              </a:rPr>
              <a:t>Repeat across seeds</a:t>
            </a:r>
            <a:endParaRPr lang="en-US" sz="1700" dirty="0"/>
          </a:p>
        </p:txBody>
      </p:sp>
      <p:sp>
        <p:nvSpPr>
          <p:cNvPr id="11" name="Text 9"/>
          <p:cNvSpPr/>
          <p:nvPr/>
        </p:nvSpPr>
        <p:spPr>
          <a:xfrm>
            <a:off x="1054100" y="3660031"/>
            <a:ext cx="4839970" cy="523180"/>
          </a:xfrm>
          <a:prstGeom prst="rect">
            <a:avLst/>
          </a:prstGeom>
          <a:noFill/>
          <a:ln/>
        </p:spPr>
        <p:txBody>
          <a:bodyPr wrap="square" lIns="0" tIns="0" rIns="0" bIns="0" rtlCol="0" anchor="t">
            <a:normAutofit/>
          </a:bodyPr>
          <a:lstStyle/>
          <a:p>
            <a:pPr algn="l" indent="0" marL="0">
              <a:lnSpc>
                <a:spcPts val="1960"/>
              </a:lnSpc>
              <a:buNone/>
            </a:pPr>
            <a:r>
              <a:rPr lang="en-US" sz="1400" dirty="0">
                <a:solidFill>
                  <a:srgbClr val="4A5568"/>
                </a:solidFill>
                <a:latin typeface="IBM Plex Sans" pitchFamily="34" charset="0"/>
                <a:ea typeface="IBM Plex Sans" pitchFamily="34" charset="-122"/>
                <a:cs typeface="IBM Plex Sans" pitchFamily="34" charset="-120"/>
              </a:rPr>
              <a:t>Three to five seeds at about 30 minutes each on an A100 tell us whether +0.06 holds.</a:t>
            </a:r>
            <a:endParaRPr lang="en-US" sz="1400" dirty="0"/>
          </a:p>
        </p:txBody>
      </p:sp>
      <p:sp>
        <p:nvSpPr>
          <p:cNvPr id="12" name="Shape 10"/>
          <p:cNvSpPr/>
          <p:nvPr/>
        </p:nvSpPr>
        <p:spPr>
          <a:xfrm>
            <a:off x="6203950" y="3089821"/>
            <a:ext cx="5168900" cy="1302941"/>
          </a:xfrm>
          <a:prstGeom prst="roundRect">
            <a:avLst>
              <a:gd name="adj" fmla="val 9260"/>
            </a:avLst>
          </a:prstGeom>
          <a:solidFill>
            <a:srgbClr val="FDFCF9"/>
          </a:solidFill>
          <a:ln w="12700">
            <a:solidFill>
              <a:srgbClr val="E2DED3"/>
            </a:solidFill>
            <a:prstDash val="solid"/>
          </a:ln>
        </p:spPr>
      </p:sp>
      <p:sp>
        <p:nvSpPr>
          <p:cNvPr id="13" name="Text 11"/>
          <p:cNvSpPr/>
          <p:nvPr/>
        </p:nvSpPr>
        <p:spPr>
          <a:xfrm>
            <a:off x="6438900" y="3324771"/>
            <a:ext cx="4839970" cy="284460"/>
          </a:xfrm>
          <a:prstGeom prst="rect">
            <a:avLst/>
          </a:prstGeom>
          <a:noFill/>
          <a:ln/>
        </p:spPr>
        <p:txBody>
          <a:bodyPr wrap="square" lIns="0" tIns="0" rIns="0" bIns="0" rtlCol="0" anchor="t">
            <a:normAutofit/>
          </a:bodyPr>
          <a:lstStyle/>
          <a:p>
            <a:pPr algn="l" indent="0" marL="0">
              <a:lnSpc>
                <a:spcPts val="2040"/>
              </a:lnSpc>
              <a:buNone/>
            </a:pPr>
            <a:r>
              <a:rPr lang="en-US" sz="1700" b="1" dirty="0">
                <a:solidFill>
                  <a:srgbClr val="16202E"/>
                </a:solidFill>
                <a:latin typeface="IBM Plex Sans" pitchFamily="34" charset="0"/>
                <a:ea typeface="IBM Plex Sans" pitchFamily="34" charset="-122"/>
                <a:cs typeface="IBM Plex Sans" pitchFamily="34" charset="-120"/>
              </a:rPr>
              <a:t>Grade beyond token F1</a:t>
            </a:r>
            <a:endParaRPr lang="en-US" sz="1700" dirty="0"/>
          </a:p>
        </p:txBody>
      </p:sp>
      <p:sp>
        <p:nvSpPr>
          <p:cNvPr id="14" name="Text 12"/>
          <p:cNvSpPr/>
          <p:nvPr/>
        </p:nvSpPr>
        <p:spPr>
          <a:xfrm>
            <a:off x="6438900" y="3660031"/>
            <a:ext cx="4839970" cy="523180"/>
          </a:xfrm>
          <a:prstGeom prst="rect">
            <a:avLst/>
          </a:prstGeom>
          <a:noFill/>
          <a:ln/>
        </p:spPr>
        <p:txBody>
          <a:bodyPr wrap="square" lIns="0" tIns="0" rIns="0" bIns="0" rtlCol="0" anchor="t">
            <a:normAutofit/>
          </a:bodyPr>
          <a:lstStyle/>
          <a:p>
            <a:pPr algn="l" indent="0" marL="0">
              <a:lnSpc>
                <a:spcPts val="1960"/>
              </a:lnSpc>
              <a:buNone/>
            </a:pPr>
            <a:r>
              <a:rPr lang="en-US" sz="1400" dirty="0">
                <a:solidFill>
                  <a:srgbClr val="4A5568"/>
                </a:solidFill>
                <a:latin typeface="IBM Plex Sans" pitchFamily="34" charset="0"/>
                <a:ea typeface="IBM Plex Sans" pitchFamily="34" charset="-122"/>
                <a:cs typeface="IBM Plex Sans" pitchFamily="34" charset="-120"/>
              </a:rPr>
              <a:t>Add an LLM‑judge or human check for correctness, and LLM‑written rationales instead of extractive ones.</a:t>
            </a:r>
            <a:endParaRPr lang="en-US" sz="1400" dirty="0"/>
          </a:p>
        </p:txBody>
      </p:sp>
      <p:sp>
        <p:nvSpPr>
          <p:cNvPr id="15" name="Text 13"/>
          <p:cNvSpPr/>
          <p:nvPr/>
        </p:nvSpPr>
        <p:spPr>
          <a:xfrm>
            <a:off x="812800" y="6238280"/>
            <a:ext cx="10883392" cy="238720"/>
          </a:xfrm>
          <a:prstGeom prst="rect">
            <a:avLst/>
          </a:prstGeom>
          <a:noFill/>
          <a:ln/>
        </p:spPr>
        <p:txBody>
          <a:bodyPr wrap="square" lIns="0" tIns="0" rIns="0" bIns="0" rtlCol="0" anchor="t">
            <a:normAutofit/>
          </a:bodyPr>
          <a:lstStyle/>
          <a:p>
            <a:pPr algn="l" indent="0" marL="0">
              <a:lnSpc>
                <a:spcPts val="1680"/>
              </a:lnSpc>
              <a:buNone/>
            </a:pPr>
            <a:r>
              <a:rPr lang="en-US" sz="1200" dirty="0">
                <a:solidFill>
                  <a:srgbClr val="6A7280"/>
                </a:solidFill>
                <a:latin typeface="JetBrains Mono" pitchFamily="49" charset="0"/>
                <a:ea typeface="JetBrains Mono" pitchFamily="49" charset="-122"/>
                <a:cs typeface="JetBrains Mono" pitchFamily="49" charset="-120"/>
              </a:rPr>
              <a:t>finetuning_LLM_LORA/ · results/ · PR dougc333/geha#101</a:t>
            </a:r>
            <a:endParaRPr lang="en-US" sz="1200" dirty="0"/>
          </a:p>
        </p:txBody>
      </p:sp>
    </p:spTree>
  </p:cSld>
  <p:clrMapOvr>
    <a:masterClrMapping/>
  </p:clrMapOvr>
</p:sld>
</file>

<file path=ppt/theme/theme1.xml><?xml version="1.0" encoding="utf-8"?>
<a:theme xmlns:a="http://schemas.openxmlformats.org/drawingml/2006/main" name="GEHA Generator LoRA Finetuning">
  <a:themeElements>
    <a:clrScheme name="GEHA Generator LoRA Finetuning">
      <a:dk1>
        <a:srgbClr val="16202E"/>
      </a:dk1>
      <a:lt1>
        <a:srgbClr val="F6F5F0"/>
      </a:lt1>
      <a:dk2>
        <a:srgbClr val="4E555F"/>
      </a:dk2>
      <a:lt2>
        <a:srgbClr val="E0E0DD"/>
      </a:lt2>
      <a:accent1>
        <a:srgbClr val="B4481A"/>
      </a:accent1>
      <a:accent2>
        <a:srgbClr val="2F6DB5"/>
      </a:accent2>
      <a:accent3>
        <a:srgbClr val="F08A5D"/>
      </a:accent3>
      <a:accent4>
        <a:srgbClr val="D9622B"/>
      </a:accent4>
      <a:accent5>
        <a:srgbClr val="4A5568"/>
      </a:accent5>
      <a:accent6>
        <a:srgbClr val="6A7280"/>
      </a:accent6>
      <a:hlink>
        <a:srgbClr val="0563C1"/>
      </a:hlink>
      <a:folHlink>
        <a:srgbClr val="954F72"/>
      </a:folHlink>
    </a:clrScheme>
    <a:fontScheme name="GEHA Generator LoRA Finetuning">
      <a:majorFont>
        <a:latin typeface="IBM Plex Sans"/>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IBM Plex Sans"/>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13</Slides>
  <Notes>13</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13</vt:i4>
      </vt:variant>
    </vt:vector>
  </HeadingPairs>
  <TitlesOfParts>
    <vt:vector size="16"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GEHA Generator LoRA Finetuning</dc:title>
  <dc:subject/>
  <dc:description>The font files embedded in this presentation (stored inside it under ppt/fonts/) are files Google Fonts served when the presentation was exported, unpacked from WOFF2 to TrueType and wrapped as Embedded OpenType, the form PowerPoint reads. A file that named another cut of its family, unless it reserves that name, was also changed where it could be, so that PowerPoint matches it to this presentation’s text: its family and style names and the weight and style it declares were rewritten, and any digital signature, which no longer matched, was removed. Google Fonts serves each family in parts, one file per range of characters, so these may not be a family’s complete files. Each family’s copyright lines and license follow, and each family stays under its own license; if you pass this file on, keep these notices with it.
JetBrains Mono
Copyright 2020 The JetBrains Mono Project Authors (https://github.com/JetBrains/JetBrainsMono)
This Font Software is licensed under the SIL Open Font License, Version 1.1.
This license is copied below, and is also available with a FAQ at: https://scripts.sil.org/OFL
-----------------------------------------------------------
SIL OPEN FONT LICENSE Version 1.1 - 26 February 2007
-----------------------------------------------------------
PREAMBLE
The goals of the Open Font License (OFL) are to stimulate worldwide
development of collaborative font projects, to support the font creation
efforts of academic and linguistic communities, and to provide a free and
open framework in which fonts may be shared and improved in partnership
with others.
The OFL allows the licensed fonts to be used, studied, modified and
redistributed freely as long as they are not sold by themselves. The
fonts, including any derivative works, can be bundled, embedded,
redistributed and/or sold with any software provided that any reserved
names are not used by derivative works. The fonts and derivatives,
however, cannot be released under any other type of license. The
requirement for fonts to remain under this license does not apply
to any document created using the fonts or their derivatives.
DEFINITIONS
"Font Software" refers to the set of files released by the Copyright
Holder(s) under this license and clearly marked as such. This may
include source files, build scripts and documentation.
"Reserved Font Name" refers to any names specified as such after the
copyright statement(s).
"Original Version" refers to the collection of Font Software components as
distributed by the Copyright Holder(s).
"Modified Version" refers to any derivative made by adding to, deleting,
or substituting -- in part or in whole -- any of the components of the
Original Version, by changing formats or by porting the Font Software to a
new environment.
"Author" refers to any designer, engineer, programmer, technical
writer or other person who contributed to the Font Software.
PERMISSION &amp; CONDITIONS
Permission is hereby granted, free of charge, to any person obtaining
a copy of the Font Software, to use, study, copy, merge, embed, modify,
redistribute, and sell modified and unmodified copies of the Font
Software, subject to the following conditions:
1) Neither the Font Software nor any of its individual components,
in Original or Modified Versions, may be sold by itself.
2) Original or Modified Versions of the Font Software may be bundled,
redistributed and/or sold with any software, provided that each copy
contains the above copyright notice and this license. These can be
included either as stand-alone text files, human-readable headers or
in the appropriate machine-readable metadata fields within text or
binary files as long as those fields can be easily viewed by the user.
3) No Modified Version of the Font Software may use the Reserved Font
Name(s) unless explicit written permission is granted by the corresponding
Copyright Holder. This restriction only applies to the primary font name as
presented to the users.
4) The name(s) of the Copyright Holder(s) or the Author(s) of the Font
Software shall not be used to promote, endorse or advertise any
Modified Version, except to acknowledge the contribution(s) of the
Copyright Holder(s) and the Author(s) or with their explicit written
permission.
5) The Font Software, modified or unmodified, in part or in whole,
must be distributed entirely under this license, and must not be
distributed under any other license. The requirement for fonts to
remain under this license does not apply to any document created
using the Font Software.
TERMINATION
This license becomes null and void if any of the above conditions are
not met.
DISCLAIMER
THE FONT SOFTWARE IS PROVIDED "AS IS", WITHOUT WARRANTY OF ANY KIND,
EXPRESS OR IMPLIED, INCLUDING BUT NOT LIMITED TO ANY WARRANTIES OF
MERCHANTABILITY, FITNESS FOR A PARTICULAR PURPOSE AND NONINFRINGEMENT
OF COPYRIGHT, PATENT, TRADEMARK, OR OTHER RIGHT. IN NO EVENT SHALL THE
COPYRIGHT HOLDER BE LIABLE FOR ANY CLAIM, DAMAGES OR OTHER LIABILITY,
INCLUDING ANY GENERAL, SPECIAL, INDIRECT, INCIDENTAL, OR CONSEQUENTIAL
DAMAGES, WHETHER IN AN ACTION OF CONTRACT, TORT OR OTHERWISE, ARISING
FROM, OUT OF THE USE OR INABILITY TO USE THE FONT SOFTWARE OR FROM
OTHER DEALINGS IN THE FONT SOFTWARE.
</dc:description>
  <dc:creator/>
  <cp:lastModifiedBy/>
  <cp:revision>1</cp:revision>
  <dcterms:created xsi:type="dcterms:W3CDTF">2026-10-21T15:58:12Z</dcterms:created>
  <dcterms:modified xsi:type="dcterms:W3CDTF">2026-10-21T15:58:12Z</dcterms:modified>
</cp:coreProperties>
</file>