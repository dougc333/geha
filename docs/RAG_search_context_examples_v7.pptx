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7" r:id="rId4"/>
    <p:sldMasterId id="2147483658" r:id="rId5"/>
    <p:sldMasterId id="2147483659" r:id="rId6"/>
  </p:sldMasterIdLst>
  <p:notesMasterIdLst>
    <p:notesMasterId r:id="rId7"/>
  </p:notesMasterIdLst>
  <p:sldIdLst>
    <p:sldId id="256" r:id="rId8"/>
    <p:sldId id="291" r:id="rId43"/>
    <p:sldId id="356" r:id="rId108"/>
    <p:sldId id="357" r:id="rId109"/>
    <p:sldId id="257" r:id="rId9"/>
    <p:sldId id="362" r:id="rId130"/>
    <p:sldId id="275" r:id="rId27"/>
    <p:sldId id="359" r:id="rId111"/>
    <p:sldId id="360" r:id="rId112"/>
    <p:sldId id="361" r:id="rId113"/>
    <p:sldId id="267" r:id="rId19"/>
    <p:sldId id="266" r:id="rId18"/>
    <p:sldId id="358" r:id="rId110"/>
    <p:sldId id="283" r:id="rId35"/>
    <p:sldId id="268" r:id="rId20"/>
    <p:sldId id="282" r:id="rId34"/>
    <p:sldId id="280" r:id="rId32"/>
    <p:sldId id="281" r:id="rId33"/>
    <p:sldId id="263" r:id="rId15"/>
    <p:sldId id="262" r:id="rId14"/>
    <p:sldId id="284" r:id="rId36"/>
    <p:sldId id="278" r:id="rId30"/>
    <p:sldId id="285" r:id="rId37"/>
    <p:sldId id="274" r:id="rId26"/>
    <p:sldId id="272" r:id="rId24"/>
    <p:sldId id="315" r:id="rId67"/>
    <p:sldId id="363" r:id="rId131"/>
    <p:sldId id="264" r:id="rId16"/>
    <p:sldId id="258" r:id="rId10"/>
    <p:sldId id="259" r:id="rId11"/>
    <p:sldId id="260" r:id="rId12"/>
    <p:sldId id="261" r:id="rId13"/>
    <p:sldId id="289" r:id="rId41"/>
    <p:sldId id="290" r:id="rId42"/>
    <p:sldId id="287" r:id="rId39"/>
    <p:sldId id="288" r:id="rId40"/>
    <p:sldId id="292" r:id="rId44"/>
    <p:sldId id="293" r:id="rId45"/>
    <p:sldId id="354" r:id="rId106"/>
    <p:sldId id="270" r:id="rId22"/>
    <p:sldId id="355" r:id="rId107"/>
    <p:sldId id="332" r:id="rId84"/>
    <p:sldId id="310" r:id="rId62"/>
    <p:sldId id="294" r:id="rId46"/>
    <p:sldId id="265" r:id="rId17"/>
    <p:sldId id="364" r:id="rId132"/>
    <p:sldId id="317" r:id="rId69"/>
    <p:sldId id="318" r:id="rId70"/>
    <p:sldId id="319" r:id="rId71"/>
    <p:sldId id="320" r:id="rId72"/>
    <p:sldId id="312" r:id="rId64"/>
    <p:sldId id="321" r:id="rId73"/>
    <p:sldId id="314" r:id="rId66"/>
    <p:sldId id="322" r:id="rId74"/>
    <p:sldId id="313" r:id="rId65"/>
    <p:sldId id="323" r:id="rId75"/>
    <p:sldId id="324" r:id="rId76"/>
    <p:sldId id="316" r:id="rId68"/>
    <p:sldId id="311" r:id="rId63"/>
    <p:sldId id="365" r:id="rId133"/>
    <p:sldId id="325" r:id="rId77"/>
    <p:sldId id="326" r:id="rId78"/>
    <p:sldId id="327" r:id="rId79"/>
    <p:sldId id="296" r:id="rId48"/>
    <p:sldId id="297" r:id="rId49"/>
    <p:sldId id="298" r:id="rId50"/>
    <p:sldId id="300" r:id="rId52"/>
    <p:sldId id="301" r:id="rId53"/>
    <p:sldId id="366" r:id="rId134"/>
    <p:sldId id="328" r:id="rId80"/>
    <p:sldId id="279" r:id="rId31"/>
    <p:sldId id="277" r:id="rId29"/>
    <p:sldId id="269" r:id="rId21"/>
    <p:sldId id="271" r:id="rId23"/>
    <p:sldId id="273" r:id="rId25"/>
    <p:sldId id="367" r:id="rId135"/>
    <p:sldId id="276" r:id="rId28"/>
    <p:sldId id="307" r:id="rId59"/>
    <p:sldId id="308" r:id="rId60"/>
    <p:sldId id="309" r:id="rId61"/>
    <p:sldId id="333" r:id="rId85"/>
    <p:sldId id="330" r:id="rId82"/>
    <p:sldId id="302" r:id="rId54"/>
    <p:sldId id="303" r:id="rId55"/>
    <p:sldId id="304" r:id="rId56"/>
    <p:sldId id="305" r:id="rId57"/>
    <p:sldId id="306" r:id="rId58"/>
    <p:sldId id="329" r:id="rId81"/>
    <p:sldId id="368" r:id="rId136"/>
    <p:sldId id="336" r:id="rId88"/>
    <p:sldId id="337" r:id="rId89"/>
    <p:sldId id="334" r:id="rId86"/>
    <p:sldId id="335" r:id="rId87"/>
    <p:sldId id="299" r:id="rId51"/>
    <p:sldId id="369" r:id="rId137"/>
    <p:sldId id="338" r:id="rId90"/>
    <p:sldId id="331" r:id="rId83"/>
    <p:sldId id="353" r:id="rId105"/>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70" r:id="rId138"/>
    <p:sldId id="295" r:id="rId47"/>
    <p:sldId id="286" r:id="rId38"/>
  </p:sldIdLst>
  <p:sldSz cy="6858000" cx="12192000"/>
  <p:notesSz cx="6858000" cy="9144000"/>
  <p:embeddedFontLst>
    <p:embeddedFont>
      <p:font typeface="IBM Plex Sans"/>
      <p:regular r:id="rId114"/>
      <p:bold r:id="rId115"/>
      <p:italic r:id="rId116"/>
      <p:boldItalic r:id="rId117"/>
    </p:embeddedFont>
    <p:embeddedFont>
      <p:font typeface="Helvetica Neue"/>
      <p:regular r:id="rId118"/>
      <p:bold r:id="rId119"/>
      <p:italic r:id="rId120"/>
      <p:boldItalic r:id="rId121"/>
    </p:embeddedFont>
    <p:embeddedFont>
      <p:font typeface="Roboto Mono"/>
      <p:regular r:id="rId122"/>
      <p:bold r:id="rId123"/>
      <p:italic r:id="rId124"/>
      <p:boldItalic r:id="rId125"/>
    </p:embeddedFont>
    <p:embeddedFont>
      <p:font typeface="JetBrains Mono"/>
      <p:regular r:id="rId126"/>
      <p:bold r:id="rId127"/>
      <p:italic r:id="rId128"/>
      <p:boldItalic r:id="rId12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EEE02795-A6B7-4247-B71C-ED7A564BFD40}">
  <a:tblStyle styleId="{EEE02795-A6B7-4247-B71C-ED7A564BFD40}"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4.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font" Target="fonts/IBMPlexSans-regular.fntdata"/><Relationship Id="rId115" Type="http://schemas.openxmlformats.org/officeDocument/2006/relationships/font" Target="fonts/IBMPlexSans-bold.fntdata"/><Relationship Id="rId116" Type="http://schemas.openxmlformats.org/officeDocument/2006/relationships/font" Target="fonts/IBMPlexSans-italic.fntdata"/><Relationship Id="rId117" Type="http://schemas.openxmlformats.org/officeDocument/2006/relationships/font" Target="fonts/IBMPlexSans-boldItalic.fntdata"/><Relationship Id="rId118" Type="http://schemas.openxmlformats.org/officeDocument/2006/relationships/font" Target="fonts/HelveticaNeue-regular.fntdata"/><Relationship Id="rId119" Type="http://schemas.openxmlformats.org/officeDocument/2006/relationships/font" Target="fonts/HelveticaNeue-bold.fntdata"/><Relationship Id="rId120" Type="http://schemas.openxmlformats.org/officeDocument/2006/relationships/font" Target="fonts/HelveticaNeue-italic.fntdata"/><Relationship Id="rId121" Type="http://schemas.openxmlformats.org/officeDocument/2006/relationships/font" Target="fonts/HelveticaNeue-boldItalic.fntdata"/><Relationship Id="rId122" Type="http://schemas.openxmlformats.org/officeDocument/2006/relationships/font" Target="fonts/RobotoMono-regular.fntdata"/><Relationship Id="rId123" Type="http://schemas.openxmlformats.org/officeDocument/2006/relationships/font" Target="fonts/RobotoMono-bold.fntdata"/><Relationship Id="rId124" Type="http://schemas.openxmlformats.org/officeDocument/2006/relationships/font" Target="fonts/RobotoMono-italic.fntdata"/><Relationship Id="rId125" Type="http://schemas.openxmlformats.org/officeDocument/2006/relationships/font" Target="fonts/RobotoMono-boldItalic.fntdata"/><Relationship Id="rId126" Type="http://schemas.openxmlformats.org/officeDocument/2006/relationships/font" Target="fonts/JetBrainsMono-regular.fntdata"/><Relationship Id="rId127" Type="http://schemas.openxmlformats.org/officeDocument/2006/relationships/font" Target="fonts/JetBrainsMono-bold.fntdata"/><Relationship Id="rId128" Type="http://schemas.openxmlformats.org/officeDocument/2006/relationships/font" Target="fonts/JetBrainsMono-italic.fntdata"/><Relationship Id="rId129" Type="http://schemas.openxmlformats.org/officeDocument/2006/relationships/font" Target="fonts/JetBrainsMono-boldItalic.fntdata"/><Relationship Id="rId130" Type="http://schemas.openxmlformats.org/officeDocument/2006/relationships/slide" Target="slides/slide107.xml"/><Relationship Id="rId131" Type="http://schemas.openxmlformats.org/officeDocument/2006/relationships/slide" Target="slides/slide108.xml"/><Relationship Id="rId132" Type="http://schemas.openxmlformats.org/officeDocument/2006/relationships/slide" Target="slides/slide109.xml"/><Relationship Id="rId133" Type="http://schemas.openxmlformats.org/officeDocument/2006/relationships/slide" Target="slides/slide110.xml"/><Relationship Id="rId134" Type="http://schemas.openxmlformats.org/officeDocument/2006/relationships/slide" Target="slides/slide111.xml"/><Relationship Id="rId135" Type="http://schemas.openxmlformats.org/officeDocument/2006/relationships/slide" Target="slides/slide112.xml"/><Relationship Id="rId136" Type="http://schemas.openxmlformats.org/officeDocument/2006/relationships/slide" Target="slides/slide113.xml"/><Relationship Id="rId137" Type="http://schemas.openxmlformats.org/officeDocument/2006/relationships/slide" Target="slides/slide114.xml"/><Relationship Id="rId138" Type="http://schemas.openxmlformats.org/officeDocument/2006/relationships/slide" Target="slides/slide1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g40a2150d97e_0_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37" name="Google Shape;37;g40a2150d97e_0_0: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Opening thesis: more than half of RAG deployments fail, and they fail for predictable reasons. The two big buckets are poor design (one giant vector index, overloaded rerankers, standard RAG applied to rule-based policy questions) and poor data (bad OCR and parsing around tables and figures, TOC and index noise, missing context on figures). Grounded hallucination rates of a few percent stay invisible in a prototype and surface only at production scale, which is often when funding gets pulled. The rest of the talk shows each failure and the fix.</a:t>
            </a:r>
          </a:p>
        </p:txBody>
      </p:sp>
      <p:sp>
        <p:nvSpPr>
          <p:cNvPr id="38" name="Google Shape;38;g40a2150d97e_0_0: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h6c4a01c0b0da4fd9_0_3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43" name="Google Shape;43;h6c4a01c0b0da4fd9_0_3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Agenda for the demo portion: data extraction and chunking, figure and table extraction, and how to measure the three error types separately: retrieval errors, context-assembly errors and answer-completeness errors. The pipeline used throughout is hybrid retrieval of the top 150 chunks, a reranker that scores those 150 against the query, and the top 20 passed to the LLM.</a:t>
            </a:r>
          </a:p>
        </p:txBody>
      </p:sp>
      <p:sp>
        <p:nvSpPr>
          <p:cNvPr id="44" name="Google Shape;44;h6c4a01c0b0da4fd9_0_35: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h50f07ca78e628d79_0_1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49" name="Google Shape;49;h50f07ca78e628d79_0_111: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Bad extraction, using the default unstructured parser that LangChain uses. A pie chart comparing 2021 and 2025 comes out as a loose list of numbers with no labels: 2021, 66 percent, 34 percent, 2025, 74 percent, 26 percent. Indexed at scale, fragments like this pollute both the BM25 and the vector index.</a:t>
            </a:r>
          </a:p>
        </p:txBody>
      </p:sp>
      <p:sp>
        <p:nvSpPr>
          <p:cNvPr id="50" name="Google Shape;50;h50f07ca78e628d79_0_111: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h1495330980e2190c_0_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60" name="Google Shape;60;h1495330980e2190c_0_0: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What the same page should look like: the chart converted to a proper markdown table with response, 2021 and 2025 columns, followed by the surrounding prose. LlamaParse, Reductio and our own demo code all produce this.</a:t>
            </a:r>
          </a:p>
        </p:txBody>
      </p:sp>
      <p:sp>
        <p:nvSpPr>
          <p:cNvPr id="61" name="Google Shape;61;h1495330980e2190c_0_0: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h1495330980e2190c_0_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67" name="Google Shape;67;h1495330980e2190c_0_4: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Another LangChain parse failure: a stacked bar chart from the workforce benefits study becomes one long string of numbers and labels with no table structure, so no question about company size or year can be answered reliably from it.</a:t>
            </a:r>
          </a:p>
        </p:txBody>
      </p:sp>
      <p:sp>
        <p:nvSpPr>
          <p:cNvPr id="68" name="Google Shape;68;h1495330980e2190c_0_4: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h1495330980e2190c_0_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75" name="Google Shape;75;h1495330980e2190c_0_8: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The correct version of the same figure: the table matches the bar chart exactly, small, midsize and large employers by fewer, the same or more benefits. With the data as a table it can be indexed, filtered and cited.</a:t>
            </a:r>
          </a:p>
        </p:txBody>
      </p:sp>
      <p:sp>
        <p:nvSpPr>
          <p:cNvPr id="76" name="Google Shape;76;h1495330980e2190c_0_8: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h50f07ca78e628d79_0_1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83" name="Google Shape;83;h50f07ca78e628d79_0_11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HyDE on our policy data. A short question like is Treanda a preferred drug is turned into a policy-style passage, encoded, and matched against the real bendamustine PDF pages: the preference table, the prior-authorization page or the dosing page. The generated text is only a search key; it is never evidence for the answer.</a:t>
            </a:r>
          </a:p>
        </p:txBody>
      </p:sp>
      <p:sp>
        <p:nvSpPr>
          <p:cNvPr id="84" name="Google Shape;84;h50f07ca78e628d79_0_115: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h1495330980e2190c_0_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89" name="Google Shape;89;h1495330980e2190c_0_27: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HyDE, Hypothetical Document Embeddings, from 2022. Standard RAG embeds the question. HyDE first has an LLM write a hypothetical answer, embeds that, and searches with it. The idea is that a fake answer looks more like the real document than the question does.</a:t>
            </a:r>
          </a:p>
        </p:txBody>
      </p:sp>
      <p:sp>
        <p:nvSpPr>
          <p:cNvPr id="90" name="Google Shape;90;h1495330980e2190c_0_27: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h1495330980e2190c_0_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95" name="Google Shape;95;h1495330980e2190c_0_31: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This is the map for the rest of the talk. Errors can enter at three places: contextual embedding at indexing time, context assembly when retrieved chunks are reranked and packed into the prompt, and answer completeness at generation. Each needs its own measurement, and fixing the wrong stage wastes effort.</a:t>
            </a:r>
          </a:p>
        </p:txBody>
      </p:sp>
      <p:sp>
        <p:nvSpPr>
          <p:cNvPr id="96" name="Google Shape;96;h1495330980e2190c_0_31: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h1495330980e2190c_0_3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01" name="Google Shape;101;h1495330980e2190c_0_3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The selectable RAG demo on Vercel. PDFs are extracted with PyMuPDF, chunked at 350 words with 50 words of overlap, embedded with OpenAI text-embedding-3-small and stored in Postgres with pgvector. At query time you choose vector, BM25 or hybrid retrieval with reciprocal-rank fusion, optional LLM reranking, top-k and a grounded answer, and every stage reports its latency.</a:t>
            </a:r>
          </a:p>
        </p:txBody>
      </p:sp>
      <p:sp>
        <p:nvSpPr>
          <p:cNvPr id="102" name="Google Shape;102;h1495330980e2190c_0_35: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h6b5a55dc0c9d1379_0_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07" name="Google Shape;107;h6b5a55dc0c9d1379_0_0: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A quick map of which fix fits which problem. Structured data such as tables should be filtered in the database and returned as a single result, the way a search tool returns one answer. Vector search misses exact keywords like drug codes, so add BM25. When a short query pulls many irrelevant chunks, try HyDE. But HyDE only helps some cases: underspecified queries, wording gaps between question and document, the wrong retrieval method, and evidence that is simply not in the corpus each need a different fix.</a:t>
            </a:r>
          </a:p>
        </p:txBody>
      </p:sp>
      <p:sp>
        <p:nvSpPr>
          <p:cNvPr id="108" name="Google Shape;108;h6b5a55dc0c9d1379_0_0: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h50f07ca78e628d79_0_10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h50f07ca78e628d79_0_103: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Naive RAG on unstructured text. Take a real member question: what help is available if I need an expensive dental procedure and want to minimize out-of-pocket costs? The answer is spread across plan options, coinsurance, annual maximums and discount programs. A single vector search over chunks tends to return fragments of each without the rules that connect them.</a:t>
            </a:r>
          </a:p>
        </p:txBody>
      </p:sp>
      <p:sp>
        <p:nvSpPr>
          <p:cNvPr id="114" name="Google Shape;114;h50f07ca78e628d79_0_103: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h50f07ca78e628d79_0_10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20" name="Google Shape;120;h50f07ca78e628d79_0_107: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The same architecture with concrete numbers from the demo: hybrid retrieval returns the top 150 chunks, the reranker scores all 150 against the query, the top 20 are kept and passed to the LLM. Rerankers have a practical limit; pass too many candidates and the right chunk can still fall below the cutoff.</a:t>
            </a:r>
          </a:p>
        </p:txBody>
      </p:sp>
      <p:sp>
        <p:nvSpPr>
          <p:cNvPr id="121" name="Google Shape;121;h50f07ca78e628d79_0_107: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h50f07ca78e628d79_0_1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27" name="Google Shape;127;h50f07ca78e628d79_0_119: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Where the JEV safety classifier runs. In dental policy Q and A it is Gate 1: it classifies the member’s question before any generated answer can be released, while retrieval and the DSPy draft run in parallel; Gate 2 checks the answer against the retrieved pages. In the enrollment tab JEV is off and the deterministic state machine handles everything.</a:t>
            </a:r>
          </a:p>
        </p:txBody>
      </p:sp>
      <p:sp>
        <p:nvSpPr>
          <p:cNvPr id="128" name="Google Shape;128;h50f07ca78e628d79_0_119: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h1495330980e2190c_0_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33" name="Google Shape;133;h1495330980e2190c_0_39: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What the row-level chunks actually contain once metadata is added: each bendamustine row carries its source file, table name and conditions alongside the drug name, HCPCS code and description. This is the minimum context a row needs to be retrievable on its own.</a:t>
            </a:r>
          </a:p>
        </p:txBody>
      </p:sp>
      <p:sp>
        <p:nvSpPr>
          <p:cNvPr id="134" name="Google Shape;134;h1495330980e2190c_0_39: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h1495330980e2190c_0_4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39" name="Google Shape;139;h1495330980e2190c_0_43: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The retrieval architecture behind policy Q and A. Offline, Docling turns each page into markdown and builds a BM25 index and a BGE vector index, cached. Online: Gate 1, query preparation with vocabulary expansion and an exact-code BM25 path, BM25 and vector retrieval fused with reciprocal-rank fusion, top page evidence, SQLite enrichment with exact benefit rows, context assembly, the DSPy generator and Gate 2. Note that the current reranking is rank fusion; a learned reranker exists but is not wired in.</a:t>
            </a:r>
          </a:p>
        </p:txBody>
      </p:sp>
      <p:sp>
        <p:nvSpPr>
          <p:cNvPr id="140" name="Google Shape;140;h1495330980e2190c_0_43: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h1495330980e2190c_0_4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45" name="Google Shape;145;h1495330980e2190c_0_47: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Corrective RAG, CRAG. After retrieval and reranking, an evidence grader judges whether the retrieved passages actually answer the question. Relevant evidence goes to the answer LLM; ambiguous or irrelevant evidence triggers corrective retrieval, such as a query rewrite, BM25 or hybrid search, web search or a SQL tool, and the new results are graded again.</a:t>
            </a:r>
          </a:p>
        </p:txBody>
      </p:sp>
      <p:sp>
        <p:nvSpPr>
          <p:cNvPr id="146" name="Google Shape;146;h1495330980e2190c_0_47: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h1495330980e2190c_0_5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51" name="Google Shape;151;h1495330980e2190c_0_51: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The grounded hybrid architecture in one view. Structured facts come from SQLite; BM25 and BGE supply supporting document evidence; the models interpret and explain but never invent benefit values. Input safety and answer preparation run concurrently, a release gate and an output guard check the draft, and anything unsafe, unsupported, timed out or erroring fails closed to a refusal.</a:t>
            </a:r>
          </a:p>
        </p:txBody>
      </p:sp>
      <p:sp>
        <p:nvSpPr>
          <p:cNvPr id="152" name="Google Shape;152;h1495330980e2190c_0_51: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h1495330980e2190c_0_5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57" name="Google Shape;157;h1495330980e2190c_0_5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Where contextual embedding sits in the naive pipeline: the chunking and embedding steps, highlighted in red. Everything downstream stays the same; only what gets embedded changes.</a:t>
            </a:r>
          </a:p>
        </p:txBody>
      </p:sp>
      <p:sp>
        <p:nvSpPr>
          <p:cNvPr id="158" name="Google Shape;158;h1495330980e2190c_0_55: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h1495330980e2190c_0_8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h1495330980e2190c_0_81: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The baseline everyone starts from. Offline, documents are chunked, embedded and stored in a vector index. Online, the query is embedded with the same model, the nearest chunks are retrieved, a prompt is built from instructions, the question and the retrieved context, and the LLM generates a grounded answer. Retrieval, augmentation and generation are three separate stages, and each can fail on its own.</a:t>
            </a:r>
          </a:p>
        </p:txBody>
      </p:sp>
      <p:sp>
        <p:nvSpPr>
          <p:cNvPr id="164" name="Google Shape;164;h1495330980e2190c_0_81: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h1495330980e2190c_0_6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h1495330980e2190c_0_69: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Agent loop versus harness. The loop is the model calling tools, here OCR, get text, get tables, save HTML and screenshot, comparing the screenshot to the HTML and looping until they match. The harness is everything that keeps that loop healthy over many turns: a context manager that trims and compacts to a window budget, and a sandbox where tool runs are isolated. In our runs a single-page PDF worked while the full PDF produced errors.</a:t>
            </a:r>
          </a:p>
        </p:txBody>
      </p:sp>
      <p:sp>
        <p:nvSpPr>
          <p:cNvPr id="170" name="Google Shape;170;h1495330980e2190c_0_69: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h1495330980e2190c_0_7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h1495330980e2190c_0_73: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The GEHA dental chatbot combines both patterns. The enrollment tab is state-machine RAG: DSPy normalizes member language into allowed labels, and deterministic LangGraph state and authoritative tables make the decisions. The policy Q and A tab uses guardrails plus one conditional self-correction: a clean answer is returned as is, while a draft that adds an unsupported claim, like the Walmart glasses example, gets exactly one bounded repair and a recheck, otherwise a refusal.</a:t>
            </a:r>
          </a:p>
        </p:txBody>
      </p:sp>
      <p:sp>
        <p:nvSpPr>
          <p:cNvPr id="176" name="Google Shape;176;h1495330980e2190c_0_73: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h1495330980e2190c_0_7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h1495330980e2190c_0_77: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A hand-drawn version of the same idea, the LangChain ParentDocumentRetriever: large parent chunks in an in-memory store, small child chunks in the vector store, children retrieved and their parents returned as context.</a:t>
            </a:r>
          </a:p>
        </p:txBody>
      </p:sp>
      <p:sp>
        <p:nvSpPr>
          <p:cNvPr id="182" name="Google Shape;182;h1495330980e2190c_0_77: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h1495330980e2190c_0_8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h1495330980e2190c_0_8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The same idea extended to dental and medical together. Shared slots for status and enrollment are asked once; a router sends the member to the dental sub-machine, the medical sub-machine or both, and the result is a combined quote for the same pay period. All values come from structured tables parsed from the dental guide, the medical guide and five standard summaries of benefits.</a:t>
            </a:r>
          </a:p>
        </p:txBody>
      </p:sp>
      <p:sp>
        <p:nvSpPr>
          <p:cNvPr id="188" name="Google Shape;188;h1495330980e2190c_0_85: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h1495330980e2190c_0_1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h1495330980e2190c_0_113: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Adding structured data. Alongside the vector index, PostgreSQL full-text search over structured records contributes candidates. The reranker merges unstructured chunks and structured rows before the LLM sees them. This is a step toward treating tables as data rather than text.</a:t>
            </a:r>
          </a:p>
        </p:txBody>
      </p:sp>
      <p:sp>
        <p:nvSpPr>
          <p:cNvPr id="194" name="Google Shape;194;h1495330980e2190c_0_113: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h1495330980e2190c_0_1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h1495330980e2190c_0_117: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Query expansion: an LLM rewrites the original question into several variants, each variant is retrieved separately, and the union of results becomes the context. It helps when the user’s wording does not match the document’s, at the cost of extra LLM calls and more candidates to rank.</a:t>
            </a:r>
          </a:p>
        </p:txBody>
      </p:sp>
      <p:sp>
        <p:nvSpPr>
          <p:cNvPr id="200" name="Google Shape;200;h1495330980e2190c_0_117: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h1495330980e2190c_0_1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h1495330980e2190c_0_121: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Reranking on top of plain vector search. The vector index returns the top-k candidates, and a cross-encoder reranker reorders them by reading the query and each chunk together, which is more accurate than comparing two independent vectors. It cannot recover a chunk that never made the candidate list.</a:t>
            </a:r>
          </a:p>
        </p:txBody>
      </p:sp>
      <p:sp>
        <p:nvSpPr>
          <p:cNvPr id="206" name="Google Shape;206;h1495330980e2190c_0_121: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h1495330980e2190c_0_1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211" name="Google Shape;211;h1495330980e2190c_0_12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Hybrid RAG with reranking: the query goes to both the vector index and BM25, so it catches paraphrases and exact terms. The two candidate lists are merged, a reranking model reads each candidate together with the query, and only the top few go to the LLM. This is the architecture used in most of the demos.</a:t>
            </a:r>
          </a:p>
        </p:txBody>
      </p:sp>
      <p:sp>
        <p:nvSpPr>
          <p:cNvPr id="212" name="Google Shape;212;h1495330980e2190c_0_125: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h1495330980e2190c_0_12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h1495330980e2190c_0_129: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Parent document retriever: documents are split into large parents and small children. Only the children are embedded, because small chunks match precisely. When a child matches, the system looks up its parent by ID and passes the whole parent to the LLM, so the answer has full context. Precise matching, rich context.</a:t>
            </a:r>
          </a:p>
        </p:txBody>
      </p:sp>
      <p:sp>
        <p:nvSpPr>
          <p:cNvPr id="218" name="Google Shape;218;h1495330980e2190c_0_129: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h1495330980e2190c_0_5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223" name="Google Shape;223;h1495330980e2190c_0_59: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Anthropic’s contextual retrieval: before indexing, an LLM reads the whole document and writes 50 to 100 tokens of context for every chunk, which is prepended to the chunk. Both the embedding index and the BM25 or TF-IDF index see the contextualized text. It fixes chunks that make no sense alone, such as a table row without its table title. With prompt caching the cost per chunk is low.</a:t>
            </a:r>
          </a:p>
        </p:txBody>
      </p:sp>
      <p:sp>
        <p:nvSpPr>
          <p:cNvPr id="224" name="Google Shape;224;h1495330980e2190c_0_59: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h1495330980e2190c_0_6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h1495330980e2190c_0_63: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Backup: the CRAG worked example on its own, the same text as the CRAG slide shown with the when-to-turn-it-on guidance.</a:t>
            </a:r>
          </a:p>
        </p:txBody>
      </p:sp>
      <p:sp>
        <p:nvSpPr>
          <p:cNvPr id="230" name="Google Shape;230;h1495330980e2190c_0_63: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 name="Shape 233"/>
        <p:cNvGrpSpPr/>
        <p:nvPr/>
      </p:nvGrpSpPr>
      <p:grpSpPr>
        <a:xfrm>
          <a:off x="0" y="0"/>
          <a:ext cx="0" cy="0"/>
          <a:chOff x="0" y="0"/>
          <a:chExt cx="0" cy="0"/>
        </a:xfrm>
      </p:grpSpPr>
      <p:sp>
        <p:nvSpPr>
          <p:cNvPr id="234" name="Google Shape;234;h1a0f22e23371ef5e_0_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235" name="Google Shape;235;h1a0f22e23371ef5e_0_1: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Does adding an LLM summary to every chunk help? Not for every chunk. Here a table-of-contents chunk gets a fluent summary prepended, but the chunk itself carries no answerable facts, so the summary only makes the noise more searchable.</a:t>
            </a:r>
          </a:p>
        </p:txBody>
      </p:sp>
      <p:sp>
        <p:nvSpPr>
          <p:cNvPr id="236" name="Google Shape;236;h1a0f22e23371ef5e_0_1: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 name="Shape 243"/>
        <p:cNvGrpSpPr/>
        <p:nvPr/>
      </p:nvGrpSpPr>
      <p:grpSpPr>
        <a:xfrm>
          <a:off x="0" y="0"/>
          <a:ext cx="0" cy="0"/>
          <a:chOff x="0" y="0"/>
          <a:chExt cx="0" cy="0"/>
        </a:xfrm>
      </p:grpSpPr>
      <p:sp>
        <p:nvSpPr>
          <p:cNvPr id="244" name="Google Shape;244;h1a0f22e23371ef5e_0_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245" name="Google Shape;245;h1a0f22e23371ef5e_0_21: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Why filter table-of-contents and index pages at all? Many policy documents have them, they look alike across documents, and they contain no new information. In the index they are noise; in the context window they take up space at the start or end, exactly where the model pays most attention.</a:t>
            </a:r>
          </a:p>
        </p:txBody>
      </p:sp>
      <p:sp>
        <p:nvSpPr>
          <p:cNvPr id="246" name="Google Shape;246;h1a0f22e23371ef5e_0_21: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h1a0f22e23371ef5e_0_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251" name="Google Shape;251;h1a0f22e23371ef5e_0_13: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Figures and tables should be extracted as one unit. On the right is Docling’s raw output for the figure: every label and value on its own line, in reading order, with the relationship between employer type and percentage lost.</a:t>
            </a:r>
          </a:p>
        </p:txBody>
      </p:sp>
      <p:sp>
        <p:nvSpPr>
          <p:cNvPr id="252" name="Google Shape;252;h1a0f22e23371ef5e_0_13: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h1a0f22e23371ef5e_0_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h1a0f22e23371ef5e_0_17: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One fix for figures: send the PDF page and the figure to an LLM and have it write a description with its context: which report, which page, which section, what the chart compares and what it shows. We also convert the figure to HTML, because a table in HTML can be reordered, stored as a structured object, and searched with structured queries, for example in LanceDB.</a:t>
            </a:r>
          </a:p>
        </p:txBody>
      </p:sp>
      <p:sp>
        <p:nvSpPr>
          <p:cNvPr id="262" name="Google Shape;262;h1a0f22e23371ef5e_0_17: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h6b5a55dc0c9d1379_0_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272" name="Google Shape;272;h6b5a55dc0c9d1379_0_8: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This is not just our experience. Practitioners report the same pattern: a chunk-embed-retrieve pipeline works at first and then breaks at scale, with stale or conflicting context, duplicate chunks, too much context, and no way to debug why the model said what it said. The common direction is to parse documents into real structure and use embeddings as one tool rather than the whole system. The article on the right claims 40 to 60 percent of RAG implementations never reach production.</a:t>
            </a:r>
          </a:p>
        </p:txBody>
      </p:sp>
      <p:sp>
        <p:nvSpPr>
          <p:cNvPr id="273" name="Google Shape;273;h6b5a55dc0c9d1379_0_8: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 name="Shape 277"/>
        <p:cNvGrpSpPr/>
        <p:nvPr/>
      </p:nvGrpSpPr>
      <p:grpSpPr>
        <a:xfrm>
          <a:off x="0" y="0"/>
          <a:ext cx="0" cy="0"/>
          <a:chOff x="0" y="0"/>
          <a:chExt cx="0" cy="0"/>
        </a:xfrm>
      </p:grpSpPr>
      <p:sp>
        <p:nvSpPr>
          <p:cNvPr id="278" name="Google Shape;278;h1a0f22e23371ef5e_0_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279" name="Google Shape;279;h1a0f22e23371ef5e_0_2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Forms extract badly. In this Kentucky Medicaid application the table parser produced a CSV with meaningless column headers, 0 and 1, and instructions split across cells. Headers are what give rows their meaning, so losing them breaks retrieval for every row.</a:t>
            </a:r>
          </a:p>
        </p:txBody>
      </p:sp>
      <p:sp>
        <p:nvSpPr>
          <p:cNvPr id="280" name="Google Shape;280;h1a0f22e23371ef5e_0_25: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h1a0f22e23371ef5e_0_2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287" name="Google Shape;287;h1a0f22e23371ef5e_0_29: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Forms do not chunk. The corpus has six forms and applications: Kentucky applications for one person and for a family, a Missouri health-coverage application and its Spanish version, a Spanish aged, blind and disabled supplement, and an Ohio Medicaid authorized-representative form. They are mostly fields and checkboxes, so chunk-and-embed has little to work with; they need routing and structured handling.</a:t>
            </a:r>
          </a:p>
        </p:txBody>
      </p:sp>
      <p:sp>
        <p:nvSpPr>
          <p:cNvPr id="288" name="Google Shape;288;h1a0f22e23371ef5e_0_29: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3" name="Shape 293"/>
        <p:cNvGrpSpPr/>
        <p:nvPr/>
      </p:nvGrpSpPr>
      <p:grpSpPr>
        <a:xfrm>
          <a:off x="0" y="0"/>
          <a:ext cx="0" cy="0"/>
          <a:chOff x="0" y="0"/>
          <a:chExt cx="0" cy="0"/>
        </a:xfrm>
      </p:grpSpPr>
      <p:sp>
        <p:nvSpPr>
          <p:cNvPr id="294" name="Google Shape;294;h1a0f22e23371ef5e_0_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295" name="Google Shape;295;h1a0f22e23371ef5e_0_33: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Adding context is not free. On the left, page-by-page contextualization in progress; on the right, token usage spikes when every page of a large corpus is processed. Prompt caching and processing only the pages that need context keep this affordable.</a:t>
            </a:r>
          </a:p>
        </p:txBody>
      </p:sp>
      <p:sp>
        <p:nvSpPr>
          <p:cNvPr id="296" name="Google Shape;296;h1a0f22e23371ef5e_0_33: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h50f07ca78e628d79_0_9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304" name="Google Shape;304;h50f07ca78e628d79_0_98: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Backup: the reranking-with-Postgres diagram, a duplicate of the version shown in the architectures section.</a:t>
            </a:r>
          </a:p>
        </p:txBody>
      </p:sp>
      <p:sp>
        <p:nvSpPr>
          <p:cNvPr id="305" name="Google Shape;305;h50f07ca78e628d79_0_98: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h1a0f22e23371ef5e_0_3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310" name="Google Shape;310;h1a0f22e23371ef5e_0_37: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Tuning the synthetic eval set and the router. RAGAS generated an underspecified question about the share of adults with high social-determinants-of-health risk. It should route to benefits research, but the JEV router classified it as population health. The question is the problem, not only the router.</a:t>
            </a:r>
          </a:p>
        </p:txBody>
      </p:sp>
      <p:sp>
        <p:nvSpPr>
          <p:cNvPr id="311" name="Google Shape;311;h1a0f22e23371ef5e_0_37: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h50f07ca78e628d79_0_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319" name="Google Shape;319;h50f07ca78e628d79_0_11: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Two more routing errors: a Medicare prescription-affordability question routed as population health when it is research, and a pickleball benefits question routed as clinical guidance. The fix is to rewrite the generated questions as research questions that name their source, for example according to the ASPE data-point analysis.</a:t>
            </a:r>
          </a:p>
        </p:txBody>
      </p:sp>
      <p:sp>
        <p:nvSpPr>
          <p:cNvPr id="320" name="Google Shape;320;h50f07ca78e628d79_0_11: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6" name="Shape 326"/>
        <p:cNvGrpSpPr/>
        <p:nvPr/>
      </p:nvGrpSpPr>
      <p:grpSpPr>
        <a:xfrm>
          <a:off x="0" y="0"/>
          <a:ext cx="0" cy="0"/>
          <a:chOff x="0" y="0"/>
          <a:chExt cx="0" cy="0"/>
        </a:xfrm>
      </p:grpSpPr>
      <p:sp>
        <p:nvSpPr>
          <p:cNvPr id="327" name="Google Shape;327;h50f07ca78e628d79_0_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328" name="Google Shape;328;h50f07ca78e628d79_0_21: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The pickleball question rewritten with its source: according to the ACE-sponsored six-week pickleball study, what cardiovascular and metabolic changes were observed in middle-aged and older adults? Grounding the question in its source document makes both routing and retrieval unambiguous.</a:t>
            </a:r>
          </a:p>
        </p:txBody>
      </p:sp>
      <p:sp>
        <p:nvSpPr>
          <p:cNvPr id="329" name="Google Shape;329;h50f07ca78e628d79_0_21: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h50f07ca78e628d79_0_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h50f07ca78e628d79_0_2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Why self-correction needs a fixed rendering contract. Ordinary responsive HTML renders differently with viewport, fonts, CSS, browser engine and screenshot size, so pixel comparison is unreliable. Instead, extract a semantic figure specification, render it deterministically to SVG at fixed dimensions, compare it with the source, and correct in order: values, labels, structure, geometry, styling. The model may only edit the JSON specification.</a:t>
            </a:r>
          </a:p>
        </p:txBody>
      </p:sp>
      <p:sp>
        <p:nvSpPr>
          <p:cNvPr id="337" name="Google Shape;337;h50f07ca78e628d79_0_25: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h25e527129d971bef_12_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6" name="Google Shape;346;h25e527129d971bef_12_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Should Medicaid be its own cluster? No. Medicaid is a payer, and one payer spans several document types: prior-authorization policies, applications and forms, care and treatment guidance, and research. Each behaves differently in retrieval. Recommended: keep one index per document type and attach payer metadata, so Medicaid becomes a filter.</a:t>
            </a:r>
          </a:p>
        </p:txBody>
      </p:sp>
      <p:sp>
        <p:nvSpPr>
          <p:cNvPr id="347" name="Google Shape;347;h25e527129d971bef_12_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h25e527129d971bef_12_5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1" name="Google Shape;381;h25e527129d971bef_12_5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The six document-type clusters in the 50-document reference set: policy 5, clinical guidance 10, population health 7, benefits research 7, forms and directory 7, research 14. A Medicaid cluster would mix very different material, for example Kentucky prior-authorization criteria, a Kentucky application, a provider directory and utilization research, and would lower precision. Filter by payer, then route by document type.</a:t>
            </a:r>
          </a:p>
        </p:txBody>
      </p:sp>
      <p:sp>
        <p:nvSpPr>
          <p:cNvPr id="382" name="Google Shape;382;h25e527129d971bef_12_5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2" name="Shape 412"/>
        <p:cNvGrpSpPr/>
        <p:nvPr/>
      </p:nvGrpSpPr>
      <p:grpSpPr>
        <a:xfrm>
          <a:off x="0" y="0"/>
          <a:ext cx="0" cy="0"/>
          <a:chOff x="0" y="0"/>
          <a:chExt cx="0" cy="0"/>
        </a:xfrm>
      </p:grpSpPr>
      <p:sp>
        <p:nvSpPr>
          <p:cNvPr id="413" name="Google Shape;413;h6b5a55dc0c9d1379_0_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414" name="Google Shape;414;h6b5a55dc0c9d1379_0_12: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Agent memory, using the CoALA framework from Sumers and colleagues, 2024. An agent stores prompts, skill files, user files and RAG chunks, and each has different memory requirements. CoALA separates procedural memory, semantic memory, episodic memory and working memory, each connected to the decision procedure through retrieval and learning.</a:t>
            </a:r>
          </a:p>
        </p:txBody>
      </p:sp>
      <p:sp>
        <p:nvSpPr>
          <p:cNvPr id="415" name="Google Shape;415;h6b5a55dc0c9d1379_0_12: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h6b5a55dc0c9d1379_0_3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421" name="Google Shape;421;h6b5a55dc0c9d1379_0_38: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Procedural memory: the rules applied to working memory that determine the agent’s behavior, essentially its skills and the knowledge of how to complete tasks. A SKILL.md file with brand guidelines is an example. Every one of these markdown files takes up context when loaded.</a:t>
            </a:r>
          </a:p>
        </p:txBody>
      </p:sp>
      <p:sp>
        <p:nvSpPr>
          <p:cNvPr id="422" name="Google Shape;422;h6b5a55dc0c9d1379_0_38: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6" name="Shape 426"/>
        <p:cNvGrpSpPr/>
        <p:nvPr/>
      </p:nvGrpSpPr>
      <p:grpSpPr>
        <a:xfrm>
          <a:off x="0" y="0"/>
          <a:ext cx="0" cy="0"/>
          <a:chOff x="0" y="0"/>
          <a:chExt cx="0" cy="0"/>
        </a:xfrm>
      </p:grpSpPr>
      <p:sp>
        <p:nvSpPr>
          <p:cNvPr id="427" name="Google Shape;427;h6b5a55dc0c9d1379_0_5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428" name="Google Shape;428;h6b5a55dc0c9d1379_0_51: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Semantic memory: facts about the world and about the user, such as preferences, which is what most people mean by chatbot memory. RAG is semantic memory over documents the model never saw in training; the alternative is to finetune that knowledge into the model.</a:t>
            </a:r>
          </a:p>
        </p:txBody>
      </p:sp>
      <p:sp>
        <p:nvSpPr>
          <p:cNvPr id="429" name="Google Shape;429;h6b5a55dc0c9d1379_0_51: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h6b5a55dc0c9d1379_0_5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435" name="Google Shape;435;h6b5a55dc0c9d1379_0_5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Episodic memory: sequences of the agent’s past behavior. In chatbots it is the store of prior conversations; in agents it is the raw logs, records and traces of the path the agent took, like this memory stream.</a:t>
            </a:r>
          </a:p>
        </p:txBody>
      </p:sp>
      <p:sp>
        <p:nvSpPr>
          <p:cNvPr id="436" name="Google Shape;436;h6b5a55dc0c9d1379_0_55: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0" name="Shape 440"/>
        <p:cNvGrpSpPr/>
        <p:nvPr/>
      </p:nvGrpSpPr>
      <p:grpSpPr>
        <a:xfrm>
          <a:off x="0" y="0"/>
          <a:ext cx="0" cy="0"/>
          <a:chOff x="0" y="0"/>
          <a:chExt cx="0" cy="0"/>
        </a:xfrm>
      </p:grpSpPr>
      <p:sp>
        <p:nvSpPr>
          <p:cNvPr id="441" name="Google Shape;441;h6b5a55dc0c9d1379_0_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442" name="Google Shape;442;h6b5a55dc0c9d1379_0_4: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Working memory: typically the context window, what the agent currently sees and reasons over, including observations, goals, user input and internal reasoning. It is the scarcest of the four, which is why context management matters so much.</a:t>
            </a:r>
          </a:p>
        </p:txBody>
      </p:sp>
      <p:sp>
        <p:nvSpPr>
          <p:cNvPr id="443" name="Google Shape;443;h6b5a55dc0c9d1379_0_4: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h6b5a55dc0c9d1379_0_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h6b5a55dc0c9d1379_0_1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Why long runs degrade: the context window is re-sent in full on every call. A full-PDF OCR result of 29,694 characters, tool results and tool schemas pile up turn after turn, and error rates rise as the window approaches its limit, in this run around 40 turns.</a:t>
            </a:r>
          </a:p>
        </p:txBody>
      </p:sp>
      <p:sp>
        <p:nvSpPr>
          <p:cNvPr id="449" name="Google Shape;449;h6b5a55dc0c9d1379_0_1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2" name="Shape 452"/>
        <p:cNvGrpSpPr/>
        <p:nvPr/>
      </p:nvGrpSpPr>
      <p:grpSpPr>
        <a:xfrm>
          <a:off x="0" y="0"/>
          <a:ext cx="0" cy="0"/>
          <a:chOff x="0" y="0"/>
          <a:chExt cx="0" cy="0"/>
        </a:xfrm>
      </p:grpSpPr>
      <p:sp>
        <p:nvSpPr>
          <p:cNvPr id="453" name="Google Shape;453;h6b5a55dc0c9d1379_0_3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454" name="Google Shape;454;h6b5a55dc0c9d1379_0_30: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The needle-in-a-haystack test on Claude 2.1 with a 200K context. A fact was placed at different depths in documents of different lengths, and the model was asked to retrieve it. Green is correct, pink is a miss. Accuracy degrades as context length grows, especially for facts in the middle and toward the bottom.</a:t>
            </a:r>
          </a:p>
        </p:txBody>
      </p:sp>
      <p:sp>
        <p:nvSpPr>
          <p:cNvPr id="455" name="Google Shape;455;h6b5a55dc0c9d1379_0_30: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8" name="Shape 458"/>
        <p:cNvGrpSpPr/>
        <p:nvPr/>
      </p:nvGrpSpPr>
      <p:grpSpPr>
        <a:xfrm>
          <a:off x="0" y="0"/>
          <a:ext cx="0" cy="0"/>
          <a:chOff x="0" y="0"/>
          <a:chExt cx="0" cy="0"/>
        </a:xfrm>
      </p:grpSpPr>
      <p:sp>
        <p:nvSpPr>
          <p:cNvPr id="459" name="Google Shape;459;h6b5a55dc0c9d1379_0_3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460" name="Google Shape;460;h6b5a55dc0c9d1379_0_34: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How to read the chart: horizontal is context length from 1,000 to 200,000 tokens, vertical is where the fact was placed. Past the dotted line, roughly 83K to 200K tokens, most cells are pink, and the failure zone expands as context grows. The lesson for RAG: retrieving more documents is far less useful than giving the model a small, correct context.</a:t>
            </a:r>
          </a:p>
        </p:txBody>
      </p:sp>
      <p:sp>
        <p:nvSpPr>
          <p:cNvPr id="461" name="Google Shape;461;h6b5a55dc0c9d1379_0_34: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h6b5a55dc0c9d1379_0_5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467" name="Google Shape;467;h6b5a55dc0c9d1379_0_59: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Demo: the same bendamustine J9036 question against flat hybrid chunks and against table-aware hybrid RAG. On this simple question both answer correctly: Belrapzo, non-preferred, prior authorization required. Simple lookups do not separate the architectures; questions that need several rows or qualifiers outside the table do.</a:t>
            </a:r>
          </a:p>
        </p:txBody>
      </p:sp>
      <p:sp>
        <p:nvSpPr>
          <p:cNvPr id="468" name="Google Shape;468;h6b5a55dc0c9d1379_0_59: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1" name="Shape 471"/>
        <p:cNvGrpSpPr/>
        <p:nvPr/>
      </p:nvGrpSpPr>
      <p:grpSpPr>
        <a:xfrm>
          <a:off x="0" y="0"/>
          <a:ext cx="0" cy="0"/>
          <a:chOff x="0" y="0"/>
          <a:chExt cx="0" cy="0"/>
        </a:xfrm>
      </p:grpSpPr>
      <p:sp>
        <p:nvSpPr>
          <p:cNvPr id="472" name="Google Shape;472;h6c4a01c0b0da4fd9_0_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473" name="Google Shape;473;h6c4a01c0b0da4fd9_0_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Why CRAG and reranking were hard to justify: we built a CRAG-style workflow with grading, rewriting and optional reranking, but could not produce enough genuinely complex multi-document questions to show a benefit. Questions mostly asked to retrieve each paper and compare. True multi-hop needs evidence from one source to decide the next search. That is why the fraud investigator became the better agentic demonstration.</a:t>
            </a:r>
          </a:p>
        </p:txBody>
      </p:sp>
      <p:sp>
        <p:nvSpPr>
          <p:cNvPr id="474" name="Google Shape;474;h6c4a01c0b0da4fd9_0_5: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7" name="Shape 477"/>
        <p:cNvGrpSpPr/>
        <p:nvPr/>
      </p:nvGrpSpPr>
      <p:grpSpPr>
        <a:xfrm>
          <a:off x="0" y="0"/>
          <a:ext cx="0" cy="0"/>
          <a:chOff x="0" y="0"/>
          <a:chExt cx="0" cy="0"/>
        </a:xfrm>
      </p:grpSpPr>
      <p:sp>
        <p:nvSpPr>
          <p:cNvPr id="478" name="Google Shape;478;h6c4a01c0b0da4fd9_0_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479" name="Google Shape;479;h6c4a01c0b0da4fd9_0_0: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Another reranking case from the real policies: which denosumab product tied to policy Q5157 is preferred, and what is its prior-authorization status? BM25 favors the exact code, vector search favors general denosumab text, and a reranker that reads the whole query moves the complete Q5157 table to the top. A ranking problem, not a multi-hop one.</a:t>
            </a:r>
          </a:p>
        </p:txBody>
      </p:sp>
      <p:sp>
        <p:nvSpPr>
          <p:cNvPr id="480" name="Google Shape;480;h6c4a01c0b0da4fd9_0_0: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3" name="Shape 483"/>
        <p:cNvGrpSpPr/>
        <p:nvPr/>
      </p:nvGrpSpPr>
      <p:grpSpPr>
        <a:xfrm>
          <a:off x="0" y="0"/>
          <a:ext cx="0" cy="0"/>
          <a:chOff x="0" y="0"/>
          <a:chExt cx="0" cy="0"/>
        </a:xfrm>
      </p:grpSpPr>
      <p:sp>
        <p:nvSpPr>
          <p:cNvPr id="484" name="Google Shape;484;h6c4a01c0b0da4fd9_0_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485" name="Google Shape;485;h6c4a01c0b0da4fd9_0_9: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When to turn things on: multi-query when you have a retrieval error and cannot get the right chunk; CRAG when the first retrieval is incomplete or contradictory, as in this example where a 2024 page, a partial 2025 page and an unrelated medical limit come back for one orthodontics question. A reranker cannot fix evidence that was never retrieved.</a:t>
            </a:r>
          </a:p>
        </p:txBody>
      </p:sp>
      <p:sp>
        <p:nvSpPr>
          <p:cNvPr id="486" name="Google Shape;486;h6c4a01c0b0da4fd9_0_9: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0" name="Shape 490"/>
        <p:cNvGrpSpPr/>
        <p:nvPr/>
      </p:nvGrpSpPr>
      <p:grpSpPr>
        <a:xfrm>
          <a:off x="0" y="0"/>
          <a:ext cx="0" cy="0"/>
          <a:chOff x="0" y="0"/>
          <a:chExt cx="0" cy="0"/>
        </a:xfrm>
      </p:grpSpPr>
      <p:sp>
        <p:nvSpPr>
          <p:cNvPr id="491" name="Google Shape;491;h6c4a01c0b0da4fd9_0_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492" name="Google Shape;492;h6c4a01c0b0da4fd9_0_13: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When HyDE helps and when it does not. It helps with natural-language mismatches such as can adults get braces. It does not help with internal policy codes, HCPCS or CDT codes, member-specific eligibility, exact dollar amounts or new product names. So route: exact codes and entities to BM25 and structured lookup, conceptual questions to HyDE plus vector search. Also mind privacy: queries sent to an external LLM leave your boundary.</a:t>
            </a:r>
          </a:p>
        </p:txBody>
      </p:sp>
      <p:sp>
        <p:nvSpPr>
          <p:cNvPr id="493" name="Google Shape;493;h6c4a01c0b0da4fd9_0_13: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6" name="Shape 496"/>
        <p:cNvGrpSpPr/>
        <p:nvPr/>
      </p:nvGrpSpPr>
      <p:grpSpPr>
        <a:xfrm>
          <a:off x="0" y="0"/>
          <a:ext cx="0" cy="0"/>
          <a:chOff x="0" y="0"/>
          <a:chExt cx="0" cy="0"/>
        </a:xfrm>
      </p:grpSpPr>
      <p:sp>
        <p:nvSpPr>
          <p:cNvPr id="497" name="Google Shape;497;h6c4a01c0b0da4fd9_0_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498" name="Google Shape;498;h6c4a01c0b0da4fd9_0_17: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Agentic RAG as a loop: retrieve parent documents with reranking, grade each passage with one LLM call, and if nothing is relevant rewrite the query and retry up to twice before answering not in the documents. Generated answers are checked for grounding and regenerated up to twice. Every step is visible in the trace.</a:t>
            </a:r>
          </a:p>
        </p:txBody>
      </p:sp>
      <p:sp>
        <p:nvSpPr>
          <p:cNvPr id="499" name="Google Shape;499;h6c4a01c0b0da4fd9_0_17: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3" name="Shape 503"/>
        <p:cNvGrpSpPr/>
        <p:nvPr/>
      </p:nvGrpSpPr>
      <p:grpSpPr>
        <a:xfrm>
          <a:off x="0" y="0"/>
          <a:ext cx="0" cy="0"/>
          <a:chOff x="0" y="0"/>
          <a:chExt cx="0" cy="0"/>
        </a:xfrm>
      </p:grpSpPr>
      <p:sp>
        <p:nvSpPr>
          <p:cNvPr id="504" name="Google Shape;504;h6c4a01c0b0da4fd9_0_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505" name="Google Shape;505;h6c4a01c0b0da4fd9_0_21: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A reality check on our own data. Retrieval is already near its ceiling: Recall@5 of 1.00 on the 14-question fixture, the right policy at top-1 91 percent and top-5 100 percent for table RAG, and the agentic loop never rewrote a query. Exact terms like drug names and codes make retrieval easy. The real errors are in completeness and assembly: the right document, an incomplete answer.</a:t>
            </a:r>
          </a:p>
        </p:txBody>
      </p:sp>
      <p:sp>
        <p:nvSpPr>
          <p:cNvPr id="506" name="Google Shape;506;h6c4a01c0b0da4fd9_0_21: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9" name="Shape 509"/>
        <p:cNvGrpSpPr/>
        <p:nvPr/>
      </p:nvGrpSpPr>
      <p:grpSpPr>
        <a:xfrm>
          <a:off x="0" y="0"/>
          <a:ext cx="0" cy="0"/>
          <a:chOff x="0" y="0"/>
          <a:chExt cx="0" cy="0"/>
        </a:xfrm>
      </p:grpSpPr>
      <p:sp>
        <p:nvSpPr>
          <p:cNvPr id="510" name="Google Shape;510;h6c4a01c0b0da4fd9_0_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511" name="Google Shape;511;h6c4a01c0b0da4fd9_0_2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To show what each technique fixes, you need a corpus built for it. Typical demo corpora rarely contain the hard cases, so we propose a small fictional benefits corpus: 2024 and 2025 benefit PDFs, procedure codes, claim-denial codes, enrollment history, claims, a medical plan and a dental FAQ. First case, BM25: what procedure is CDT code D8080? The exact token is highly discriminative, so keyword search wins.</a:t>
            </a:r>
          </a:p>
        </p:txBody>
      </p:sp>
      <p:sp>
        <p:nvSpPr>
          <p:cNvPr id="512" name="Google Shape;512;h6c4a01c0b0da4fd9_0_25: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6" name="Shape 516"/>
        <p:cNvGrpSpPr/>
        <p:nvPr/>
      </p:nvGrpSpPr>
      <p:grpSpPr>
        <a:xfrm>
          <a:off x="0" y="0"/>
          <a:ext cx="0" cy="0"/>
          <a:chOff x="0" y="0"/>
          <a:chExt cx="0" cy="0"/>
        </a:xfrm>
      </p:grpSpPr>
      <p:sp>
        <p:nvSpPr>
          <p:cNvPr id="517" name="Google Shape;517;h6c4a01c0b0da4fd9_0_2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518" name="Google Shape;518;h6c4a01c0b0da4fd9_0_29: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Vector retrieval: does the plan help pay for braces for a grown-up? The document says adult orthodontic services. The words differ but the meaning matches, which is exactly where BM25 fails and embeddings succeed.</a:t>
            </a:r>
          </a:p>
        </p:txBody>
      </p:sp>
      <p:sp>
        <p:nvSpPr>
          <p:cNvPr id="519" name="Google Shape;519;h6c4a01c0b0da4fd9_0_29: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h6c4a01c0b0da4fd9_0_4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524" name="Google Shape;524;h6c4a01c0b0da4fd9_0_48: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Hybrid retrieval: for D8080, how much does the 2025 plan pay for an adult? The question has two signals, the exact code for BM25 and the adult-coverage meaning for vector search. Fusing both with reciprocal-rank fusion beats either one alone.</a:t>
            </a:r>
          </a:p>
        </p:txBody>
      </p:sp>
      <p:sp>
        <p:nvSpPr>
          <p:cNvPr id="525" name="Google Shape;525;h6c4a01c0b0da4fd9_0_48: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8" name="Shape 528"/>
        <p:cNvGrpSpPr/>
        <p:nvPr/>
      </p:nvGrpSpPr>
      <p:grpSpPr>
        <a:xfrm>
          <a:off x="0" y="0"/>
          <a:ext cx="0" cy="0"/>
          <a:chOff x="0" y="0"/>
          <a:chExt cx="0" cy="0"/>
        </a:xfrm>
      </p:grpSpPr>
      <p:sp>
        <p:nvSpPr>
          <p:cNvPr id="529" name="Google Shape;529;h6c4a01c0b0da4fd9_0_5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530" name="Google Shape;530;h6c4a01c0b0da4fd9_0_52: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Reranking: what are the current adult orthodontic benefits? Retrieval finds the right passage, but 2024 benefits, pediatric orthodontics and dental-injury coverage compete with it. A query-aware reranker should put 2025 over 2024, adult over pediatric and orthodontics over injuries. This is the clearest case of evidence that was found but ranked too low.</a:t>
            </a:r>
          </a:p>
        </p:txBody>
      </p:sp>
      <p:sp>
        <p:nvSpPr>
          <p:cNvPr id="531" name="Google Shape;531;h6c4a01c0b0da4fd9_0_52: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h6c4a01c0b0da4fd9_0_5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536" name="Google Shape;536;h6c4a01c0b0da4fd9_0_5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HyDE: if I am 42 and want my teeth straightened, is any of it paid for? The source uses formal language about orthodontic appliances for members 19 and older. HyDE writes a document-like passage, searches with it, and finds the formal text. The generated passage is a search key, never evidence.</a:t>
            </a:r>
          </a:p>
        </p:txBody>
      </p:sp>
      <p:sp>
        <p:nvSpPr>
          <p:cNvPr id="537" name="Google Shape;537;h6c4a01c0b0da4fd9_0_5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h6c4a01c0b0da4fd9_0_6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h6c4a01c0b0da4fd9_0_60: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CRAG: did adult orthodontic benefits improve in 2025 compared with 2024? If retrieval finds only the 2025 passage, a corrective system should notice it cannot compare without 2024 evidence and issue a targeted search for it. The fix is diagnosis and a second search, not better ordering.</a:t>
            </a:r>
          </a:p>
        </p:txBody>
      </p:sp>
      <p:sp>
        <p:nvSpPr>
          <p:cNvPr id="543" name="Google Shape;543;h6c4a01c0b0da4fd9_0_60: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6" name="Shape 546"/>
        <p:cNvGrpSpPr/>
        <p:nvPr/>
      </p:nvGrpSpPr>
      <p:grpSpPr>
        <a:xfrm>
          <a:off x="0" y="0"/>
          <a:ext cx="0" cy="0"/>
          <a:chOff x="0" y="0"/>
          <a:chExt cx="0" cy="0"/>
        </a:xfrm>
      </p:grpSpPr>
      <p:sp>
        <p:nvSpPr>
          <p:cNvPr id="547" name="Google Shape;547;h6c4a01c0b0da4fd9_0_6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548" name="Google Shape;548;h6c4a01c0b0da4fd9_0_64: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Agentic search: why was member M100’s orthodontic claim C900 denied when the plan covers adult orthodontics? No single search can answer it. The agent looks up the claim, the procedure code, the 2025 benefit, the denial code and the member’s enrollment, then compares dates: the service preceded the coverage start. Each result decides the next lookup. That is genuine multi-hop search.</a:t>
            </a:r>
          </a:p>
        </p:txBody>
      </p:sp>
      <p:sp>
        <p:nvSpPr>
          <p:cNvPr id="549" name="Google Shape;549;h6c4a01c0b0da4fd9_0_64: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3" name="Shape 553"/>
        <p:cNvGrpSpPr/>
        <p:nvPr/>
      </p:nvGrpSpPr>
      <p:grpSpPr>
        <a:xfrm>
          <a:off x="0" y="0"/>
          <a:ext cx="0" cy="0"/>
          <a:chOff x="0" y="0"/>
          <a:chExt cx="0" cy="0"/>
        </a:xfrm>
      </p:grpSpPr>
      <p:sp>
        <p:nvSpPr>
          <p:cNvPr id="554" name="Google Shape;554;h6c4a01c0b0da4fd9_0_6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555" name="Google Shape;555;h6c4a01c0b0da4fd9_0_68: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Summary of what each demo proves: BM25 fixes missed exact identifiers, vector search fixes missed paraphrases, hybrid handles both, reranking fixes buried evidence, HyDE fixes style mismatch, CRAG fixes missing evidence, agentic search fixes dependent lookups. A convincing presentation runs every question against a baseline and the enhanced architecture and shows ranks, correctness, citations, latency and tokens.</a:t>
            </a:r>
          </a:p>
        </p:txBody>
      </p:sp>
      <p:sp>
        <p:nvSpPr>
          <p:cNvPr id="556" name="Google Shape;556;h6c4a01c0b0da4fd9_0_68: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9" name="Shape 559"/>
        <p:cNvGrpSpPr/>
        <p:nvPr/>
      </p:nvGrpSpPr>
      <p:grpSpPr>
        <a:xfrm>
          <a:off x="0" y="0"/>
          <a:ext cx="0" cy="0"/>
          <a:chOff x="0" y="0"/>
          <a:chExt cx="0" cy="0"/>
        </a:xfrm>
      </p:grpSpPr>
      <p:sp>
        <p:nvSpPr>
          <p:cNvPr id="560" name="Google Shape;560;h6c4a01c0b0da4fd9_0_7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561" name="Google Shape;561;h6c4a01c0b0da4fd9_0_72: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Two different errors that look the same to the user. Retrieval miss: the right chunk was ranked below the cutoff or never a candidate; measured with hit@k, recall@k and MRR; fixed with better embeddings, BM25 or hybrid, or reranking. Assembly loss: the right chunk or table was found, but the fact did not make it into the context, because a top-5 cut dropped sibling rows, a qualifier lived outside the table, or the token budget truncated it.</a:t>
            </a:r>
          </a:p>
        </p:txBody>
      </p:sp>
      <p:sp>
        <p:nvSpPr>
          <p:cNvPr id="562" name="Google Shape;562;h6c4a01c0b0da4fd9_0_72: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6" name="Shape 566"/>
        <p:cNvGrpSpPr/>
        <p:nvPr/>
      </p:nvGrpSpPr>
      <p:grpSpPr>
        <a:xfrm>
          <a:off x="0" y="0"/>
          <a:ext cx="0" cy="0"/>
          <a:chOff x="0" y="0"/>
          <a:chExt cx="0" cy="0"/>
        </a:xfrm>
      </p:grpSpPr>
      <p:sp>
        <p:nvSpPr>
          <p:cNvPr id="567" name="Google Shape;567;h6c4a01c0b0da4fd9_0_8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568" name="Google Shape;568;h6c4a01c0b0da4fd9_0_87: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Measured on our data, they are mostly not the same. Flat row chunks retrieved the right table 98.3 percent of the time but had every needed fact in context only 40.7 percent of the time. Table-aware RAG reached 100 and 69.5 percent. Attaching notes reached 100 and 100. Retrieval is close to solved; the lost facts happen after retrieval. Check, for each lost fact, whether it was in the candidates: if not, fix ranking; if yes, fix context building; if it was never indexed, fix ingestion.</a:t>
            </a:r>
          </a:p>
        </p:txBody>
      </p:sp>
      <p:sp>
        <p:nvSpPr>
          <p:cNvPr id="569" name="Google Shape;569;h6c4a01c0b0da4fd9_0_87: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2" name="Shape 572"/>
        <p:cNvGrpSpPr/>
        <p:nvPr/>
      </p:nvGrpSpPr>
      <p:grpSpPr>
        <a:xfrm>
          <a:off x="0" y="0"/>
          <a:ext cx="0" cy="0"/>
          <a:chOff x="0" y="0"/>
          <a:chExt cx="0" cy="0"/>
        </a:xfrm>
      </p:grpSpPr>
      <p:sp>
        <p:nvSpPr>
          <p:cNvPr id="573" name="Google Shape;573;h6c4a01c0b0da4fd9_0_9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574" name="Google Shape;574;h6c4a01c0b0da4fd9_0_91: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Why evals are hard: each level of eval matches a different architecture, failure modes appear only after the system is built, and error analysis is slow. LLM-generated evals come from a distribution the model already knows, so they suit short, single-document tasks. Level 1: single-document questions, like all the GEHA repo demos. Level 2: multi-hop agentic questions across several data sources, like the fraud investigator. Level 3: long-horizon exploration where the goal is not clear up front.</a:t>
            </a:r>
          </a:p>
        </p:txBody>
      </p:sp>
      <p:sp>
        <p:nvSpPr>
          <p:cNvPr id="575" name="Google Shape;575;h6c4a01c0b0da4fd9_0_91: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h6c4a01c0b0da4fd9_0_9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583" name="Google Shape;583;h6c4a01c0b0da4fd9_0_9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State-machine RAG for enrollment questions. Extract slots from the message with rules or an LLM and a schema: ZIP, status, enrollment, plan. If information is missing, ask the next question; when ready, do an exact structured lookup by key and reply with a template plus the looked-up values. The tables are parsed from the benefits guide at startup: rate codes on page 10, premiums on page 11, benefits on page 5. No embeddings, no similarity search, and the LLM never writes a number.</a:t>
            </a:r>
          </a:p>
        </p:txBody>
      </p:sp>
      <p:sp>
        <p:nvSpPr>
          <p:cNvPr id="584" name="Google Shape;584;h6c4a01c0b0da4fd9_0_95: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7" name="Shape 587"/>
        <p:cNvGrpSpPr/>
        <p:nvPr/>
      </p:nvGrpSpPr>
      <p:grpSpPr>
        <a:xfrm>
          <a:off x="0" y="0"/>
          <a:ext cx="0" cy="0"/>
          <a:chOff x="0" y="0"/>
          <a:chExt cx="0" cy="0"/>
        </a:xfrm>
      </p:grpSpPr>
      <p:sp>
        <p:nvSpPr>
          <p:cNvPr id="588" name="Google Shape;588;h6c4a01c0b0da4fd9_0_9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589" name="Google Shape;589;h6c4a01c0b0da4fd9_0_99: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Recursive self-improvement without changing weights. A larger teacher model reads the student’s failed transcripts and scores, diagnoses why it failed, and rewrites the student’s system prompt one change per round. The new prompt is kept only if the held-out score improves by more than the noise; otherwise it is reverted. The loop runs until the score stops improving or the budget runs out.</a:t>
            </a:r>
          </a:p>
        </p:txBody>
      </p:sp>
      <p:sp>
        <p:nvSpPr>
          <p:cNvPr id="590" name="Google Shape;590;h6c4a01c0b0da4fd9_0_99: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3" name="Shape 593"/>
        <p:cNvGrpSpPr/>
        <p:nvPr/>
      </p:nvGrpSpPr>
      <p:grpSpPr>
        <a:xfrm>
          <a:off x="0" y="0"/>
          <a:ext cx="0" cy="0"/>
          <a:chOff x="0" y="0"/>
          <a:chExt cx="0" cy="0"/>
        </a:xfrm>
      </p:grpSpPr>
      <p:sp>
        <p:nvSpPr>
          <p:cNvPr id="594" name="Google Shape;594;h6c4a01c0b0da4fd9_0_10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595" name="Google Shape;595;h6c4a01c0b0da4fd9_0_103: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Two more ways to manage context. Subagents get a fresh window, do a delegated task such as reading pages or searching, and return only a short result. Compaction replaces old turns with a summary, which frees room but is lossy: exact table values, raw OCR output, early decisions and why a fix failed can all disappear in the summary.</a:t>
            </a:r>
          </a:p>
        </p:txBody>
      </p:sp>
      <p:sp>
        <p:nvSpPr>
          <p:cNvPr id="596" name="Google Shape;596;h6c4a01c0b0da4fd9_0_103: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9" name="Shape 599"/>
        <p:cNvGrpSpPr/>
        <p:nvPr/>
      </p:nvGrpSpPr>
      <p:grpSpPr>
        <a:xfrm>
          <a:off x="0" y="0"/>
          <a:ext cx="0" cy="0"/>
          <a:chOff x="0" y="0"/>
          <a:chExt cx="0" cy="0"/>
        </a:xfrm>
      </p:grpSpPr>
      <p:sp>
        <p:nvSpPr>
          <p:cNvPr id="600" name="Google Shape;600;h6c4a01c0b0da4fd9_0_10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601" name="Google Shape;601;h6c4a01c0b0da4fd9_0_107: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Instruction finetuning, from the FLAN paper. A model is trained on many tasks phrased as instructions, both direct answers and chain-of-thought rationales, and then generalizes to unseen tasks. This is the method we applied to the GEHA answer generator.</a:t>
            </a:r>
          </a:p>
        </p:txBody>
      </p:sp>
      <p:sp>
        <p:nvSpPr>
          <p:cNvPr id="602" name="Google Shape;602;h6c4a01c0b0da4fd9_0_107: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5" name="Shape 605"/>
        <p:cNvGrpSpPr/>
        <p:nvPr/>
      </p:nvGrpSpPr>
      <p:grpSpPr>
        <a:xfrm>
          <a:off x="0" y="0"/>
          <a:ext cx="0" cy="0"/>
          <a:chOff x="0" y="0"/>
          <a:chExt cx="0" cy="0"/>
        </a:xfrm>
      </p:grpSpPr>
      <p:sp>
        <p:nvSpPr>
          <p:cNvPr id="606" name="Google Shape;606;h6c4a01c0b0da4fd9_0_7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607" name="Google Shape;607;h6c4a01c0b0da4fd9_0_7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The table-aware RAG pipeline we built. Ingestion parses each policy table, keeps the complete table as a parent and creates one searchable child record per row. Both go into PostgreSQL with pgvector, with 384-dimension bge-small vectors on the rows. At query time the system finds matching rows, groups them by table, fetches the full parent table, and passes the whole table to the model to answer with citations.</a:t>
            </a:r>
          </a:p>
        </p:txBody>
      </p:sp>
      <p:sp>
        <p:nvSpPr>
          <p:cNvPr id="608" name="Google Shape;608;h6c4a01c0b0da4fd9_0_7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h1495330980e2190c_0_17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614" name="Google Shape;614;h1495330980e2190c_0_170: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Large tool results: context or sandbox. If an OCR result of 29,694 characters goes into the context window, it is re-sent on every later call. Above a size threshold, write it to a sandbox file instead and let the agent search it, for example grep for Treanda, loading only the relevant lines.</a:t>
            </a:r>
          </a:p>
        </p:txBody>
      </p:sp>
      <p:sp>
        <p:nvSpPr>
          <p:cNvPr id="615" name="Google Shape;615;h1495330980e2190c_0_170: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8" name="Shape 618"/>
        <p:cNvGrpSpPr/>
        <p:nvPr/>
      </p:nvGrpSpPr>
      <p:grpSpPr>
        <a:xfrm>
          <a:off x="0" y="0"/>
          <a:ext cx="0" cy="0"/>
          <a:chOff x="0" y="0"/>
          <a:chExt cx="0" cy="0"/>
        </a:xfrm>
      </p:grpSpPr>
      <p:sp>
        <p:nvSpPr>
          <p:cNvPr id="619" name="Google Shape;619;h1495330980e2190c_0_14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620" name="Google Shape;620;h1495330980e2190c_0_142: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The instruction the model was given: a detailed description of how to split a bill of lading into horizontal blocks with red lines that follow the black lines on the page, block by block, from the Meridian Shipping header down to the freight charges. Precise spatial instructions like this are what the agent has to turn into drawing actions.</a:t>
            </a:r>
          </a:p>
        </p:txBody>
      </p:sp>
      <p:sp>
        <p:nvSpPr>
          <p:cNvPr id="621" name="Google Shape;621;h1495330980e2190c_0_142: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4" name="Shape 624"/>
        <p:cNvGrpSpPr/>
        <p:nvPr/>
      </p:nvGrpSpPr>
      <p:grpSpPr>
        <a:xfrm>
          <a:off x="0" y="0"/>
          <a:ext cx="0" cy="0"/>
          <a:chOff x="0" y="0"/>
          <a:chExt cx="0" cy="0"/>
        </a:xfrm>
      </p:grpSpPr>
      <p:sp>
        <p:nvSpPr>
          <p:cNvPr id="625" name="Google Shape;625;h1495330980e2190c_0_1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626" name="Google Shape;626;h1495330980e2190c_0_14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The result: on the left the original Meridian Shipping bill of lading, on the right the authoritative source with the requested red segmentation drawn over it. Each block is now a region that can be extracted and checked separately.</a:t>
            </a:r>
          </a:p>
        </p:txBody>
      </p:sp>
      <p:sp>
        <p:nvSpPr>
          <p:cNvPr id="627" name="Google Shape;627;h1495330980e2190c_0_14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1" name="Shape 631"/>
        <p:cNvGrpSpPr/>
        <p:nvPr/>
      </p:nvGrpSpPr>
      <p:grpSpPr>
        <a:xfrm>
          <a:off x="0" y="0"/>
          <a:ext cx="0" cy="0"/>
          <a:chOff x="0" y="0"/>
          <a:chExt cx="0" cy="0"/>
        </a:xfrm>
      </p:grpSpPr>
      <p:sp>
        <p:nvSpPr>
          <p:cNvPr id="632" name="Google Shape;632;h1495330980e2190c_0_15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633" name="Google Shape;633;h1495330980e2190c_0_150: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Demo: the LLM controls the bounding-box application, automating the drawing of boxes on a document page. Play the recording here.</a:t>
            </a:r>
          </a:p>
        </p:txBody>
      </p:sp>
      <p:sp>
        <p:nvSpPr>
          <p:cNvPr id="634" name="Google Shape;634;h1495330980e2190c_0_150: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h1495330980e2190c_0_15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h1495330980e2190c_0_158: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Second demo clip: the LLM driving the same app to create bounding boxes, showing each action it takes in the interface. Play the recording here.</a:t>
            </a:r>
          </a:p>
        </p:txBody>
      </p:sp>
      <p:sp>
        <p:nvSpPr>
          <p:cNvPr id="641" name="Google Shape;641;h1495330980e2190c_0_158: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5" name="Shape 645"/>
        <p:cNvGrpSpPr/>
        <p:nvPr/>
      </p:nvGrpSpPr>
      <p:grpSpPr>
        <a:xfrm>
          <a:off x="0" y="0"/>
          <a:ext cx="0" cy="0"/>
          <a:chOff x="0" y="0"/>
          <a:chExt cx="0" cy="0"/>
        </a:xfrm>
      </p:grpSpPr>
      <p:sp>
        <p:nvSpPr>
          <p:cNvPr id="646" name="Google Shape;646;h1495330980e2190c_0_16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647" name="Google Shape;647;h1495330980e2190c_0_162: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Why finetune at all? Tiny specialized models can beat large general ones on a narrow task when you have a self-improving data flywheel. Shopify reports a 0.8-billion-parameter model scoring above a frontier model on their buyer-profile task, with a much shorter prompt and far higher throughput.</a:t>
            </a:r>
          </a:p>
        </p:txBody>
      </p:sp>
      <p:sp>
        <p:nvSpPr>
          <p:cNvPr id="648" name="Google Shape;648;h1495330980e2190c_0_162: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1" name="Shape 651"/>
        <p:cNvGrpSpPr/>
        <p:nvPr/>
      </p:nvGrpSpPr>
      <p:grpSpPr>
        <a:xfrm>
          <a:off x="0" y="0"/>
          <a:ext cx="0" cy="0"/>
          <a:chOff x="0" y="0"/>
          <a:chExt cx="0" cy="0"/>
        </a:xfrm>
      </p:grpSpPr>
      <p:sp>
        <p:nvSpPr>
          <p:cNvPr id="652" name="Google Shape;652;h513d259a48f78777_15_7: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3" name="Google Shape;653;h513d259a48f78777_15_7: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deck covers the generator half of RAG finetuning: what we train, on what data, the Mac attempt and the Colab A100 run, what improved on an unseen document, and the answer to whether it is overfit.</a:t>
            </a:r>
            <a:endParaRPr/>
          </a:p>
        </p:txBody>
      </p:sp>
      <p:sp>
        <p:nvSpPr>
          <p:cNvPr id="654" name="Google Shape;654;h513d259a48f78777_15_7: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0" name="Shape 660"/>
        <p:cNvGrpSpPr/>
        <p:nvPr/>
      </p:nvGrpSpPr>
      <p:grpSpPr>
        <a:xfrm>
          <a:off x="0" y="0"/>
          <a:ext cx="0" cy="0"/>
          <a:chOff x="0" y="0"/>
          <a:chExt cx="0" cy="0"/>
        </a:xfrm>
      </p:grpSpPr>
      <p:sp>
        <p:nvSpPr>
          <p:cNvPr id="661" name="Google Shape;661;h513d259a48f78777_15_16: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2" name="Google Shape;662;h513d259a48f78777_15_16: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retriever work changed which chunks reach the model. This work changes the model that writes the answer. The two are independent: the retriever result came from an earlier experiment in the finetuning folder; the generator number is the Colab A100 run, scored on the same held-out plan brochure.</a:t>
            </a:r>
            <a:endParaRPr/>
          </a:p>
        </p:txBody>
      </p:sp>
      <p:sp>
        <p:nvSpPr>
          <p:cNvPr id="663" name="Google Shape;663;h513d259a48f78777_15_16: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h513d259a48f78777_15_32: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h513d259a48f78777_15_32: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steps, each a script in finetuning_LLM_LORA. The base and tuned models are evaluated in the same process with the adapter switched off and on, so prompts and decoding are identical.</a:t>
            </a:r>
            <a:endParaRPr/>
          </a:p>
        </p:txBody>
      </p:sp>
      <p:sp>
        <p:nvSpPr>
          <p:cNvPr id="680" name="Google Shape;680;h513d259a48f78777_15_32: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h513d259a48f78777_15_59: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7" name="Google Shape;707;h513d259a48f78777_15_59: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of the 78 training questions produces a direct example and a chain-of-thought example: 156 in total. The rationale is extractive, not written by a model, which is cheaper but imperfect: in this very example the extracted evidence lines miss the line with the phone number, because that line shares few words with the answer. Worth improving with an LLM-written rationale later.</a:t>
            </a:r>
            <a:endParaRPr/>
          </a:p>
        </p:txBody>
      </p:sp>
      <p:sp>
        <p:nvSpPr>
          <p:cNvPr id="708" name="Google Shape;708;h513d259a48f78777_15_59: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2" name="Shape 722"/>
        <p:cNvGrpSpPr/>
        <p:nvPr/>
      </p:nvGrpSpPr>
      <p:grpSpPr>
        <a:xfrm>
          <a:off x="0" y="0"/>
          <a:ext cx="0" cy="0"/>
          <a:chOff x="0" y="0"/>
          <a:chExt cx="0" cy="0"/>
        </a:xfrm>
      </p:grpSpPr>
      <p:sp>
        <p:nvSpPr>
          <p:cNvPr id="723" name="Google Shape;723;h513d259a48f78777_15_75: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4" name="Google Shape;724;h513d259a48f78777_15_75: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Train and validation come from the same guide but different sections, so validation loss tells us about unseen text in a familiar document. The test set is the plan brochure, a document the model never trains on, so it measures transfer. split_stats.py fails the run if any of the five checks fails.</a:t>
            </a:r>
            <a:endParaRPr/>
          </a:p>
        </p:txBody>
      </p:sp>
      <p:sp>
        <p:nvSpPr>
          <p:cNvPr id="725" name="Google Shape;725;h513d259a48f78777_15_75: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2" name="Shape 742"/>
        <p:cNvGrpSpPr/>
        <p:nvPr/>
      </p:nvGrpSpPr>
      <p:grpSpPr>
        <a:xfrm>
          <a:off x="0" y="0"/>
          <a:ext cx="0" cy="0"/>
          <a:chOff x="0" y="0"/>
          <a:chExt cx="0" cy="0"/>
        </a:xfrm>
      </p:grpSpPr>
      <p:sp>
        <p:nvSpPr>
          <p:cNvPr id="743" name="Google Shape;743;h513d259a48f78777_15_94: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4" name="Google Shape;744;h513d259a48f78777_15_94: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LoRA freezes the base model and learns low-rank updates on every attention and MLP projection. Only 18.5 million weights train, which is why the saved adapter is 74 MB. With only 156 examples, an epoch is just 20 optimizer steps, which matters for the question of how many epochs to run.</a:t>
            </a:r>
            <a:endParaRPr/>
          </a:p>
        </p:txBody>
      </p:sp>
      <p:sp>
        <p:nvSpPr>
          <p:cNvPr id="745" name="Google Shape;745;h513d259a48f78777_15_94: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2" name="Shape 762"/>
        <p:cNvGrpSpPr/>
        <p:nvPr/>
      </p:nvGrpSpPr>
      <p:grpSpPr>
        <a:xfrm>
          <a:off x="0" y="0"/>
          <a:ext cx="0" cy="0"/>
          <a:chOff x="0" y="0"/>
          <a:chExt cx="0" cy="0"/>
        </a:xfrm>
      </p:grpSpPr>
      <p:sp>
        <p:nvSpPr>
          <p:cNvPr id="763" name="Google Shape;763;h513d259a48f78777_15_113: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4" name="Google Shape;764;h513d259a48f78777_15_113: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Epoch 1 took 56 minutes, about 21 seconds per training example. Epoch 2 ran for three and a half hours without finishing because of battery throttling, a 12-minute hibernation and heavy swapping. That is why the full run moves to a Colab GPU.</a:t>
            </a:r>
            <a:endParaRPr/>
          </a:p>
        </p:txBody>
      </p:sp>
      <p:sp>
        <p:nvSpPr>
          <p:cNvPr id="765" name="Google Shape;765;h513d259a48f78777_15_113: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5" name="Shape 785"/>
        <p:cNvGrpSpPr/>
        <p:nvPr/>
      </p:nvGrpSpPr>
      <p:grpSpPr>
        <a:xfrm>
          <a:off x="0" y="0"/>
          <a:ext cx="0" cy="0"/>
          <a:chOff x="0" y="0"/>
          <a:chExt cx="0" cy="0"/>
        </a:xfrm>
      </p:grpSpPr>
      <p:sp>
        <p:nvSpPr>
          <p:cNvPr id="786" name="Google Shape;786;h513d259a48f78777_15_135: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7" name="Google Shape;787;h513d259a48f78777_15_135: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Same code, same data, same hyperparameters. The A100 trains in bf16 and has far more compute and memory bandwidth, so a full epoch took 71 seconds including validation, against 56 minutes on the Mac. The eval is now the slow part, because it generates 164 answers one token at a time with batch size 1.</a:t>
            </a:r>
            <a:endParaRPr/>
          </a:p>
        </p:txBody>
      </p:sp>
      <p:sp>
        <p:nvSpPr>
          <p:cNvPr id="788" name="Google Shape;788;h513d259a48f78777_15_135: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2" name="Shape 802"/>
        <p:cNvGrpSpPr/>
        <p:nvPr/>
      </p:nvGrpSpPr>
      <p:grpSpPr>
        <a:xfrm>
          <a:off x="0" y="0"/>
          <a:ext cx="0" cy="0"/>
          <a:chOff x="0" y="0"/>
          <a:chExt cx="0" cy="0"/>
        </a:xfrm>
      </p:grpSpPr>
      <p:sp>
        <p:nvSpPr>
          <p:cNvPr id="803" name="Google Shape;803;h513d259a48f78777_15_151: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04" name="Google Shape;804;h513d259a48f78777_15_151: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Validation loss is checked every 10 steps. It falls for the first 20 steps, an epoch, and then rises for the remaining 40 while training loss keeps dropping. That is the textbook overfitting pattern. The trainer saves only the lowest-validation checkpoint, so the adapter that was evaluated is the epoch-1 one.</a:t>
            </a:r>
            <a:endParaRPr/>
          </a:p>
        </p:txBody>
      </p:sp>
      <p:sp>
        <p:nvSpPr>
          <p:cNvPr id="805" name="Google Shape;805;h513d259a48f78777_15_151: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5" name="Shape 835"/>
        <p:cNvGrpSpPr/>
        <p:nvPr/>
      </p:nvGrpSpPr>
      <p:grpSpPr>
        <a:xfrm>
          <a:off x="0" y="0"/>
          <a:ext cx="0" cy="0"/>
          <a:chOff x="0" y="0"/>
          <a:chExt cx="0" cy="0"/>
        </a:xfrm>
      </p:grpSpPr>
      <p:sp>
        <p:nvSpPr>
          <p:cNvPr id="836" name="Google Shape;836;h513d259a48f78777_15_183: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7" name="Google Shape;837;h513d259a48f78777_15_183: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Yes, it overfits if you keep training: after epoch 1, validation loss rises every pass while training loss heads towards 0.1. But the run only keeps the lowest-validation adapter, so the model we use is the epoch-1 one, and on a document it never saw it still beats the base model. For the next run, train 1 epoch or turn on early stopping with patience 2 to save the wasted compute.</a:t>
            </a:r>
            <a:endParaRPr/>
          </a:p>
        </p:txBody>
      </p:sp>
      <p:sp>
        <p:nvSpPr>
          <p:cNvPr id="838" name="Google Shape;838;h513d259a48f78777_15_183: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4" name="Shape 854"/>
        <p:cNvGrpSpPr/>
        <p:nvPr/>
      </p:nvGrpSpPr>
      <p:grpSpPr>
        <a:xfrm>
          <a:off x="0" y="0"/>
          <a:ext cx="0" cy="0"/>
          <a:chOff x="0" y="0"/>
          <a:chExt cx="0" cy="0"/>
        </a:xfrm>
      </p:grpSpPr>
      <p:sp>
        <p:nvSpPr>
          <p:cNvPr id="855" name="Google Shape;855;h513d259a48f78777_15_201: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6" name="Google Shape;856;h513d259a48f78777_15_201: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Both models saw identical prompts: the gold passage plus two distractors. Answer F1 rose about 0.06 in both formats, and the tuned model was better on 27 of 41 direct questions and 29 of 41 chain-of-thought ones. Citation precision rose 0.12. Quote grounding did not change, and the base model already followed the evidence format. Two cautions: the confidence intervals nearly reach zero with 41 questions and one seed, and the tuned answers are 26 words longer, closer to the 107-word references, which by itself lifts token F1.</a:t>
            </a:r>
            <a:endParaRPr/>
          </a:p>
        </p:txBody>
      </p:sp>
      <p:sp>
        <p:nvSpPr>
          <p:cNvPr id="857" name="Google Shape;857;h513d259a48f78777_15_201: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6" name="Shape 866"/>
        <p:cNvGrpSpPr/>
        <p:nvPr/>
      </p:nvGrpSpPr>
      <p:grpSpPr>
        <a:xfrm>
          <a:off x="0" y="0"/>
          <a:ext cx="0" cy="0"/>
          <a:chOff x="0" y="0"/>
          <a:chExt cx="0" cy="0"/>
        </a:xfrm>
      </p:grpSpPr>
      <p:sp>
        <p:nvSpPr>
          <p:cNvPr id="867" name="Google Shape;867;h513d259a48f78777_15_212: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8" name="Google Shape;868;h513d259a48f78777_15_212: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Produced by plot_metrics.py from train_log.jsonl and generator_comparison.json. Top row: loss, the generalization gap, which crosses zero just before epoch 1 and keeps rising, and the learning-rate schedule. Bottom row: gradient norm staying under the clip, wall clock at about 3.4 seconds per step on the A100, and the base-versus-tuned eval.</a:t>
            </a:r>
            <a:endParaRPr/>
          </a:p>
        </p:txBody>
      </p:sp>
      <p:sp>
        <p:nvSpPr>
          <p:cNvPr id="869" name="Google Shape;869;h513d259a48f78777_15_212: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3" name="Shape 873"/>
        <p:cNvGrpSpPr/>
        <p:nvPr/>
      </p:nvGrpSpPr>
      <p:grpSpPr>
        <a:xfrm>
          <a:off x="0" y="0"/>
          <a:ext cx="0" cy="0"/>
          <a:chOff x="0" y="0"/>
          <a:chExt cx="0" cy="0"/>
        </a:xfrm>
      </p:grpSpPr>
      <p:sp>
        <p:nvSpPr>
          <p:cNvPr id="874" name="Google Shape;874;h513d259a48f78777_15_218: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5" name="Google Shape;875;h513d259a48f78777_15_218: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points. One epoch is the right length for this dataset; anything more memorizes. The improvement on an unseen document is genuine but small and comes from a single seed. Repeat the run over several seeds before relying on it. And grade answers for correctness, not just word overlap, since part of the F1 gain comes from longer answers.</a:t>
            </a:r>
            <a:endParaRPr/>
          </a:p>
        </p:txBody>
      </p:sp>
      <p:sp>
        <p:nvSpPr>
          <p:cNvPr id="876" name="Google Shape;876;h513d259a48f78777_15_218: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7" name="Shape 897"/>
        <p:cNvGrpSpPr/>
        <p:nvPr/>
      </p:nvGrpSpPr>
      <p:grpSpPr>
        <a:xfrm>
          <a:off x="0" y="0"/>
          <a:ext cx="0" cy="0"/>
          <a:chOff x="0" y="0"/>
          <a:chExt cx="0" cy="0"/>
        </a:xfrm>
      </p:grpSpPr>
      <p:sp>
        <p:nvSpPr>
          <p:cNvPr id="898" name="Google Shape;898;h6c4a01c0b0da4fd9_0_1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899" name="Google Shape;899;h6c4a01c0b0da4fd9_0_111: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Our first experiment: finetuning the embedding model that does retrieval. On 41 held-out brochure questions, Recall@5 rose from 64.63 to 68.70 percent, nDCG@10 from 67.74 to 70.01 and MRR@10 barely moved. These are from a single run; the README calls them preliminary until repeated with more seeds and documents.</a:t>
            </a:r>
          </a:p>
        </p:txBody>
      </p:sp>
      <p:sp>
        <p:nvSpPr>
          <p:cNvPr id="900" name="Google Shape;900;h6c4a01c0b0da4fd9_0_111: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5" name="Shape 905"/>
        <p:cNvGrpSpPr/>
        <p:nvPr/>
      </p:nvGrpSpPr>
      <p:grpSpPr>
        <a:xfrm>
          <a:off x="0" y="0"/>
          <a:ext cx="0" cy="0"/>
          <a:chOff x="0" y="0"/>
          <a:chExt cx="0" cy="0"/>
        </a:xfrm>
      </p:grpSpPr>
      <p:sp>
        <p:nvSpPr>
          <p:cNvPr id="906" name="Google Shape;906;g40a06605cfe_1_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907" name="Google Shape;907;g40a06605cfe_1_9: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Naive RAG on a policy table: each row becomes its own chunk. The problem is in red: identical rows in different tables look the same without the table title or section metadata. A row saying Preferred, Yes, Treanda, J9033 means nothing if you cannot tell which policy and which condition it belongs to.</a:t>
            </a:r>
          </a:p>
        </p:txBody>
      </p:sp>
      <p:sp>
        <p:nvSpPr>
          <p:cNvPr id="908" name="Google Shape;908;g40a06605cfe_1_9: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1" name="Shape 911"/>
        <p:cNvGrpSpPr/>
        <p:nvPr/>
      </p:nvGrpSpPr>
      <p:grpSpPr>
        <a:xfrm>
          <a:off x="0" y="0"/>
          <a:ext cx="0" cy="0"/>
          <a:chOff x="0" y="0"/>
          <a:chExt cx="0" cy="0"/>
        </a:xfrm>
      </p:grpSpPr>
      <p:sp>
        <p:nvSpPr>
          <p:cNvPr id="912" name="Google Shape;912;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3" name="Google Shape;913;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Source: geha_cloud_reliability/downloads/coverage-policies/geha-coverage-policy-bendamustine.pdf, page 1. The red boxes illustrate retrieval boundaries and do not alter the source document.</a:t>
            </a:r>
            <a:endParaRPr/>
          </a:p>
        </p:txBody>
      </p:sp>
      <p:sp>
        <p:nvSpPr>
          <p:cNvPr id="914" name="Google Shape;914;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6" name="Shape 936"/>
        <p:cNvGrpSpPr/>
        <p:nvPr/>
      </p:nvGrpSpPr>
      <p:grpSpPr>
        <a:xfrm>
          <a:off x="0" y="0"/>
          <a:ext cx="0" cy="0"/>
          <a:chOff x="0" y="0"/>
          <a:chExt cx="0" cy="0"/>
        </a:xfrm>
      </p:grpSpPr>
      <p:sp>
        <p:nvSpPr>
          <p:cNvPr id="937" name="Google Shape;937;g40a06605cfe_1_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938" name="Google Shape;938;g40a06605cfe_1_1: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Vectara’s leaderboard measures grounded hallucination: how often a model adds or changes facts when summarizing a document it was given. Even the best models are around 1.8 percent and many sit between 5 and 7 percent. Those rates are too low to notice in a demo but large at production volume. The small curve is a conceptual reminder that error risk climbs as the context window fills.</a:t>
            </a:r>
          </a:p>
        </p:txBody>
      </p:sp>
      <p:sp>
        <p:nvSpPr>
          <p:cNvPr id="939" name="Google Shape;939;g40a06605cfe_1_1: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4" name="Shape 944"/>
        <p:cNvGrpSpPr/>
        <p:nvPr/>
      </p:nvGrpSpPr>
      <p:grpSpPr>
        <a:xfrm>
          <a:off x="0" y="0"/>
          <a:ext cx="0" cy="0"/>
          <a:chOff x="0" y="0"/>
          <a:chExt cx="0" cy="0"/>
        </a:xfrm>
      </p:grpSpPr>
      <p:sp>
        <p:nvSpPr>
          <p:cNvPr id="945" name="Google Shape;945;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46" name="Google Shape;946;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Two kinds of grounding failure. Intrinsic: the answer contradicts the retrieved evidence, for example the policy requires prior authorization and the answer says it does not. Extrinsic: the answer adds a claim the evidence never makes, such as promising same-day approval. The evaluation question is simple: does the answer contradict the context, or go beyond it? Both need checking separately.</a:t>
            </a:r>
          </a:p>
        </p:txBody>
      </p:sp>
      <p:sp>
        <p:nvSpPr>
          <p:cNvPr id="947" name="Google Shape;947;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71" name="Google Shape;971;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RAG Search Strategies figure from the local GEHA reliability workspace.</a:t>
            </a:r>
            <a:endParaRPr/>
          </a:p>
        </p:txBody>
      </p:sp>
      <p:sp>
        <p:nvSpPr>
          <p:cNvPr id="972" name="Google Shape;972;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5" name="Shape 975"/>
        <p:cNvGrpSpPr/>
        <p:nvPr/>
      </p:nvGrpSpPr>
      <p:grpSpPr>
        <a:xfrm>
          <a:off x="0" y="0"/>
          <a:ext cx="0" cy="0"/>
          <a:chOff x="0" y="0"/>
          <a:chExt cx="0" cy="0"/>
        </a:xfrm>
      </p:grpSpPr>
      <p:sp>
        <p:nvSpPr>
          <p:cNvPr id="976" name="Google Shape;976;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77" name="Google Shape;977;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Illustrative explanation of the 384-dimensional embeddings used by BAAI/bge-small-en-v1.5 in the table RAG. The embedded image shows the abbreviated vector [0.081, -0.224, 0.517, ...]; the three coordinates and cosine scores are examples, not values from a production query. The monochrome ball is a three-dimensional metaphor for a 384-dimensional space. For a high-dimensional unit ball, most volume lies close to the boundary, represented by the thin red shell; the center contains comparatively little volume.</a:t>
            </a:r>
            <a:endParaRPr/>
          </a:p>
        </p:txBody>
      </p:sp>
      <p:sp>
        <p:nvSpPr>
          <p:cNvPr id="978" name="Google Shape;978;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g3fbb2167691_0_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025" name="Google Shape;1025;g3fbb2167691_0_0: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en-US"/>
              <a:t>Why is this </a:t>
            </a:r>
            <a:r>
              <a:rPr lang="en-US"/>
              <a:t>important</a:t>
            </a:r>
            <a:r>
              <a:rPr lang="en-US"/>
              <a:t>? </a:t>
            </a:r>
            <a:r>
              <a:rPr lang="en-US"/>
              <a:t>Desire to match this processing to the LLM we are using. Google </a:t>
            </a:r>
            <a:endParaRPr/>
          </a:p>
        </p:txBody>
      </p:sp>
      <p:sp>
        <p:nvSpPr>
          <p:cNvPr id="1026" name="Google Shape;1026;g3fbb2167691_0_0: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emmaTokenizerEmbeddingSlide: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emmaTokenizerEmbeddingSlide: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r>
              <a:t>A practical rule: the tokenizer, pooling and vector size all come from one model ID. For EmbeddingGemma, load the whole pipeline with SentenceTransformer rather than AutoModel alone, because AutoModel skips the pooling and projection head. Mixing a tokenizer from one checkpoint with weights from another silently produces bad vectors.</a:t>
            </a:r>
          </a:p>
        </p:txBody>
      </p:sp>
      <p:sp>
        <p:nvSpPr>
          <p:cNvPr id="1032" name="Google Shape;1032;gemmaTokenizerEmbeddingSlide: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section walks the standard RAG architectures in order of complexity: the basic index-retrieve-generate loop, how embeddings and cosine similarity work, then hybrid search, reranking, query expansion, HyDE, parent-document retrieval, contextual retrieval, CRAG and agentic RAG. Each one exists to fix a specific failure, which the later sections test.</a:t>
            </a:r>
          </a:p>
        </p:txBody>
      </p:sp>
      <p:sp>
        <p:nvSpPr>
          <p:cNvPr id="4" name="Slide Number Placeholder 3"/>
          <p:cNvSpPr>
            <a:spLocks noGrp="1"/>
          </p:cNvSpPr>
          <p:nvPr>
            <p:ph type="sldNum" idx="12"/>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Most production RAG failures start before retrieval: in PDF extraction, chunk boundaries and missing context. This section shows bad and good extraction of the same figures, table and form problems, and how table-aware, parent-child retrieval keeps the evidence intact.</a:t>
            </a:r>
          </a:p>
        </p:txBody>
      </p:sp>
      <p:sp>
        <p:nvSpPr>
          <p:cNvPr id="4" name="Slide Number Placeholder 3"/>
          <p:cNvSpPr>
            <a:spLocks noGrp="1"/>
          </p:cNvSpPr>
          <p:nvPr>
            <p:ph type="sldNum" idx="12"/>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small demonstration corpus with one question per failure mode: exact codes for BM25, paraphrases for vector search, mixed signals for hybrid, buried evidence for reranking, style mismatch for HyDE, missing evidence for CRAG, and dependent lookups for agentic search. Then a reality check: on our data, retrieval is already near its ceiling.</a:t>
            </a:r>
          </a:p>
        </p:txBody>
      </p:sp>
      <p:sp>
        <p:nvSpPr>
          <p:cNvPr id="4" name="Slide Number Placeholder 3"/>
          <p:cNvSpPr>
            <a:spLocks noGrp="1"/>
          </p:cNvSpPr>
          <p:nvPr>
            <p:ph type="sldNum" idx="12"/>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If retrieval is mostly solved, where do answers go wrong? This section separates retrieval misses from context-assembly losses, shows the measured gap, and covers how evals map to system architecture, including fixing synthetic RAGAS questions and query routing.</a:t>
            </a:r>
          </a:p>
        </p:txBody>
      </p:sp>
      <p:sp>
        <p:nvSpPr>
          <p:cNvPr id="4" name="Slide Number Placeholder 3"/>
          <p:cNvSpPr>
            <a:spLocks noGrp="1"/>
          </p:cNvSpPr>
          <p:nvPr>
            <p:ph type="sldNum" idx="12"/>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How the lessons land in a real application: state-machine RAG for enrollment, where the model only fills slots and never writes a number, and guarded hybrid retrieval for policy questions, with input and output gates and one bounded repair loop.</a:t>
            </a:r>
          </a:p>
        </p:txBody>
      </p:sp>
      <p:sp>
        <p:nvSpPr>
          <p:cNvPr id="4" name="Slide Number Placeholder 3"/>
          <p:cNvSpPr>
            <a:spLocks noGrp="1"/>
          </p:cNvSpPr>
          <p:nvPr>
            <p:ph type="sldNum" idx="12"/>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Agentic systems hit a second limit: the context window. This section covers the agent loop versus the harness around it, why accuracy drops as context fills, how to keep large tool results out of context, subagents and compaction, and the four kinds of agent memory.</a:t>
            </a:r>
          </a:p>
        </p:txBody>
      </p:sp>
      <p:sp>
        <p:nvSpPr>
          <p:cNvPr id="4" name="Slide Number Placeholder 3"/>
          <p:cNvSpPr>
            <a:spLocks noGrp="1"/>
          </p:cNvSpPr>
          <p:nvPr>
            <p:ph type="sldNum" idx="12"/>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worked example of an LLM operating an application: drawing bounding boxes on a bill of lading, and why self-correction needs a fixed rendering contract rather than free-form HTML.</a:t>
            </a:r>
          </a:p>
        </p:txBody>
      </p:sp>
      <p:sp>
        <p:nvSpPr>
          <p:cNvPr id="4" name="Slide Number Placeholder 3"/>
          <p:cNvSpPr>
            <a:spLocks noGrp="1"/>
          </p:cNvSpPr>
          <p:nvPr>
            <p:ph type="sldNum" idx="12"/>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last lever: finetune small models for a narrow task. First the motivation and instruction finetuning, then our two experiments: the retriever embedding model and the LoRA-tuned answer generator.</a:t>
            </a:r>
          </a:p>
        </p:txBody>
      </p:sp>
      <p:sp>
        <p:nvSpPr>
          <p:cNvPr id="4" name="Slide Number Placeholder 3"/>
          <p:cNvSpPr>
            <a:spLocks noGrp="1"/>
          </p:cNvSpPr>
          <p:nvPr>
            <p:ph type="sldNum" idx="12"/>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Alternate versions of slides shown earlier, kept for questions.</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2" name="Shape 12"/>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sp>
        <p:nvSpPr>
          <p:cNvPr id="14" name="Google Shape;14;p5"/>
          <p:cNvSpPr txBox="1"/>
          <p:nvPr>
            <p:ph type="title"/>
          </p:nvPr>
        </p:nvSpPr>
        <p:spPr>
          <a:xfrm>
            <a:off x="1219200" y="2590800"/>
            <a:ext cx="9753600" cy="9906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5" name="Google Shape;15;p5"/>
          <p:cNvSpPr txBox="1"/>
          <p:nvPr>
            <p:ph idx="1" type="subTitle"/>
          </p:nvPr>
        </p:nvSpPr>
        <p:spPr>
          <a:xfrm>
            <a:off x="1828800" y="3771900"/>
            <a:ext cx="8534400" cy="762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1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2pPr>
            <a:lvl3pPr lvl="2" marR="0" rtl="0" algn="l">
              <a:lnSpc>
                <a:spcPct val="110000"/>
              </a:lnSpc>
              <a:spcBef>
                <a:spcPts val="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3pPr>
            <a:lvl4pPr lvl="3"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4pPr>
            <a:lvl5pPr lvl="4"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5pPr>
            <a:lvl6pPr lvl="5"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6pPr>
            <a:lvl7pPr lvl="6"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7pPr>
            <a:lvl8pPr lvl="7"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8pPr>
            <a:lvl9pPr lvl="8"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16" name="Shape 16"/>
        <p:cNvGrpSpPr/>
        <p:nvPr/>
      </p:nvGrpSpPr>
      <p:grpSpPr>
        <a:xfrm>
          <a:off x="0" y="0"/>
          <a:ext cx="0" cy="0"/>
          <a:chOff x="0" y="0"/>
          <a:chExt cx="0" cy="0"/>
        </a:xfrm>
      </p:grpSpPr>
      <p:sp>
        <p:nvSpPr>
          <p:cNvPr id="17" name="Google Shape;17;p6"/>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18" name="Shape 18"/>
        <p:cNvGrpSpPr/>
        <p:nvPr/>
      </p:nvGrpSpPr>
      <p:grpSpPr>
        <a:xfrm>
          <a:off x="0" y="0"/>
          <a:ext cx="0" cy="0"/>
          <a:chOff x="0" y="0"/>
          <a:chExt cx="0" cy="0"/>
        </a:xfrm>
      </p:grpSpPr>
      <p:sp>
        <p:nvSpPr>
          <p:cNvPr id="19" name="Google Shape;19;p7"/>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0" name="Google Shape;20;p7"/>
          <p:cNvSpPr txBox="1"/>
          <p:nvPr>
            <p:ph idx="1" type="body"/>
          </p:nvPr>
        </p:nvSpPr>
        <p:spPr>
          <a:xfrm>
            <a:off x="685800" y="1905000"/>
            <a:ext cx="108204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
  <p:cSld name="Title and Two Column">
    <p:spTree>
      <p:nvGrpSpPr>
        <p:cNvPr id="21" name="Shape 21"/>
        <p:cNvGrpSpPr/>
        <p:nvPr/>
      </p:nvGrpSpPr>
      <p:grpSpPr>
        <a:xfrm>
          <a:off x="0" y="0"/>
          <a:ext cx="0" cy="0"/>
          <a:chOff x="0" y="0"/>
          <a:chExt cx="0" cy="0"/>
        </a:xfrm>
      </p:grpSpPr>
      <p:sp>
        <p:nvSpPr>
          <p:cNvPr id="22" name="Google Shape;22;p8"/>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3" name="Google Shape;23;p8"/>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24" name="Google Shape;24;p8"/>
          <p:cNvSpPr txBox="1"/>
          <p:nvPr>
            <p:ph idx="2" type="body"/>
          </p:nvPr>
        </p:nvSpPr>
        <p:spPr>
          <a:xfrm>
            <a:off x="64770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One Column">
  <p:cSld name="Title and One Column">
    <p:spTree>
      <p:nvGrpSpPr>
        <p:cNvPr id="25" name="Shape 25"/>
        <p:cNvGrpSpPr/>
        <p:nvPr/>
      </p:nvGrpSpPr>
      <p:grpSpPr>
        <a:xfrm>
          <a:off x="0" y="0"/>
          <a:ext cx="0" cy="0"/>
          <a:chOff x="0" y="0"/>
          <a:chExt cx="0" cy="0"/>
        </a:xfrm>
      </p:grpSpPr>
      <p:sp>
        <p:nvSpPr>
          <p:cNvPr id="26" name="Google Shape;26;p9"/>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7" name="Google Shape;27;p9"/>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bg>
      <p:bgPr>
        <a:solidFill>
          <a:srgbClr val="F6F5F0"/>
        </a:solidFill>
      </p:bgPr>
    </p:bg>
    <p:spTree>
      <p:nvGrpSpPr>
        <p:cNvPr id="31" name="Shape 31"/>
        <p:cNvGrpSpPr/>
        <p:nvPr/>
      </p:nvGrpSpPr>
      <p:grpSpPr>
        <a:xfrm>
          <a:off x="0" y="0"/>
          <a:ext cx="0" cy="0"/>
          <a:chOff x="0" y="0"/>
          <a:chExt cx="0" cy="0"/>
        </a:xfrm>
      </p:grpSpPr>
      <p:sp>
        <p:nvSpPr>
          <p:cNvPr id="32" name="Google Shape;32;p11"/>
          <p:cNvSpPr txBox="1"/>
          <p:nvPr>
            <p:ph type="title"/>
          </p:nvPr>
        </p:nvSpPr>
        <p:spPr>
          <a:xfrm>
            <a:off x="812800" y="812800"/>
            <a:ext cx="10566400" cy="447030"/>
          </a:xfrm>
          <a:prstGeom prst="rect">
            <a:avLst/>
          </a:prstGeom>
          <a:noFill/>
          <a:ln>
            <a:noFill/>
          </a:ln>
        </p:spPr>
        <p:txBody>
          <a:bodyPr anchorCtr="0" anchor="t" bIns="0" lIns="0" spcFirstLastPara="1" rIns="0" wrap="square" tIns="0">
            <a:noAutofit/>
          </a:bodyPr>
          <a:lstStyle>
            <a:lvl1pPr lvl="0" algn="l">
              <a:lnSpc>
                <a:spcPct val="115000"/>
              </a:lnSpc>
              <a:spcBef>
                <a:spcPts val="0"/>
              </a:spcBef>
              <a:spcAft>
                <a:spcPts val="0"/>
              </a:spcAft>
              <a:buClr>
                <a:srgbClr val="16202E"/>
              </a:buClr>
              <a:buSzPts val="3200"/>
              <a:buFont typeface="IBM Plex Sans"/>
              <a:buNone/>
              <a:defRPr sz="3200">
                <a:solidFill>
                  <a:srgbClr val="16202E"/>
                </a:solidFill>
                <a:latin typeface="IBM Plex Sans"/>
                <a:ea typeface="IBM Plex Sans"/>
                <a:cs typeface="IBM Plex Sans"/>
                <a:sym typeface="IBM Plex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3" name="Google Shape;33;p11"/>
          <p:cNvSpPr txBox="1"/>
          <p:nvPr>
            <p:ph idx="1" type="body"/>
          </p:nvPr>
        </p:nvSpPr>
        <p:spPr>
          <a:xfrm>
            <a:off x="812800" y="1564630"/>
            <a:ext cx="10566400" cy="4480570"/>
          </a:xfrm>
          <a:prstGeom prst="rect">
            <a:avLst/>
          </a:prstGeom>
          <a:noFill/>
          <a:ln>
            <a:noFill/>
          </a:ln>
        </p:spPr>
        <p:txBody>
          <a:bodyPr anchorCtr="0" anchor="t" bIns="0" lIns="0" spcFirstLastPara="1" rIns="0" wrap="square" tIns="0">
            <a:noAutofit/>
          </a:bodyPr>
          <a:lstStyle>
            <a:lvl1pPr indent="-228600" lvl="0" marL="457200" algn="l">
              <a:lnSpc>
                <a:spcPct val="140000"/>
              </a:lnSpc>
              <a:spcBef>
                <a:spcPts val="320"/>
              </a:spcBef>
              <a:spcAft>
                <a:spcPts val="0"/>
              </a:spcAft>
              <a:buClr>
                <a:srgbClr val="16202E"/>
              </a:buClr>
              <a:buSzPts val="1600"/>
              <a:buNone/>
              <a:defRPr sz="1600">
                <a:solidFill>
                  <a:srgbClr val="16202E"/>
                </a:solidFill>
                <a:latin typeface="IBM Plex Sans"/>
                <a:ea typeface="IBM Plex Sans"/>
                <a:cs typeface="IBM Plex Sans"/>
                <a:sym typeface="IBM Plex Sans"/>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34" name="Shape 34"/>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4.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theme" Target="../theme/theme1.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slideLayout" Target="../slideLayouts/slideLayout9.xml"/><Relationship Id="rId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1" name="Shape 11"/>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5F0"/>
        </a:solidFill>
      </p:bgPr>
    </p:bg>
    <p:spTree>
      <p:nvGrpSpPr>
        <p:cNvPr id="28" name="Shape 28"/>
        <p:cNvGrpSpPr/>
        <p:nvPr/>
      </p:nvGrpSpPr>
      <p:grpSpPr>
        <a:xfrm>
          <a:off x="0" y="0"/>
          <a:ext cx="0" cy="0"/>
          <a:chOff x="0" y="0"/>
          <a:chExt cx="0" cy="0"/>
        </a:xfrm>
      </p:grpSpPr>
      <p:sp>
        <p:nvSpPr>
          <p:cNvPr id="29" name="Google Shape;29;p10"/>
          <p:cNvSpPr txBox="1"/>
          <p:nvPr>
            <p:ph type="title"/>
          </p:nvPr>
        </p:nvSpPr>
        <p:spPr>
          <a:xfrm>
            <a:off x="812800" y="812800"/>
            <a:ext cx="10566400" cy="447030"/>
          </a:xfrm>
          <a:prstGeom prst="rect">
            <a:avLst/>
          </a:prstGeom>
          <a:noFill/>
          <a:ln>
            <a:noFill/>
          </a:ln>
        </p:spPr>
        <p:txBody>
          <a:bodyPr anchorCtr="0" anchor="t" bIns="0" lIns="0" spcFirstLastPara="1" rIns="0" wrap="square" tIns="0">
            <a:noAutofit/>
          </a:bodyPr>
          <a:lstStyle>
            <a:lvl1pPr lvl="0" marR="0" rtl="0" algn="l">
              <a:lnSpc>
                <a:spcPct val="115000"/>
              </a:lnSpc>
              <a:spcBef>
                <a:spcPts val="0"/>
              </a:spcBef>
              <a:spcAft>
                <a:spcPts val="0"/>
              </a:spcAft>
              <a:buClr>
                <a:srgbClr val="16202E"/>
              </a:buClr>
              <a:buSzPts val="3200"/>
              <a:buFont typeface="IBM Plex Sans"/>
              <a:buNone/>
              <a:defRPr b="0" i="0" sz="3200" u="none" cap="none" strike="noStrike">
                <a:solidFill>
                  <a:srgbClr val="16202E"/>
                </a:solidFill>
                <a:latin typeface="IBM Plex Sans"/>
                <a:ea typeface="IBM Plex Sans"/>
                <a:cs typeface="IBM Plex Sans"/>
                <a:sym typeface="IBM Plex Sans"/>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30" name="Google Shape;30;p10"/>
          <p:cNvSpPr txBox="1"/>
          <p:nvPr>
            <p:ph idx="1" type="body"/>
          </p:nvPr>
        </p:nvSpPr>
        <p:spPr>
          <a:xfrm>
            <a:off x="812800" y="1564630"/>
            <a:ext cx="10566400" cy="4480570"/>
          </a:xfrm>
          <a:prstGeom prst="rect">
            <a:avLst/>
          </a:prstGeom>
          <a:noFill/>
          <a:ln>
            <a:noFill/>
          </a:ln>
        </p:spPr>
        <p:txBody>
          <a:bodyPr anchorCtr="0" anchor="t" bIns="0" lIns="0" spcFirstLastPara="1" rIns="0" wrap="square" tIns="0">
            <a:noAutofit/>
          </a:bodyPr>
          <a:lstStyle>
            <a:lvl1pPr indent="-228600" lvl="0" marL="457200" marR="0" rtl="0" algn="l">
              <a:lnSpc>
                <a:spcPct val="140000"/>
              </a:lnSpc>
              <a:spcBef>
                <a:spcPts val="320"/>
              </a:spcBef>
              <a:spcAft>
                <a:spcPts val="0"/>
              </a:spcAft>
              <a:buClr>
                <a:srgbClr val="16202E"/>
              </a:buClr>
              <a:buSzPts val="1600"/>
              <a:buFont typeface="Arial"/>
              <a:buNone/>
              <a:defRPr b="0" i="0" sz="1600" u="none" cap="none" strike="noStrike">
                <a:solidFill>
                  <a:srgbClr val="16202E"/>
                </a:solidFill>
                <a:latin typeface="IBM Plex Sans"/>
                <a:ea typeface="IBM Plex Sans"/>
                <a:cs typeface="IBM Plex Sans"/>
                <a:sym typeface="IBM Plex Sans"/>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IBM Plex Sans"/>
                <a:ea typeface="IBM Plex Sans"/>
                <a:cs typeface="IBM Plex Sans"/>
                <a:sym typeface="IBM Plex Sans"/>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IBM Plex Sans"/>
                <a:ea typeface="IBM Plex Sans"/>
                <a:cs typeface="IBM Plex Sans"/>
                <a:sym typeface="IBM Plex Sans"/>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IBM Plex Sans"/>
                <a:ea typeface="IBM Plex Sans"/>
                <a:cs typeface="IBM Plex Sans"/>
                <a:sym typeface="IBM Plex Sans"/>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IBM Plex Sans"/>
                <a:ea typeface="IBM Plex Sans"/>
                <a:cs typeface="IBM Plex Sans"/>
                <a:sym typeface="IBM Plex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IBM Plex Sans"/>
                <a:ea typeface="IBM Plex Sans"/>
                <a:cs typeface="IBM Plex Sans"/>
                <a:sym typeface="IBM Plex Sans"/>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IBM Plex Sans"/>
                <a:ea typeface="IBM Plex Sans"/>
                <a:cs typeface="IBM Plex Sans"/>
                <a:sym typeface="IBM Plex Sans"/>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IBM Plex Sans"/>
                <a:ea typeface="IBM Plex Sans"/>
                <a:cs typeface="IBM Plex Sans"/>
                <a:sym typeface="IBM Plex Sans"/>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IBM Plex Sans"/>
                <a:ea typeface="IBM Plex Sans"/>
                <a:cs typeface="IBM Plex Sans"/>
                <a:sym typeface="IBM Plex Sans"/>
              </a:defRPr>
            </a:lvl9pPr>
          </a:lstStyle>
          <a:p/>
        </p:txBody>
      </p:sp>
    </p:spTree>
  </p:cSld>
  <p:clrMap accent1="accent1" accent2="accent2" accent3="accent3" accent4="accent4" accent5="accent5" accent6="accent6" bg1="lt1" bg2="dk2" tx1="dk1" tx2="lt2" folHlink="folHlink" hlink="hlink"/>
  <p:sldLayoutIdLst>
    <p:sldLayoutId id="2147483655" r:id="rId1"/>
    <p:sldLayoutId id="2147483656"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4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49.png"/><Relationship Id="rId4" Type="http://schemas.openxmlformats.org/officeDocument/2006/relationships/image" Target="../media/image48.png"/><Relationship Id="rId5" Type="http://schemas.openxmlformats.org/officeDocument/2006/relationships/image" Target="../media/image28.png"/><Relationship Id="rId6" Type="http://schemas.openxmlformats.org/officeDocument/2006/relationships/image" Target="../media/image3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40.png"/><Relationship Id="rId4" Type="http://schemas.openxmlformats.org/officeDocument/2006/relationships/image" Target="../media/image3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3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50.png"/><Relationship Id="rId4" Type="http://schemas.openxmlformats.org/officeDocument/2006/relationships/image" Target="../media/image4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5.png"/><Relationship Id="rId4" Type="http://schemas.openxmlformats.org/officeDocument/2006/relationships/image" Target="../media/image4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33.png"/><Relationship Id="rId4" Type="http://schemas.openxmlformats.org/officeDocument/2006/relationships/image" Target="../media/image39.png"/><Relationship Id="rId5" Type="http://schemas.openxmlformats.org/officeDocument/2006/relationships/image" Target="../media/image3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38.png"/><Relationship Id="rId4" Type="http://schemas.openxmlformats.org/officeDocument/2006/relationships/hyperlink" Target="http://skills.md" TargetMode="External"/><Relationship Id="rId5" Type="http://schemas.openxmlformats.org/officeDocument/2006/relationships/hyperlink" Target="http://user.md" TargetMode="External"/><Relationship Id="rId6" Type="http://schemas.openxmlformats.org/officeDocument/2006/relationships/hyperlink" Target="http://xx.md"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45.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5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4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4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5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5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7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8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6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4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68.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47.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87.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73.png"/><Relationship Id="rId4" Type="http://schemas.openxmlformats.org/officeDocument/2006/relationships/image" Target="../media/image5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5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83.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69.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6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70.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77.png"/><Relationship Id="rId4" Type="http://schemas.openxmlformats.org/officeDocument/2006/relationships/image" Target="../media/image67.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59.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64.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7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54.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58.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66.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image" Target="../media/image63.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65.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94.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3" Type="http://schemas.openxmlformats.org/officeDocument/2006/relationships/image" Target="../media/image82.png"/><Relationship Id="rId4" Type="http://schemas.openxmlformats.org/officeDocument/2006/relationships/image" Target="../media/image108.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96.gif"/></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109.gif"/></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05.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6.xml"/><Relationship Id="rId3" Type="http://schemas.openxmlformats.org/officeDocument/2006/relationships/image" Target="../media/image7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8.xml"/><Relationship Id="rId3" Type="http://schemas.openxmlformats.org/officeDocument/2006/relationships/image" Target="../media/image76.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0.xml"/><Relationship Id="rId3" Type="http://schemas.openxmlformats.org/officeDocument/2006/relationships/image" Target="../media/image88.png"/><Relationship Id="rId4" Type="http://schemas.openxmlformats.org/officeDocument/2006/relationships/image" Target="../media/image89.png"/><Relationship Id="rId5" Type="http://schemas.openxmlformats.org/officeDocument/2006/relationships/image" Target="../media/image92.png"/><Relationship Id="rId6" Type="http://schemas.openxmlformats.org/officeDocument/2006/relationships/image" Target="../media/image86.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5.xml"/><Relationship Id="rId3" Type="http://schemas.openxmlformats.org/officeDocument/2006/relationships/image" Target="../media/image9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6.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103.png"/><Relationship Id="rId4" Type="http://schemas.openxmlformats.org/officeDocument/2006/relationships/image" Target="../media/image107.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104.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95.png"/><Relationship Id="rId4" Type="http://schemas.openxmlformats.org/officeDocument/2006/relationships/image" Target="../media/image9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99.png"/><Relationship Id="rId4" Type="http://schemas.openxmlformats.org/officeDocument/2006/relationships/image" Target="../media/image102.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98.png"/><Relationship Id="rId4" Type="http://schemas.openxmlformats.org/officeDocument/2006/relationships/image" Target="../media/image99.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97.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100.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106.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 name="Shape 39"/>
        <p:cNvGrpSpPr/>
        <p:nvPr/>
      </p:nvGrpSpPr>
      <p:grpSpPr>
        <a:xfrm>
          <a:off x="0" y="0"/>
          <a:ext cx="0" cy="0"/>
          <a:chOff x="0" y="0"/>
          <a:chExt cx="0" cy="0"/>
        </a:xfrm>
      </p:grpSpPr>
      <p:sp>
        <p:nvSpPr>
          <p:cNvPr id="40" name="Google Shape;40;p13"/>
          <p:cNvSpPr txBox="1"/>
          <p:nvPr/>
        </p:nvSpPr>
        <p:spPr>
          <a:xfrm>
            <a:off x="981300" y="771825"/>
            <a:ext cx="9407100" cy="5371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1700"/>
              <a:t>Agentic Programming and RAG: </a:t>
            </a:r>
            <a:r>
              <a:rPr lang="en-US"/>
              <a:t>	</a:t>
            </a:r>
            <a:endParaRPr/>
          </a:p>
          <a:p>
            <a:pPr indent="0" lvl="0" marL="0" rtl="0" algn="l">
              <a:spcBef>
                <a:spcPts val="0"/>
              </a:spcBef>
              <a:spcAft>
                <a:spcPts val="0"/>
              </a:spcAft>
              <a:buNone/>
            </a:pPr>
            <a:r>
              <a:rPr lang="en-US"/>
              <a:t>	</a:t>
            </a:r>
            <a:r>
              <a:rPr b="1" lang="en-US" sz="2000">
                <a:solidFill>
                  <a:schemeClr val="dk1"/>
                </a:solidFill>
              </a:rPr>
              <a:t>&gt;&gt;&gt;</a:t>
            </a:r>
            <a:r>
              <a:rPr b="1" lang="en-US" sz="2000"/>
              <a:t>50% of  RAG deployments don’t work. How to make sure that doesnt happen to you. </a:t>
            </a:r>
            <a:endParaRPr b="1" sz="2000"/>
          </a:p>
          <a:p>
            <a:pPr indent="0" lvl="0" marL="0" rtl="0" algn="l">
              <a:spcBef>
                <a:spcPts val="0"/>
              </a:spcBef>
              <a:spcAft>
                <a:spcPts val="0"/>
              </a:spcAft>
              <a:buNone/>
            </a:pPr>
            <a:r>
              <a:rPr b="1" lang="en-US"/>
              <a:t>Poor RAG Design</a:t>
            </a:r>
            <a:endParaRPr b="1"/>
          </a:p>
          <a:p>
            <a:pPr indent="-317500" lvl="0" marL="457200" rtl="0" algn="l">
              <a:spcBef>
                <a:spcPts val="0"/>
              </a:spcBef>
              <a:spcAft>
                <a:spcPts val="0"/>
              </a:spcAft>
              <a:buSzPts val="1400"/>
              <a:buAutoNum type="arabicParenR"/>
            </a:pPr>
            <a:r>
              <a:rPr lang="en-US"/>
              <a:t>Throw </a:t>
            </a:r>
            <a:r>
              <a:rPr lang="en-US"/>
              <a:t>everything</a:t>
            </a:r>
            <a:r>
              <a:rPr lang="en-US"/>
              <a:t> into 1 massive vector db and DB and inverted index. Works in prototype, Always fails in production. </a:t>
            </a:r>
            <a:endParaRPr/>
          </a:p>
          <a:p>
            <a:pPr indent="-317500" lvl="0" marL="457200" rtl="0" algn="l">
              <a:spcBef>
                <a:spcPts val="0"/>
              </a:spcBef>
              <a:spcAft>
                <a:spcPts val="0"/>
              </a:spcAft>
              <a:buSzPts val="1400"/>
              <a:buAutoNum type="arabicParenR"/>
            </a:pPr>
            <a:r>
              <a:rPr lang="en-US"/>
              <a:t>Document chunks don’t match vector search. Most policies are not based on vector similarity or </a:t>
            </a:r>
            <a:r>
              <a:rPr lang="en-US"/>
              <a:t>keyword</a:t>
            </a:r>
            <a:r>
              <a:rPr lang="en-US"/>
              <a:t> search. Dental insurance enrollment policy will never work with standard RAG. (DEMO)</a:t>
            </a:r>
            <a:endParaRPr/>
          </a:p>
          <a:p>
            <a:pPr indent="-317500" lvl="0" marL="457200" rtl="0" algn="l">
              <a:spcBef>
                <a:spcPts val="0"/>
              </a:spcBef>
              <a:spcAft>
                <a:spcPts val="0"/>
              </a:spcAft>
              <a:buSzPts val="1400"/>
              <a:buAutoNum type="arabicParenR"/>
            </a:pPr>
            <a:r>
              <a:rPr lang="en-US"/>
              <a:t>Rerankers get </a:t>
            </a:r>
            <a:r>
              <a:rPr lang="en-US"/>
              <a:t>overwhelmed. 10-20 max before being sent to the LLM. Adds latency and the relevant chunk never makes it to the LLM</a:t>
            </a:r>
            <a:endParaRPr/>
          </a:p>
          <a:p>
            <a:pPr indent="-317500" lvl="0" marL="457200" rtl="0" algn="l">
              <a:spcBef>
                <a:spcPts val="0"/>
              </a:spcBef>
              <a:spcAft>
                <a:spcPts val="0"/>
              </a:spcAft>
              <a:buSzPts val="1400"/>
              <a:buAutoNum type="arabicParenR"/>
            </a:pPr>
            <a:r>
              <a:rPr lang="en-US"/>
              <a:t>Images; incorrect parsing from legacy OCR adds noise </a:t>
            </a:r>
            <a:endParaRPr/>
          </a:p>
          <a:p>
            <a:pPr indent="-317500" lvl="0" marL="457200" rtl="0" algn="l">
              <a:spcBef>
                <a:spcPts val="0"/>
              </a:spcBef>
              <a:spcAft>
                <a:spcPts val="0"/>
              </a:spcAft>
              <a:buSzPts val="1400"/>
              <a:buAutoNum type="arabicParenR"/>
            </a:pPr>
            <a:r>
              <a:rPr lang="en-US"/>
              <a:t>Parsing errors typically near figures or tables pollute the index. TOC, Index pages, fragments of rows. Entries with no context. Most common solution is a hierarchical context. Tradeoff context length for bigger search result to get @top1</a:t>
            </a:r>
            <a:endParaRPr/>
          </a:p>
          <a:p>
            <a:pPr indent="-317500" lvl="0" marL="457200" rtl="0" algn="l">
              <a:spcBef>
                <a:spcPts val="0"/>
              </a:spcBef>
              <a:spcAft>
                <a:spcPts val="0"/>
              </a:spcAft>
              <a:buSzPts val="1400"/>
              <a:buAutoNum type="arabicParenR"/>
            </a:pPr>
            <a:r>
              <a:rPr lang="en-US"/>
              <a:t>7% intrinsic failure rates for LLMs, will not see failures in production, Production failures cause MGMT to pull plug on funding project. </a:t>
            </a:r>
            <a:endParaRPr/>
          </a:p>
          <a:p>
            <a:pPr indent="0" lvl="0" marL="0" rtl="0" algn="l">
              <a:spcBef>
                <a:spcPts val="0"/>
              </a:spcBef>
              <a:spcAft>
                <a:spcPts val="0"/>
              </a:spcAft>
              <a:buNone/>
            </a:pPr>
            <a:r>
              <a:rPr b="1" lang="en-US"/>
              <a:t>Poor Data Quality</a:t>
            </a:r>
            <a:endParaRPr b="1"/>
          </a:p>
          <a:p>
            <a:pPr indent="-317500" lvl="0" marL="457200" rtl="0" algn="l">
              <a:spcBef>
                <a:spcPts val="0"/>
              </a:spcBef>
              <a:spcAft>
                <a:spcPts val="0"/>
              </a:spcAft>
              <a:buSzPts val="1400"/>
              <a:buAutoNum type="arabicParenR"/>
            </a:pPr>
            <a:r>
              <a:rPr lang="en-US"/>
              <a:t>Mix of images and text extracted pdfs. Missing data, PDFs look ok but internal database doesnt reflect status of documents. Images and tables cause cascading legacy OCR Failures. </a:t>
            </a:r>
            <a:endParaRPr/>
          </a:p>
          <a:p>
            <a:pPr indent="-317500" lvl="0" marL="457200" rtl="0" algn="l">
              <a:spcBef>
                <a:spcPts val="0"/>
              </a:spcBef>
              <a:spcAft>
                <a:spcPts val="0"/>
              </a:spcAft>
              <a:buSzPts val="1400"/>
              <a:buAutoNum type="arabicParenR"/>
            </a:pPr>
            <a:r>
              <a:rPr lang="en-US"/>
              <a:t>Improper context attributed to figures, tables. Use LLM to add context, low cost if caching setup correctly</a:t>
            </a:r>
            <a:endParaRPr/>
          </a:p>
          <a:p>
            <a:pPr indent="-317500" lvl="0" marL="457200" rtl="0" algn="l">
              <a:spcBef>
                <a:spcPts val="0"/>
              </a:spcBef>
              <a:spcAft>
                <a:spcPts val="0"/>
              </a:spcAft>
              <a:buSzPts val="1400"/>
              <a:buAutoNum type="arabicParenR"/>
            </a:pPr>
            <a:r>
              <a:rPr lang="en-US"/>
              <a:t>Improper filtering of noise. TOC and Indexes in search indexes pollute index. </a:t>
            </a:r>
            <a:endParaRPr/>
          </a:p>
          <a:p>
            <a:pPr indent="-317500" lvl="0" marL="457200" rtl="0" algn="l">
              <a:spcBef>
                <a:spcPts val="0"/>
              </a:spcBef>
              <a:spcAft>
                <a:spcPts val="0"/>
              </a:spcAft>
              <a:buSzPts val="1400"/>
              <a:buAutoNum type="arabicParenR"/>
            </a:pPr>
            <a:r>
              <a:rPr lang="en-US"/>
              <a:t>LLM routers fail because of hallucinations. Not repeatable, can’t debug. Poor system reliability. Deterministic routers brittle.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 name="Shape 45"/>
        <p:cNvGrpSpPr/>
        <p:nvPr/>
      </p:nvGrpSpPr>
      <p:grpSpPr>
        <a:xfrm>
          <a:off x="0" y="0"/>
          <a:ext cx="0" cy="0"/>
          <a:chOff x="0" y="0"/>
          <a:chExt cx="0" cy="0"/>
        </a:xfrm>
      </p:grpSpPr>
      <p:sp>
        <p:nvSpPr>
          <p:cNvPr id="46" name="Google Shape;46;p14"/>
          <p:cNvSpPr txBox="1"/>
          <p:nvPr/>
        </p:nvSpPr>
        <p:spPr>
          <a:xfrm>
            <a:off x="3088800" y="2106000"/>
            <a:ext cx="6220800" cy="2893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p>
          <a:p>
            <a:pPr indent="0" lvl="0" marL="0" rtl="0" algn="l">
              <a:spcBef>
                <a:spcPts val="0"/>
              </a:spcBef>
              <a:spcAft>
                <a:spcPts val="0"/>
              </a:spcAft>
              <a:buNone/>
            </a:pPr>
            <a:r>
              <a:rPr lang="en-US"/>
              <a:t>Demo </a:t>
            </a:r>
            <a:endParaRPr/>
          </a:p>
          <a:p>
            <a:pPr indent="-317500" lvl="0" marL="457200" rtl="0" algn="l">
              <a:spcBef>
                <a:spcPts val="0"/>
              </a:spcBef>
              <a:spcAft>
                <a:spcPts val="0"/>
              </a:spcAft>
              <a:buSzPts val="1400"/>
              <a:buAutoNum type="arabicParenR"/>
            </a:pPr>
            <a:r>
              <a:rPr lang="en-US"/>
              <a:t>Data Extraction and chunking, claude demo</a:t>
            </a:r>
            <a:endParaRPr/>
          </a:p>
          <a:p>
            <a:pPr indent="-317500" lvl="0" marL="457200" rtl="0" algn="l">
              <a:spcBef>
                <a:spcPts val="0"/>
              </a:spcBef>
              <a:spcAft>
                <a:spcPts val="0"/>
              </a:spcAft>
              <a:buSzPts val="1400"/>
              <a:buAutoNum type="arabicParenR"/>
            </a:pPr>
            <a:r>
              <a:rPr lang="en-US"/>
              <a:t>Figure/table/extraction</a:t>
            </a:r>
            <a:endParaRPr/>
          </a:p>
          <a:p>
            <a:pPr indent="-317500" lvl="0" marL="457200" rtl="0" algn="l">
              <a:spcBef>
                <a:spcPts val="0"/>
              </a:spcBef>
              <a:spcAft>
                <a:spcPts val="0"/>
              </a:spcAft>
              <a:buSzPts val="1400"/>
              <a:buAutoNum type="arabicParenR"/>
            </a:pPr>
            <a:r>
              <a:rPr lang="en-US"/>
              <a:t>how to measure retrieval errors, </a:t>
            </a:r>
            <a:r>
              <a:rPr lang="en-US"/>
              <a:t>context</a:t>
            </a:r>
            <a:r>
              <a:rPr lang="en-US"/>
              <a:t> </a:t>
            </a:r>
            <a:r>
              <a:rPr lang="en-US"/>
              <a:t>assembly</a:t>
            </a:r>
            <a:r>
              <a:rPr lang="en-US"/>
              <a:t> errors, answer complerteness errors</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Clr>
                <a:schemeClr val="dk1"/>
              </a:buClr>
              <a:buSzPts val="1100"/>
              <a:buFont typeface="Arial"/>
              <a:buNone/>
            </a:pPr>
            <a:r>
              <a:rPr i="1" lang="en-US" sz="1600">
                <a:solidFill>
                  <a:schemeClr val="dk1"/>
                </a:solidFill>
              </a:rPr>
              <a:t>Initial hybrid retrieval: </a:t>
            </a:r>
            <a:r>
              <a:rPr b="1" i="1" lang="en-US" sz="1600">
                <a:solidFill>
                  <a:schemeClr val="dk1"/>
                </a:solidFill>
              </a:rPr>
              <a:t>top 150 chunks</a:t>
            </a:r>
            <a:endParaRPr b="1" i="1" sz="1600">
              <a:solidFill>
                <a:schemeClr val="dk1"/>
              </a:solidFill>
            </a:endParaRPr>
          </a:p>
          <a:p>
            <a:pPr indent="0" lvl="0" marL="0" rtl="0" algn="l">
              <a:spcBef>
                <a:spcPts val="0"/>
              </a:spcBef>
              <a:spcAft>
                <a:spcPts val="0"/>
              </a:spcAft>
              <a:buClr>
                <a:schemeClr val="dk1"/>
              </a:buClr>
              <a:buSzPts val="1100"/>
              <a:buFont typeface="Arial"/>
              <a:buNone/>
            </a:pPr>
            <a:r>
              <a:rPr i="1" lang="en-US" sz="1600">
                <a:solidFill>
                  <a:schemeClr val="dk1"/>
                </a:solidFill>
              </a:rPr>
              <a:t>Reranker scores those 150 chunks with the query</a:t>
            </a:r>
            <a:endParaRPr i="1" sz="1600">
              <a:solidFill>
                <a:schemeClr val="dk1"/>
              </a:solidFill>
            </a:endParaRPr>
          </a:p>
          <a:p>
            <a:pPr indent="0" lvl="0" marL="0" rtl="0" algn="l">
              <a:spcBef>
                <a:spcPts val="0"/>
              </a:spcBef>
              <a:spcAft>
                <a:spcPts val="0"/>
              </a:spcAft>
              <a:buClr>
                <a:schemeClr val="dk1"/>
              </a:buClr>
              <a:buSzPts val="1100"/>
              <a:buFont typeface="Arial"/>
              <a:buNone/>
            </a:pPr>
            <a:r>
              <a:rPr i="1" lang="en-US" sz="1600">
                <a:solidFill>
                  <a:schemeClr val="dk1"/>
                </a:solidFill>
              </a:rPr>
              <a:t>Retain </a:t>
            </a:r>
            <a:r>
              <a:rPr b="1" i="1" lang="en-US" sz="1600">
                <a:solidFill>
                  <a:schemeClr val="dk1"/>
                </a:solidFill>
              </a:rPr>
              <a:t>top 20 chunks</a:t>
            </a:r>
            <a:endParaRPr b="1" i="1" sz="1600">
              <a:solidFill>
                <a:schemeClr val="dk1"/>
              </a:solidFill>
            </a:endParaRPr>
          </a:p>
          <a:p>
            <a:pPr indent="0" lvl="0" marL="0" rtl="0" algn="l">
              <a:spcBef>
                <a:spcPts val="0"/>
              </a:spcBef>
              <a:spcAft>
                <a:spcPts val="0"/>
              </a:spcAft>
              <a:buClr>
                <a:schemeClr val="dk1"/>
              </a:buClr>
              <a:buSzPts val="1100"/>
              <a:buFont typeface="Arial"/>
              <a:buNone/>
            </a:pPr>
            <a:r>
              <a:rPr i="1" lang="en-US" sz="1600">
                <a:solidFill>
                  <a:schemeClr val="dk1"/>
                </a:solidFill>
              </a:rPr>
              <a:t>Pass those 20 chunks to the LLM</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 name="Shape 51"/>
        <p:cNvGrpSpPr/>
        <p:nvPr/>
      </p:nvGrpSpPr>
      <p:grpSpPr>
        <a:xfrm>
          <a:off x="0" y="0"/>
          <a:ext cx="0" cy="0"/>
          <a:chOff x="0" y="0"/>
          <a:chExt cx="0" cy="0"/>
        </a:xfrm>
      </p:grpSpPr>
      <p:sp>
        <p:nvSpPr>
          <p:cNvPr id="52" name="Google Shape;52;p15"/>
          <p:cNvSpPr txBox="1"/>
          <p:nvPr/>
        </p:nvSpPr>
        <p:spPr>
          <a:xfrm>
            <a:off x="1714500" y="671425"/>
            <a:ext cx="69060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500"/>
              <a:t>Bad Extraction</a:t>
            </a:r>
            <a:endParaRPr b="1" sz="2500"/>
          </a:p>
        </p:txBody>
      </p:sp>
      <p:pic>
        <p:nvPicPr>
          <p:cNvPr id="53" name="Google Shape;53;p15" title="Screenshot 2026-10-19 at 7.08.05 PM.png"/>
          <p:cNvPicPr preferRelativeResize="0"/>
          <p:nvPr/>
        </p:nvPicPr>
        <p:blipFill>
          <a:blip r:embed="rId3">
            <a:alphaModFix/>
          </a:blip>
          <a:stretch>
            <a:fillRect/>
          </a:stretch>
        </p:blipFill>
        <p:spPr>
          <a:xfrm>
            <a:off x="152400" y="1408825"/>
            <a:ext cx="8396129" cy="5296777"/>
          </a:xfrm>
          <a:prstGeom prst="rect">
            <a:avLst/>
          </a:prstGeom>
          <a:noFill/>
          <a:ln>
            <a:noFill/>
          </a:ln>
        </p:spPr>
      </p:pic>
      <p:pic>
        <p:nvPicPr>
          <p:cNvPr id="54" name="Google Shape;54;p15"/>
          <p:cNvPicPr preferRelativeResize="0"/>
          <p:nvPr/>
        </p:nvPicPr>
        <p:blipFill>
          <a:blip r:embed="rId4">
            <a:alphaModFix/>
          </a:blip>
          <a:stretch>
            <a:fillRect/>
          </a:stretch>
        </p:blipFill>
        <p:spPr>
          <a:xfrm>
            <a:off x="8880800" y="1123550"/>
            <a:ext cx="1485900" cy="1543050"/>
          </a:xfrm>
          <a:prstGeom prst="rect">
            <a:avLst/>
          </a:prstGeom>
          <a:noFill/>
          <a:ln>
            <a:noFill/>
          </a:ln>
        </p:spPr>
      </p:pic>
      <p:sp>
        <p:nvSpPr>
          <p:cNvPr id="55" name="Google Shape;55;p15"/>
          <p:cNvSpPr txBox="1"/>
          <p:nvPr/>
        </p:nvSpPr>
        <p:spPr>
          <a:xfrm>
            <a:off x="8932175" y="2985375"/>
            <a:ext cx="2829600" cy="1015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1800"/>
              <a:t>Should be converted to table, </a:t>
            </a:r>
            <a:r>
              <a:rPr b="1" lang="en-US" sz="1800"/>
              <a:t>gibberish</a:t>
            </a:r>
            <a:r>
              <a:rPr b="1" lang="en-US" sz="1800"/>
              <a:t>, </a:t>
            </a:r>
            <a:r>
              <a:rPr b="1" lang="en-US" sz="1800"/>
              <a:t>random</a:t>
            </a:r>
            <a:r>
              <a:rPr b="1" lang="en-US" sz="1800"/>
              <a:t> string</a:t>
            </a:r>
            <a:endParaRPr b="1" sz="1800"/>
          </a:p>
        </p:txBody>
      </p:sp>
      <p:sp>
        <p:nvSpPr>
          <p:cNvPr id="56" name="Google Shape;56;p15"/>
          <p:cNvSpPr txBox="1"/>
          <p:nvPr/>
        </p:nvSpPr>
        <p:spPr>
          <a:xfrm>
            <a:off x="8752475" y="4256300"/>
            <a:ext cx="30093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unstructured, used by langchain</a:t>
            </a:r>
            <a:endParaRPr/>
          </a:p>
        </p:txBody>
      </p:sp>
      <p:sp>
        <p:nvSpPr>
          <p:cNvPr id="57" name="Google Shape;57;p15"/>
          <p:cNvSpPr txBox="1"/>
          <p:nvPr/>
        </p:nvSpPr>
        <p:spPr>
          <a:xfrm>
            <a:off x="8880800" y="4963650"/>
            <a:ext cx="2553900" cy="61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at scale pollutes bm25 and vector db</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6"/>
          <p:cNvPicPr preferRelativeResize="0"/>
          <p:nvPr/>
        </p:nvPicPr>
        <p:blipFill>
          <a:blip r:embed="rId3">
            <a:alphaModFix/>
          </a:blip>
          <a:stretch>
            <a:fillRect/>
          </a:stretch>
        </p:blipFill>
        <p:spPr>
          <a:xfrm>
            <a:off x="152400" y="1051600"/>
            <a:ext cx="11887201" cy="5525691"/>
          </a:xfrm>
          <a:prstGeom prst="rect">
            <a:avLst/>
          </a:prstGeom>
          <a:noFill/>
          <a:ln>
            <a:noFill/>
          </a:ln>
        </p:spPr>
      </p:pic>
      <p:sp>
        <p:nvSpPr>
          <p:cNvPr id="64" name="Google Shape;64;p16"/>
          <p:cNvSpPr txBox="1"/>
          <p:nvPr/>
        </p:nvSpPr>
        <p:spPr>
          <a:xfrm>
            <a:off x="2889475" y="0"/>
            <a:ext cx="6906000" cy="954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500"/>
              <a:t>What it should look like, llamaparse, reducio, our demo code</a:t>
            </a:r>
            <a:endParaRPr b="1" sz="2500"/>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 name="Shape 69"/>
        <p:cNvGrpSpPr/>
        <p:nvPr/>
      </p:nvGrpSpPr>
      <p:grpSpPr>
        <a:xfrm>
          <a:off x="0" y="0"/>
          <a:ext cx="0" cy="0"/>
          <a:chOff x="0" y="0"/>
          <a:chExt cx="0" cy="0"/>
        </a:xfrm>
      </p:grpSpPr>
      <p:pic>
        <p:nvPicPr>
          <p:cNvPr id="70" name="Google Shape;70;p17" title="Screenshot 2026-10-19 at 6.51.59 PM.png"/>
          <p:cNvPicPr preferRelativeResize="0"/>
          <p:nvPr/>
        </p:nvPicPr>
        <p:blipFill>
          <a:blip r:embed="rId3">
            <a:alphaModFix/>
          </a:blip>
          <a:stretch>
            <a:fillRect/>
          </a:stretch>
        </p:blipFill>
        <p:spPr>
          <a:xfrm>
            <a:off x="0" y="851650"/>
            <a:ext cx="9451377" cy="6006352"/>
          </a:xfrm>
          <a:prstGeom prst="rect">
            <a:avLst/>
          </a:prstGeom>
          <a:noFill/>
          <a:ln>
            <a:noFill/>
          </a:ln>
        </p:spPr>
      </p:pic>
      <p:sp>
        <p:nvSpPr>
          <p:cNvPr id="71" name="Google Shape;71;p17"/>
          <p:cNvSpPr txBox="1"/>
          <p:nvPr/>
        </p:nvSpPr>
        <p:spPr>
          <a:xfrm>
            <a:off x="1949825" y="156875"/>
            <a:ext cx="85389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500"/>
              <a:t>Langchain parse error </a:t>
            </a:r>
            <a:endParaRPr b="1" sz="2500"/>
          </a:p>
        </p:txBody>
      </p:sp>
      <p:sp>
        <p:nvSpPr>
          <p:cNvPr id="72" name="Google Shape;72;p17"/>
          <p:cNvSpPr txBox="1"/>
          <p:nvPr/>
        </p:nvSpPr>
        <p:spPr>
          <a:xfrm>
            <a:off x="9681875" y="2868700"/>
            <a:ext cx="1994700" cy="677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1600"/>
              <a:t>Single string no table</a:t>
            </a:r>
            <a:endParaRPr b="1" sz="16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 name="Shape 77"/>
        <p:cNvGrpSpPr/>
        <p:nvPr/>
      </p:nvGrpSpPr>
      <p:grpSpPr>
        <a:xfrm>
          <a:off x="0" y="0"/>
          <a:ext cx="0" cy="0"/>
          <a:chOff x="0" y="0"/>
          <a:chExt cx="0" cy="0"/>
        </a:xfrm>
      </p:grpSpPr>
      <p:pic>
        <p:nvPicPr>
          <p:cNvPr id="78" name="Google Shape;78;p18" title="Screenshot 2026-10-17 at 5.02.20 PM.png"/>
          <p:cNvPicPr preferRelativeResize="0"/>
          <p:nvPr/>
        </p:nvPicPr>
        <p:blipFill>
          <a:blip r:embed="rId3">
            <a:alphaModFix/>
          </a:blip>
          <a:stretch>
            <a:fillRect/>
          </a:stretch>
        </p:blipFill>
        <p:spPr>
          <a:xfrm>
            <a:off x="152400" y="1053350"/>
            <a:ext cx="8898750" cy="5652251"/>
          </a:xfrm>
          <a:prstGeom prst="rect">
            <a:avLst/>
          </a:prstGeom>
          <a:noFill/>
          <a:ln>
            <a:noFill/>
          </a:ln>
        </p:spPr>
      </p:pic>
      <p:sp>
        <p:nvSpPr>
          <p:cNvPr id="79" name="Google Shape;79;p18"/>
          <p:cNvSpPr txBox="1"/>
          <p:nvPr/>
        </p:nvSpPr>
        <p:spPr>
          <a:xfrm>
            <a:off x="3966875" y="336175"/>
            <a:ext cx="82701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500"/>
              <a:t>Correct, llamaparse, reductio, our code</a:t>
            </a:r>
            <a:endParaRPr b="1" sz="2500"/>
          </a:p>
        </p:txBody>
      </p:sp>
      <p:sp>
        <p:nvSpPr>
          <p:cNvPr id="80" name="Google Shape;80;p18"/>
          <p:cNvSpPr txBox="1"/>
          <p:nvPr/>
        </p:nvSpPr>
        <p:spPr>
          <a:xfrm>
            <a:off x="9211225" y="2935950"/>
            <a:ext cx="2577300" cy="1339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b="1" lang="en-US" sz="2500">
                <a:solidFill>
                  <a:schemeClr val="dk1"/>
                </a:solidFill>
              </a:rPr>
              <a:t>Correct, table matches bar chart,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pic>
        <p:nvPicPr>
          <p:cNvPr id="86" name="Google Shape;86;p19"/>
          <p:cNvPicPr preferRelativeResize="0"/>
          <p:nvPr/>
        </p:nvPicPr>
        <p:blipFill>
          <a:blip r:embed="rId3">
            <a:alphaModFix/>
          </a:blip>
          <a:stretch>
            <a:fillRect/>
          </a:stretch>
        </p:blipFill>
        <p:spPr>
          <a:xfrm>
            <a:off x="152400" y="152400"/>
            <a:ext cx="11887202" cy="5564222"/>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20"/>
          <p:cNvPicPr preferRelativeResize="0"/>
          <p:nvPr/>
        </p:nvPicPr>
        <p:blipFill>
          <a:blip r:embed="rId3">
            <a:alphaModFix/>
          </a:blip>
          <a:stretch>
            <a:fillRect/>
          </a:stretch>
        </p:blipFill>
        <p:spPr>
          <a:xfrm>
            <a:off x="152400" y="152400"/>
            <a:ext cx="10609941" cy="6553199"/>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pic>
        <p:nvPicPr>
          <p:cNvPr id="98" name="Google Shape;98;p21"/>
          <p:cNvPicPr preferRelativeResize="0"/>
          <p:nvPr/>
        </p:nvPicPr>
        <p:blipFill>
          <a:blip r:embed="rId3">
            <a:alphaModFix/>
          </a:blip>
          <a:stretch>
            <a:fillRect/>
          </a:stretch>
        </p:blipFill>
        <p:spPr>
          <a:xfrm>
            <a:off x="152400" y="152400"/>
            <a:ext cx="11887199" cy="6327392"/>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pic>
        <p:nvPicPr>
          <p:cNvPr id="104" name="Google Shape;104;p22"/>
          <p:cNvPicPr preferRelativeResize="0"/>
          <p:nvPr/>
        </p:nvPicPr>
        <p:blipFill>
          <a:blip r:embed="rId3">
            <a:alphaModFix/>
          </a:blip>
          <a:stretch>
            <a:fillRect/>
          </a:stretch>
        </p:blipFill>
        <p:spPr>
          <a:xfrm>
            <a:off x="152400" y="152400"/>
            <a:ext cx="10612468" cy="655319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3"/>
          <p:cNvSpPr txBox="1"/>
          <p:nvPr/>
        </p:nvSpPr>
        <p:spPr>
          <a:xfrm>
            <a:off x="300600" y="222700"/>
            <a:ext cx="6412800" cy="4563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A Review of RAG architectures</a:t>
            </a:r>
            <a:endParaRPr/>
          </a:p>
          <a:p>
            <a:pPr indent="0" lvl="0" marL="0" rtl="0" algn="l">
              <a:spcBef>
                <a:spcPts val="0"/>
              </a:spcBef>
              <a:spcAft>
                <a:spcPts val="0"/>
              </a:spcAft>
              <a:buClr>
                <a:schemeClr val="dk1"/>
              </a:buClr>
              <a:buSzPts val="1100"/>
              <a:buFont typeface="Arial"/>
              <a:buNone/>
            </a:pPr>
            <a:r>
              <a:rPr lang="en-US">
                <a:solidFill>
                  <a:schemeClr val="dk1"/>
                </a:solidFill>
              </a:rPr>
              <a:t>Structured search: tables where rows should be filtered. Do the filtering in the db and let the tool present a single result like tavily search. </a:t>
            </a:r>
            <a:endParaRPr>
              <a:solidFill>
                <a:schemeClr val="dk1"/>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t>For unstructured data, doesnt support </a:t>
            </a:r>
            <a:r>
              <a:rPr lang="en-US"/>
              <a:t>keywords</a:t>
            </a:r>
            <a:r>
              <a:rPr lang="en-US"/>
              <a:t> like a drug code: add BM25</a:t>
            </a:r>
            <a:endParaRPr/>
          </a:p>
          <a:p>
            <a:pPr indent="0" lvl="0" marL="0" rtl="0" algn="l">
              <a:spcBef>
                <a:spcPts val="0"/>
              </a:spcBef>
              <a:spcAft>
                <a:spcPts val="0"/>
              </a:spcAft>
              <a:buNone/>
            </a:pPr>
            <a:r>
              <a:rPr lang="en-US"/>
              <a:t>If short query creates too many chunks which are irrelevant the short query has been padded with nose. Try HyDe. </a:t>
            </a:r>
            <a:endParaRPr/>
          </a:p>
          <a:p>
            <a:pPr indent="0" lvl="0" marL="0" rtl="0" algn="l">
              <a:lnSpc>
                <a:spcPct val="115000"/>
              </a:lnSpc>
              <a:spcBef>
                <a:spcPts val="1200"/>
              </a:spcBef>
              <a:spcAft>
                <a:spcPts val="0"/>
              </a:spcAft>
              <a:buNone/>
            </a:pPr>
            <a:r>
              <a:rPr lang="en-US"/>
              <a:t>underspecified query, </a:t>
            </a:r>
            <a:endParaRPr/>
          </a:p>
          <a:p>
            <a:pPr indent="0" lvl="0" marL="0" rtl="0" algn="l">
              <a:lnSpc>
                <a:spcPct val="115000"/>
              </a:lnSpc>
              <a:spcBef>
                <a:spcPts val="1200"/>
              </a:spcBef>
              <a:spcAft>
                <a:spcPts val="0"/>
              </a:spcAft>
              <a:buNone/>
            </a:pPr>
            <a:r>
              <a:rPr lang="en-US"/>
              <a:t>a query–document wording gap: </a:t>
            </a:r>
            <a:endParaRPr/>
          </a:p>
          <a:p>
            <a:pPr indent="0" lvl="0" marL="0" rtl="0" algn="l">
              <a:lnSpc>
                <a:spcPct val="115000"/>
              </a:lnSpc>
              <a:spcBef>
                <a:spcPts val="1200"/>
              </a:spcBef>
              <a:spcAft>
                <a:spcPts val="0"/>
              </a:spcAft>
              <a:buNone/>
            </a:pPr>
            <a:r>
              <a:rPr lang="en-US"/>
              <a:t>the wrong retrieval method: </a:t>
            </a:r>
            <a:endParaRPr/>
          </a:p>
          <a:p>
            <a:pPr indent="0" lvl="0" marL="0" rtl="0" algn="l">
              <a:lnSpc>
                <a:spcPct val="115000"/>
              </a:lnSpc>
              <a:spcBef>
                <a:spcPts val="1200"/>
              </a:spcBef>
              <a:spcAft>
                <a:spcPts val="0"/>
              </a:spcAft>
              <a:buClr>
                <a:schemeClr val="dk1"/>
              </a:buClr>
              <a:buSzPts val="1100"/>
              <a:buFont typeface="Arial"/>
              <a:buNone/>
            </a:pPr>
            <a:r>
              <a:rPr lang="en-US"/>
              <a:t>genuinely missing corpus evidence. HyDE only addresses some of those cases.</a:t>
            </a:r>
            <a:endParaRPr/>
          </a:p>
          <a:p>
            <a:pPr indent="0" lvl="0" marL="0" rtl="0" algn="l">
              <a:spcBef>
                <a:spcPts val="120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4"/>
          <p:cNvPicPr preferRelativeResize="0"/>
          <p:nvPr/>
        </p:nvPicPr>
        <p:blipFill>
          <a:blip r:embed="rId3">
            <a:alphaModFix/>
          </a:blip>
          <a:stretch>
            <a:fillRect/>
          </a:stretch>
        </p:blipFill>
        <p:spPr>
          <a:xfrm>
            <a:off x="152400" y="152400"/>
            <a:ext cx="11887201" cy="5943601"/>
          </a:xfrm>
          <a:prstGeom prst="rect">
            <a:avLst/>
          </a:prstGeom>
          <a:noFill/>
          <a:ln>
            <a:noFill/>
          </a:ln>
        </p:spPr>
      </p:pic>
      <p:sp>
        <p:nvSpPr>
          <p:cNvPr id="117" name="Google Shape;117;p24"/>
          <p:cNvSpPr txBox="1"/>
          <p:nvPr/>
        </p:nvSpPr>
        <p:spPr>
          <a:xfrm>
            <a:off x="979793" y="1102300"/>
            <a:ext cx="3000000" cy="1046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“What help is available if I need an expensive dental procedure and want to minimize my out-of-pocket costs?”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pic>
        <p:nvPicPr>
          <p:cNvPr id="123" name="Google Shape;123;p25"/>
          <p:cNvPicPr preferRelativeResize="0"/>
          <p:nvPr/>
        </p:nvPicPr>
        <p:blipFill>
          <a:blip r:embed="rId3">
            <a:alphaModFix/>
          </a:blip>
          <a:stretch>
            <a:fillRect/>
          </a:stretch>
        </p:blipFill>
        <p:spPr>
          <a:xfrm>
            <a:off x="152400" y="152400"/>
            <a:ext cx="11887199" cy="6327392"/>
          </a:xfrm>
          <a:prstGeom prst="rect">
            <a:avLst/>
          </a:prstGeom>
          <a:noFill/>
          <a:ln>
            <a:noFill/>
          </a:ln>
        </p:spPr>
      </p:pic>
      <p:sp>
        <p:nvSpPr>
          <p:cNvPr id="124" name="Google Shape;124;p25"/>
          <p:cNvSpPr txBox="1"/>
          <p:nvPr/>
        </p:nvSpPr>
        <p:spPr>
          <a:xfrm>
            <a:off x="489900" y="3863575"/>
            <a:ext cx="3000000" cy="1908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US" sz="1600">
                <a:solidFill>
                  <a:schemeClr val="dk1"/>
                </a:solidFill>
              </a:rPr>
              <a:t>Initial hybrid retrieval: </a:t>
            </a:r>
            <a:r>
              <a:rPr b="1" i="1" lang="en-US" sz="1600">
                <a:solidFill>
                  <a:schemeClr val="dk1"/>
                </a:solidFill>
              </a:rPr>
              <a:t>top 150 chunks</a:t>
            </a:r>
            <a:endParaRPr b="1" i="1" sz="1600">
              <a:solidFill>
                <a:schemeClr val="dk1"/>
              </a:solidFill>
            </a:endParaRPr>
          </a:p>
          <a:p>
            <a:pPr indent="0" lvl="0" marL="0" rtl="0" algn="l">
              <a:spcBef>
                <a:spcPts val="0"/>
              </a:spcBef>
              <a:spcAft>
                <a:spcPts val="0"/>
              </a:spcAft>
              <a:buNone/>
            </a:pPr>
            <a:r>
              <a:rPr i="1" lang="en-US" sz="1600">
                <a:solidFill>
                  <a:schemeClr val="dk1"/>
                </a:solidFill>
              </a:rPr>
              <a:t>Reranker scores those 150 chunks with the query</a:t>
            </a:r>
            <a:endParaRPr i="1" sz="1600">
              <a:solidFill>
                <a:schemeClr val="dk1"/>
              </a:solidFill>
            </a:endParaRPr>
          </a:p>
          <a:p>
            <a:pPr indent="0" lvl="0" marL="0" rtl="0" algn="l">
              <a:spcBef>
                <a:spcPts val="0"/>
              </a:spcBef>
              <a:spcAft>
                <a:spcPts val="0"/>
              </a:spcAft>
              <a:buNone/>
            </a:pPr>
            <a:r>
              <a:rPr i="1" lang="en-US" sz="1600">
                <a:solidFill>
                  <a:schemeClr val="dk1"/>
                </a:solidFill>
              </a:rPr>
              <a:t>Retain </a:t>
            </a:r>
            <a:r>
              <a:rPr b="1" i="1" lang="en-US" sz="1600">
                <a:solidFill>
                  <a:schemeClr val="dk1"/>
                </a:solidFill>
              </a:rPr>
              <a:t>top 20 chunks</a:t>
            </a:r>
            <a:endParaRPr b="1" i="1" sz="1600">
              <a:solidFill>
                <a:schemeClr val="dk1"/>
              </a:solidFill>
            </a:endParaRPr>
          </a:p>
          <a:p>
            <a:pPr indent="0" lvl="0" marL="0" rtl="0" algn="l">
              <a:spcBef>
                <a:spcPts val="0"/>
              </a:spcBef>
              <a:spcAft>
                <a:spcPts val="0"/>
              </a:spcAft>
              <a:buNone/>
            </a:pPr>
            <a:r>
              <a:rPr i="1" lang="en-US" sz="1600">
                <a:solidFill>
                  <a:schemeClr val="dk1"/>
                </a:solidFill>
              </a:rPr>
              <a:t>Pass those 20 chunks to the LLM</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pic>
        <p:nvPicPr>
          <p:cNvPr id="130" name="Google Shape;130;p26"/>
          <p:cNvPicPr preferRelativeResize="0"/>
          <p:nvPr/>
        </p:nvPicPr>
        <p:blipFill>
          <a:blip r:embed="rId3">
            <a:alphaModFix/>
          </a:blip>
          <a:stretch>
            <a:fillRect/>
          </a:stretch>
        </p:blipFill>
        <p:spPr>
          <a:xfrm>
            <a:off x="152400" y="152400"/>
            <a:ext cx="11887200" cy="609219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pic>
        <p:nvPicPr>
          <p:cNvPr id="136" name="Google Shape;136;p27"/>
          <p:cNvPicPr preferRelativeResize="0"/>
          <p:nvPr/>
        </p:nvPicPr>
        <p:blipFill>
          <a:blip r:embed="rId3">
            <a:alphaModFix/>
          </a:blip>
          <a:stretch>
            <a:fillRect/>
          </a:stretch>
        </p:blipFill>
        <p:spPr>
          <a:xfrm>
            <a:off x="152400" y="152400"/>
            <a:ext cx="11887201" cy="2698998"/>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pic>
        <p:nvPicPr>
          <p:cNvPr id="142" name="Google Shape;142;p28"/>
          <p:cNvPicPr preferRelativeResize="0"/>
          <p:nvPr/>
        </p:nvPicPr>
        <p:blipFill>
          <a:blip r:embed="rId3">
            <a:alphaModFix/>
          </a:blip>
          <a:stretch>
            <a:fillRect/>
          </a:stretch>
        </p:blipFill>
        <p:spPr>
          <a:xfrm>
            <a:off x="152400" y="152400"/>
            <a:ext cx="10922000" cy="655320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9"/>
          <p:cNvPicPr preferRelativeResize="0"/>
          <p:nvPr/>
        </p:nvPicPr>
        <p:blipFill>
          <a:blip r:embed="rId3">
            <a:alphaModFix/>
          </a:blip>
          <a:stretch>
            <a:fillRect/>
          </a:stretch>
        </p:blipFill>
        <p:spPr>
          <a:xfrm>
            <a:off x="152400" y="152400"/>
            <a:ext cx="11887200" cy="544132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pic>
        <p:nvPicPr>
          <p:cNvPr id="154" name="Google Shape;154;p30"/>
          <p:cNvPicPr preferRelativeResize="0"/>
          <p:nvPr/>
        </p:nvPicPr>
        <p:blipFill>
          <a:blip r:embed="rId3">
            <a:alphaModFix/>
          </a:blip>
          <a:stretch>
            <a:fillRect/>
          </a:stretch>
        </p:blipFill>
        <p:spPr>
          <a:xfrm>
            <a:off x="152400" y="152400"/>
            <a:ext cx="10347159" cy="6553201"/>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pic>
        <p:nvPicPr>
          <p:cNvPr id="160" name="Google Shape;160;p31"/>
          <p:cNvPicPr preferRelativeResize="0"/>
          <p:nvPr/>
        </p:nvPicPr>
        <p:blipFill>
          <a:blip r:embed="rId3">
            <a:alphaModFix/>
          </a:blip>
          <a:stretch>
            <a:fillRect/>
          </a:stretch>
        </p:blipFill>
        <p:spPr>
          <a:xfrm>
            <a:off x="152400" y="152400"/>
            <a:ext cx="11887201" cy="5943601"/>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pic>
        <p:nvPicPr>
          <p:cNvPr id="166" name="Google Shape;166;p32"/>
          <p:cNvPicPr preferRelativeResize="0"/>
          <p:nvPr/>
        </p:nvPicPr>
        <p:blipFill>
          <a:blip r:embed="rId3">
            <a:alphaModFix/>
          </a:blip>
          <a:stretch>
            <a:fillRect/>
          </a:stretch>
        </p:blipFill>
        <p:spPr>
          <a:xfrm>
            <a:off x="152400" y="152400"/>
            <a:ext cx="11650132" cy="6553199"/>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33"/>
          <p:cNvPicPr preferRelativeResize="0"/>
          <p:nvPr/>
        </p:nvPicPr>
        <p:blipFill>
          <a:blip r:embed="rId3">
            <a:alphaModFix/>
          </a:blip>
          <a:stretch>
            <a:fillRect/>
          </a:stretch>
        </p:blipFill>
        <p:spPr>
          <a:xfrm>
            <a:off x="152400" y="152400"/>
            <a:ext cx="11887202" cy="505838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7" name="Shape 177"/>
        <p:cNvGrpSpPr/>
        <p:nvPr/>
      </p:nvGrpSpPr>
      <p:grpSpPr>
        <a:xfrm>
          <a:off x="0" y="0"/>
          <a:ext cx="0" cy="0"/>
          <a:chOff x="0" y="0"/>
          <a:chExt cx="0" cy="0"/>
        </a:xfrm>
      </p:grpSpPr>
      <p:pic>
        <p:nvPicPr>
          <p:cNvPr id="178" name="Google Shape;178;p34"/>
          <p:cNvPicPr preferRelativeResize="0"/>
          <p:nvPr/>
        </p:nvPicPr>
        <p:blipFill>
          <a:blip r:embed="rId3">
            <a:alphaModFix/>
          </a:blip>
          <a:stretch>
            <a:fillRect/>
          </a:stretch>
        </p:blipFill>
        <p:spPr>
          <a:xfrm>
            <a:off x="152400" y="152400"/>
            <a:ext cx="9996408" cy="6553201"/>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 name="Shape 183"/>
        <p:cNvGrpSpPr/>
        <p:nvPr/>
      </p:nvGrpSpPr>
      <p:grpSpPr>
        <a:xfrm>
          <a:off x="0" y="0"/>
          <a:ext cx="0" cy="0"/>
          <a:chOff x="0" y="0"/>
          <a:chExt cx="0" cy="0"/>
        </a:xfrm>
      </p:grpSpPr>
      <p:pic>
        <p:nvPicPr>
          <p:cNvPr id="184" name="Google Shape;184;p35" title="Screenshot 2026-10-16 at 2.36.58 PM.png"/>
          <p:cNvPicPr preferRelativeResize="0"/>
          <p:nvPr/>
        </p:nvPicPr>
        <p:blipFill>
          <a:blip r:embed="rId3">
            <a:alphaModFix/>
          </a:blip>
          <a:stretch>
            <a:fillRect/>
          </a:stretch>
        </p:blipFill>
        <p:spPr>
          <a:xfrm>
            <a:off x="0" y="1105950"/>
            <a:ext cx="11887201" cy="5752059"/>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pic>
        <p:nvPicPr>
          <p:cNvPr id="190" name="Google Shape;190;p36"/>
          <p:cNvPicPr preferRelativeResize="0"/>
          <p:nvPr/>
        </p:nvPicPr>
        <p:blipFill>
          <a:blip r:embed="rId3">
            <a:alphaModFix/>
          </a:blip>
          <a:stretch>
            <a:fillRect/>
          </a:stretch>
        </p:blipFill>
        <p:spPr>
          <a:xfrm>
            <a:off x="152400" y="152400"/>
            <a:ext cx="11468102" cy="6553201"/>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 name="Shape 195"/>
        <p:cNvGrpSpPr/>
        <p:nvPr/>
      </p:nvGrpSpPr>
      <p:grpSpPr>
        <a:xfrm>
          <a:off x="0" y="0"/>
          <a:ext cx="0" cy="0"/>
          <a:chOff x="0" y="0"/>
          <a:chExt cx="0" cy="0"/>
        </a:xfrm>
      </p:grpSpPr>
      <p:pic>
        <p:nvPicPr>
          <p:cNvPr id="196" name="Google Shape;196;p37"/>
          <p:cNvPicPr preferRelativeResize="0"/>
          <p:nvPr/>
        </p:nvPicPr>
        <p:blipFill>
          <a:blip r:embed="rId3">
            <a:alphaModFix/>
          </a:blip>
          <a:stretch>
            <a:fillRect/>
          </a:stretch>
        </p:blipFill>
        <p:spPr>
          <a:xfrm>
            <a:off x="152400" y="152400"/>
            <a:ext cx="10267988" cy="655320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1" name="Shape 201"/>
        <p:cNvGrpSpPr/>
        <p:nvPr/>
      </p:nvGrpSpPr>
      <p:grpSpPr>
        <a:xfrm>
          <a:off x="0" y="0"/>
          <a:ext cx="0" cy="0"/>
          <a:chOff x="0" y="0"/>
          <a:chExt cx="0" cy="0"/>
        </a:xfrm>
      </p:grpSpPr>
      <p:pic>
        <p:nvPicPr>
          <p:cNvPr id="202" name="Google Shape;202;p38"/>
          <p:cNvPicPr preferRelativeResize="0"/>
          <p:nvPr/>
        </p:nvPicPr>
        <p:blipFill>
          <a:blip r:embed="rId3">
            <a:alphaModFix/>
          </a:blip>
          <a:stretch>
            <a:fillRect/>
          </a:stretch>
        </p:blipFill>
        <p:spPr>
          <a:xfrm>
            <a:off x="152400" y="152400"/>
            <a:ext cx="11887202" cy="5690682"/>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pic>
        <p:nvPicPr>
          <p:cNvPr id="208" name="Google Shape;208;p39"/>
          <p:cNvPicPr preferRelativeResize="0"/>
          <p:nvPr/>
        </p:nvPicPr>
        <p:blipFill>
          <a:blip r:embed="rId3">
            <a:alphaModFix/>
          </a:blip>
          <a:stretch>
            <a:fillRect/>
          </a:stretch>
        </p:blipFill>
        <p:spPr>
          <a:xfrm>
            <a:off x="152400" y="152400"/>
            <a:ext cx="11887202" cy="632298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pic>
        <p:nvPicPr>
          <p:cNvPr id="214" name="Google Shape;214;p40"/>
          <p:cNvPicPr preferRelativeResize="0"/>
          <p:nvPr/>
        </p:nvPicPr>
        <p:blipFill>
          <a:blip r:embed="rId3">
            <a:alphaModFix/>
          </a:blip>
          <a:stretch>
            <a:fillRect/>
          </a:stretch>
        </p:blipFill>
        <p:spPr>
          <a:xfrm>
            <a:off x="152400" y="152400"/>
            <a:ext cx="11887199" cy="6327392"/>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pic>
        <p:nvPicPr>
          <p:cNvPr id="220" name="Google Shape;220;p41"/>
          <p:cNvPicPr preferRelativeResize="0"/>
          <p:nvPr/>
        </p:nvPicPr>
        <p:blipFill>
          <a:blip r:embed="rId3">
            <a:alphaModFix/>
          </a:blip>
          <a:stretch>
            <a:fillRect/>
          </a:stretch>
        </p:blipFill>
        <p:spPr>
          <a:xfrm>
            <a:off x="152400" y="152400"/>
            <a:ext cx="11846171" cy="6553201"/>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5" name="Shape 225"/>
        <p:cNvGrpSpPr/>
        <p:nvPr/>
      </p:nvGrpSpPr>
      <p:grpSpPr>
        <a:xfrm>
          <a:off x="0" y="0"/>
          <a:ext cx="0" cy="0"/>
          <a:chOff x="0" y="0"/>
          <a:chExt cx="0" cy="0"/>
        </a:xfrm>
      </p:grpSpPr>
      <p:pic>
        <p:nvPicPr>
          <p:cNvPr id="226" name="Google Shape;226;p42" title="Screenshot 2026-10-16 at 2.41.05 PM.png"/>
          <p:cNvPicPr preferRelativeResize="0"/>
          <p:nvPr/>
        </p:nvPicPr>
        <p:blipFill>
          <a:blip r:embed="rId3">
            <a:alphaModFix/>
          </a:blip>
          <a:stretch>
            <a:fillRect/>
          </a:stretch>
        </p:blipFill>
        <p:spPr>
          <a:xfrm>
            <a:off x="152400" y="152400"/>
            <a:ext cx="11482729" cy="655320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pic>
        <p:nvPicPr>
          <p:cNvPr id="232" name="Google Shape;232;p43" title="Screenshot 2026-10-16 at 6.26.57 AM.png"/>
          <p:cNvPicPr preferRelativeResize="0"/>
          <p:nvPr/>
        </p:nvPicPr>
        <p:blipFill>
          <a:blip r:embed="rId3">
            <a:alphaModFix/>
          </a:blip>
          <a:stretch>
            <a:fillRect/>
          </a:stretch>
        </p:blipFill>
        <p:spPr>
          <a:xfrm>
            <a:off x="1340225" y="0"/>
            <a:ext cx="5431279" cy="6553198"/>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pic>
        <p:nvPicPr>
          <p:cNvPr id="238" name="Google Shape;238;p44"/>
          <p:cNvPicPr preferRelativeResize="0"/>
          <p:nvPr/>
        </p:nvPicPr>
        <p:blipFill>
          <a:blip r:embed="rId3">
            <a:alphaModFix/>
          </a:blip>
          <a:stretch>
            <a:fillRect/>
          </a:stretch>
        </p:blipFill>
        <p:spPr>
          <a:xfrm>
            <a:off x="337625" y="3240075"/>
            <a:ext cx="5134699" cy="3345400"/>
          </a:xfrm>
          <a:prstGeom prst="rect">
            <a:avLst/>
          </a:prstGeom>
          <a:noFill/>
          <a:ln>
            <a:noFill/>
          </a:ln>
        </p:spPr>
      </p:pic>
      <p:pic>
        <p:nvPicPr>
          <p:cNvPr id="239" name="Google Shape;239;p44"/>
          <p:cNvPicPr preferRelativeResize="0"/>
          <p:nvPr/>
        </p:nvPicPr>
        <p:blipFill>
          <a:blip r:embed="rId4">
            <a:alphaModFix/>
          </a:blip>
          <a:stretch>
            <a:fillRect/>
          </a:stretch>
        </p:blipFill>
        <p:spPr>
          <a:xfrm>
            <a:off x="6839852" y="1774925"/>
            <a:ext cx="4976998" cy="4895511"/>
          </a:xfrm>
          <a:prstGeom prst="rect">
            <a:avLst/>
          </a:prstGeom>
          <a:noFill/>
          <a:ln>
            <a:noFill/>
          </a:ln>
        </p:spPr>
      </p:pic>
      <p:sp>
        <p:nvSpPr>
          <p:cNvPr id="240" name="Google Shape;240;p44"/>
          <p:cNvSpPr txBox="1"/>
          <p:nvPr/>
        </p:nvSpPr>
        <p:spPr>
          <a:xfrm>
            <a:off x="3997575" y="504100"/>
            <a:ext cx="67524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PDF+Chunk =&gt;LLM=&gt; annotated with </a:t>
            </a:r>
            <a:r>
              <a:rPr lang="en-US"/>
              <a:t>summary. Does this work? No</a:t>
            </a:r>
            <a:endParaRPr/>
          </a:p>
        </p:txBody>
      </p:sp>
      <p:pic>
        <p:nvPicPr>
          <p:cNvPr id="241" name="Google Shape;241;p44"/>
          <p:cNvPicPr preferRelativeResize="0"/>
          <p:nvPr/>
        </p:nvPicPr>
        <p:blipFill>
          <a:blip r:embed="rId5">
            <a:alphaModFix/>
          </a:blip>
          <a:stretch>
            <a:fillRect/>
          </a:stretch>
        </p:blipFill>
        <p:spPr>
          <a:xfrm>
            <a:off x="1733450" y="1863125"/>
            <a:ext cx="1094625" cy="1246825"/>
          </a:xfrm>
          <a:prstGeom prst="rect">
            <a:avLst/>
          </a:prstGeom>
          <a:noFill/>
          <a:ln>
            <a:noFill/>
          </a:ln>
        </p:spPr>
      </p:pic>
      <p:pic>
        <p:nvPicPr>
          <p:cNvPr id="242" name="Google Shape;242;p44" title="Screenshot 2026-10-19 at 5.12.57 PM.png"/>
          <p:cNvPicPr preferRelativeResize="0"/>
          <p:nvPr/>
        </p:nvPicPr>
        <p:blipFill>
          <a:blip r:embed="rId6">
            <a:alphaModFix/>
          </a:blip>
          <a:stretch>
            <a:fillRect/>
          </a:stretch>
        </p:blipFill>
        <p:spPr>
          <a:xfrm>
            <a:off x="4784049" y="1647851"/>
            <a:ext cx="1385951" cy="139792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45"/>
          <p:cNvSpPr txBox="1"/>
          <p:nvPr/>
        </p:nvSpPr>
        <p:spPr>
          <a:xfrm>
            <a:off x="2482925" y="456500"/>
            <a:ext cx="5747100" cy="2955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800"/>
              <a:t>WHY?</a:t>
            </a:r>
            <a:endParaRPr sz="1800"/>
          </a:p>
          <a:p>
            <a:pPr indent="0" lvl="0" marL="0" rtl="0" algn="l">
              <a:spcBef>
                <a:spcPts val="0"/>
              </a:spcBef>
              <a:spcAft>
                <a:spcPts val="0"/>
              </a:spcAft>
              <a:buNone/>
            </a:pPr>
            <a:r>
              <a:t/>
            </a:r>
            <a:endParaRPr sz="1800"/>
          </a:p>
          <a:p>
            <a:pPr indent="-342900" lvl="0" marL="457200" rtl="0" algn="l">
              <a:spcBef>
                <a:spcPts val="0"/>
              </a:spcBef>
              <a:spcAft>
                <a:spcPts val="0"/>
              </a:spcAft>
              <a:buSzPts val="1800"/>
              <a:buAutoNum type="arabicParenR"/>
            </a:pPr>
            <a:r>
              <a:rPr lang="en-US" sz="1800"/>
              <a:t>Why do we do this in the first place? </a:t>
            </a:r>
            <a:endParaRPr sz="1800"/>
          </a:p>
          <a:p>
            <a:pPr indent="0" lvl="0" marL="914400" rtl="0" algn="l">
              <a:spcBef>
                <a:spcPts val="0"/>
              </a:spcBef>
              <a:spcAft>
                <a:spcPts val="0"/>
              </a:spcAft>
              <a:buNone/>
            </a:pPr>
            <a:r>
              <a:rPr lang="en-US" sz="1800"/>
              <a:t>Because many documents have TOC or Index sections</a:t>
            </a:r>
            <a:endParaRPr sz="1800"/>
          </a:p>
          <a:p>
            <a:pPr indent="0" lvl="0" marL="914400" rtl="0" algn="l">
              <a:spcBef>
                <a:spcPts val="0"/>
              </a:spcBef>
              <a:spcAft>
                <a:spcPts val="0"/>
              </a:spcAft>
              <a:buNone/>
            </a:pPr>
            <a:r>
              <a:rPr lang="en-US" sz="1800"/>
              <a:t>They are all the same</a:t>
            </a:r>
            <a:endParaRPr sz="1800"/>
          </a:p>
          <a:p>
            <a:pPr indent="-342900" lvl="0" marL="457200" rtl="0" algn="l">
              <a:spcBef>
                <a:spcPts val="0"/>
              </a:spcBef>
              <a:spcAft>
                <a:spcPts val="0"/>
              </a:spcAft>
              <a:buSzPts val="1800"/>
              <a:buAutoNum type="arabicParenR"/>
            </a:pPr>
            <a:r>
              <a:rPr lang="en-US" sz="1800"/>
              <a:t>Boilerplate has no new information. Noise in index. Many TOC entries in the end or beginning of the db </a:t>
            </a:r>
            <a:r>
              <a:rPr lang="en-US" sz="1800"/>
              <a:t>index</a:t>
            </a:r>
            <a:r>
              <a:rPr lang="en-US" sz="1800"/>
              <a:t> which can translate to the beginning or end of LLM context window. </a:t>
            </a:r>
            <a:endParaRPr sz="1800"/>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3" name="Shape 253"/>
        <p:cNvGrpSpPr/>
        <p:nvPr/>
      </p:nvGrpSpPr>
      <p:grpSpPr>
        <a:xfrm>
          <a:off x="0" y="0"/>
          <a:ext cx="0" cy="0"/>
          <a:chOff x="0" y="0"/>
          <a:chExt cx="0" cy="0"/>
        </a:xfrm>
      </p:grpSpPr>
      <p:sp>
        <p:nvSpPr>
          <p:cNvPr id="254" name="Google Shape;254;p46"/>
          <p:cNvSpPr txBox="1"/>
          <p:nvPr/>
        </p:nvSpPr>
        <p:spPr>
          <a:xfrm>
            <a:off x="779325" y="714500"/>
            <a:ext cx="3362700" cy="831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2100"/>
              <a:t>Figures and tables in pdfs. Extract as 1 unit/(Figs) </a:t>
            </a:r>
            <a:endParaRPr sz="2100"/>
          </a:p>
        </p:txBody>
      </p:sp>
      <p:pic>
        <p:nvPicPr>
          <p:cNvPr id="255" name="Google Shape;255;p46"/>
          <p:cNvPicPr preferRelativeResize="0"/>
          <p:nvPr/>
        </p:nvPicPr>
        <p:blipFill>
          <a:blip r:embed="rId3">
            <a:alphaModFix/>
          </a:blip>
          <a:stretch>
            <a:fillRect/>
          </a:stretch>
        </p:blipFill>
        <p:spPr>
          <a:xfrm>
            <a:off x="6178050" y="1408375"/>
            <a:ext cx="5293475" cy="5449625"/>
          </a:xfrm>
          <a:prstGeom prst="rect">
            <a:avLst/>
          </a:prstGeom>
          <a:noFill/>
          <a:ln>
            <a:noFill/>
          </a:ln>
        </p:spPr>
      </p:pic>
      <p:pic>
        <p:nvPicPr>
          <p:cNvPr id="256" name="Google Shape;256;p46"/>
          <p:cNvPicPr preferRelativeResize="0"/>
          <p:nvPr/>
        </p:nvPicPr>
        <p:blipFill>
          <a:blip r:embed="rId4">
            <a:alphaModFix/>
          </a:blip>
          <a:stretch>
            <a:fillRect/>
          </a:stretch>
        </p:blipFill>
        <p:spPr>
          <a:xfrm>
            <a:off x="117225" y="2053150"/>
            <a:ext cx="5873252" cy="3290152"/>
          </a:xfrm>
          <a:prstGeom prst="rect">
            <a:avLst/>
          </a:prstGeom>
          <a:noFill/>
          <a:ln>
            <a:noFill/>
          </a:ln>
        </p:spPr>
      </p:pic>
      <p:sp>
        <p:nvSpPr>
          <p:cNvPr id="257" name="Google Shape;257;p46"/>
          <p:cNvSpPr txBox="1"/>
          <p:nvPr/>
        </p:nvSpPr>
        <p:spPr>
          <a:xfrm>
            <a:off x="6825300" y="746000"/>
            <a:ext cx="53889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2200"/>
          </a:p>
        </p:txBody>
      </p:sp>
      <p:sp>
        <p:nvSpPr>
          <p:cNvPr id="258" name="Google Shape;258;p46"/>
          <p:cNvSpPr txBox="1"/>
          <p:nvPr/>
        </p:nvSpPr>
        <p:spPr>
          <a:xfrm>
            <a:off x="6524675" y="545575"/>
            <a:ext cx="4230900" cy="507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2100"/>
              <a:t>Fig Output of Docling Parser</a:t>
            </a:r>
            <a:endParaRPr sz="2100"/>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3" name="Shape 263"/>
        <p:cNvGrpSpPr/>
        <p:nvPr/>
      </p:nvGrpSpPr>
      <p:grpSpPr>
        <a:xfrm>
          <a:off x="0" y="0"/>
          <a:ext cx="0" cy="0"/>
          <a:chOff x="0" y="0"/>
          <a:chExt cx="0" cy="0"/>
        </a:xfrm>
      </p:grpSpPr>
      <p:pic>
        <p:nvPicPr>
          <p:cNvPr id="264" name="Google Shape;264;p47"/>
          <p:cNvPicPr preferRelativeResize="0"/>
          <p:nvPr/>
        </p:nvPicPr>
        <p:blipFill>
          <a:blip r:embed="rId3">
            <a:alphaModFix/>
          </a:blip>
          <a:stretch>
            <a:fillRect/>
          </a:stretch>
        </p:blipFill>
        <p:spPr>
          <a:xfrm>
            <a:off x="163550" y="2861500"/>
            <a:ext cx="5158150" cy="3639325"/>
          </a:xfrm>
          <a:prstGeom prst="rect">
            <a:avLst/>
          </a:prstGeom>
          <a:noFill/>
          <a:ln>
            <a:noFill/>
          </a:ln>
        </p:spPr>
      </p:pic>
      <p:sp>
        <p:nvSpPr>
          <p:cNvPr id="265" name="Google Shape;265;p47"/>
          <p:cNvSpPr txBox="1"/>
          <p:nvPr/>
        </p:nvSpPr>
        <p:spPr>
          <a:xfrm>
            <a:off x="6569850" y="2172200"/>
            <a:ext cx="4501800" cy="196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050">
                <a:solidFill>
                  <a:srgbClr val="BCEBE1"/>
                </a:solidFill>
                <a:highlight>
                  <a:srgbClr val="0D2B28"/>
                </a:highlight>
              </a:rPr>
              <a:t>This is Figure 2 on page 5 of the "Harnessing growth in workforce benefits: the next horizon" report (2025 Workforce Benefits Study). It sits in the section on the gig economy stabilizing post-pandemic, and Figure 3 on employer use of freelancers appears beside it. The figure is a stacked bar chart of worker participation in freelance or gig work, comparing the 2023 and 2025 surveys. It splits workers into those who freelance full or part time (34% in 2023, 23% in 2025) and those who do not freelance or have a gig job (66% in 2023, 77% in 2025). The survey question asks about current work arrangement beyond or instead of traditional W-2 employment. The page text uses the figure to show gig participation trending downward.</a:t>
            </a:r>
            <a:endParaRPr/>
          </a:p>
        </p:txBody>
      </p:sp>
      <p:sp>
        <p:nvSpPr>
          <p:cNvPr id="266" name="Google Shape;266;p47"/>
          <p:cNvSpPr txBox="1"/>
          <p:nvPr/>
        </p:nvSpPr>
        <p:spPr>
          <a:xfrm>
            <a:off x="6569850" y="4668050"/>
            <a:ext cx="5647800" cy="1908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There is png and html. Why did we bother to extract to html? Because we can </a:t>
            </a:r>
            <a:r>
              <a:rPr lang="en-US"/>
              <a:t>reorder</a:t>
            </a:r>
            <a:r>
              <a:rPr lang="en-US"/>
              <a:t> the rows in html.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a:t>
            </a:r>
            <a:r>
              <a:rPr lang="en-US"/>
              <a:t>e can add charts and figs to a db as a structured object and </a:t>
            </a:r>
            <a:endParaRPr/>
          </a:p>
          <a:p>
            <a:pPr indent="0" lvl="0" marL="0" rtl="0" algn="l">
              <a:spcBef>
                <a:spcPts val="0"/>
              </a:spcBef>
              <a:spcAft>
                <a:spcPts val="0"/>
              </a:spcAft>
              <a:buNone/>
            </a:pPr>
            <a:r>
              <a:rPr lang="en-US"/>
              <a:t>use structured search.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Translate to table 2nd part of fig. Tables can be used in structured search</a:t>
            </a:r>
            <a:endParaRPr/>
          </a:p>
        </p:txBody>
      </p:sp>
      <p:pic>
        <p:nvPicPr>
          <p:cNvPr id="267" name="Google Shape;267;p47"/>
          <p:cNvPicPr preferRelativeResize="0"/>
          <p:nvPr/>
        </p:nvPicPr>
        <p:blipFill>
          <a:blip r:embed="rId4">
            <a:alphaModFix/>
          </a:blip>
          <a:stretch>
            <a:fillRect/>
          </a:stretch>
        </p:blipFill>
        <p:spPr>
          <a:xfrm>
            <a:off x="998575" y="1406625"/>
            <a:ext cx="1094625" cy="1246825"/>
          </a:xfrm>
          <a:prstGeom prst="rect">
            <a:avLst/>
          </a:prstGeom>
          <a:noFill/>
          <a:ln>
            <a:noFill/>
          </a:ln>
        </p:spPr>
      </p:pic>
      <p:pic>
        <p:nvPicPr>
          <p:cNvPr id="268" name="Google Shape;268;p47" title="Screenshot 2026-10-19 at 5.12.57 PM.png"/>
          <p:cNvPicPr preferRelativeResize="0"/>
          <p:nvPr/>
        </p:nvPicPr>
        <p:blipFill>
          <a:blip r:embed="rId5">
            <a:alphaModFix/>
          </a:blip>
          <a:stretch>
            <a:fillRect/>
          </a:stretch>
        </p:blipFill>
        <p:spPr>
          <a:xfrm>
            <a:off x="3425674" y="1202476"/>
            <a:ext cx="1385951" cy="1397925"/>
          </a:xfrm>
          <a:prstGeom prst="rect">
            <a:avLst/>
          </a:prstGeom>
          <a:noFill/>
          <a:ln>
            <a:noFill/>
          </a:ln>
        </p:spPr>
      </p:pic>
      <p:sp>
        <p:nvSpPr>
          <p:cNvPr id="269" name="Google Shape;269;p47"/>
          <p:cNvSpPr txBox="1"/>
          <p:nvPr/>
        </p:nvSpPr>
        <p:spPr>
          <a:xfrm>
            <a:off x="6655200" y="4201325"/>
            <a:ext cx="43311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LanceDB</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pic>
        <p:nvPicPr>
          <p:cNvPr id="275" name="Google Shape;275;p48"/>
          <p:cNvPicPr preferRelativeResize="0"/>
          <p:nvPr/>
        </p:nvPicPr>
        <p:blipFill>
          <a:blip r:embed="rId3">
            <a:alphaModFix/>
          </a:blip>
          <a:stretch>
            <a:fillRect/>
          </a:stretch>
        </p:blipFill>
        <p:spPr>
          <a:xfrm>
            <a:off x="152400" y="152400"/>
            <a:ext cx="6501724" cy="6553198"/>
          </a:xfrm>
          <a:prstGeom prst="rect">
            <a:avLst/>
          </a:prstGeom>
          <a:noFill/>
          <a:ln>
            <a:noFill/>
          </a:ln>
        </p:spPr>
      </p:pic>
      <p:pic>
        <p:nvPicPr>
          <p:cNvPr id="276" name="Google Shape;276;p48"/>
          <p:cNvPicPr preferRelativeResize="0"/>
          <p:nvPr/>
        </p:nvPicPr>
        <p:blipFill>
          <a:blip r:embed="rId4">
            <a:alphaModFix/>
          </a:blip>
          <a:stretch>
            <a:fillRect/>
          </a:stretch>
        </p:blipFill>
        <p:spPr>
          <a:xfrm>
            <a:off x="6958924" y="1908050"/>
            <a:ext cx="5233077" cy="2840005"/>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pic>
        <p:nvPicPr>
          <p:cNvPr id="282" name="Google Shape;282;p49"/>
          <p:cNvPicPr preferRelativeResize="0"/>
          <p:nvPr/>
        </p:nvPicPr>
        <p:blipFill>
          <a:blip r:embed="rId3">
            <a:alphaModFix/>
          </a:blip>
          <a:stretch>
            <a:fillRect/>
          </a:stretch>
        </p:blipFill>
        <p:spPr>
          <a:xfrm>
            <a:off x="1622125" y="1097925"/>
            <a:ext cx="3466226" cy="4565050"/>
          </a:xfrm>
          <a:prstGeom prst="rect">
            <a:avLst/>
          </a:prstGeom>
          <a:noFill/>
          <a:ln>
            <a:noFill/>
          </a:ln>
        </p:spPr>
      </p:pic>
      <p:pic>
        <p:nvPicPr>
          <p:cNvPr id="283" name="Google Shape;283;p49"/>
          <p:cNvPicPr preferRelativeResize="0"/>
          <p:nvPr/>
        </p:nvPicPr>
        <p:blipFill>
          <a:blip r:embed="rId4">
            <a:alphaModFix/>
          </a:blip>
          <a:stretch>
            <a:fillRect/>
          </a:stretch>
        </p:blipFill>
        <p:spPr>
          <a:xfrm>
            <a:off x="5218476" y="2282963"/>
            <a:ext cx="6798850" cy="2292073"/>
          </a:xfrm>
          <a:prstGeom prst="rect">
            <a:avLst/>
          </a:prstGeom>
          <a:noFill/>
          <a:ln>
            <a:noFill/>
          </a:ln>
        </p:spPr>
      </p:pic>
      <p:sp>
        <p:nvSpPr>
          <p:cNvPr id="284" name="Google Shape;284;p49"/>
          <p:cNvSpPr txBox="1"/>
          <p:nvPr/>
        </p:nvSpPr>
        <p:spPr>
          <a:xfrm>
            <a:off x="5856625" y="1035475"/>
            <a:ext cx="63576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bad headers</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9" name="Shape 289"/>
        <p:cNvGrpSpPr/>
        <p:nvPr/>
      </p:nvGrpSpPr>
      <p:grpSpPr>
        <a:xfrm>
          <a:off x="0" y="0"/>
          <a:ext cx="0" cy="0"/>
          <a:chOff x="0" y="0"/>
          <a:chExt cx="0" cy="0"/>
        </a:xfrm>
      </p:grpSpPr>
      <p:pic>
        <p:nvPicPr>
          <p:cNvPr id="290" name="Google Shape;290;p50"/>
          <p:cNvPicPr preferRelativeResize="0"/>
          <p:nvPr/>
        </p:nvPicPr>
        <p:blipFill>
          <a:blip r:embed="rId3">
            <a:alphaModFix/>
          </a:blip>
          <a:stretch>
            <a:fillRect/>
          </a:stretch>
        </p:blipFill>
        <p:spPr>
          <a:xfrm>
            <a:off x="1432825" y="1599825"/>
            <a:ext cx="7943850" cy="3314700"/>
          </a:xfrm>
          <a:prstGeom prst="rect">
            <a:avLst/>
          </a:prstGeom>
          <a:noFill/>
          <a:ln>
            <a:noFill/>
          </a:ln>
        </p:spPr>
      </p:pic>
      <p:sp>
        <p:nvSpPr>
          <p:cNvPr id="291" name="Google Shape;291;p50"/>
          <p:cNvSpPr txBox="1"/>
          <p:nvPr/>
        </p:nvSpPr>
        <p:spPr>
          <a:xfrm>
            <a:off x="2137775" y="5393325"/>
            <a:ext cx="5177400" cy="1200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100">
                <a:solidFill>
                  <a:srgbClr val="188038"/>
                </a:solidFill>
                <a:latin typeface="Roboto Mono"/>
                <a:ea typeface="Roboto Mono"/>
                <a:cs typeface="Roboto Mono"/>
                <a:sym typeface="Roboto Mono"/>
              </a:rPr>
              <a:t>doc-925d61c412d6</a:t>
            </a:r>
            <a:r>
              <a:rPr lang="en-US" sz="1100">
                <a:solidFill>
                  <a:schemeClr val="dk1"/>
                </a:solidFill>
              </a:rPr>
              <a:t> — Kentucky application, one person</a:t>
            </a:r>
            <a:endParaRPr sz="1100">
              <a:solidFill>
                <a:schemeClr val="dk1"/>
              </a:solidFill>
            </a:endParaRPr>
          </a:p>
          <a:p>
            <a:pPr indent="0" lvl="0" marL="0" rtl="0" algn="l">
              <a:spcBef>
                <a:spcPts val="0"/>
              </a:spcBef>
              <a:spcAft>
                <a:spcPts val="0"/>
              </a:spcAft>
              <a:buNone/>
            </a:pPr>
            <a:r>
              <a:rPr lang="en-US" sz="1100">
                <a:solidFill>
                  <a:srgbClr val="188038"/>
                </a:solidFill>
                <a:latin typeface="Roboto Mono"/>
                <a:ea typeface="Roboto Mono"/>
                <a:cs typeface="Roboto Mono"/>
                <a:sym typeface="Roboto Mono"/>
              </a:rPr>
              <a:t>doc-cfb6d2204f32</a:t>
            </a:r>
            <a:r>
              <a:rPr lang="en-US" sz="1100">
                <a:solidFill>
                  <a:schemeClr val="dk1"/>
                </a:solidFill>
              </a:rPr>
              <a:t> — Kentucky application, family</a:t>
            </a:r>
            <a:endParaRPr sz="1100">
              <a:solidFill>
                <a:schemeClr val="dk1"/>
              </a:solidFill>
            </a:endParaRPr>
          </a:p>
          <a:p>
            <a:pPr indent="0" lvl="0" marL="0" rtl="0" algn="l">
              <a:spcBef>
                <a:spcPts val="0"/>
              </a:spcBef>
              <a:spcAft>
                <a:spcPts val="0"/>
              </a:spcAft>
              <a:buNone/>
            </a:pPr>
            <a:r>
              <a:rPr lang="en-US" sz="1100">
                <a:solidFill>
                  <a:srgbClr val="188038"/>
                </a:solidFill>
                <a:latin typeface="Roboto Mono"/>
                <a:ea typeface="Roboto Mono"/>
                <a:cs typeface="Roboto Mono"/>
                <a:sym typeface="Roboto Mono"/>
              </a:rPr>
              <a:t>doc-3409df3900e3</a:t>
            </a:r>
            <a:r>
              <a:rPr lang="en-US" sz="1100">
                <a:solidFill>
                  <a:schemeClr val="dk1"/>
                </a:solidFill>
              </a:rPr>
              <a:t> — Missouri health-coverage application</a:t>
            </a:r>
            <a:endParaRPr sz="1100">
              <a:solidFill>
                <a:schemeClr val="dk1"/>
              </a:solidFill>
            </a:endParaRPr>
          </a:p>
          <a:p>
            <a:pPr indent="0" lvl="0" marL="0" rtl="0" algn="l">
              <a:spcBef>
                <a:spcPts val="0"/>
              </a:spcBef>
              <a:spcAft>
                <a:spcPts val="0"/>
              </a:spcAft>
              <a:buNone/>
            </a:pPr>
            <a:r>
              <a:rPr lang="en-US" sz="1100">
                <a:solidFill>
                  <a:srgbClr val="188038"/>
                </a:solidFill>
                <a:latin typeface="Roboto Mono"/>
                <a:ea typeface="Roboto Mono"/>
                <a:cs typeface="Roboto Mono"/>
                <a:sym typeface="Roboto Mono"/>
              </a:rPr>
              <a:t>doc-08754ed1a8a8</a:t>
            </a:r>
            <a:r>
              <a:rPr lang="en-US" sz="1100">
                <a:solidFill>
                  <a:schemeClr val="dk1"/>
                </a:solidFill>
              </a:rPr>
              <a:t> — Spanish Missouri health-coverage application</a:t>
            </a:r>
            <a:endParaRPr sz="1100">
              <a:solidFill>
                <a:schemeClr val="dk1"/>
              </a:solidFill>
            </a:endParaRPr>
          </a:p>
          <a:p>
            <a:pPr indent="0" lvl="0" marL="0" rtl="0" algn="l">
              <a:spcBef>
                <a:spcPts val="0"/>
              </a:spcBef>
              <a:spcAft>
                <a:spcPts val="0"/>
              </a:spcAft>
              <a:buNone/>
            </a:pPr>
            <a:r>
              <a:rPr lang="en-US" sz="1100">
                <a:solidFill>
                  <a:srgbClr val="188038"/>
                </a:solidFill>
                <a:latin typeface="Roboto Mono"/>
                <a:ea typeface="Roboto Mono"/>
                <a:cs typeface="Roboto Mono"/>
                <a:sym typeface="Roboto Mono"/>
              </a:rPr>
              <a:t>doc-e7bd4b9ae4bf</a:t>
            </a:r>
            <a:r>
              <a:rPr lang="en-US" sz="1100">
                <a:solidFill>
                  <a:schemeClr val="dk1"/>
                </a:solidFill>
              </a:rPr>
              <a:t> — Spanish aged/blind/disabled supplement</a:t>
            </a:r>
            <a:endParaRPr sz="1100">
              <a:solidFill>
                <a:schemeClr val="dk1"/>
              </a:solidFill>
            </a:endParaRPr>
          </a:p>
          <a:p>
            <a:pPr indent="0" lvl="0" marL="0" rtl="0" algn="l">
              <a:spcBef>
                <a:spcPts val="0"/>
              </a:spcBef>
              <a:spcAft>
                <a:spcPts val="0"/>
              </a:spcAft>
              <a:buNone/>
            </a:pPr>
            <a:r>
              <a:rPr lang="en-US" sz="1100">
                <a:solidFill>
                  <a:srgbClr val="188038"/>
                </a:solidFill>
                <a:latin typeface="Roboto Mono"/>
                <a:ea typeface="Roboto Mono"/>
                <a:cs typeface="Roboto Mono"/>
                <a:sym typeface="Roboto Mono"/>
              </a:rPr>
              <a:t>doc-b1682e9dbc26</a:t>
            </a:r>
            <a:r>
              <a:rPr lang="en-US" sz="1100">
                <a:solidFill>
                  <a:schemeClr val="dk1"/>
                </a:solidFill>
              </a:rPr>
              <a:t> — Ohio Medicaid authorized-representative form</a:t>
            </a:r>
            <a:endParaRPr sz="1100">
              <a:solidFill>
                <a:schemeClr val="dk1"/>
              </a:solidFill>
            </a:endParaRPr>
          </a:p>
        </p:txBody>
      </p:sp>
      <p:sp>
        <p:nvSpPr>
          <p:cNvPr id="292" name="Google Shape;292;p50"/>
          <p:cNvSpPr txBox="1"/>
          <p:nvPr/>
        </p:nvSpPr>
        <p:spPr>
          <a:xfrm>
            <a:off x="4253275" y="901875"/>
            <a:ext cx="64134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forms do not chunk</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51"/>
          <p:cNvSpPr txBox="1"/>
          <p:nvPr/>
        </p:nvSpPr>
        <p:spPr>
          <a:xfrm>
            <a:off x="5890000" y="0"/>
            <a:ext cx="64134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adding context </a:t>
            </a:r>
            <a:endParaRPr/>
          </a:p>
        </p:txBody>
      </p:sp>
      <p:pic>
        <p:nvPicPr>
          <p:cNvPr id="299" name="Google Shape;299;p51"/>
          <p:cNvPicPr preferRelativeResize="0"/>
          <p:nvPr/>
        </p:nvPicPr>
        <p:blipFill>
          <a:blip r:embed="rId3">
            <a:alphaModFix/>
          </a:blip>
          <a:stretch>
            <a:fillRect/>
          </a:stretch>
        </p:blipFill>
        <p:spPr>
          <a:xfrm>
            <a:off x="193450" y="62675"/>
            <a:ext cx="5322260" cy="5373600"/>
          </a:xfrm>
          <a:prstGeom prst="rect">
            <a:avLst/>
          </a:prstGeom>
          <a:noFill/>
          <a:ln>
            <a:noFill/>
          </a:ln>
        </p:spPr>
      </p:pic>
      <p:pic>
        <p:nvPicPr>
          <p:cNvPr id="300" name="Google Shape;300;p51"/>
          <p:cNvPicPr preferRelativeResize="0"/>
          <p:nvPr/>
        </p:nvPicPr>
        <p:blipFill>
          <a:blip r:embed="rId4">
            <a:alphaModFix/>
          </a:blip>
          <a:stretch>
            <a:fillRect/>
          </a:stretch>
        </p:blipFill>
        <p:spPr>
          <a:xfrm>
            <a:off x="5515710" y="775275"/>
            <a:ext cx="6412540" cy="2991084"/>
          </a:xfrm>
          <a:prstGeom prst="rect">
            <a:avLst/>
          </a:prstGeom>
          <a:noFill/>
          <a:ln>
            <a:noFill/>
          </a:ln>
        </p:spPr>
      </p:pic>
      <p:pic>
        <p:nvPicPr>
          <p:cNvPr id="301" name="Google Shape;301;p51"/>
          <p:cNvPicPr preferRelativeResize="0"/>
          <p:nvPr/>
        </p:nvPicPr>
        <p:blipFill>
          <a:blip r:embed="rId5">
            <a:alphaModFix/>
          </a:blip>
          <a:stretch>
            <a:fillRect/>
          </a:stretch>
        </p:blipFill>
        <p:spPr>
          <a:xfrm>
            <a:off x="0" y="5318275"/>
            <a:ext cx="15280348" cy="1440650"/>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6" name="Shape 306"/>
        <p:cNvGrpSpPr/>
        <p:nvPr/>
      </p:nvGrpSpPr>
      <p:grpSpPr>
        <a:xfrm>
          <a:off x="0" y="0"/>
          <a:ext cx="0" cy="0"/>
          <a:chOff x="0" y="0"/>
          <a:chExt cx="0" cy="0"/>
        </a:xfrm>
      </p:grpSpPr>
      <p:pic>
        <p:nvPicPr>
          <p:cNvPr id="307" name="Google Shape;307;p52"/>
          <p:cNvPicPr preferRelativeResize="0"/>
          <p:nvPr/>
        </p:nvPicPr>
        <p:blipFill>
          <a:blip r:embed="rId3">
            <a:alphaModFix/>
          </a:blip>
          <a:stretch>
            <a:fillRect/>
          </a:stretch>
        </p:blipFill>
        <p:spPr>
          <a:xfrm>
            <a:off x="63325" y="1480875"/>
            <a:ext cx="5926899" cy="4089049"/>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2" name="Shape 312"/>
        <p:cNvGrpSpPr/>
        <p:nvPr/>
      </p:nvGrpSpPr>
      <p:grpSpPr>
        <a:xfrm>
          <a:off x="0" y="0"/>
          <a:ext cx="0" cy="0"/>
          <a:chOff x="0" y="0"/>
          <a:chExt cx="0" cy="0"/>
        </a:xfrm>
      </p:grpSpPr>
      <p:sp>
        <p:nvSpPr>
          <p:cNvPr id="313" name="Google Shape;313;p53"/>
          <p:cNvSpPr txBox="1"/>
          <p:nvPr/>
        </p:nvSpPr>
        <p:spPr>
          <a:xfrm>
            <a:off x="1781900" y="1101975"/>
            <a:ext cx="67524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tuning ragas and jev</a:t>
            </a:r>
            <a:endParaRPr/>
          </a:p>
        </p:txBody>
      </p:sp>
      <p:sp>
        <p:nvSpPr>
          <p:cNvPr id="314" name="Google Shape;314;p53"/>
          <p:cNvSpPr txBox="1"/>
          <p:nvPr/>
        </p:nvSpPr>
        <p:spPr>
          <a:xfrm>
            <a:off x="7549050" y="2093225"/>
            <a:ext cx="3000000" cy="1477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{"user_input":"What percentage of adults in the HAC employer-plan population have high SDOH risk, and how are these risks distributed among social isolation, housing, food, and financial factors?"}</a:t>
            </a:r>
            <a:endParaRPr/>
          </a:p>
        </p:txBody>
      </p:sp>
      <p:sp>
        <p:nvSpPr>
          <p:cNvPr id="315" name="Google Shape;315;p53"/>
          <p:cNvSpPr txBox="1"/>
          <p:nvPr/>
        </p:nvSpPr>
        <p:spPr>
          <a:xfrm>
            <a:off x="1258150" y="2254400"/>
            <a:ext cx="3000000" cy="1639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lang="en-US"/>
              <a:t>What percentage of adults have high social determinants of health (SDOH) risk and how are these risks distributed? Supposed to be benefits research but is classified as population health. </a:t>
            </a:r>
            <a:endParaRPr/>
          </a:p>
        </p:txBody>
      </p:sp>
      <p:sp>
        <p:nvSpPr>
          <p:cNvPr id="316" name="Google Shape;316;p53"/>
          <p:cNvSpPr txBox="1"/>
          <p:nvPr/>
        </p:nvSpPr>
        <p:spPr>
          <a:xfrm>
            <a:off x="2260250" y="4542800"/>
            <a:ext cx="64134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underspecified ragas query</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1" name="Shape 321"/>
        <p:cNvGrpSpPr/>
        <p:nvPr/>
      </p:nvGrpSpPr>
      <p:grpSpPr>
        <a:xfrm>
          <a:off x="0" y="0"/>
          <a:ext cx="0" cy="0"/>
          <a:chOff x="0" y="0"/>
          <a:chExt cx="0" cy="0"/>
        </a:xfrm>
      </p:grpSpPr>
      <p:sp>
        <p:nvSpPr>
          <p:cNvPr id="322" name="Google Shape;322;p54"/>
          <p:cNvSpPr txBox="1"/>
          <p:nvPr/>
        </p:nvSpPr>
        <p:spPr>
          <a:xfrm>
            <a:off x="267250" y="623500"/>
            <a:ext cx="6413400" cy="1793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Clr>
                <a:schemeClr val="dk1"/>
              </a:buClr>
              <a:buSzPts val="1100"/>
              <a:buFont typeface="Arial"/>
              <a:buNone/>
            </a:pPr>
            <a:r>
              <a:rPr lang="en-US"/>
              <a:t>how to fix jev routing errors: 1) Which groups of Medicare beneficiaries are most likely to experience problems affording prescription medications? routed as population health should be research, 2) What are the cardiovascular and metabolic benefits of playing Pickleball regularly for middle-aged and older adults? routed as clinical guidance should be research,</a:t>
            </a:r>
            <a:endParaRPr/>
          </a:p>
          <a:p>
            <a:pPr indent="0" lvl="0" marL="0" rtl="0" algn="l">
              <a:spcBef>
                <a:spcPts val="1200"/>
              </a:spcBef>
              <a:spcAft>
                <a:spcPts val="0"/>
              </a:spcAft>
              <a:buNone/>
            </a:pPr>
            <a:r>
              <a:t/>
            </a:r>
            <a:endParaRPr/>
          </a:p>
        </p:txBody>
      </p:sp>
      <p:sp>
        <p:nvSpPr>
          <p:cNvPr id="323" name="Google Shape;323;p54"/>
          <p:cNvSpPr txBox="1"/>
          <p:nvPr/>
        </p:nvSpPr>
        <p:spPr>
          <a:xfrm>
            <a:off x="423100" y="2416600"/>
            <a:ext cx="6413400" cy="169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US"/>
              <a:t>- Which groups of Medicare beneficiaries are most likely to experience</a:t>
            </a:r>
            <a:endParaRPr/>
          </a:p>
          <a:p>
            <a:pPr indent="0" lvl="0" marL="0" rtl="0" algn="l">
              <a:spcBef>
                <a:spcPts val="0"/>
              </a:spcBef>
              <a:spcAft>
                <a:spcPts val="0"/>
              </a:spcAft>
              <a:buClr>
                <a:schemeClr val="dk1"/>
              </a:buClr>
              <a:buSzPts val="1100"/>
              <a:buFont typeface="Arial"/>
              <a:buNone/>
            </a:pPr>
            <a:r>
              <a:rPr lang="en-US"/>
              <a:t>- problems affording prescription medications?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 According to the ASPE data-point analysis, which groups of Medicare</a:t>
            </a:r>
            <a:endParaRPr/>
          </a:p>
          <a:p>
            <a:pPr indent="0" lvl="0" marL="0" rtl="0" algn="l">
              <a:spcBef>
                <a:spcPts val="0"/>
              </a:spcBef>
              <a:spcAft>
                <a:spcPts val="0"/>
              </a:spcAft>
              <a:buClr>
                <a:schemeClr val="dk1"/>
              </a:buClr>
              <a:buSzPts val="1100"/>
              <a:buFont typeface="Arial"/>
              <a:buNone/>
            </a:pPr>
            <a:r>
              <a:rPr lang="en-US"/>
              <a:t>+ beneficiaries are most likely to experience problems affording</a:t>
            </a:r>
            <a:endParaRPr/>
          </a:p>
          <a:p>
            <a:pPr indent="0" lvl="0" marL="0" rtl="0" algn="l">
              <a:spcBef>
                <a:spcPts val="0"/>
              </a:spcBef>
              <a:spcAft>
                <a:spcPts val="0"/>
              </a:spcAft>
              <a:buClr>
                <a:schemeClr val="dk1"/>
              </a:buClr>
              <a:buSzPts val="1100"/>
              <a:buFont typeface="Arial"/>
              <a:buNone/>
            </a:pPr>
            <a:r>
              <a:rPr lang="en-US"/>
              <a:t>+ prescription medications?</a:t>
            </a:r>
            <a:endParaRPr/>
          </a:p>
          <a:p>
            <a:pPr indent="0" lvl="0" marL="0" rtl="0" algn="l">
              <a:spcBef>
                <a:spcPts val="0"/>
              </a:spcBef>
              <a:spcAft>
                <a:spcPts val="0"/>
              </a:spcAft>
              <a:buNone/>
            </a:pPr>
            <a:r>
              <a:t/>
            </a:r>
            <a:endParaRPr/>
          </a:p>
        </p:txBody>
      </p:sp>
      <p:sp>
        <p:nvSpPr>
          <p:cNvPr id="324" name="Google Shape;324;p54"/>
          <p:cNvSpPr txBox="1"/>
          <p:nvPr/>
        </p:nvSpPr>
        <p:spPr>
          <a:xfrm>
            <a:off x="2839225" y="5088350"/>
            <a:ext cx="64134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make </a:t>
            </a:r>
            <a:r>
              <a:rPr lang="en-US"/>
              <a:t>queries</a:t>
            </a:r>
            <a:r>
              <a:rPr lang="en-US"/>
              <a:t> research queries</a:t>
            </a:r>
            <a:endParaRPr/>
          </a:p>
        </p:txBody>
      </p:sp>
      <p:sp>
        <p:nvSpPr>
          <p:cNvPr id="325" name="Google Shape;325;p54"/>
          <p:cNvSpPr txBox="1"/>
          <p:nvPr/>
        </p:nvSpPr>
        <p:spPr>
          <a:xfrm>
            <a:off x="5439600" y="223300"/>
            <a:ext cx="67524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tuning ragas and jev</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55"/>
          <p:cNvSpPr txBox="1"/>
          <p:nvPr/>
        </p:nvSpPr>
        <p:spPr>
          <a:xfrm>
            <a:off x="2594275" y="2215725"/>
            <a:ext cx="6413400" cy="169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US"/>
              <a:t>- What are the cardiovascular and metabolic benefits of playing</a:t>
            </a:r>
            <a:endParaRPr/>
          </a:p>
          <a:p>
            <a:pPr indent="0" lvl="0" marL="0" rtl="0" algn="l">
              <a:spcBef>
                <a:spcPts val="0"/>
              </a:spcBef>
              <a:spcAft>
                <a:spcPts val="0"/>
              </a:spcAft>
              <a:buClr>
                <a:schemeClr val="dk1"/>
              </a:buClr>
              <a:buSzPts val="1100"/>
              <a:buFont typeface="Arial"/>
              <a:buNone/>
            </a:pPr>
            <a:r>
              <a:rPr lang="en-US"/>
              <a:t>- Pickleball regularly for middle-aged and older adults?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 According to the ACE-sponsored six-week Pickleball study, what</a:t>
            </a:r>
            <a:endParaRPr/>
          </a:p>
          <a:p>
            <a:pPr indent="0" lvl="0" marL="0" rtl="0" algn="l">
              <a:spcBef>
                <a:spcPts val="0"/>
              </a:spcBef>
              <a:spcAft>
                <a:spcPts val="0"/>
              </a:spcAft>
              <a:buClr>
                <a:schemeClr val="dk1"/>
              </a:buClr>
              <a:buSzPts val="1100"/>
              <a:buFont typeface="Arial"/>
              <a:buNone/>
            </a:pPr>
            <a:r>
              <a:rPr lang="en-US"/>
              <a:t>+ cardiovascular and metabolic changes were observed in middle-aged</a:t>
            </a:r>
            <a:endParaRPr/>
          </a:p>
          <a:p>
            <a:pPr indent="0" lvl="0" marL="0" rtl="0" algn="l">
              <a:spcBef>
                <a:spcPts val="0"/>
              </a:spcBef>
              <a:spcAft>
                <a:spcPts val="0"/>
              </a:spcAft>
              <a:buClr>
                <a:schemeClr val="dk1"/>
              </a:buClr>
              <a:buSzPts val="1100"/>
              <a:buFont typeface="Arial"/>
              <a:buNone/>
            </a:pPr>
            <a:r>
              <a:rPr lang="en-US"/>
              <a:t>+ and older adults?</a:t>
            </a:r>
            <a:endParaRPr/>
          </a:p>
          <a:p>
            <a:pPr indent="0" lvl="0" marL="0" rtl="0" algn="l">
              <a:spcBef>
                <a:spcPts val="0"/>
              </a:spcBef>
              <a:spcAft>
                <a:spcPts val="0"/>
              </a:spcAft>
              <a:buNone/>
            </a:pPr>
            <a:r>
              <a:t/>
            </a:r>
            <a:endParaRPr/>
          </a:p>
        </p:txBody>
      </p:sp>
      <p:sp>
        <p:nvSpPr>
          <p:cNvPr id="332" name="Google Shape;332;p55"/>
          <p:cNvSpPr txBox="1"/>
          <p:nvPr/>
        </p:nvSpPr>
        <p:spPr>
          <a:xfrm>
            <a:off x="2705625" y="4687525"/>
            <a:ext cx="64134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US">
                <a:solidFill>
                  <a:schemeClr val="dk1"/>
                </a:solidFill>
              </a:rPr>
              <a:t>make queries research queries</a:t>
            </a:r>
            <a:endParaRPr/>
          </a:p>
        </p:txBody>
      </p:sp>
      <p:sp>
        <p:nvSpPr>
          <p:cNvPr id="333" name="Google Shape;333;p55"/>
          <p:cNvSpPr txBox="1"/>
          <p:nvPr/>
        </p:nvSpPr>
        <p:spPr>
          <a:xfrm>
            <a:off x="1781900" y="1101975"/>
            <a:ext cx="67524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tuning ragas and jev</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8" name="Shape 338"/>
        <p:cNvGrpSpPr/>
        <p:nvPr/>
      </p:nvGrpSpPr>
      <p:grpSpPr>
        <a:xfrm>
          <a:off x="0" y="0"/>
          <a:ext cx="0" cy="0"/>
          <a:chOff x="0" y="0"/>
          <a:chExt cx="0" cy="0"/>
        </a:xfrm>
      </p:grpSpPr>
      <p:sp>
        <p:nvSpPr>
          <p:cNvPr id="339" name="Google Shape;339;p56"/>
          <p:cNvSpPr txBox="1"/>
          <p:nvPr/>
        </p:nvSpPr>
        <p:spPr>
          <a:xfrm>
            <a:off x="233800" y="1547650"/>
            <a:ext cx="3000000" cy="3929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US"/>
              <a:t>Ordinary responsive HTML is a poor target for pixel-level self-correction because the output depends on:</a:t>
            </a:r>
            <a:endParaRPr/>
          </a:p>
          <a:p>
            <a:pPr indent="-298450" lvl="0" marL="457200" rtl="0" algn="l">
              <a:lnSpc>
                <a:spcPct val="115000"/>
              </a:lnSpc>
              <a:spcBef>
                <a:spcPts val="1200"/>
              </a:spcBef>
              <a:spcAft>
                <a:spcPts val="0"/>
              </a:spcAft>
              <a:buClr>
                <a:schemeClr val="dk1"/>
              </a:buClr>
              <a:buSzPts val="1100"/>
              <a:buChar char="●"/>
            </a:pPr>
            <a:r>
              <a:rPr lang="en-US"/>
              <a:t>Browser viewport and device scale</a:t>
            </a:r>
            <a:endParaRPr/>
          </a:p>
          <a:p>
            <a:pPr indent="-298450" lvl="0" marL="457200" rtl="0" algn="l">
              <a:lnSpc>
                <a:spcPct val="115000"/>
              </a:lnSpc>
              <a:spcBef>
                <a:spcPts val="0"/>
              </a:spcBef>
              <a:spcAft>
                <a:spcPts val="0"/>
              </a:spcAft>
              <a:buClr>
                <a:schemeClr val="dk1"/>
              </a:buClr>
              <a:buSzPts val="1100"/>
              <a:buChar char="●"/>
            </a:pPr>
            <a:r>
              <a:rPr lang="en-US"/>
              <a:t>Fonts and font availability</a:t>
            </a:r>
            <a:endParaRPr/>
          </a:p>
          <a:p>
            <a:pPr indent="-298450" lvl="0" marL="457200" rtl="0" algn="l">
              <a:lnSpc>
                <a:spcPct val="115000"/>
              </a:lnSpc>
              <a:spcBef>
                <a:spcPts val="0"/>
              </a:spcBef>
              <a:spcAft>
                <a:spcPts val="0"/>
              </a:spcAft>
              <a:buClr>
                <a:schemeClr val="dk1"/>
              </a:buClr>
              <a:buSzPts val="1100"/>
              <a:buChar char="●"/>
            </a:pPr>
            <a:r>
              <a:rPr lang="en-US"/>
              <a:t>CSS layout and text wrapping</a:t>
            </a:r>
            <a:endParaRPr/>
          </a:p>
          <a:p>
            <a:pPr indent="-298450" lvl="0" marL="457200" rtl="0" algn="l">
              <a:lnSpc>
                <a:spcPct val="115000"/>
              </a:lnSpc>
              <a:spcBef>
                <a:spcPts val="0"/>
              </a:spcBef>
              <a:spcAft>
                <a:spcPts val="0"/>
              </a:spcAft>
              <a:buClr>
                <a:schemeClr val="dk1"/>
              </a:buClr>
              <a:buSzPts val="1100"/>
              <a:buChar char="●"/>
            </a:pPr>
            <a:r>
              <a:rPr lang="en-US"/>
              <a:t>Browser engine and version</a:t>
            </a:r>
            <a:endParaRPr/>
          </a:p>
          <a:p>
            <a:pPr indent="-298450" lvl="0" marL="457200" rtl="0" algn="l">
              <a:lnSpc>
                <a:spcPct val="115000"/>
              </a:lnSpc>
              <a:spcBef>
                <a:spcPts val="0"/>
              </a:spcBef>
              <a:spcAft>
                <a:spcPts val="0"/>
              </a:spcAft>
              <a:buClr>
                <a:schemeClr val="dk1"/>
              </a:buClr>
              <a:buSzPts val="1100"/>
              <a:buChar char="●"/>
            </a:pPr>
            <a:r>
              <a:rPr lang="en-US"/>
              <a:t>Default margins and rendering behavior</a:t>
            </a:r>
            <a:endParaRPr/>
          </a:p>
          <a:p>
            <a:pPr indent="-298450" lvl="0" marL="457200" rtl="0" algn="l">
              <a:lnSpc>
                <a:spcPct val="115000"/>
              </a:lnSpc>
              <a:spcBef>
                <a:spcPts val="0"/>
              </a:spcBef>
              <a:spcAft>
                <a:spcPts val="0"/>
              </a:spcAft>
              <a:buClr>
                <a:schemeClr val="dk1"/>
              </a:buClr>
              <a:buSzPts val="1100"/>
              <a:buChar char="●"/>
            </a:pPr>
            <a:r>
              <a:rPr lang="en-US"/>
              <a:t>Screenshot dimensions</a:t>
            </a:r>
            <a:endParaRPr/>
          </a:p>
          <a:p>
            <a:pPr indent="0" lvl="0" marL="0" rtl="0" algn="l">
              <a:lnSpc>
                <a:spcPct val="115000"/>
              </a:lnSpc>
              <a:spcBef>
                <a:spcPts val="1200"/>
              </a:spcBef>
              <a:spcAft>
                <a:spcPts val="1200"/>
              </a:spcAft>
              <a:buNone/>
            </a:pPr>
            <a:r>
              <a:rPr lang="en-US"/>
              <a:t>For a stable correction loop, use a fixed rendering contract:</a:t>
            </a:r>
            <a:endParaRPr/>
          </a:p>
        </p:txBody>
      </p:sp>
      <p:sp>
        <p:nvSpPr>
          <p:cNvPr id="340" name="Google Shape;340;p56"/>
          <p:cNvSpPr txBox="1"/>
          <p:nvPr/>
        </p:nvSpPr>
        <p:spPr>
          <a:xfrm>
            <a:off x="4064000" y="578975"/>
            <a:ext cx="3000000" cy="2555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Figure specification</a:t>
            </a:r>
            <a:endParaRPr/>
          </a:p>
          <a:p>
            <a:pPr indent="0" lvl="0" marL="0" rtl="0" algn="l">
              <a:spcBef>
                <a:spcPts val="0"/>
              </a:spcBef>
              <a:spcAft>
                <a:spcPts val="0"/>
              </a:spcAft>
              <a:buNone/>
            </a:pPr>
            <a:r>
              <a:rPr lang="en-US"/>
              <a:t>        ↓</a:t>
            </a:r>
            <a:endParaRPr/>
          </a:p>
          <a:p>
            <a:pPr indent="0" lvl="0" marL="0" rtl="0" algn="l">
              <a:spcBef>
                <a:spcPts val="0"/>
              </a:spcBef>
              <a:spcAft>
                <a:spcPts val="0"/>
              </a:spcAft>
              <a:buNone/>
            </a:pPr>
            <a:r>
              <a:rPr lang="en-US"/>
              <a:t>Deterministic SVG or fixed-size HTML canvas</a:t>
            </a:r>
            <a:endParaRPr/>
          </a:p>
          <a:p>
            <a:pPr indent="0" lvl="0" marL="0" rtl="0" algn="l">
              <a:spcBef>
                <a:spcPts val="0"/>
              </a:spcBef>
              <a:spcAft>
                <a:spcPts val="0"/>
              </a:spcAft>
              <a:buNone/>
            </a:pPr>
            <a:r>
              <a:rPr lang="en-US"/>
              <a:t>        ↓</a:t>
            </a:r>
            <a:endParaRPr/>
          </a:p>
          <a:p>
            <a:pPr indent="0" lvl="0" marL="0" rtl="0" algn="l">
              <a:spcBef>
                <a:spcPts val="0"/>
              </a:spcBef>
              <a:spcAft>
                <a:spcPts val="0"/>
              </a:spcAft>
              <a:buNone/>
            </a:pPr>
            <a:r>
              <a:rPr lang="en-US"/>
              <a:t>PNG rendered at fixed dimensions</a:t>
            </a:r>
            <a:endParaRPr/>
          </a:p>
          <a:p>
            <a:pPr indent="0" lvl="0" marL="0" rtl="0" algn="l">
              <a:spcBef>
                <a:spcPts val="0"/>
              </a:spcBef>
              <a:spcAft>
                <a:spcPts val="0"/>
              </a:spcAft>
              <a:buNone/>
            </a:pPr>
            <a:r>
              <a:rPr lang="en-US"/>
              <a:t>        ↓</a:t>
            </a:r>
            <a:endParaRPr/>
          </a:p>
          <a:p>
            <a:pPr indent="0" lvl="0" marL="0" rtl="0" algn="l">
              <a:spcBef>
                <a:spcPts val="0"/>
              </a:spcBef>
              <a:spcAft>
                <a:spcPts val="0"/>
              </a:spcAft>
              <a:buNone/>
            </a:pPr>
            <a:r>
              <a:rPr lang="en-US"/>
              <a:t>Visual comparison</a:t>
            </a:r>
            <a:endParaRPr/>
          </a:p>
          <a:p>
            <a:pPr indent="0" lvl="0" marL="0" rtl="0" algn="l">
              <a:spcBef>
                <a:spcPts val="0"/>
              </a:spcBef>
              <a:spcAft>
                <a:spcPts val="0"/>
              </a:spcAft>
              <a:buNone/>
            </a:pPr>
            <a:r>
              <a:rPr lang="en-US"/>
              <a:t>        ↓</a:t>
            </a:r>
            <a:endParaRPr/>
          </a:p>
          <a:p>
            <a:pPr indent="0" lvl="0" marL="0" rtl="0" algn="l">
              <a:spcBef>
                <a:spcPts val="0"/>
              </a:spcBef>
              <a:spcAft>
                <a:spcPts val="0"/>
              </a:spcAft>
              <a:buNone/>
            </a:pPr>
            <a:r>
              <a:rPr lang="en-US"/>
              <a:t>Correct the specification—not arbitrary HTML</a:t>
            </a:r>
            <a:endParaRPr/>
          </a:p>
        </p:txBody>
      </p:sp>
      <p:sp>
        <p:nvSpPr>
          <p:cNvPr id="341" name="Google Shape;341;p56"/>
          <p:cNvSpPr txBox="1"/>
          <p:nvPr/>
        </p:nvSpPr>
        <p:spPr>
          <a:xfrm>
            <a:off x="7727175" y="668050"/>
            <a:ext cx="3000000" cy="61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The model should only modify the JSON specification:</a:t>
            </a:r>
            <a:endParaRPr/>
          </a:p>
        </p:txBody>
      </p:sp>
      <p:sp>
        <p:nvSpPr>
          <p:cNvPr id="342" name="Google Shape;342;p56"/>
          <p:cNvSpPr txBox="1"/>
          <p:nvPr/>
        </p:nvSpPr>
        <p:spPr>
          <a:xfrm>
            <a:off x="7894200" y="1659025"/>
            <a:ext cx="3000000" cy="5141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a:t>
            </a:r>
            <a:endParaRPr/>
          </a:p>
          <a:p>
            <a:pPr indent="0" lvl="0" marL="0" rtl="0" algn="l">
              <a:spcBef>
                <a:spcPts val="0"/>
              </a:spcBef>
              <a:spcAft>
                <a:spcPts val="0"/>
              </a:spcAft>
              <a:buNone/>
            </a:pPr>
            <a:r>
              <a:rPr lang="en-US"/>
              <a:t>  "canvas": {"width": 1530, "height": 1980},</a:t>
            </a:r>
            <a:endParaRPr/>
          </a:p>
          <a:p>
            <a:pPr indent="0" lvl="0" marL="0" rtl="0" algn="l">
              <a:spcBef>
                <a:spcPts val="0"/>
              </a:spcBef>
              <a:spcAft>
                <a:spcPts val="0"/>
              </a:spcAft>
              <a:buNone/>
            </a:pPr>
            <a:r>
              <a:rPr lang="en-US"/>
              <a:t>  "series": [...],</a:t>
            </a:r>
            <a:endParaRPr/>
          </a:p>
          <a:p>
            <a:pPr indent="0" lvl="0" marL="0" rtl="0" algn="l">
              <a:spcBef>
                <a:spcPts val="0"/>
              </a:spcBef>
              <a:spcAft>
                <a:spcPts val="0"/>
              </a:spcAft>
              <a:buNone/>
            </a:pPr>
            <a:r>
              <a:rPr lang="en-US"/>
              <a:t>  "categories": [...],</a:t>
            </a:r>
            <a:endParaRPr/>
          </a:p>
          <a:p>
            <a:pPr indent="0" lvl="0" marL="0" rtl="0" algn="l">
              <a:spcBef>
                <a:spcPts val="0"/>
              </a:spcBef>
              <a:spcAft>
                <a:spcPts val="0"/>
              </a:spcAft>
              <a:buNone/>
            </a:pPr>
            <a:r>
              <a:rPr lang="en-US"/>
              <a:t>  "elements": [</a:t>
            </a:r>
            <a:endParaRPr/>
          </a:p>
          <a:p>
            <a:pPr indent="0" lvl="0" marL="0" rtl="0" algn="l">
              <a:spcBef>
                <a:spcPts val="0"/>
              </a:spcBef>
              <a:spcAft>
                <a:spcPts val="0"/>
              </a:spcAft>
              <a:buNone/>
            </a:pPr>
            <a:r>
              <a:rPr lang="en-US"/>
              <a:t>    {</a:t>
            </a:r>
            <a:endParaRPr/>
          </a:p>
          <a:p>
            <a:pPr indent="0" lvl="0" marL="0" rtl="0" algn="l">
              <a:spcBef>
                <a:spcPts val="0"/>
              </a:spcBef>
              <a:spcAft>
                <a:spcPts val="0"/>
              </a:spcAft>
              <a:buNone/>
            </a:pPr>
            <a:r>
              <a:rPr lang="en-US"/>
              <a:t>      "type": "text",</a:t>
            </a:r>
            <a:endParaRPr/>
          </a:p>
          <a:p>
            <a:pPr indent="0" lvl="0" marL="0" rtl="0" algn="l">
              <a:spcBef>
                <a:spcPts val="0"/>
              </a:spcBef>
              <a:spcAft>
                <a:spcPts val="0"/>
              </a:spcAft>
              <a:buNone/>
            </a:pPr>
            <a:r>
              <a:rPr lang="en-US"/>
              <a:t>      "x": 120,</a:t>
            </a:r>
            <a:endParaRPr/>
          </a:p>
          <a:p>
            <a:pPr indent="0" lvl="0" marL="0" rtl="0" algn="l">
              <a:spcBef>
                <a:spcPts val="0"/>
              </a:spcBef>
              <a:spcAft>
                <a:spcPts val="0"/>
              </a:spcAft>
              <a:buNone/>
            </a:pPr>
            <a:r>
              <a:rPr lang="en-US"/>
              <a:t>      "y": 80,</a:t>
            </a:r>
            <a:endParaRPr/>
          </a:p>
          <a:p>
            <a:pPr indent="0" lvl="0" marL="0" rtl="0" algn="l">
              <a:spcBef>
                <a:spcPts val="0"/>
              </a:spcBef>
              <a:spcAft>
                <a:spcPts val="0"/>
              </a:spcAft>
              <a:buNone/>
            </a:pPr>
            <a:r>
              <a:rPr lang="en-US"/>
              <a:t>      "width": 900,</a:t>
            </a:r>
            <a:endParaRPr/>
          </a:p>
          <a:p>
            <a:pPr indent="0" lvl="0" marL="0" rtl="0" algn="l">
              <a:spcBef>
                <a:spcPts val="0"/>
              </a:spcBef>
              <a:spcAft>
                <a:spcPts val="0"/>
              </a:spcAft>
              <a:buNone/>
            </a:pPr>
            <a:r>
              <a:rPr lang="en-US"/>
              <a:t>      "font_size": 28</a:t>
            </a:r>
            <a:endParaRPr/>
          </a:p>
          <a:p>
            <a:pPr indent="0" lvl="0" marL="0" rtl="0" algn="l">
              <a:spcBef>
                <a:spcPts val="0"/>
              </a:spcBef>
              <a:spcAft>
                <a:spcPts val="0"/>
              </a:spcAft>
              <a:buNone/>
            </a:pPr>
            <a:r>
              <a:rPr lang="en-US"/>
              <a:t>    },</a:t>
            </a:r>
            <a:endParaRPr/>
          </a:p>
          <a:p>
            <a:pPr indent="0" lvl="0" marL="0" rtl="0" algn="l">
              <a:spcBef>
                <a:spcPts val="0"/>
              </a:spcBef>
              <a:spcAft>
                <a:spcPts val="0"/>
              </a:spcAft>
              <a:buNone/>
            </a:pPr>
            <a:r>
              <a:rPr lang="en-US"/>
              <a:t>    {</a:t>
            </a:r>
            <a:endParaRPr/>
          </a:p>
          <a:p>
            <a:pPr indent="0" lvl="0" marL="0" rtl="0" algn="l">
              <a:spcBef>
                <a:spcPts val="0"/>
              </a:spcBef>
              <a:spcAft>
                <a:spcPts val="0"/>
              </a:spcAft>
              <a:buNone/>
            </a:pPr>
            <a:r>
              <a:rPr lang="en-US"/>
              <a:t>      "type": "bar",</a:t>
            </a:r>
            <a:endParaRPr/>
          </a:p>
          <a:p>
            <a:pPr indent="0" lvl="0" marL="0" rtl="0" algn="l">
              <a:spcBef>
                <a:spcPts val="0"/>
              </a:spcBef>
              <a:spcAft>
                <a:spcPts val="0"/>
              </a:spcAft>
              <a:buNone/>
            </a:pPr>
            <a:r>
              <a:rPr lang="en-US"/>
              <a:t>      "x": 620,</a:t>
            </a:r>
            <a:endParaRPr/>
          </a:p>
          <a:p>
            <a:pPr indent="0" lvl="0" marL="0" rtl="0" algn="l">
              <a:spcBef>
                <a:spcPts val="0"/>
              </a:spcBef>
              <a:spcAft>
                <a:spcPts val="0"/>
              </a:spcAft>
              <a:buNone/>
            </a:pPr>
            <a:r>
              <a:rPr lang="en-US"/>
              <a:t>      "y": 340,</a:t>
            </a:r>
            <a:endParaRPr/>
          </a:p>
          <a:p>
            <a:pPr indent="0" lvl="0" marL="0" rtl="0" algn="l">
              <a:spcBef>
                <a:spcPts val="0"/>
              </a:spcBef>
              <a:spcAft>
                <a:spcPts val="0"/>
              </a:spcAft>
              <a:buNone/>
            </a:pPr>
            <a:r>
              <a:rPr lang="en-US"/>
              <a:t>      "width": 480,</a:t>
            </a:r>
            <a:endParaRPr/>
          </a:p>
          <a:p>
            <a:pPr indent="0" lvl="0" marL="0" rtl="0" algn="l">
              <a:spcBef>
                <a:spcPts val="0"/>
              </a:spcBef>
              <a:spcAft>
                <a:spcPts val="0"/>
              </a:spcAft>
              <a:buNone/>
            </a:pPr>
            <a:r>
              <a:rPr lang="en-US"/>
              <a:t>      "height": 28,</a:t>
            </a:r>
            <a:endParaRPr/>
          </a:p>
          <a:p>
            <a:pPr indent="0" lvl="0" marL="0" rtl="0" algn="l">
              <a:spcBef>
                <a:spcPts val="0"/>
              </a:spcBef>
              <a:spcAft>
                <a:spcPts val="0"/>
              </a:spcAft>
              <a:buNone/>
            </a:pPr>
            <a:r>
              <a:rPr lang="en-US"/>
              <a:t>      "segments": [...]</a:t>
            </a:r>
            <a:endParaRPr/>
          </a:p>
          <a:p>
            <a:pPr indent="0" lvl="0" marL="0" rtl="0" algn="l">
              <a:spcBef>
                <a:spcPts val="0"/>
              </a:spcBef>
              <a:spcAft>
                <a:spcPts val="0"/>
              </a:spcAft>
              <a:buNone/>
            </a:pPr>
            <a:r>
              <a:rPr lang="en-US"/>
              <a:t>    }</a:t>
            </a:r>
            <a:endParaRPr/>
          </a:p>
          <a:p>
            <a:pPr indent="0" lvl="0" marL="0" rtl="0" algn="l">
              <a:spcBef>
                <a:spcPts val="0"/>
              </a:spcBef>
              <a:spcAft>
                <a:spcPts val="0"/>
              </a:spcAft>
              <a:buNone/>
            </a:pPr>
            <a:r>
              <a:rPr lang="en-US"/>
              <a:t>  ]</a:t>
            </a:r>
            <a:endParaRPr/>
          </a:p>
          <a:p>
            <a:pPr indent="0" lvl="0" marL="0" rtl="0" algn="l">
              <a:spcBef>
                <a:spcPts val="0"/>
              </a:spcBef>
              <a:spcAft>
                <a:spcPts val="0"/>
              </a:spcAft>
              <a:buNone/>
            </a:pPr>
            <a:r>
              <a:rPr lang="en-US"/>
              <a:t>}</a:t>
            </a:r>
            <a:endParaRPr/>
          </a:p>
        </p:txBody>
      </p:sp>
      <p:sp>
        <p:nvSpPr>
          <p:cNvPr id="343" name="Google Shape;343;p56"/>
          <p:cNvSpPr txBox="1"/>
          <p:nvPr/>
        </p:nvSpPr>
        <p:spPr>
          <a:xfrm>
            <a:off x="4019450" y="3632625"/>
            <a:ext cx="3000000" cy="2555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Source figure</a:t>
            </a:r>
            <a:endParaRPr/>
          </a:p>
          <a:p>
            <a:pPr indent="0" lvl="0" marL="0" rtl="0" algn="l">
              <a:spcBef>
                <a:spcPts val="0"/>
              </a:spcBef>
              <a:spcAft>
                <a:spcPts val="0"/>
              </a:spcAft>
              <a:buNone/>
            </a:pPr>
            <a:r>
              <a:rPr lang="en-US"/>
              <a:t>     ↓</a:t>
            </a:r>
            <a:endParaRPr/>
          </a:p>
          <a:p>
            <a:pPr indent="0" lvl="0" marL="0" rtl="0" algn="l">
              <a:spcBef>
                <a:spcPts val="0"/>
              </a:spcBef>
              <a:spcAft>
                <a:spcPts val="0"/>
              </a:spcAft>
              <a:buNone/>
            </a:pPr>
            <a:r>
              <a:rPr lang="en-US"/>
              <a:t>Argon extracts semantic spec</a:t>
            </a:r>
            <a:endParaRPr/>
          </a:p>
          <a:p>
            <a:pPr indent="0" lvl="0" marL="0" rtl="0" algn="l">
              <a:spcBef>
                <a:spcPts val="0"/>
              </a:spcBef>
              <a:spcAft>
                <a:spcPts val="0"/>
              </a:spcAft>
              <a:buNone/>
            </a:pPr>
            <a:r>
              <a:rPr lang="en-US"/>
              <a:t>     ↓</a:t>
            </a:r>
            <a:endParaRPr/>
          </a:p>
          <a:p>
            <a:pPr indent="0" lvl="0" marL="0" rtl="0" algn="l">
              <a:spcBef>
                <a:spcPts val="0"/>
              </a:spcBef>
              <a:spcAft>
                <a:spcPts val="0"/>
              </a:spcAft>
              <a:buNone/>
            </a:pPr>
            <a:r>
              <a:rPr lang="en-US"/>
              <a:t>Deterministic SVG renderer</a:t>
            </a:r>
            <a:endParaRPr/>
          </a:p>
          <a:p>
            <a:pPr indent="0" lvl="0" marL="0" rtl="0" algn="l">
              <a:spcBef>
                <a:spcPts val="0"/>
              </a:spcBef>
              <a:spcAft>
                <a:spcPts val="0"/>
              </a:spcAft>
              <a:buNone/>
            </a:pPr>
            <a:r>
              <a:rPr lang="en-US"/>
              <a:t>     ↓</a:t>
            </a:r>
            <a:endParaRPr/>
          </a:p>
          <a:p>
            <a:pPr indent="0" lvl="0" marL="0" rtl="0" algn="l">
              <a:spcBef>
                <a:spcPts val="0"/>
              </a:spcBef>
              <a:spcAft>
                <a:spcPts val="0"/>
              </a:spcAft>
              <a:buNone/>
            </a:pPr>
            <a:r>
              <a:rPr lang="en-US"/>
              <a:t>Compare source and render</a:t>
            </a:r>
            <a:endParaRPr/>
          </a:p>
          <a:p>
            <a:pPr indent="0" lvl="0" marL="0" rtl="0" algn="l">
              <a:spcBef>
                <a:spcPts val="0"/>
              </a:spcBef>
              <a:spcAft>
                <a:spcPts val="0"/>
              </a:spcAft>
              <a:buNone/>
            </a:pPr>
            <a:r>
              <a:rPr lang="en-US"/>
              <a:t>     ↓</a:t>
            </a:r>
            <a:endParaRPr/>
          </a:p>
          <a:p>
            <a:pPr indent="0" lvl="0" marL="0" rtl="0" algn="l">
              <a:spcBef>
                <a:spcPts val="0"/>
              </a:spcBef>
              <a:spcAft>
                <a:spcPts val="0"/>
              </a:spcAft>
              <a:buNone/>
            </a:pPr>
            <a:r>
              <a:rPr lang="en-US"/>
              <a:t>Structured corrections:</a:t>
            </a:r>
            <a:endParaRPr/>
          </a:p>
          <a:p>
            <a:pPr indent="0" lvl="0" marL="0" rtl="0" algn="l">
              <a:spcBef>
                <a:spcPts val="0"/>
              </a:spcBef>
              <a:spcAft>
                <a:spcPts val="0"/>
              </a:spcAft>
              <a:buNone/>
            </a:pPr>
            <a:r>
              <a:rPr lang="en-US"/>
              <a:t>  values → labels → structure → geometry → styling</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71512"/>
        </a:solidFill>
      </p:bgPr>
    </p:bg>
    <p:spTree>
      <p:nvGrpSpPr>
        <p:cNvPr id="348" name="Shape 348"/>
        <p:cNvGrpSpPr/>
        <p:nvPr/>
      </p:nvGrpSpPr>
      <p:grpSpPr>
        <a:xfrm>
          <a:off x="0" y="0"/>
          <a:ext cx="0" cy="0"/>
          <a:chOff x="0" y="0"/>
          <a:chExt cx="0" cy="0"/>
        </a:xfrm>
      </p:grpSpPr>
      <p:sp>
        <p:nvSpPr>
          <p:cNvPr id="349" name="Google Shape;349;p57"/>
          <p:cNvSpPr/>
          <p:nvPr/>
        </p:nvSpPr>
        <p:spPr>
          <a:xfrm>
            <a:off x="0" y="0"/>
            <a:ext cx="12192000" cy="6858000"/>
          </a:xfrm>
          <a:prstGeom prst="rect">
            <a:avLst/>
          </a:prstGeom>
          <a:solidFill>
            <a:srgbClr val="071512"/>
          </a:solidFill>
          <a:ln cap="flat" cmpd="sng" w="9525">
            <a:solidFill>
              <a:srgbClr val="07151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 name="Google Shape;350;p57"/>
          <p:cNvSpPr/>
          <p:nvPr/>
        </p:nvSpPr>
        <p:spPr>
          <a:xfrm>
            <a:off x="609600" y="457200"/>
            <a:ext cx="10953750" cy="5143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2250">
                <a:solidFill>
                  <a:srgbClr val="F4F8F6"/>
                </a:solidFill>
              </a:rPr>
              <a:t>Medicaid belongs in the routing metadata</a:t>
            </a:r>
            <a:endParaRPr/>
          </a:p>
        </p:txBody>
      </p:sp>
      <p:sp>
        <p:nvSpPr>
          <p:cNvPr id="351" name="Google Shape;351;p57"/>
          <p:cNvSpPr/>
          <p:nvPr/>
        </p:nvSpPr>
        <p:spPr>
          <a:xfrm>
            <a:off x="609600" y="1028700"/>
            <a:ext cx="10477500" cy="3619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75">
                <a:solidFill>
                  <a:srgbClr val="9CB5AD"/>
                </a:solidFill>
              </a:rPr>
              <a:t>One payer spans several document types, each with different retrieval behavior.</a:t>
            </a:r>
            <a:endParaRPr/>
          </a:p>
        </p:txBody>
      </p:sp>
      <p:sp>
        <p:nvSpPr>
          <p:cNvPr id="352" name="Google Shape;352;p57"/>
          <p:cNvSpPr/>
          <p:nvPr/>
        </p:nvSpPr>
        <p:spPr>
          <a:xfrm>
            <a:off x="609600" y="1752600"/>
            <a:ext cx="238125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050">
                <a:solidFill>
                  <a:srgbClr val="62E6C0"/>
                </a:solidFill>
              </a:rPr>
              <a:t>PAYER / DOMAIN</a:t>
            </a:r>
            <a:endParaRPr/>
          </a:p>
        </p:txBody>
      </p:sp>
      <p:sp>
        <p:nvSpPr>
          <p:cNvPr id="353" name="Google Shape;353;p57"/>
          <p:cNvSpPr/>
          <p:nvPr/>
        </p:nvSpPr>
        <p:spPr>
          <a:xfrm>
            <a:off x="609600" y="2152650"/>
            <a:ext cx="2238375" cy="1714500"/>
          </a:xfrm>
          <a:prstGeom prst="roundRect">
            <a:avLst>
              <a:gd fmla="val 4444" name="adj"/>
            </a:avLst>
          </a:prstGeom>
          <a:solidFill>
            <a:srgbClr val="12352D"/>
          </a:solidFill>
          <a:ln cap="flat" cmpd="sng" w="19050">
            <a:solidFill>
              <a:srgbClr val="62E6C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 name="Google Shape;354;p57"/>
          <p:cNvSpPr/>
          <p:nvPr/>
        </p:nvSpPr>
        <p:spPr>
          <a:xfrm>
            <a:off x="866775" y="2457450"/>
            <a:ext cx="1714500" cy="457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2025">
                <a:solidFill>
                  <a:srgbClr val="FFFFFF"/>
                </a:solidFill>
              </a:rPr>
              <a:t>Medicaid</a:t>
            </a:r>
            <a:endParaRPr/>
          </a:p>
        </p:txBody>
      </p:sp>
      <p:sp>
        <p:nvSpPr>
          <p:cNvPr id="355" name="Google Shape;355;p57"/>
          <p:cNvSpPr/>
          <p:nvPr/>
        </p:nvSpPr>
        <p:spPr>
          <a:xfrm>
            <a:off x="838200" y="3038475"/>
            <a:ext cx="1771650" cy="5143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rgbClr val="B7CEC7"/>
                </a:solidFill>
              </a:rPr>
              <a:t>Filter or route by payer</a:t>
            </a:r>
            <a:endParaRPr/>
          </a:p>
        </p:txBody>
      </p:sp>
      <p:cxnSp>
        <p:nvCxnSpPr>
          <p:cNvPr id="356" name="Google Shape;356;p57"/>
          <p:cNvCxnSpPr/>
          <p:nvPr/>
        </p:nvCxnSpPr>
        <p:spPr>
          <a:xfrm>
            <a:off x="3076575" y="3009900"/>
            <a:ext cx="723900" cy="0"/>
          </a:xfrm>
          <a:prstGeom prst="straightConnector1">
            <a:avLst/>
          </a:prstGeom>
          <a:noFill/>
          <a:ln cap="flat" cmpd="sng" w="28575">
            <a:solidFill>
              <a:srgbClr val="62E6C0"/>
            </a:solidFill>
            <a:prstDash val="solid"/>
            <a:round/>
            <a:headEnd len="sm" w="sm" type="none"/>
            <a:tailEnd len="sm" w="sm" type="none"/>
          </a:ln>
        </p:spPr>
      </p:cxnSp>
      <p:sp>
        <p:nvSpPr>
          <p:cNvPr id="357" name="Google Shape;357;p57"/>
          <p:cNvSpPr/>
          <p:nvPr/>
        </p:nvSpPr>
        <p:spPr>
          <a:xfrm>
            <a:off x="3952875" y="1752600"/>
            <a:ext cx="295275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050">
                <a:solidFill>
                  <a:srgbClr val="F2B565"/>
                </a:solidFill>
              </a:rPr>
              <a:t>DOCUMENT TYPE</a:t>
            </a:r>
            <a:endParaRPr/>
          </a:p>
        </p:txBody>
      </p:sp>
      <p:sp>
        <p:nvSpPr>
          <p:cNvPr id="358" name="Google Shape;358;p57"/>
          <p:cNvSpPr/>
          <p:nvPr/>
        </p:nvSpPr>
        <p:spPr>
          <a:xfrm>
            <a:off x="3952875" y="2095500"/>
            <a:ext cx="3762375" cy="628650"/>
          </a:xfrm>
          <a:prstGeom prst="roundRect">
            <a:avLst>
              <a:gd fmla="val 12121" name="adj"/>
            </a:avLst>
          </a:prstGeom>
          <a:solidFill>
            <a:srgbClr val="3A2A18"/>
          </a:solidFill>
          <a:ln cap="flat" cmpd="sng" w="14275">
            <a:solidFill>
              <a:srgbClr val="F2B56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 name="Google Shape;359;p57"/>
          <p:cNvSpPr/>
          <p:nvPr/>
        </p:nvSpPr>
        <p:spPr>
          <a:xfrm>
            <a:off x="4171950" y="2190750"/>
            <a:ext cx="1428750" cy="2476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350">
                <a:solidFill>
                  <a:srgbClr val="FFD49A"/>
                </a:solidFill>
              </a:rPr>
              <a:t>Policy</a:t>
            </a:r>
            <a:endParaRPr/>
          </a:p>
        </p:txBody>
      </p:sp>
      <p:sp>
        <p:nvSpPr>
          <p:cNvPr id="360" name="Google Shape;360;p57"/>
          <p:cNvSpPr/>
          <p:nvPr/>
        </p:nvSpPr>
        <p:spPr>
          <a:xfrm>
            <a:off x="5619750" y="2209800"/>
            <a:ext cx="1857375" cy="3619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050">
                <a:solidFill>
                  <a:srgbClr val="A9BDB7"/>
                </a:solidFill>
              </a:rPr>
              <a:t>Prior authorization criteria</a:t>
            </a:r>
            <a:endParaRPr/>
          </a:p>
        </p:txBody>
      </p:sp>
      <p:sp>
        <p:nvSpPr>
          <p:cNvPr id="361" name="Google Shape;361;p57"/>
          <p:cNvSpPr/>
          <p:nvPr/>
        </p:nvSpPr>
        <p:spPr>
          <a:xfrm>
            <a:off x="3952875" y="2905125"/>
            <a:ext cx="3762375" cy="628650"/>
          </a:xfrm>
          <a:prstGeom prst="roundRect">
            <a:avLst>
              <a:gd fmla="val 12121" name="adj"/>
            </a:avLst>
          </a:prstGeom>
          <a:solidFill>
            <a:srgbClr val="152622"/>
          </a:solidFill>
          <a:ln cap="flat" cmpd="sng" w="14275">
            <a:solidFill>
              <a:srgbClr val="35564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 name="Google Shape;362;p57"/>
          <p:cNvSpPr/>
          <p:nvPr/>
        </p:nvSpPr>
        <p:spPr>
          <a:xfrm>
            <a:off x="4171950" y="3000375"/>
            <a:ext cx="1428750" cy="2476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350">
                <a:solidFill>
                  <a:srgbClr val="F1F5F3"/>
                </a:solidFill>
              </a:rPr>
              <a:t>Forms &amp; directory</a:t>
            </a:r>
            <a:endParaRPr/>
          </a:p>
        </p:txBody>
      </p:sp>
      <p:sp>
        <p:nvSpPr>
          <p:cNvPr id="363" name="Google Shape;363;p57"/>
          <p:cNvSpPr/>
          <p:nvPr/>
        </p:nvSpPr>
        <p:spPr>
          <a:xfrm>
            <a:off x="5619750" y="3019425"/>
            <a:ext cx="1857375" cy="3619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050">
                <a:solidFill>
                  <a:srgbClr val="A9BDB7"/>
                </a:solidFill>
              </a:rPr>
              <a:t>Applications and provider lists</a:t>
            </a:r>
            <a:endParaRPr/>
          </a:p>
        </p:txBody>
      </p:sp>
      <p:sp>
        <p:nvSpPr>
          <p:cNvPr id="364" name="Google Shape;364;p57"/>
          <p:cNvSpPr/>
          <p:nvPr/>
        </p:nvSpPr>
        <p:spPr>
          <a:xfrm>
            <a:off x="3952875" y="3714750"/>
            <a:ext cx="3762375" cy="628650"/>
          </a:xfrm>
          <a:prstGeom prst="roundRect">
            <a:avLst>
              <a:gd fmla="val 12121" name="adj"/>
            </a:avLst>
          </a:prstGeom>
          <a:solidFill>
            <a:srgbClr val="152622"/>
          </a:solidFill>
          <a:ln cap="flat" cmpd="sng" w="14275">
            <a:solidFill>
              <a:srgbClr val="35564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p57"/>
          <p:cNvSpPr/>
          <p:nvPr/>
        </p:nvSpPr>
        <p:spPr>
          <a:xfrm>
            <a:off x="4171950" y="3810000"/>
            <a:ext cx="1428750" cy="2476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350">
                <a:solidFill>
                  <a:srgbClr val="F1F5F3"/>
                </a:solidFill>
              </a:rPr>
              <a:t>Clinical guidance</a:t>
            </a:r>
            <a:endParaRPr/>
          </a:p>
        </p:txBody>
      </p:sp>
      <p:sp>
        <p:nvSpPr>
          <p:cNvPr id="366" name="Google Shape;366;p57"/>
          <p:cNvSpPr/>
          <p:nvPr/>
        </p:nvSpPr>
        <p:spPr>
          <a:xfrm>
            <a:off x="5619750" y="3829050"/>
            <a:ext cx="1857375" cy="3619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050">
                <a:solidFill>
                  <a:srgbClr val="A9BDB7"/>
                </a:solidFill>
              </a:rPr>
              <a:t>Care and treatment guidance</a:t>
            </a:r>
            <a:endParaRPr/>
          </a:p>
        </p:txBody>
      </p:sp>
      <p:sp>
        <p:nvSpPr>
          <p:cNvPr id="367" name="Google Shape;367;p57"/>
          <p:cNvSpPr/>
          <p:nvPr/>
        </p:nvSpPr>
        <p:spPr>
          <a:xfrm>
            <a:off x="3952875" y="4524375"/>
            <a:ext cx="3762375" cy="628650"/>
          </a:xfrm>
          <a:prstGeom prst="roundRect">
            <a:avLst>
              <a:gd fmla="val 12121" name="adj"/>
            </a:avLst>
          </a:prstGeom>
          <a:solidFill>
            <a:srgbClr val="152622"/>
          </a:solidFill>
          <a:ln cap="flat" cmpd="sng" w="14275">
            <a:solidFill>
              <a:srgbClr val="35564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 name="Google Shape;368;p57"/>
          <p:cNvSpPr/>
          <p:nvPr/>
        </p:nvSpPr>
        <p:spPr>
          <a:xfrm>
            <a:off x="4171950" y="4619625"/>
            <a:ext cx="1428750" cy="2476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350">
                <a:solidFill>
                  <a:srgbClr val="F1F5F3"/>
                </a:solidFill>
              </a:rPr>
              <a:t>Research</a:t>
            </a:r>
            <a:endParaRPr/>
          </a:p>
        </p:txBody>
      </p:sp>
      <p:sp>
        <p:nvSpPr>
          <p:cNvPr id="369" name="Google Shape;369;p57"/>
          <p:cNvSpPr/>
          <p:nvPr/>
        </p:nvSpPr>
        <p:spPr>
          <a:xfrm>
            <a:off x="5619750" y="4638675"/>
            <a:ext cx="1857375" cy="3619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050">
                <a:solidFill>
                  <a:srgbClr val="A9BDB7"/>
                </a:solidFill>
              </a:rPr>
              <a:t>Studies and evidence</a:t>
            </a:r>
            <a:endParaRPr/>
          </a:p>
        </p:txBody>
      </p:sp>
      <p:sp>
        <p:nvSpPr>
          <p:cNvPr id="370" name="Google Shape;370;p57"/>
          <p:cNvSpPr/>
          <p:nvPr/>
        </p:nvSpPr>
        <p:spPr>
          <a:xfrm>
            <a:off x="8286750" y="1752600"/>
            <a:ext cx="304800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050">
                <a:solidFill>
                  <a:srgbClr val="A5C8FF"/>
                </a:solidFill>
              </a:rPr>
              <a:t>ROUTING EXAMPLES</a:t>
            </a:r>
            <a:endParaRPr/>
          </a:p>
        </p:txBody>
      </p:sp>
      <p:sp>
        <p:nvSpPr>
          <p:cNvPr id="371" name="Google Shape;371;p57"/>
          <p:cNvSpPr/>
          <p:nvPr/>
        </p:nvSpPr>
        <p:spPr>
          <a:xfrm>
            <a:off x="8286750" y="2181225"/>
            <a:ext cx="304800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350">
                <a:solidFill>
                  <a:srgbClr val="F4F8F6"/>
                </a:solidFill>
              </a:rPr>
              <a:t>Kentucky Medicaid PA</a:t>
            </a:r>
            <a:endParaRPr/>
          </a:p>
        </p:txBody>
      </p:sp>
      <p:sp>
        <p:nvSpPr>
          <p:cNvPr id="372" name="Google Shape;372;p57"/>
          <p:cNvSpPr/>
          <p:nvPr/>
        </p:nvSpPr>
        <p:spPr>
          <a:xfrm>
            <a:off x="8286750" y="2505075"/>
            <a:ext cx="3048000" cy="2476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125">
                <a:solidFill>
                  <a:srgbClr val="A5C8FF"/>
                </a:solidFill>
              </a:rPr>
              <a:t>Medicaid + policy</a:t>
            </a:r>
            <a:endParaRPr/>
          </a:p>
        </p:txBody>
      </p:sp>
      <p:sp>
        <p:nvSpPr>
          <p:cNvPr id="373" name="Google Shape;373;p57"/>
          <p:cNvSpPr/>
          <p:nvPr/>
        </p:nvSpPr>
        <p:spPr>
          <a:xfrm>
            <a:off x="8286750" y="3133725"/>
            <a:ext cx="304800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350">
                <a:solidFill>
                  <a:srgbClr val="F4F8F6"/>
                </a:solidFill>
              </a:rPr>
              <a:t>Apply for KY Medicaid</a:t>
            </a:r>
            <a:endParaRPr/>
          </a:p>
        </p:txBody>
      </p:sp>
      <p:sp>
        <p:nvSpPr>
          <p:cNvPr id="374" name="Google Shape;374;p57"/>
          <p:cNvSpPr/>
          <p:nvPr/>
        </p:nvSpPr>
        <p:spPr>
          <a:xfrm>
            <a:off x="8286750" y="3457575"/>
            <a:ext cx="3048000" cy="2476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125">
                <a:solidFill>
                  <a:srgbClr val="A5C8FF"/>
                </a:solidFill>
              </a:rPr>
              <a:t>Medicaid + forms</a:t>
            </a:r>
            <a:endParaRPr/>
          </a:p>
        </p:txBody>
      </p:sp>
      <p:sp>
        <p:nvSpPr>
          <p:cNvPr id="375" name="Google Shape;375;p57"/>
          <p:cNvSpPr/>
          <p:nvPr/>
        </p:nvSpPr>
        <p:spPr>
          <a:xfrm>
            <a:off x="8286750" y="4086225"/>
            <a:ext cx="304800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350">
                <a:solidFill>
                  <a:srgbClr val="F4F8F6"/>
                </a:solidFill>
              </a:rPr>
              <a:t>Adult optical providers</a:t>
            </a:r>
            <a:endParaRPr/>
          </a:p>
        </p:txBody>
      </p:sp>
      <p:sp>
        <p:nvSpPr>
          <p:cNvPr id="376" name="Google Shape;376;p57"/>
          <p:cNvSpPr/>
          <p:nvPr/>
        </p:nvSpPr>
        <p:spPr>
          <a:xfrm>
            <a:off x="8286750" y="4410075"/>
            <a:ext cx="3048000" cy="2476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125">
                <a:solidFill>
                  <a:srgbClr val="A5C8FF"/>
                </a:solidFill>
              </a:rPr>
              <a:t>Medicaid + directory</a:t>
            </a:r>
            <a:endParaRPr/>
          </a:p>
        </p:txBody>
      </p:sp>
      <p:cxnSp>
        <p:nvCxnSpPr>
          <p:cNvPr id="377" name="Google Shape;377;p57"/>
          <p:cNvCxnSpPr/>
          <p:nvPr/>
        </p:nvCxnSpPr>
        <p:spPr>
          <a:xfrm>
            <a:off x="609600" y="5810250"/>
            <a:ext cx="10972800" cy="0"/>
          </a:xfrm>
          <a:prstGeom prst="straightConnector1">
            <a:avLst/>
          </a:prstGeom>
          <a:noFill/>
          <a:ln cap="flat" cmpd="sng" w="9525">
            <a:solidFill>
              <a:srgbClr val="29423C"/>
            </a:solidFill>
            <a:prstDash val="solid"/>
            <a:round/>
            <a:headEnd len="sm" w="sm" type="none"/>
            <a:tailEnd len="sm" w="sm" type="none"/>
          </a:ln>
        </p:spPr>
      </p:cxnSp>
      <p:sp>
        <p:nvSpPr>
          <p:cNvPr id="378" name="Google Shape;378;p57"/>
          <p:cNvSpPr/>
          <p:nvPr/>
        </p:nvSpPr>
        <p:spPr>
          <a:xfrm>
            <a:off x="609600" y="6019800"/>
            <a:ext cx="10858500" cy="457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350">
                <a:solidFill>
                  <a:srgbClr val="FFFFFF"/>
                </a:solidFill>
              </a:rPr>
              <a:t>Recommended architecture: keep one document-type index and attach payer metadata. Add a dedicated Medicaid index only when corpus size or access rules require it.</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71512"/>
        </a:solidFill>
      </p:bgPr>
    </p:bg>
    <p:spTree>
      <p:nvGrpSpPr>
        <p:cNvPr id="383" name="Shape 383"/>
        <p:cNvGrpSpPr/>
        <p:nvPr/>
      </p:nvGrpSpPr>
      <p:grpSpPr>
        <a:xfrm>
          <a:off x="0" y="0"/>
          <a:ext cx="0" cy="0"/>
          <a:chOff x="0" y="0"/>
          <a:chExt cx="0" cy="0"/>
        </a:xfrm>
      </p:grpSpPr>
      <p:sp>
        <p:nvSpPr>
          <p:cNvPr id="384" name="Google Shape;384;p58"/>
          <p:cNvSpPr/>
          <p:nvPr/>
        </p:nvSpPr>
        <p:spPr>
          <a:xfrm>
            <a:off x="609600" y="457200"/>
            <a:ext cx="10668000" cy="457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2250">
                <a:solidFill>
                  <a:srgbClr val="F4F8F6"/>
                </a:solidFill>
              </a:rPr>
              <a:t>The six document-type clusters</a:t>
            </a:r>
            <a:endParaRPr/>
          </a:p>
        </p:txBody>
      </p:sp>
      <p:sp>
        <p:nvSpPr>
          <p:cNvPr id="385" name="Google Shape;385;p58"/>
          <p:cNvSpPr/>
          <p:nvPr/>
        </p:nvSpPr>
        <p:spPr>
          <a:xfrm>
            <a:off x="609600" y="1028700"/>
            <a:ext cx="685800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75">
                <a:solidFill>
                  <a:srgbClr val="9CB5AD"/>
                </a:solidFill>
              </a:rPr>
              <a:t>Current reference set: 50 documents</a:t>
            </a:r>
            <a:endParaRPr/>
          </a:p>
        </p:txBody>
      </p:sp>
      <p:sp>
        <p:nvSpPr>
          <p:cNvPr id="386" name="Google Shape;386;p58"/>
          <p:cNvSpPr/>
          <p:nvPr/>
        </p:nvSpPr>
        <p:spPr>
          <a:xfrm>
            <a:off x="609600" y="1800225"/>
            <a:ext cx="76200" cy="400050"/>
          </a:xfrm>
          <a:prstGeom prst="rect">
            <a:avLst/>
          </a:prstGeom>
          <a:solidFill>
            <a:srgbClr val="F2B565"/>
          </a:solidFill>
          <a:ln cap="flat" cmpd="sng" w="9525">
            <a:solidFill>
              <a:srgbClr val="F2B56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 name="Google Shape;387;p58"/>
          <p:cNvSpPr/>
          <p:nvPr/>
        </p:nvSpPr>
        <p:spPr>
          <a:xfrm>
            <a:off x="876300" y="1752600"/>
            <a:ext cx="285750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575">
                <a:solidFill>
                  <a:srgbClr val="F4F8F6"/>
                </a:solidFill>
              </a:rPr>
              <a:t>Policy</a:t>
            </a:r>
            <a:endParaRPr/>
          </a:p>
        </p:txBody>
      </p:sp>
      <p:sp>
        <p:nvSpPr>
          <p:cNvPr id="388" name="Google Shape;388;p58"/>
          <p:cNvSpPr/>
          <p:nvPr/>
        </p:nvSpPr>
        <p:spPr>
          <a:xfrm>
            <a:off x="3390900" y="1771650"/>
            <a:ext cx="85725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rgbClr val="F2B565"/>
                </a:solidFill>
              </a:rPr>
              <a:t>5 docs</a:t>
            </a:r>
            <a:endParaRPr/>
          </a:p>
        </p:txBody>
      </p:sp>
      <p:sp>
        <p:nvSpPr>
          <p:cNvPr id="389" name="Google Shape;389;p58"/>
          <p:cNvSpPr/>
          <p:nvPr/>
        </p:nvSpPr>
        <p:spPr>
          <a:xfrm>
            <a:off x="609600" y="2409825"/>
            <a:ext cx="76200" cy="400050"/>
          </a:xfrm>
          <a:prstGeom prst="rect">
            <a:avLst/>
          </a:prstGeom>
          <a:solidFill>
            <a:srgbClr val="62E6C0"/>
          </a:solidFill>
          <a:ln cap="flat" cmpd="sng" w="9525">
            <a:solidFill>
              <a:srgbClr val="62E6C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 name="Google Shape;390;p58"/>
          <p:cNvSpPr/>
          <p:nvPr/>
        </p:nvSpPr>
        <p:spPr>
          <a:xfrm>
            <a:off x="876300" y="2362200"/>
            <a:ext cx="285750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575">
                <a:solidFill>
                  <a:srgbClr val="F4F8F6"/>
                </a:solidFill>
              </a:rPr>
              <a:t>Clinical guidance</a:t>
            </a:r>
            <a:endParaRPr/>
          </a:p>
        </p:txBody>
      </p:sp>
      <p:sp>
        <p:nvSpPr>
          <p:cNvPr id="391" name="Google Shape;391;p58"/>
          <p:cNvSpPr/>
          <p:nvPr/>
        </p:nvSpPr>
        <p:spPr>
          <a:xfrm>
            <a:off x="3390900" y="2381250"/>
            <a:ext cx="85725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rgbClr val="62E6C0"/>
                </a:solidFill>
              </a:rPr>
              <a:t>10 docs</a:t>
            </a:r>
            <a:endParaRPr/>
          </a:p>
        </p:txBody>
      </p:sp>
      <p:sp>
        <p:nvSpPr>
          <p:cNvPr id="392" name="Google Shape;392;p58"/>
          <p:cNvSpPr/>
          <p:nvPr/>
        </p:nvSpPr>
        <p:spPr>
          <a:xfrm>
            <a:off x="609600" y="3019425"/>
            <a:ext cx="76200" cy="400050"/>
          </a:xfrm>
          <a:prstGeom prst="rect">
            <a:avLst/>
          </a:prstGeom>
          <a:solidFill>
            <a:srgbClr val="85C7F2"/>
          </a:solidFill>
          <a:ln cap="flat" cmpd="sng" w="9525">
            <a:solidFill>
              <a:srgbClr val="85C7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 name="Google Shape;393;p58"/>
          <p:cNvSpPr/>
          <p:nvPr/>
        </p:nvSpPr>
        <p:spPr>
          <a:xfrm>
            <a:off x="876300" y="2971800"/>
            <a:ext cx="285750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575">
                <a:solidFill>
                  <a:srgbClr val="F4F8F6"/>
                </a:solidFill>
              </a:rPr>
              <a:t>Population health</a:t>
            </a:r>
            <a:endParaRPr/>
          </a:p>
        </p:txBody>
      </p:sp>
      <p:sp>
        <p:nvSpPr>
          <p:cNvPr id="394" name="Google Shape;394;p58"/>
          <p:cNvSpPr/>
          <p:nvPr/>
        </p:nvSpPr>
        <p:spPr>
          <a:xfrm>
            <a:off x="3390900" y="2990850"/>
            <a:ext cx="85725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rgbClr val="85C7F2"/>
                </a:solidFill>
              </a:rPr>
              <a:t>7 docs</a:t>
            </a:r>
            <a:endParaRPr/>
          </a:p>
        </p:txBody>
      </p:sp>
      <p:sp>
        <p:nvSpPr>
          <p:cNvPr id="395" name="Google Shape;395;p58"/>
          <p:cNvSpPr/>
          <p:nvPr/>
        </p:nvSpPr>
        <p:spPr>
          <a:xfrm>
            <a:off x="609600" y="3629025"/>
            <a:ext cx="76200" cy="400050"/>
          </a:xfrm>
          <a:prstGeom prst="rect">
            <a:avLst/>
          </a:prstGeom>
          <a:solidFill>
            <a:srgbClr val="C9A7FF"/>
          </a:solidFill>
          <a:ln cap="flat" cmpd="sng" w="9525">
            <a:solidFill>
              <a:srgbClr val="C9A7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 name="Google Shape;396;p58"/>
          <p:cNvSpPr/>
          <p:nvPr/>
        </p:nvSpPr>
        <p:spPr>
          <a:xfrm>
            <a:off x="876300" y="3581400"/>
            <a:ext cx="285750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575">
                <a:solidFill>
                  <a:srgbClr val="F4F8F6"/>
                </a:solidFill>
              </a:rPr>
              <a:t>Benefits research</a:t>
            </a:r>
            <a:endParaRPr/>
          </a:p>
        </p:txBody>
      </p:sp>
      <p:sp>
        <p:nvSpPr>
          <p:cNvPr id="397" name="Google Shape;397;p58"/>
          <p:cNvSpPr/>
          <p:nvPr/>
        </p:nvSpPr>
        <p:spPr>
          <a:xfrm>
            <a:off x="3390900" y="3600450"/>
            <a:ext cx="85725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rgbClr val="C9A7FF"/>
                </a:solidFill>
              </a:rPr>
              <a:t>7 docs</a:t>
            </a:r>
            <a:endParaRPr/>
          </a:p>
        </p:txBody>
      </p:sp>
      <p:sp>
        <p:nvSpPr>
          <p:cNvPr id="398" name="Google Shape;398;p58"/>
          <p:cNvSpPr/>
          <p:nvPr/>
        </p:nvSpPr>
        <p:spPr>
          <a:xfrm>
            <a:off x="609600" y="4238625"/>
            <a:ext cx="76200" cy="400050"/>
          </a:xfrm>
          <a:prstGeom prst="rect">
            <a:avLst/>
          </a:prstGeom>
          <a:solidFill>
            <a:srgbClr val="FF9E9E"/>
          </a:solidFill>
          <a:ln cap="flat" cmpd="sng" w="9525">
            <a:solidFill>
              <a:srgbClr val="FF9E9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 name="Google Shape;399;p58"/>
          <p:cNvSpPr/>
          <p:nvPr/>
        </p:nvSpPr>
        <p:spPr>
          <a:xfrm>
            <a:off x="876300" y="4191000"/>
            <a:ext cx="285750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575">
                <a:solidFill>
                  <a:srgbClr val="F4F8F6"/>
                </a:solidFill>
              </a:rPr>
              <a:t>Forms &amp; directory</a:t>
            </a:r>
            <a:endParaRPr/>
          </a:p>
        </p:txBody>
      </p:sp>
      <p:sp>
        <p:nvSpPr>
          <p:cNvPr id="400" name="Google Shape;400;p58"/>
          <p:cNvSpPr/>
          <p:nvPr/>
        </p:nvSpPr>
        <p:spPr>
          <a:xfrm>
            <a:off x="3390900" y="4210050"/>
            <a:ext cx="85725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rgbClr val="FF9E9E"/>
                </a:solidFill>
              </a:rPr>
              <a:t>7 docs</a:t>
            </a:r>
            <a:endParaRPr/>
          </a:p>
        </p:txBody>
      </p:sp>
      <p:sp>
        <p:nvSpPr>
          <p:cNvPr id="401" name="Google Shape;401;p58"/>
          <p:cNvSpPr/>
          <p:nvPr/>
        </p:nvSpPr>
        <p:spPr>
          <a:xfrm>
            <a:off x="609600" y="4848225"/>
            <a:ext cx="76200" cy="400050"/>
          </a:xfrm>
          <a:prstGeom prst="rect">
            <a:avLst/>
          </a:prstGeom>
          <a:solidFill>
            <a:srgbClr val="D2E66A"/>
          </a:solidFill>
          <a:ln cap="flat" cmpd="sng" w="9525">
            <a:solidFill>
              <a:srgbClr val="D2E6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 name="Google Shape;402;p58"/>
          <p:cNvSpPr/>
          <p:nvPr/>
        </p:nvSpPr>
        <p:spPr>
          <a:xfrm>
            <a:off x="876300" y="4800600"/>
            <a:ext cx="285750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575">
                <a:solidFill>
                  <a:srgbClr val="F4F8F6"/>
                </a:solidFill>
              </a:rPr>
              <a:t>Research</a:t>
            </a:r>
            <a:endParaRPr/>
          </a:p>
        </p:txBody>
      </p:sp>
      <p:sp>
        <p:nvSpPr>
          <p:cNvPr id="403" name="Google Shape;403;p58"/>
          <p:cNvSpPr/>
          <p:nvPr/>
        </p:nvSpPr>
        <p:spPr>
          <a:xfrm>
            <a:off x="3390900" y="4819650"/>
            <a:ext cx="857250" cy="266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rgbClr val="D2E66A"/>
                </a:solidFill>
              </a:rPr>
              <a:t>14 docs</a:t>
            </a:r>
            <a:endParaRPr/>
          </a:p>
        </p:txBody>
      </p:sp>
      <p:cxnSp>
        <p:nvCxnSpPr>
          <p:cNvPr id="404" name="Google Shape;404;p58"/>
          <p:cNvCxnSpPr/>
          <p:nvPr/>
        </p:nvCxnSpPr>
        <p:spPr>
          <a:xfrm>
            <a:off x="4800600" y="1695450"/>
            <a:ext cx="0" cy="3581400"/>
          </a:xfrm>
          <a:prstGeom prst="straightConnector1">
            <a:avLst/>
          </a:prstGeom>
          <a:noFill/>
          <a:ln cap="flat" cmpd="sng" w="14275">
            <a:solidFill>
              <a:srgbClr val="29423C"/>
            </a:solidFill>
            <a:prstDash val="solid"/>
            <a:round/>
            <a:headEnd len="sm" w="sm" type="none"/>
            <a:tailEnd len="sm" w="sm" type="none"/>
          </a:ln>
        </p:spPr>
      </p:cxnSp>
      <p:sp>
        <p:nvSpPr>
          <p:cNvPr id="405" name="Google Shape;405;p58"/>
          <p:cNvSpPr/>
          <p:nvPr/>
        </p:nvSpPr>
        <p:spPr>
          <a:xfrm>
            <a:off x="5410200" y="1752600"/>
            <a:ext cx="5905500" cy="762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2175">
                <a:solidFill>
                  <a:srgbClr val="FFFFFF"/>
                </a:solidFill>
              </a:rPr>
              <a:t>Why don’t we make Medicaid a cluster?</a:t>
            </a:r>
            <a:endParaRPr/>
          </a:p>
        </p:txBody>
      </p:sp>
      <p:sp>
        <p:nvSpPr>
          <p:cNvPr id="406" name="Google Shape;406;p58"/>
          <p:cNvSpPr/>
          <p:nvPr/>
        </p:nvSpPr>
        <p:spPr>
          <a:xfrm>
            <a:off x="5410200" y="2571750"/>
            <a:ext cx="5619750" cy="3619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500">
                <a:solidFill>
                  <a:srgbClr val="B7CEC7"/>
                </a:solidFill>
              </a:rPr>
              <a:t>A Medicaid cluster would mix very different material:</a:t>
            </a:r>
            <a:endParaRPr/>
          </a:p>
        </p:txBody>
      </p:sp>
      <p:sp>
        <p:nvSpPr>
          <p:cNvPr id="407" name="Google Shape;407;p58"/>
          <p:cNvSpPr/>
          <p:nvPr/>
        </p:nvSpPr>
        <p:spPr>
          <a:xfrm>
            <a:off x="5410200" y="3114675"/>
            <a:ext cx="152400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050">
                <a:solidFill>
                  <a:srgbClr val="62E6C0"/>
                </a:solidFill>
              </a:rPr>
              <a:t>EXAMPLES</a:t>
            </a:r>
            <a:endParaRPr/>
          </a:p>
        </p:txBody>
      </p:sp>
      <p:sp>
        <p:nvSpPr>
          <p:cNvPr id="408" name="Google Shape;408;p58"/>
          <p:cNvSpPr/>
          <p:nvPr/>
        </p:nvSpPr>
        <p:spPr>
          <a:xfrm>
            <a:off x="5410200" y="3429000"/>
            <a:ext cx="5810250" cy="1428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163">
                <a:solidFill>
                  <a:srgbClr val="F4F8F6"/>
                </a:solidFill>
              </a:rPr>
              <a:t>• Kentucky prior-authorization criteria  →  policy</a:t>
            </a:r>
            <a:endParaRPr/>
          </a:p>
          <a:p>
            <a:pPr indent="0" lvl="0" marL="0" marR="0" rtl="0" algn="l">
              <a:spcBef>
                <a:spcPts val="0"/>
              </a:spcBef>
              <a:spcAft>
                <a:spcPts val="0"/>
              </a:spcAft>
              <a:buNone/>
            </a:pPr>
            <a:r>
              <a:rPr lang="en-US" sz="1163">
                <a:solidFill>
                  <a:srgbClr val="F4F8F6"/>
                </a:solidFill>
              </a:rPr>
              <a:t>• TennCare preferred drug list  →  policy</a:t>
            </a:r>
            <a:endParaRPr/>
          </a:p>
          <a:p>
            <a:pPr indent="0" lvl="0" marL="0" marR="0" rtl="0" algn="l">
              <a:spcBef>
                <a:spcPts val="0"/>
              </a:spcBef>
              <a:spcAft>
                <a:spcPts val="0"/>
              </a:spcAft>
              <a:buNone/>
            </a:pPr>
            <a:r>
              <a:rPr lang="en-US" sz="1163">
                <a:solidFill>
                  <a:srgbClr val="F4F8F6"/>
                </a:solidFill>
              </a:rPr>
              <a:t>• Kentucky Medicaid application  →  forms_directory</a:t>
            </a:r>
            <a:endParaRPr/>
          </a:p>
          <a:p>
            <a:pPr indent="0" lvl="0" marL="0" marR="0" rtl="0" algn="l">
              <a:spcBef>
                <a:spcPts val="0"/>
              </a:spcBef>
              <a:spcAft>
                <a:spcPts val="0"/>
              </a:spcAft>
              <a:buNone/>
            </a:pPr>
            <a:r>
              <a:rPr lang="en-US" sz="1163">
                <a:solidFill>
                  <a:srgbClr val="F4F8F6"/>
                </a:solidFill>
              </a:rPr>
              <a:t>• Washington Medicaid optical providers  →  forms_directory</a:t>
            </a:r>
            <a:endParaRPr/>
          </a:p>
          <a:p>
            <a:pPr indent="0" lvl="0" marL="0" marR="0" rtl="0" algn="l">
              <a:spcBef>
                <a:spcPts val="0"/>
              </a:spcBef>
              <a:spcAft>
                <a:spcPts val="0"/>
              </a:spcAft>
              <a:buNone/>
            </a:pPr>
            <a:r>
              <a:rPr lang="en-US" sz="1163">
                <a:solidFill>
                  <a:srgbClr val="F4F8F6"/>
                </a:solidFill>
              </a:rPr>
              <a:t>• Medicaid utilization research  →  research</a:t>
            </a:r>
            <a:endParaRPr/>
          </a:p>
        </p:txBody>
      </p:sp>
      <p:cxnSp>
        <p:nvCxnSpPr>
          <p:cNvPr id="409" name="Google Shape;409;p58"/>
          <p:cNvCxnSpPr/>
          <p:nvPr/>
        </p:nvCxnSpPr>
        <p:spPr>
          <a:xfrm>
            <a:off x="609600" y="5810250"/>
            <a:ext cx="10972800" cy="0"/>
          </a:xfrm>
          <a:prstGeom prst="straightConnector1">
            <a:avLst/>
          </a:prstGeom>
          <a:noFill/>
          <a:ln cap="flat" cmpd="sng" w="9525">
            <a:solidFill>
              <a:srgbClr val="29423C"/>
            </a:solidFill>
            <a:prstDash val="solid"/>
            <a:round/>
            <a:headEnd len="sm" w="sm" type="none"/>
            <a:tailEnd len="sm" w="sm" type="none"/>
          </a:ln>
        </p:spPr>
      </p:cxnSp>
      <p:sp>
        <p:nvSpPr>
          <p:cNvPr id="410" name="Google Shape;410;p58"/>
          <p:cNvSpPr/>
          <p:nvPr/>
        </p:nvSpPr>
        <p:spPr>
          <a:xfrm>
            <a:off x="609600" y="6048375"/>
            <a:ext cx="10858500" cy="4000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575">
                <a:solidFill>
                  <a:srgbClr val="62E6C0"/>
                </a:solidFill>
              </a:rPr>
              <a:t>Use Medicaid as a payer filter, then route by document type.</a:t>
            </a:r>
            <a:endParaRPr/>
          </a:p>
        </p:txBody>
      </p:sp>
      <p:sp>
        <p:nvSpPr>
          <p:cNvPr id="411" name="Google Shape;411;p58"/>
          <p:cNvSpPr/>
          <p:nvPr/>
        </p:nvSpPr>
        <p:spPr>
          <a:xfrm>
            <a:off x="5410200" y="5000625"/>
            <a:ext cx="5810250" cy="552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275">
                <a:solidFill>
                  <a:srgbClr val="F2B565"/>
                </a:solidFill>
              </a:rPr>
              <a:t>Putting everything into one Medicaid cluster could reduce retrieval precision.</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6" name="Shape 416"/>
        <p:cNvGrpSpPr/>
        <p:nvPr/>
      </p:nvGrpSpPr>
      <p:grpSpPr>
        <a:xfrm>
          <a:off x="0" y="0"/>
          <a:ext cx="0" cy="0"/>
          <a:chOff x="0" y="0"/>
          <a:chExt cx="0" cy="0"/>
        </a:xfrm>
      </p:grpSpPr>
      <p:pic>
        <p:nvPicPr>
          <p:cNvPr id="417" name="Google Shape;417;p59"/>
          <p:cNvPicPr preferRelativeResize="0"/>
          <p:nvPr/>
        </p:nvPicPr>
        <p:blipFill>
          <a:blip r:embed="rId3">
            <a:alphaModFix/>
          </a:blip>
          <a:stretch>
            <a:fillRect/>
          </a:stretch>
        </p:blipFill>
        <p:spPr>
          <a:xfrm>
            <a:off x="152400" y="1079900"/>
            <a:ext cx="11619876" cy="5625699"/>
          </a:xfrm>
          <a:prstGeom prst="rect">
            <a:avLst/>
          </a:prstGeom>
          <a:noFill/>
          <a:ln>
            <a:noFill/>
          </a:ln>
        </p:spPr>
      </p:pic>
      <p:sp>
        <p:nvSpPr>
          <p:cNvPr id="418" name="Google Shape;418;p59"/>
          <p:cNvSpPr txBox="1"/>
          <p:nvPr/>
        </p:nvSpPr>
        <p:spPr>
          <a:xfrm>
            <a:off x="445325" y="322850"/>
            <a:ext cx="6412800" cy="831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US">
                <a:solidFill>
                  <a:schemeClr val="dk1"/>
                </a:solidFill>
              </a:rPr>
              <a:t>Agent Memory</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	Why? Store the prompt, store </a:t>
            </a:r>
            <a:r>
              <a:rPr lang="en-US" u="sng">
                <a:solidFill>
                  <a:schemeClr val="hlink"/>
                </a:solidFill>
                <a:hlinkClick r:id="rId4"/>
              </a:rPr>
              <a:t>skills.md</a:t>
            </a:r>
            <a:r>
              <a:rPr lang="en-US">
                <a:solidFill>
                  <a:schemeClr val="dk1"/>
                </a:solidFill>
              </a:rPr>
              <a:t>, </a:t>
            </a:r>
            <a:r>
              <a:rPr lang="en-US" u="sng">
                <a:solidFill>
                  <a:schemeClr val="hlink"/>
                </a:solidFill>
                <a:hlinkClick r:id="rId5"/>
              </a:rPr>
              <a:t>user.md</a:t>
            </a:r>
            <a:r>
              <a:rPr lang="en-US">
                <a:solidFill>
                  <a:schemeClr val="dk1"/>
                </a:solidFill>
              </a:rPr>
              <a:t>, </a:t>
            </a:r>
            <a:r>
              <a:rPr lang="en-US" u="sng">
                <a:solidFill>
                  <a:schemeClr val="hlink"/>
                </a:solidFill>
                <a:hlinkClick r:id="rId6"/>
              </a:rPr>
              <a:t>xx.md</a:t>
            </a:r>
            <a:r>
              <a:rPr lang="en-US">
                <a:solidFill>
                  <a:schemeClr val="dk1"/>
                </a:solidFill>
              </a:rPr>
              <a:t>,  store RAG chunks, all of these have different memory requirements. </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3" name="Shape 423"/>
        <p:cNvGrpSpPr/>
        <p:nvPr/>
      </p:nvGrpSpPr>
      <p:grpSpPr>
        <a:xfrm>
          <a:off x="0" y="0"/>
          <a:ext cx="0" cy="0"/>
          <a:chOff x="0" y="0"/>
          <a:chExt cx="0" cy="0"/>
        </a:xfrm>
      </p:grpSpPr>
      <p:pic>
        <p:nvPicPr>
          <p:cNvPr id="424" name="Google Shape;424;p60"/>
          <p:cNvPicPr preferRelativeResize="0"/>
          <p:nvPr/>
        </p:nvPicPr>
        <p:blipFill>
          <a:blip r:embed="rId3">
            <a:alphaModFix/>
          </a:blip>
          <a:stretch>
            <a:fillRect/>
          </a:stretch>
        </p:blipFill>
        <p:spPr>
          <a:xfrm>
            <a:off x="152400" y="152400"/>
            <a:ext cx="11887201" cy="5060349"/>
          </a:xfrm>
          <a:prstGeom prst="rect">
            <a:avLst/>
          </a:prstGeom>
          <a:noFill/>
          <a:ln>
            <a:noFill/>
          </a:ln>
        </p:spPr>
      </p:pic>
      <p:sp>
        <p:nvSpPr>
          <p:cNvPr id="425" name="Google Shape;425;p60"/>
          <p:cNvSpPr txBox="1"/>
          <p:nvPr/>
        </p:nvSpPr>
        <p:spPr>
          <a:xfrm>
            <a:off x="3890600" y="5787125"/>
            <a:ext cx="62424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All the .md files take up context memory</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pic>
        <p:nvPicPr>
          <p:cNvPr id="431" name="Google Shape;431;p61"/>
          <p:cNvPicPr preferRelativeResize="0"/>
          <p:nvPr/>
        </p:nvPicPr>
        <p:blipFill>
          <a:blip r:embed="rId3">
            <a:alphaModFix/>
          </a:blip>
          <a:stretch>
            <a:fillRect/>
          </a:stretch>
        </p:blipFill>
        <p:spPr>
          <a:xfrm>
            <a:off x="152400" y="152400"/>
            <a:ext cx="11887201" cy="5472175"/>
          </a:xfrm>
          <a:prstGeom prst="rect">
            <a:avLst/>
          </a:prstGeom>
          <a:noFill/>
          <a:ln>
            <a:noFill/>
          </a:ln>
        </p:spPr>
      </p:pic>
      <p:sp>
        <p:nvSpPr>
          <p:cNvPr id="432" name="Google Shape;432;p61"/>
          <p:cNvSpPr txBox="1"/>
          <p:nvPr/>
        </p:nvSpPr>
        <p:spPr>
          <a:xfrm>
            <a:off x="3912275" y="6198950"/>
            <a:ext cx="6242400" cy="61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RAG systems select data from documents not crawled by bots and add to context window. Can fine tune into model </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pic>
        <p:nvPicPr>
          <p:cNvPr id="438" name="Google Shape;438;p62"/>
          <p:cNvPicPr preferRelativeResize="0"/>
          <p:nvPr/>
        </p:nvPicPr>
        <p:blipFill>
          <a:blip r:embed="rId3">
            <a:alphaModFix/>
          </a:blip>
          <a:stretch>
            <a:fillRect/>
          </a:stretch>
        </p:blipFill>
        <p:spPr>
          <a:xfrm>
            <a:off x="152400" y="152400"/>
            <a:ext cx="11887201" cy="5244600"/>
          </a:xfrm>
          <a:prstGeom prst="rect">
            <a:avLst/>
          </a:prstGeom>
          <a:noFill/>
          <a:ln>
            <a:noFill/>
          </a:ln>
        </p:spPr>
      </p:pic>
      <p:sp>
        <p:nvSpPr>
          <p:cNvPr id="439" name="Google Shape;439;p62"/>
          <p:cNvSpPr txBox="1"/>
          <p:nvPr/>
        </p:nvSpPr>
        <p:spPr>
          <a:xfrm>
            <a:off x="5689600" y="6068900"/>
            <a:ext cx="62424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Logs, records traces. path of agent. </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pic>
        <p:nvPicPr>
          <p:cNvPr id="445" name="Google Shape;445;p63"/>
          <p:cNvPicPr preferRelativeResize="0"/>
          <p:nvPr/>
        </p:nvPicPr>
        <p:blipFill>
          <a:blip r:embed="rId3">
            <a:alphaModFix/>
          </a:blip>
          <a:stretch>
            <a:fillRect/>
          </a:stretch>
        </p:blipFill>
        <p:spPr>
          <a:xfrm>
            <a:off x="152400" y="152400"/>
            <a:ext cx="11814221" cy="6553201"/>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pic>
        <p:nvPicPr>
          <p:cNvPr id="451" name="Google Shape;451;p64" title="context_window_filling.png"/>
          <p:cNvPicPr preferRelativeResize="0"/>
          <p:nvPr/>
        </p:nvPicPr>
        <p:blipFill>
          <a:blip r:embed="rId3">
            <a:alphaModFix/>
          </a:blip>
          <a:stretch>
            <a:fillRect/>
          </a:stretch>
        </p:blipFill>
        <p:spPr>
          <a:xfrm>
            <a:off x="152400" y="152400"/>
            <a:ext cx="11650133" cy="655320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6" name="Shape 456"/>
        <p:cNvGrpSpPr/>
        <p:nvPr/>
      </p:nvGrpSpPr>
      <p:grpSpPr>
        <a:xfrm>
          <a:off x="0" y="0"/>
          <a:ext cx="0" cy="0"/>
          <a:chOff x="0" y="0"/>
          <a:chExt cx="0" cy="0"/>
        </a:xfrm>
      </p:grpSpPr>
      <p:pic>
        <p:nvPicPr>
          <p:cNvPr id="457" name="Google Shape;457;p65"/>
          <p:cNvPicPr preferRelativeResize="0"/>
          <p:nvPr/>
        </p:nvPicPr>
        <p:blipFill>
          <a:blip r:embed="rId3">
            <a:alphaModFix/>
          </a:blip>
          <a:stretch>
            <a:fillRect/>
          </a:stretch>
        </p:blipFill>
        <p:spPr>
          <a:xfrm>
            <a:off x="152400" y="152400"/>
            <a:ext cx="11953024" cy="6612675"/>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2" name="Shape 462"/>
        <p:cNvGrpSpPr/>
        <p:nvPr/>
      </p:nvGrpSpPr>
      <p:grpSpPr>
        <a:xfrm>
          <a:off x="0" y="0"/>
          <a:ext cx="0" cy="0"/>
          <a:chOff x="0" y="0"/>
          <a:chExt cx="0" cy="0"/>
        </a:xfrm>
      </p:grpSpPr>
      <p:sp>
        <p:nvSpPr>
          <p:cNvPr id="463" name="Google Shape;463;p66"/>
          <p:cNvSpPr txBox="1"/>
          <p:nvPr/>
        </p:nvSpPr>
        <p:spPr>
          <a:xfrm>
            <a:off x="371700" y="1189475"/>
            <a:ext cx="7136700" cy="508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Not all tokens used</a:t>
            </a:r>
            <a:endParaRPr/>
          </a:p>
          <a:p>
            <a:pPr indent="0" lvl="0" marL="0" rtl="0" algn="l">
              <a:spcBef>
                <a:spcPts val="0"/>
              </a:spcBef>
              <a:spcAft>
                <a:spcPts val="0"/>
              </a:spcAft>
              <a:buNone/>
            </a:pPr>
            <a:r>
              <a:t/>
            </a:r>
            <a:endParaRPr/>
          </a:p>
          <a:p>
            <a:pPr indent="0" lvl="0" marL="0" rtl="0" algn="l">
              <a:spcBef>
                <a:spcPts val="0"/>
              </a:spcBef>
              <a:spcAft>
                <a:spcPts val="0"/>
              </a:spcAft>
              <a:buNone/>
            </a:pPr>
            <a:r>
              <a:rPr b="1" lang="en-US" sz="1500">
                <a:solidFill>
                  <a:schemeClr val="dk1"/>
                </a:solidFill>
              </a:rPr>
              <a:t>Horizontal axis:</a:t>
            </a:r>
            <a:r>
              <a:rPr lang="en-US" sz="1500">
                <a:solidFill>
                  <a:schemeClr val="dk1"/>
                </a:solidFill>
              </a:rPr>
              <a:t> context length, from 1,000 to 200,000 tokens.</a:t>
            </a:r>
            <a:endParaRPr sz="1500">
              <a:solidFill>
                <a:schemeClr val="dk1"/>
              </a:solidFill>
            </a:endParaRPr>
          </a:p>
          <a:p>
            <a:pPr indent="0" lvl="0" marL="0" rtl="0" algn="l">
              <a:spcBef>
                <a:spcPts val="0"/>
              </a:spcBef>
              <a:spcAft>
                <a:spcPts val="0"/>
              </a:spcAft>
              <a:buClr>
                <a:schemeClr val="dk1"/>
              </a:buClr>
              <a:buSzPts val="1100"/>
              <a:buFont typeface="Arial"/>
              <a:buNone/>
            </a:pPr>
            <a:r>
              <a:rPr b="1" lang="en-US" sz="1500">
                <a:solidFill>
                  <a:schemeClr val="dk1"/>
                </a:solidFill>
              </a:rPr>
              <a:t>Vertical axis:</a:t>
            </a:r>
            <a:r>
              <a:rPr lang="en-US" sz="1500">
                <a:solidFill>
                  <a:schemeClr val="dk1"/>
                </a:solidFill>
              </a:rPr>
              <a:t> where the hidden fact—the “needle”—was placed in the document.</a:t>
            </a:r>
            <a:endParaRPr sz="1500">
              <a:solidFill>
                <a:schemeClr val="dk1"/>
              </a:solidFill>
            </a:endParaRPr>
          </a:p>
          <a:p>
            <a:pPr indent="-323850" lvl="0" marL="457200" rtl="0" algn="l">
              <a:lnSpc>
                <a:spcPct val="115000"/>
              </a:lnSpc>
              <a:spcBef>
                <a:spcPts val="1200"/>
              </a:spcBef>
              <a:spcAft>
                <a:spcPts val="0"/>
              </a:spcAft>
              <a:buClr>
                <a:schemeClr val="dk1"/>
              </a:buClr>
              <a:buSzPts val="1500"/>
              <a:buChar char="●"/>
            </a:pPr>
            <a:r>
              <a:rPr lang="en-US" sz="1500">
                <a:solidFill>
                  <a:schemeClr val="dk1"/>
                </a:solidFill>
              </a:rPr>
              <a:t>Top = beginning of the prompt.</a:t>
            </a:r>
            <a:endParaRPr sz="1500">
              <a:solidFill>
                <a:schemeClr val="dk1"/>
              </a:solidFill>
            </a:endParaRPr>
          </a:p>
          <a:p>
            <a:pPr indent="-323850" lvl="0" marL="457200" rtl="0" algn="l">
              <a:lnSpc>
                <a:spcPct val="115000"/>
              </a:lnSpc>
              <a:spcBef>
                <a:spcPts val="0"/>
              </a:spcBef>
              <a:spcAft>
                <a:spcPts val="0"/>
              </a:spcAft>
              <a:buClr>
                <a:schemeClr val="dk1"/>
              </a:buClr>
              <a:buSzPts val="1500"/>
              <a:buChar char="●"/>
            </a:pPr>
            <a:r>
              <a:rPr lang="en-US" sz="1500">
                <a:solidFill>
                  <a:schemeClr val="dk1"/>
                </a:solidFill>
              </a:rPr>
              <a:t>Bottom = end of the prompt.</a:t>
            </a:r>
            <a:endParaRPr sz="1500">
              <a:solidFill>
                <a:schemeClr val="dk1"/>
              </a:solidFill>
            </a:endParaRPr>
          </a:p>
          <a:p>
            <a:pPr indent="0" lvl="0" marL="0" rtl="0" algn="l">
              <a:lnSpc>
                <a:spcPct val="115000"/>
              </a:lnSpc>
              <a:spcBef>
                <a:spcPts val="1200"/>
              </a:spcBef>
              <a:spcAft>
                <a:spcPts val="0"/>
              </a:spcAft>
              <a:buNone/>
            </a:pPr>
            <a:r>
              <a:rPr b="1" lang="en-US" sz="1500">
                <a:solidFill>
                  <a:schemeClr val="dk1"/>
                </a:solidFill>
              </a:rPr>
              <a:t>Green:</a:t>
            </a:r>
            <a:r>
              <a:rPr lang="en-US" sz="1500">
                <a:solidFill>
                  <a:schemeClr val="dk1"/>
                </a:solidFill>
              </a:rPr>
              <a:t> the model retrieved the fact correctly.</a:t>
            </a:r>
            <a:endParaRPr sz="1500">
              <a:solidFill>
                <a:schemeClr val="dk1"/>
              </a:solidFill>
            </a:endParaRPr>
          </a:p>
          <a:p>
            <a:pPr indent="0" lvl="0" marL="0" rtl="0" algn="l">
              <a:lnSpc>
                <a:spcPct val="115000"/>
              </a:lnSpc>
              <a:spcBef>
                <a:spcPts val="1200"/>
              </a:spcBef>
              <a:spcAft>
                <a:spcPts val="0"/>
              </a:spcAft>
              <a:buNone/>
            </a:pPr>
            <a:r>
              <a:rPr b="1" lang="en-US" sz="1500">
                <a:solidFill>
                  <a:schemeClr val="dk1"/>
                </a:solidFill>
              </a:rPr>
              <a:t>Yellow:</a:t>
            </a:r>
            <a:r>
              <a:rPr lang="en-US" sz="1500">
                <a:solidFill>
                  <a:schemeClr val="dk1"/>
                </a:solidFill>
              </a:rPr>
              <a:t> partial accuracy.</a:t>
            </a:r>
            <a:endParaRPr sz="1500">
              <a:solidFill>
                <a:schemeClr val="dk1"/>
              </a:solidFill>
            </a:endParaRPr>
          </a:p>
          <a:p>
            <a:pPr indent="0" lvl="0" marL="0" rtl="0" algn="l">
              <a:lnSpc>
                <a:spcPct val="115000"/>
              </a:lnSpc>
              <a:spcBef>
                <a:spcPts val="1200"/>
              </a:spcBef>
              <a:spcAft>
                <a:spcPts val="0"/>
              </a:spcAft>
              <a:buNone/>
            </a:pPr>
            <a:r>
              <a:rPr b="1" lang="en-US" sz="1500">
                <a:solidFill>
                  <a:schemeClr val="dk1"/>
                </a:solidFill>
              </a:rPr>
              <a:t>Pink:</a:t>
            </a:r>
            <a:r>
              <a:rPr lang="en-US" sz="1500">
                <a:solidFill>
                  <a:schemeClr val="dk1"/>
                </a:solidFill>
              </a:rPr>
              <a:t> retrieval failed.</a:t>
            </a:r>
            <a:endParaRPr sz="1500">
              <a:solidFill>
                <a:schemeClr val="dk1"/>
              </a:solidFill>
            </a:endParaRPr>
          </a:p>
          <a:p>
            <a:pPr indent="0" lvl="0" marL="0" rtl="0" algn="l">
              <a:lnSpc>
                <a:spcPct val="115000"/>
              </a:lnSpc>
              <a:spcBef>
                <a:spcPts val="1200"/>
              </a:spcBef>
              <a:spcAft>
                <a:spcPts val="0"/>
              </a:spcAft>
              <a:buNone/>
            </a:pPr>
            <a:r>
              <a:t/>
            </a:r>
            <a:endParaRPr sz="1500">
              <a:solidFill>
                <a:schemeClr val="dk1"/>
              </a:solidFill>
            </a:endParaRPr>
          </a:p>
          <a:p>
            <a:pPr indent="0" lvl="0" marL="0" rtl="0" algn="l">
              <a:lnSpc>
                <a:spcPct val="115000"/>
              </a:lnSpc>
              <a:spcBef>
                <a:spcPts val="1200"/>
              </a:spcBef>
              <a:spcAft>
                <a:spcPts val="0"/>
              </a:spcAft>
              <a:buNone/>
            </a:pPr>
            <a:r>
              <a:rPr b="1" lang="en-US" sz="1500">
                <a:solidFill>
                  <a:schemeClr val="dk1"/>
                </a:solidFill>
              </a:rPr>
              <a:t>RAG:</a:t>
            </a:r>
            <a:endParaRPr b="1" sz="15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b="1" lang="en-US" sz="1500">
                <a:solidFill>
                  <a:schemeClr val="dk1"/>
                </a:solidFill>
              </a:rPr>
              <a:t>Retrieving more documents &lt;&lt;&lt; Giving the LLM a better answer context</a:t>
            </a:r>
            <a:endParaRPr b="1" sz="1500">
              <a:solidFill>
                <a:schemeClr val="dk1"/>
              </a:solidFill>
            </a:endParaRPr>
          </a:p>
          <a:p>
            <a:pPr indent="0" lvl="0" marL="0" rtl="0" algn="l">
              <a:lnSpc>
                <a:spcPct val="115000"/>
              </a:lnSpc>
              <a:spcBef>
                <a:spcPts val="1200"/>
              </a:spcBef>
              <a:spcAft>
                <a:spcPts val="0"/>
              </a:spcAft>
              <a:buNone/>
            </a:pPr>
            <a:r>
              <a:t/>
            </a:r>
            <a:endParaRPr sz="1500">
              <a:solidFill>
                <a:schemeClr val="dk1"/>
              </a:solidFill>
            </a:endParaRPr>
          </a:p>
          <a:p>
            <a:pPr indent="0" lvl="0" marL="0" rtl="0" algn="l">
              <a:spcBef>
                <a:spcPts val="1200"/>
              </a:spcBef>
              <a:spcAft>
                <a:spcPts val="0"/>
              </a:spcAft>
              <a:buNone/>
            </a:pPr>
            <a:r>
              <a:t/>
            </a:r>
            <a:endParaRPr sz="1500">
              <a:solidFill>
                <a:schemeClr val="dk1"/>
              </a:solidFill>
            </a:endParaRPr>
          </a:p>
        </p:txBody>
      </p:sp>
      <p:sp>
        <p:nvSpPr>
          <p:cNvPr id="464" name="Google Shape;464;p66"/>
          <p:cNvSpPr txBox="1"/>
          <p:nvPr/>
        </p:nvSpPr>
        <p:spPr>
          <a:xfrm>
            <a:off x="8388200" y="1722250"/>
            <a:ext cx="3828600" cy="1800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1300">
                <a:solidFill>
                  <a:schemeClr val="dk1"/>
                </a:solidFill>
              </a:rPr>
              <a:t>DOTTED LINE</a:t>
            </a:r>
            <a:endParaRPr b="1" sz="1300">
              <a:solidFill>
                <a:schemeClr val="dk1"/>
              </a:solidFill>
            </a:endParaRPr>
          </a:p>
          <a:p>
            <a:pPr indent="0" lvl="0" marL="0" rtl="0" algn="l">
              <a:spcBef>
                <a:spcPts val="0"/>
              </a:spcBef>
              <a:spcAft>
                <a:spcPts val="0"/>
              </a:spcAft>
              <a:buNone/>
            </a:pPr>
            <a:r>
              <a:t/>
            </a:r>
            <a:endParaRPr b="1" sz="1300">
              <a:solidFill>
                <a:schemeClr val="dk1"/>
              </a:solidFill>
            </a:endParaRPr>
          </a:p>
          <a:p>
            <a:pPr indent="0" lvl="0" marL="0" rtl="0" algn="l">
              <a:spcBef>
                <a:spcPts val="0"/>
              </a:spcBef>
              <a:spcAft>
                <a:spcPts val="0"/>
              </a:spcAft>
              <a:buClr>
                <a:schemeClr val="dk1"/>
              </a:buClr>
              <a:buSzPts val="1100"/>
              <a:buFont typeface="Arial"/>
              <a:buNone/>
            </a:pPr>
            <a:r>
              <a:rPr lang="en-US" sz="1300">
                <a:solidFill>
                  <a:schemeClr val="dk1"/>
                </a:solidFill>
              </a:rPr>
              <a:t>Context lengths are roughly </a:t>
            </a:r>
            <a:r>
              <a:rPr b="1" lang="en-US" sz="1300">
                <a:solidFill>
                  <a:schemeClr val="dk1"/>
                </a:solidFill>
              </a:rPr>
              <a:t>83K–200K tokens</a:t>
            </a:r>
            <a:r>
              <a:rPr lang="en-US" sz="1300">
                <a:solidFill>
                  <a:schemeClr val="dk1"/>
                </a:solidFill>
              </a:rPr>
              <a:t>.</a:t>
            </a:r>
            <a:endParaRPr sz="1300">
              <a:solidFill>
                <a:schemeClr val="dk1"/>
              </a:solidFill>
            </a:endParaRPr>
          </a:p>
          <a:p>
            <a:pPr indent="0" lvl="0" marL="0" rtl="0" algn="l">
              <a:spcBef>
                <a:spcPts val="0"/>
              </a:spcBef>
              <a:spcAft>
                <a:spcPts val="0"/>
              </a:spcAft>
              <a:buClr>
                <a:schemeClr val="dk1"/>
              </a:buClr>
              <a:buSzPts val="1100"/>
              <a:buFont typeface="Arial"/>
              <a:buNone/>
            </a:pPr>
            <a:r>
              <a:rPr lang="en-US" sz="1300">
                <a:solidFill>
                  <a:schemeClr val="dk1"/>
                </a:solidFill>
              </a:rPr>
              <a:t>Most cells are pink, indicating </a:t>
            </a:r>
            <a:r>
              <a:rPr b="1" lang="en-US" sz="1300">
                <a:solidFill>
                  <a:schemeClr val="dk1"/>
                </a:solidFill>
              </a:rPr>
              <a:t>0% retrieval accuracy</a:t>
            </a:r>
            <a:r>
              <a:rPr lang="en-US" sz="1300">
                <a:solidFill>
                  <a:schemeClr val="dk1"/>
                </a:solidFill>
              </a:rPr>
              <a:t>.</a:t>
            </a:r>
            <a:endParaRPr sz="1300">
              <a:solidFill>
                <a:schemeClr val="dk1"/>
              </a:solidFill>
            </a:endParaRPr>
          </a:p>
          <a:p>
            <a:pPr indent="0" lvl="0" marL="0" rtl="0" algn="l">
              <a:spcBef>
                <a:spcPts val="0"/>
              </a:spcBef>
              <a:spcAft>
                <a:spcPts val="0"/>
              </a:spcAft>
              <a:buClr>
                <a:schemeClr val="dk1"/>
              </a:buClr>
              <a:buSzPts val="1100"/>
              <a:buFont typeface="Arial"/>
              <a:buNone/>
            </a:pPr>
            <a:r>
              <a:rPr lang="en-US" sz="1300">
                <a:solidFill>
                  <a:schemeClr val="dk1"/>
                </a:solidFill>
              </a:rPr>
              <a:t>The diagonal boundary expands downward as context length increases.</a:t>
            </a:r>
            <a:endParaRPr sz="1300">
              <a:solidFill>
                <a:schemeClr val="dk1"/>
              </a:solidFill>
            </a:endParaRPr>
          </a:p>
          <a:p>
            <a:pPr indent="0" lvl="0" marL="0" rtl="0" algn="l">
              <a:spcBef>
                <a:spcPts val="0"/>
              </a:spcBef>
              <a:spcAft>
                <a:spcPts val="0"/>
              </a:spcAft>
              <a:buNone/>
            </a:pPr>
            <a:r>
              <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9" name="Shape 469"/>
        <p:cNvGrpSpPr/>
        <p:nvPr/>
      </p:nvGrpSpPr>
      <p:grpSpPr>
        <a:xfrm>
          <a:off x="0" y="0"/>
          <a:ext cx="0" cy="0"/>
          <a:chOff x="0" y="0"/>
          <a:chExt cx="0" cy="0"/>
        </a:xfrm>
      </p:grpSpPr>
      <p:pic>
        <p:nvPicPr>
          <p:cNvPr id="470" name="Google Shape;470;p67"/>
          <p:cNvPicPr preferRelativeResize="0"/>
          <p:nvPr/>
        </p:nvPicPr>
        <p:blipFill>
          <a:blip r:embed="rId3">
            <a:alphaModFix/>
          </a:blip>
          <a:stretch>
            <a:fillRect/>
          </a:stretch>
        </p:blipFill>
        <p:spPr>
          <a:xfrm>
            <a:off x="152400" y="152400"/>
            <a:ext cx="11650135" cy="6553201"/>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5" name="Shape 475"/>
        <p:cNvGrpSpPr/>
        <p:nvPr/>
      </p:nvGrpSpPr>
      <p:grpSpPr>
        <a:xfrm>
          <a:off x="0" y="0"/>
          <a:ext cx="0" cy="0"/>
          <a:chOff x="0" y="0"/>
          <a:chExt cx="0" cy="0"/>
        </a:xfrm>
      </p:grpSpPr>
      <p:pic>
        <p:nvPicPr>
          <p:cNvPr id="476" name="Google Shape;476;p68"/>
          <p:cNvPicPr preferRelativeResize="0"/>
          <p:nvPr/>
        </p:nvPicPr>
        <p:blipFill>
          <a:blip r:embed="rId3">
            <a:alphaModFix/>
          </a:blip>
          <a:stretch>
            <a:fillRect/>
          </a:stretch>
        </p:blipFill>
        <p:spPr>
          <a:xfrm>
            <a:off x="152400" y="152400"/>
            <a:ext cx="6507756" cy="6553201"/>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1" name="Shape 481"/>
        <p:cNvGrpSpPr/>
        <p:nvPr/>
      </p:nvGrpSpPr>
      <p:grpSpPr>
        <a:xfrm>
          <a:off x="0" y="0"/>
          <a:ext cx="0" cy="0"/>
          <a:chOff x="0" y="0"/>
          <a:chExt cx="0" cy="0"/>
        </a:xfrm>
      </p:grpSpPr>
      <p:pic>
        <p:nvPicPr>
          <p:cNvPr id="482" name="Google Shape;482;p69"/>
          <p:cNvPicPr preferRelativeResize="0"/>
          <p:nvPr/>
        </p:nvPicPr>
        <p:blipFill>
          <a:blip r:embed="rId3">
            <a:alphaModFix/>
          </a:blip>
          <a:stretch>
            <a:fillRect/>
          </a:stretch>
        </p:blipFill>
        <p:spPr>
          <a:xfrm>
            <a:off x="876000" y="228000"/>
            <a:ext cx="6842313" cy="6553201"/>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7" name="Shape 487"/>
        <p:cNvGrpSpPr/>
        <p:nvPr/>
      </p:nvGrpSpPr>
      <p:grpSpPr>
        <a:xfrm>
          <a:off x="0" y="0"/>
          <a:ext cx="0" cy="0"/>
          <a:chOff x="0" y="0"/>
          <a:chExt cx="0" cy="0"/>
        </a:xfrm>
      </p:grpSpPr>
      <p:sp>
        <p:nvSpPr>
          <p:cNvPr id="488" name="Google Shape;488;p70"/>
          <p:cNvSpPr txBox="1"/>
          <p:nvPr/>
        </p:nvSpPr>
        <p:spPr>
          <a:xfrm>
            <a:off x="1144800" y="367200"/>
            <a:ext cx="6220800" cy="831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Turn on multiquery when you have a </a:t>
            </a:r>
            <a:r>
              <a:rPr lang="en-US"/>
              <a:t>retrieval</a:t>
            </a:r>
            <a:r>
              <a:rPr lang="en-US"/>
              <a:t> </a:t>
            </a:r>
            <a:r>
              <a:rPr lang="en-US"/>
              <a:t>error. Cant get the right chunk</a:t>
            </a:r>
            <a:endParaRPr/>
          </a:p>
          <a:p>
            <a:pPr indent="0" lvl="0" marL="0" rtl="0" algn="l">
              <a:spcBef>
                <a:spcPts val="0"/>
              </a:spcBef>
              <a:spcAft>
                <a:spcPts val="0"/>
              </a:spcAft>
              <a:buNone/>
            </a:pPr>
            <a:r>
              <a:rPr lang="en-US"/>
              <a:t>Turn on CRAG when have retrieval error</a:t>
            </a:r>
            <a:endParaRPr/>
          </a:p>
          <a:p>
            <a:pPr indent="0" lvl="0" marL="0" rtl="0" algn="l">
              <a:spcBef>
                <a:spcPts val="0"/>
              </a:spcBef>
              <a:spcAft>
                <a:spcPts val="0"/>
              </a:spcAft>
              <a:buNone/>
            </a:pPr>
            <a:r>
              <a:rPr lang="en-US"/>
              <a:t>Turn on KIND</a:t>
            </a:r>
            <a:endParaRPr/>
          </a:p>
        </p:txBody>
      </p:sp>
      <p:pic>
        <p:nvPicPr>
          <p:cNvPr id="489" name="Google Shape;489;p70" title="Screenshot 2026-10-16 at 6.26.57 AM.png"/>
          <p:cNvPicPr preferRelativeResize="0"/>
          <p:nvPr/>
        </p:nvPicPr>
        <p:blipFill>
          <a:blip r:embed="rId3">
            <a:alphaModFix/>
          </a:blip>
          <a:stretch>
            <a:fillRect/>
          </a:stretch>
        </p:blipFill>
        <p:spPr>
          <a:xfrm>
            <a:off x="735600" y="1558750"/>
            <a:ext cx="4392002" cy="5299241"/>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4" name="Shape 494"/>
        <p:cNvGrpSpPr/>
        <p:nvPr/>
      </p:nvGrpSpPr>
      <p:grpSpPr>
        <a:xfrm>
          <a:off x="0" y="0"/>
          <a:ext cx="0" cy="0"/>
          <a:chOff x="0" y="0"/>
          <a:chExt cx="0" cy="0"/>
        </a:xfrm>
      </p:grpSpPr>
      <p:pic>
        <p:nvPicPr>
          <p:cNvPr id="495" name="Google Shape;495;p71"/>
          <p:cNvPicPr preferRelativeResize="0"/>
          <p:nvPr/>
        </p:nvPicPr>
        <p:blipFill>
          <a:blip r:embed="rId3">
            <a:alphaModFix/>
          </a:blip>
          <a:stretch>
            <a:fillRect/>
          </a:stretch>
        </p:blipFill>
        <p:spPr>
          <a:xfrm>
            <a:off x="152400" y="152400"/>
            <a:ext cx="6355705" cy="6553199"/>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0" name="Shape 500"/>
        <p:cNvGrpSpPr/>
        <p:nvPr/>
      </p:nvGrpSpPr>
      <p:grpSpPr>
        <a:xfrm>
          <a:off x="0" y="0"/>
          <a:ext cx="0" cy="0"/>
          <a:chOff x="0" y="0"/>
          <a:chExt cx="0" cy="0"/>
        </a:xfrm>
      </p:grpSpPr>
      <p:sp>
        <p:nvSpPr>
          <p:cNvPr id="501" name="Google Shape;501;p72"/>
          <p:cNvSpPr txBox="1"/>
          <p:nvPr/>
        </p:nvSpPr>
        <p:spPr>
          <a:xfrm>
            <a:off x="3906550" y="105075"/>
            <a:ext cx="5501700" cy="61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Agentic Search </a:t>
            </a:r>
            <a:endParaRPr/>
          </a:p>
          <a:p>
            <a:pPr indent="0" lvl="0" marL="0" rtl="0" algn="l">
              <a:spcBef>
                <a:spcPts val="0"/>
              </a:spcBef>
              <a:spcAft>
                <a:spcPts val="0"/>
              </a:spcAft>
              <a:buNone/>
            </a:pPr>
            <a:r>
              <a:t/>
            </a:r>
            <a:endParaRPr/>
          </a:p>
        </p:txBody>
      </p:sp>
      <p:pic>
        <p:nvPicPr>
          <p:cNvPr id="502" name="Google Shape;502;p72"/>
          <p:cNvPicPr preferRelativeResize="0"/>
          <p:nvPr/>
        </p:nvPicPr>
        <p:blipFill>
          <a:blip r:embed="rId3">
            <a:alphaModFix/>
          </a:blip>
          <a:stretch>
            <a:fillRect/>
          </a:stretch>
        </p:blipFill>
        <p:spPr>
          <a:xfrm>
            <a:off x="152400" y="873075"/>
            <a:ext cx="11887200" cy="5547360"/>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7" name="Shape 507"/>
        <p:cNvGrpSpPr/>
        <p:nvPr/>
      </p:nvGrpSpPr>
      <p:grpSpPr>
        <a:xfrm>
          <a:off x="0" y="0"/>
          <a:ext cx="0" cy="0"/>
          <a:chOff x="0" y="0"/>
          <a:chExt cx="0" cy="0"/>
        </a:xfrm>
      </p:grpSpPr>
      <p:pic>
        <p:nvPicPr>
          <p:cNvPr id="508" name="Google Shape;508;p73"/>
          <p:cNvPicPr preferRelativeResize="0"/>
          <p:nvPr/>
        </p:nvPicPr>
        <p:blipFill>
          <a:blip r:embed="rId3">
            <a:alphaModFix/>
          </a:blip>
          <a:stretch>
            <a:fillRect/>
          </a:stretch>
        </p:blipFill>
        <p:spPr>
          <a:xfrm>
            <a:off x="152400" y="152400"/>
            <a:ext cx="6739325" cy="6553199"/>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3" name="Shape 513"/>
        <p:cNvGrpSpPr/>
        <p:nvPr/>
      </p:nvGrpSpPr>
      <p:grpSpPr>
        <a:xfrm>
          <a:off x="0" y="0"/>
          <a:ext cx="0" cy="0"/>
          <a:chOff x="0" y="0"/>
          <a:chExt cx="0" cy="0"/>
        </a:xfrm>
      </p:grpSpPr>
      <p:pic>
        <p:nvPicPr>
          <p:cNvPr id="514" name="Google Shape;514;p74"/>
          <p:cNvPicPr preferRelativeResize="0"/>
          <p:nvPr/>
        </p:nvPicPr>
        <p:blipFill>
          <a:blip r:embed="rId3">
            <a:alphaModFix/>
          </a:blip>
          <a:stretch>
            <a:fillRect/>
          </a:stretch>
        </p:blipFill>
        <p:spPr>
          <a:xfrm>
            <a:off x="152400" y="152400"/>
            <a:ext cx="5693763" cy="6553199"/>
          </a:xfrm>
          <a:prstGeom prst="rect">
            <a:avLst/>
          </a:prstGeom>
          <a:noFill/>
          <a:ln>
            <a:noFill/>
          </a:ln>
        </p:spPr>
      </p:pic>
      <p:pic>
        <p:nvPicPr>
          <p:cNvPr id="515" name="Google Shape;515;p74"/>
          <p:cNvPicPr preferRelativeResize="0"/>
          <p:nvPr/>
        </p:nvPicPr>
        <p:blipFill>
          <a:blip r:embed="rId4">
            <a:alphaModFix/>
          </a:blip>
          <a:stretch>
            <a:fillRect/>
          </a:stretch>
        </p:blipFill>
        <p:spPr>
          <a:xfrm>
            <a:off x="5998563" y="152400"/>
            <a:ext cx="6041036" cy="5175582"/>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0" name="Shape 520"/>
        <p:cNvGrpSpPr/>
        <p:nvPr/>
      </p:nvGrpSpPr>
      <p:grpSpPr>
        <a:xfrm>
          <a:off x="0" y="0"/>
          <a:ext cx="0" cy="0"/>
          <a:chOff x="0" y="0"/>
          <a:chExt cx="0" cy="0"/>
        </a:xfrm>
      </p:grpSpPr>
      <p:pic>
        <p:nvPicPr>
          <p:cNvPr id="521" name="Google Shape;521;p75"/>
          <p:cNvPicPr preferRelativeResize="0"/>
          <p:nvPr/>
        </p:nvPicPr>
        <p:blipFill>
          <a:blip r:embed="rId3">
            <a:alphaModFix/>
          </a:blip>
          <a:stretch>
            <a:fillRect/>
          </a:stretch>
        </p:blipFill>
        <p:spPr>
          <a:xfrm>
            <a:off x="152400" y="152400"/>
            <a:ext cx="8948144" cy="6553199"/>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pic>
        <p:nvPicPr>
          <p:cNvPr id="527" name="Google Shape;527;p76"/>
          <p:cNvPicPr preferRelativeResize="0"/>
          <p:nvPr/>
        </p:nvPicPr>
        <p:blipFill>
          <a:blip r:embed="rId3">
            <a:alphaModFix/>
          </a:blip>
          <a:stretch>
            <a:fillRect/>
          </a:stretch>
        </p:blipFill>
        <p:spPr>
          <a:xfrm>
            <a:off x="152400" y="152400"/>
            <a:ext cx="7768438" cy="6553200"/>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2" name="Shape 532"/>
        <p:cNvGrpSpPr/>
        <p:nvPr/>
      </p:nvGrpSpPr>
      <p:grpSpPr>
        <a:xfrm>
          <a:off x="0" y="0"/>
          <a:ext cx="0" cy="0"/>
          <a:chOff x="0" y="0"/>
          <a:chExt cx="0" cy="0"/>
        </a:xfrm>
      </p:grpSpPr>
      <p:pic>
        <p:nvPicPr>
          <p:cNvPr id="533" name="Google Shape;533;p77"/>
          <p:cNvPicPr preferRelativeResize="0"/>
          <p:nvPr/>
        </p:nvPicPr>
        <p:blipFill>
          <a:blip r:embed="rId3">
            <a:alphaModFix/>
          </a:blip>
          <a:stretch>
            <a:fillRect/>
          </a:stretch>
        </p:blipFill>
        <p:spPr>
          <a:xfrm>
            <a:off x="152400" y="152400"/>
            <a:ext cx="5873154" cy="6553203"/>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8" name="Shape 538"/>
        <p:cNvGrpSpPr/>
        <p:nvPr/>
      </p:nvGrpSpPr>
      <p:grpSpPr>
        <a:xfrm>
          <a:off x="0" y="0"/>
          <a:ext cx="0" cy="0"/>
          <a:chOff x="0" y="0"/>
          <a:chExt cx="0" cy="0"/>
        </a:xfrm>
      </p:grpSpPr>
      <p:pic>
        <p:nvPicPr>
          <p:cNvPr id="539" name="Google Shape;539;p78"/>
          <p:cNvPicPr preferRelativeResize="0"/>
          <p:nvPr/>
        </p:nvPicPr>
        <p:blipFill>
          <a:blip r:embed="rId3">
            <a:alphaModFix/>
          </a:blip>
          <a:stretch>
            <a:fillRect/>
          </a:stretch>
        </p:blipFill>
        <p:spPr>
          <a:xfrm>
            <a:off x="152400" y="152400"/>
            <a:ext cx="6998561" cy="6553198"/>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4" name="Shape 544"/>
        <p:cNvGrpSpPr/>
        <p:nvPr/>
      </p:nvGrpSpPr>
      <p:grpSpPr>
        <a:xfrm>
          <a:off x="0" y="0"/>
          <a:ext cx="0" cy="0"/>
          <a:chOff x="0" y="0"/>
          <a:chExt cx="0" cy="0"/>
        </a:xfrm>
      </p:grpSpPr>
      <p:pic>
        <p:nvPicPr>
          <p:cNvPr id="545" name="Google Shape;545;p79"/>
          <p:cNvPicPr preferRelativeResize="0"/>
          <p:nvPr/>
        </p:nvPicPr>
        <p:blipFill>
          <a:blip r:embed="rId3">
            <a:alphaModFix/>
          </a:blip>
          <a:stretch>
            <a:fillRect/>
          </a:stretch>
        </p:blipFill>
        <p:spPr>
          <a:xfrm>
            <a:off x="152400" y="152400"/>
            <a:ext cx="6864299" cy="6553198"/>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pic>
        <p:nvPicPr>
          <p:cNvPr id="551" name="Google Shape;551;p80"/>
          <p:cNvPicPr preferRelativeResize="0"/>
          <p:nvPr/>
        </p:nvPicPr>
        <p:blipFill>
          <a:blip r:embed="rId3">
            <a:alphaModFix/>
          </a:blip>
          <a:stretch>
            <a:fillRect/>
          </a:stretch>
        </p:blipFill>
        <p:spPr>
          <a:xfrm>
            <a:off x="152400" y="152400"/>
            <a:ext cx="5459659" cy="6553199"/>
          </a:xfrm>
          <a:prstGeom prst="rect">
            <a:avLst/>
          </a:prstGeom>
          <a:noFill/>
          <a:ln>
            <a:noFill/>
          </a:ln>
        </p:spPr>
      </p:pic>
      <p:pic>
        <p:nvPicPr>
          <p:cNvPr id="552" name="Google Shape;552;p80"/>
          <p:cNvPicPr preferRelativeResize="0"/>
          <p:nvPr/>
        </p:nvPicPr>
        <p:blipFill>
          <a:blip r:embed="rId4">
            <a:alphaModFix/>
          </a:blip>
          <a:stretch>
            <a:fillRect/>
          </a:stretch>
        </p:blipFill>
        <p:spPr>
          <a:xfrm>
            <a:off x="5764459" y="152400"/>
            <a:ext cx="6275141" cy="6027939"/>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7" name="Shape 557"/>
        <p:cNvGrpSpPr/>
        <p:nvPr/>
      </p:nvGrpSpPr>
      <p:grpSpPr>
        <a:xfrm>
          <a:off x="0" y="0"/>
          <a:ext cx="0" cy="0"/>
          <a:chOff x="0" y="0"/>
          <a:chExt cx="0" cy="0"/>
        </a:xfrm>
      </p:grpSpPr>
      <p:pic>
        <p:nvPicPr>
          <p:cNvPr id="558" name="Google Shape;558;p81"/>
          <p:cNvPicPr preferRelativeResize="0"/>
          <p:nvPr/>
        </p:nvPicPr>
        <p:blipFill>
          <a:blip r:embed="rId3">
            <a:alphaModFix/>
          </a:blip>
          <a:stretch>
            <a:fillRect/>
          </a:stretch>
        </p:blipFill>
        <p:spPr>
          <a:xfrm>
            <a:off x="152400" y="152400"/>
            <a:ext cx="9095045" cy="6553199"/>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3" name="Shape 563"/>
        <p:cNvGrpSpPr/>
        <p:nvPr/>
      </p:nvGrpSpPr>
      <p:grpSpPr>
        <a:xfrm>
          <a:off x="0" y="0"/>
          <a:ext cx="0" cy="0"/>
          <a:chOff x="0" y="0"/>
          <a:chExt cx="0" cy="0"/>
        </a:xfrm>
      </p:grpSpPr>
      <p:sp>
        <p:nvSpPr>
          <p:cNvPr id="564" name="Google Shape;564;p82"/>
          <p:cNvSpPr txBox="1"/>
          <p:nvPr/>
        </p:nvSpPr>
        <p:spPr>
          <a:xfrm>
            <a:off x="1639550" y="1452175"/>
            <a:ext cx="7979100" cy="1046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index ──► retrieve / rerank ──► top-k ──► assemble context ──► [context] ──► LLM</a:t>
            </a:r>
            <a:endParaRPr/>
          </a:p>
          <a:p>
            <a:pPr indent="0" lvl="0" marL="0" rtl="0" algn="l">
              <a:spcBef>
                <a:spcPts val="0"/>
              </a:spcBef>
              <a:spcAft>
                <a:spcPts val="0"/>
              </a:spcAft>
              <a:buNone/>
            </a:pPr>
            <a:r>
              <a:rPr lang="en-US"/>
              <a:t>          (A) retrieval miss:             (B) assembly loss:</a:t>
            </a:r>
            <a:endParaRPr/>
          </a:p>
          <a:p>
            <a:pPr indent="0" lvl="0" marL="0" rtl="0" algn="l">
              <a:spcBef>
                <a:spcPts val="0"/>
              </a:spcBef>
              <a:spcAft>
                <a:spcPts val="0"/>
              </a:spcAft>
              <a:buNone/>
            </a:pPr>
            <a:r>
              <a:rPr lang="en-US"/>
              <a:t>          right chunk not in top-k        right chunk/table WAS found,</a:t>
            </a:r>
            <a:endParaRPr/>
          </a:p>
          <a:p>
            <a:pPr indent="0" lvl="0" marL="0" rtl="0" algn="l">
              <a:spcBef>
                <a:spcPts val="0"/>
              </a:spcBef>
              <a:spcAft>
                <a:spcPts val="0"/>
              </a:spcAft>
              <a:buNone/>
            </a:pPr>
            <a:r>
              <a:rPr lang="en-US"/>
              <a:t>                                          but the fact still isn't in the context</a:t>
            </a:r>
            <a:endParaRPr/>
          </a:p>
        </p:txBody>
      </p:sp>
      <p:pic>
        <p:nvPicPr>
          <p:cNvPr id="565" name="Google Shape;565;p82"/>
          <p:cNvPicPr preferRelativeResize="0"/>
          <p:nvPr/>
        </p:nvPicPr>
        <p:blipFill>
          <a:blip r:embed="rId3">
            <a:alphaModFix/>
          </a:blip>
          <a:stretch>
            <a:fillRect/>
          </a:stretch>
        </p:blipFill>
        <p:spPr>
          <a:xfrm>
            <a:off x="972400" y="3291500"/>
            <a:ext cx="8646238" cy="4054324"/>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0" name="Shape 570"/>
        <p:cNvGrpSpPr/>
        <p:nvPr/>
      </p:nvGrpSpPr>
      <p:grpSpPr>
        <a:xfrm>
          <a:off x="0" y="0"/>
          <a:ext cx="0" cy="0"/>
          <a:chOff x="0" y="0"/>
          <a:chExt cx="0" cy="0"/>
        </a:xfrm>
      </p:grpSpPr>
      <p:pic>
        <p:nvPicPr>
          <p:cNvPr id="571" name="Google Shape;571;p83"/>
          <p:cNvPicPr preferRelativeResize="0"/>
          <p:nvPr/>
        </p:nvPicPr>
        <p:blipFill>
          <a:blip r:embed="rId3">
            <a:alphaModFix/>
          </a:blip>
          <a:stretch>
            <a:fillRect/>
          </a:stretch>
        </p:blipFill>
        <p:spPr>
          <a:xfrm>
            <a:off x="152400" y="152400"/>
            <a:ext cx="8388531" cy="6553202"/>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84"/>
          <p:cNvSpPr txBox="1"/>
          <p:nvPr/>
        </p:nvSpPr>
        <p:spPr>
          <a:xfrm>
            <a:off x="796350" y="718275"/>
            <a:ext cx="5501700" cy="3201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Evals</a:t>
            </a:r>
            <a:endParaRPr/>
          </a:p>
          <a:p>
            <a:pPr indent="0" lvl="0" marL="0" rtl="0" algn="l">
              <a:spcBef>
                <a:spcPts val="0"/>
              </a:spcBef>
              <a:spcAft>
                <a:spcPts val="0"/>
              </a:spcAft>
              <a:buNone/>
            </a:pPr>
            <a:r>
              <a:rPr lang="en-US"/>
              <a:t>Evals are hard because there are different levels of evals and each level corresponds to a different system architecture. </a:t>
            </a:r>
            <a:endParaRPr/>
          </a:p>
          <a:p>
            <a:pPr indent="-317500" lvl="0" marL="457200" rtl="0" algn="l">
              <a:spcBef>
                <a:spcPts val="0"/>
              </a:spcBef>
              <a:spcAft>
                <a:spcPts val="0"/>
              </a:spcAft>
              <a:buSzPts val="1400"/>
              <a:buAutoNum type="arabicParenR"/>
            </a:pPr>
            <a:r>
              <a:rPr lang="en-US"/>
              <a:t>Hard because trying to match a set of evals with an incorrect system architecture means the RAG system won’t work</a:t>
            </a:r>
            <a:endParaRPr/>
          </a:p>
          <a:p>
            <a:pPr indent="-317500" lvl="0" marL="457200" rtl="0" algn="l">
              <a:spcBef>
                <a:spcPts val="0"/>
              </a:spcBef>
              <a:spcAft>
                <a:spcPts val="0"/>
              </a:spcAft>
              <a:buSzPts val="1400"/>
              <a:buAutoNum type="arabicParenR"/>
            </a:pPr>
            <a:r>
              <a:rPr lang="en-US"/>
              <a:t>Hard because not all the failure modes or set of evals exist before the system is build. Constant </a:t>
            </a:r>
            <a:r>
              <a:rPr lang="en-US"/>
              <a:t>iteration</a:t>
            </a:r>
            <a:endParaRPr/>
          </a:p>
          <a:p>
            <a:pPr indent="-317500" lvl="0" marL="457200" rtl="0" algn="l">
              <a:spcBef>
                <a:spcPts val="0"/>
              </a:spcBef>
              <a:spcAft>
                <a:spcPts val="0"/>
              </a:spcAft>
              <a:buSzPts val="1400"/>
              <a:buAutoNum type="arabicParenR"/>
            </a:pPr>
            <a:r>
              <a:rPr lang="en-US"/>
              <a:t>Error analysis is hard and tedious. </a:t>
            </a:r>
            <a:endParaRPr/>
          </a:p>
          <a:p>
            <a:pPr indent="-317500" lvl="0" marL="457200" rtl="0" algn="l">
              <a:spcBef>
                <a:spcPts val="0"/>
              </a:spcBef>
              <a:spcAft>
                <a:spcPts val="0"/>
              </a:spcAft>
              <a:buSzPts val="1400"/>
              <a:buAutoNum type="arabicParenR"/>
            </a:pPr>
            <a:r>
              <a:rPr lang="en-US"/>
              <a:t>LLMs can generate evals but by definition a RAG system has data which the LLM hasn’t seen before so any evals are from a similar distribution. </a:t>
            </a:r>
            <a:endParaRPr/>
          </a:p>
          <a:p>
            <a:pPr indent="-317500" lvl="0" marL="457200" rtl="0" algn="l">
              <a:spcBef>
                <a:spcPts val="0"/>
              </a:spcBef>
              <a:spcAft>
                <a:spcPts val="0"/>
              </a:spcAft>
              <a:buSzPts val="1400"/>
              <a:buAutoNum type="arabicParenR"/>
            </a:pPr>
            <a:r>
              <a:rPr lang="en-US"/>
              <a:t>LLM evals </a:t>
            </a:r>
            <a:r>
              <a:rPr lang="en-US"/>
              <a:t>only</a:t>
            </a:r>
            <a:r>
              <a:rPr lang="en-US"/>
              <a:t> good for short horizon single document tasks</a:t>
            </a:r>
            <a:endParaRPr/>
          </a:p>
          <a:p>
            <a:pPr indent="-317500" lvl="0" marL="457200" rtl="0" algn="l">
              <a:spcBef>
                <a:spcPts val="0"/>
              </a:spcBef>
              <a:spcAft>
                <a:spcPts val="0"/>
              </a:spcAft>
              <a:buSzPts val="1400"/>
              <a:buAutoNum type="arabicParenR"/>
            </a:pPr>
            <a:r>
              <a:rPr lang="en-US"/>
              <a:t>Have to look at data when other side is a real human. We cover that in policy chatbot demo.  </a:t>
            </a:r>
            <a:endParaRPr/>
          </a:p>
        </p:txBody>
      </p:sp>
      <p:sp>
        <p:nvSpPr>
          <p:cNvPr id="578" name="Google Shape;578;p84"/>
          <p:cNvSpPr txBox="1"/>
          <p:nvPr/>
        </p:nvSpPr>
        <p:spPr>
          <a:xfrm>
            <a:off x="874425" y="3997375"/>
            <a:ext cx="5501700" cy="61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Evals1: simple questions answered by a single document. For example: xx. All of the demos in the geha repo are of this type. </a:t>
            </a:r>
            <a:endParaRPr/>
          </a:p>
        </p:txBody>
      </p:sp>
      <p:sp>
        <p:nvSpPr>
          <p:cNvPr id="579" name="Google Shape;579;p84"/>
          <p:cNvSpPr txBox="1"/>
          <p:nvPr/>
        </p:nvSpPr>
        <p:spPr>
          <a:xfrm>
            <a:off x="999325" y="4715675"/>
            <a:ext cx="5501700" cy="1262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Evals 2: more complex questions requiring multi hop agentic search to solve them. This includes an agentic fraud investigator in ~/geha/hapi/fraud. These evals </a:t>
            </a:r>
            <a:r>
              <a:rPr lang="en-US"/>
              <a:t>require</a:t>
            </a:r>
            <a:r>
              <a:rPr lang="en-US"/>
              <a:t> combining queries against several datasources. The evals are common fraud patterns found in most of the common cases like duplicate claims, miscoding, etc..</a:t>
            </a:r>
            <a:endParaRPr/>
          </a:p>
        </p:txBody>
      </p:sp>
      <p:sp>
        <p:nvSpPr>
          <p:cNvPr id="580" name="Google Shape;580;p84"/>
          <p:cNvSpPr txBox="1"/>
          <p:nvPr/>
        </p:nvSpPr>
        <p:spPr>
          <a:xfrm>
            <a:off x="999325" y="6080475"/>
            <a:ext cx="5501700" cy="61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Evals3: an eval </a:t>
            </a:r>
            <a:r>
              <a:rPr lang="en-US"/>
              <a:t>requiring</a:t>
            </a:r>
            <a:r>
              <a:rPr lang="en-US"/>
              <a:t> a long horizon task with exploration where the goal is not always clear like: </a:t>
            </a:r>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pic>
        <p:nvPicPr>
          <p:cNvPr id="586" name="Google Shape;586;p85"/>
          <p:cNvPicPr preferRelativeResize="0"/>
          <p:nvPr/>
        </p:nvPicPr>
        <p:blipFill>
          <a:blip r:embed="rId3">
            <a:alphaModFix/>
          </a:blip>
          <a:stretch>
            <a:fillRect/>
          </a:stretch>
        </p:blipFill>
        <p:spPr>
          <a:xfrm>
            <a:off x="152400" y="152400"/>
            <a:ext cx="11887202" cy="5690682"/>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1" name="Shape 591"/>
        <p:cNvGrpSpPr/>
        <p:nvPr/>
      </p:nvGrpSpPr>
      <p:grpSpPr>
        <a:xfrm>
          <a:off x="0" y="0"/>
          <a:ext cx="0" cy="0"/>
          <a:chOff x="0" y="0"/>
          <a:chExt cx="0" cy="0"/>
        </a:xfrm>
      </p:grpSpPr>
      <p:pic>
        <p:nvPicPr>
          <p:cNvPr id="592" name="Google Shape;592;p86"/>
          <p:cNvPicPr preferRelativeResize="0"/>
          <p:nvPr/>
        </p:nvPicPr>
        <p:blipFill>
          <a:blip r:embed="rId3">
            <a:alphaModFix/>
          </a:blip>
          <a:stretch>
            <a:fillRect/>
          </a:stretch>
        </p:blipFill>
        <p:spPr>
          <a:xfrm>
            <a:off x="152400" y="152400"/>
            <a:ext cx="8777605" cy="6553202"/>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7" name="Shape 597"/>
        <p:cNvGrpSpPr/>
        <p:nvPr/>
      </p:nvGrpSpPr>
      <p:grpSpPr>
        <a:xfrm>
          <a:off x="0" y="0"/>
          <a:ext cx="0" cy="0"/>
          <a:chOff x="0" y="0"/>
          <a:chExt cx="0" cy="0"/>
        </a:xfrm>
      </p:grpSpPr>
      <p:pic>
        <p:nvPicPr>
          <p:cNvPr id="598" name="Google Shape;598;p87"/>
          <p:cNvPicPr preferRelativeResize="0"/>
          <p:nvPr/>
        </p:nvPicPr>
        <p:blipFill>
          <a:blip r:embed="rId3">
            <a:alphaModFix/>
          </a:blip>
          <a:stretch>
            <a:fillRect/>
          </a:stretch>
        </p:blipFill>
        <p:spPr>
          <a:xfrm>
            <a:off x="152400" y="152400"/>
            <a:ext cx="11650133" cy="6553200"/>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3" name="Shape 603"/>
        <p:cNvGrpSpPr/>
        <p:nvPr/>
      </p:nvGrpSpPr>
      <p:grpSpPr>
        <a:xfrm>
          <a:off x="0" y="0"/>
          <a:ext cx="0" cy="0"/>
          <a:chOff x="0" y="0"/>
          <a:chExt cx="0" cy="0"/>
        </a:xfrm>
      </p:grpSpPr>
      <p:pic>
        <p:nvPicPr>
          <p:cNvPr id="604" name="Google Shape;604;p88"/>
          <p:cNvPicPr preferRelativeResize="0"/>
          <p:nvPr/>
        </p:nvPicPr>
        <p:blipFill>
          <a:blip r:embed="rId3">
            <a:alphaModFix/>
          </a:blip>
          <a:stretch>
            <a:fillRect/>
          </a:stretch>
        </p:blipFill>
        <p:spPr>
          <a:xfrm>
            <a:off x="152400" y="152400"/>
            <a:ext cx="11539942" cy="6553200"/>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9" name="Shape 609"/>
        <p:cNvGrpSpPr/>
        <p:nvPr/>
      </p:nvGrpSpPr>
      <p:grpSpPr>
        <a:xfrm>
          <a:off x="0" y="0"/>
          <a:ext cx="0" cy="0"/>
          <a:chOff x="0" y="0"/>
          <a:chExt cx="0" cy="0"/>
        </a:xfrm>
      </p:grpSpPr>
      <p:pic>
        <p:nvPicPr>
          <p:cNvPr id="610" name="Google Shape;610;p89"/>
          <p:cNvPicPr preferRelativeResize="0"/>
          <p:nvPr/>
        </p:nvPicPr>
        <p:blipFill>
          <a:blip r:embed="rId3">
            <a:alphaModFix/>
          </a:blip>
          <a:stretch>
            <a:fillRect/>
          </a:stretch>
        </p:blipFill>
        <p:spPr>
          <a:xfrm>
            <a:off x="173500" y="574275"/>
            <a:ext cx="10531931" cy="6553201"/>
          </a:xfrm>
          <a:prstGeom prst="rect">
            <a:avLst/>
          </a:prstGeom>
          <a:noFill/>
          <a:ln>
            <a:noFill/>
          </a:ln>
        </p:spPr>
      </p:pic>
      <p:sp>
        <p:nvSpPr>
          <p:cNvPr id="611" name="Google Shape;611;p89"/>
          <p:cNvSpPr txBox="1"/>
          <p:nvPr/>
        </p:nvSpPr>
        <p:spPr>
          <a:xfrm>
            <a:off x="4492900" y="274225"/>
            <a:ext cx="77412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table aware rag</a:t>
            </a:r>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pic>
        <p:nvPicPr>
          <p:cNvPr id="617" name="Google Shape;617;p90"/>
          <p:cNvPicPr preferRelativeResize="0"/>
          <p:nvPr/>
        </p:nvPicPr>
        <p:blipFill>
          <a:blip r:embed="rId3">
            <a:alphaModFix/>
          </a:blip>
          <a:stretch>
            <a:fillRect/>
          </a:stretch>
        </p:blipFill>
        <p:spPr>
          <a:xfrm>
            <a:off x="152400" y="152400"/>
            <a:ext cx="11650133" cy="6553200"/>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pic>
        <p:nvPicPr>
          <p:cNvPr id="623" name="Google Shape;623;p91"/>
          <p:cNvPicPr preferRelativeResize="0"/>
          <p:nvPr/>
        </p:nvPicPr>
        <p:blipFill>
          <a:blip r:embed="rId3">
            <a:alphaModFix/>
          </a:blip>
          <a:stretch>
            <a:fillRect/>
          </a:stretch>
        </p:blipFill>
        <p:spPr>
          <a:xfrm>
            <a:off x="152400" y="152400"/>
            <a:ext cx="7357349" cy="6553201"/>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8" name="Shape 628"/>
        <p:cNvGrpSpPr/>
        <p:nvPr/>
      </p:nvGrpSpPr>
      <p:grpSpPr>
        <a:xfrm>
          <a:off x="0" y="0"/>
          <a:ext cx="0" cy="0"/>
          <a:chOff x="0" y="0"/>
          <a:chExt cx="0" cy="0"/>
        </a:xfrm>
      </p:grpSpPr>
      <p:pic>
        <p:nvPicPr>
          <p:cNvPr id="629" name="Google Shape;629;p92"/>
          <p:cNvPicPr preferRelativeResize="0"/>
          <p:nvPr/>
        </p:nvPicPr>
        <p:blipFill>
          <a:blip r:embed="rId3">
            <a:alphaModFix/>
          </a:blip>
          <a:stretch>
            <a:fillRect/>
          </a:stretch>
        </p:blipFill>
        <p:spPr>
          <a:xfrm>
            <a:off x="721925" y="152400"/>
            <a:ext cx="3906962" cy="6553201"/>
          </a:xfrm>
          <a:prstGeom prst="rect">
            <a:avLst/>
          </a:prstGeom>
          <a:noFill/>
          <a:ln>
            <a:noFill/>
          </a:ln>
        </p:spPr>
      </p:pic>
      <p:pic>
        <p:nvPicPr>
          <p:cNvPr id="630" name="Google Shape;630;p92"/>
          <p:cNvPicPr preferRelativeResize="0"/>
          <p:nvPr/>
        </p:nvPicPr>
        <p:blipFill>
          <a:blip r:embed="rId4">
            <a:alphaModFix/>
          </a:blip>
          <a:stretch>
            <a:fillRect/>
          </a:stretch>
        </p:blipFill>
        <p:spPr>
          <a:xfrm>
            <a:off x="6131262" y="152400"/>
            <a:ext cx="4424315" cy="6553200"/>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pic>
        <p:nvPicPr>
          <p:cNvPr id="636" name="Google Shape;636;p93" title="bbox-drawing.gif"/>
          <p:cNvPicPr preferRelativeResize="0"/>
          <p:nvPr/>
        </p:nvPicPr>
        <p:blipFill>
          <a:blip r:embed="rId3">
            <a:alphaModFix/>
          </a:blip>
          <a:stretch>
            <a:fillRect/>
          </a:stretch>
        </p:blipFill>
        <p:spPr>
          <a:xfrm>
            <a:off x="152400" y="152400"/>
            <a:ext cx="8060518" cy="6553201"/>
          </a:xfrm>
          <a:prstGeom prst="rect">
            <a:avLst/>
          </a:prstGeom>
          <a:noFill/>
          <a:ln>
            <a:noFill/>
          </a:ln>
        </p:spPr>
      </p:pic>
      <p:sp>
        <p:nvSpPr>
          <p:cNvPr id="637" name="Google Shape;637;p93"/>
          <p:cNvSpPr txBox="1"/>
          <p:nvPr/>
        </p:nvSpPr>
        <p:spPr>
          <a:xfrm>
            <a:off x="8548500" y="2218050"/>
            <a:ext cx="3429000" cy="1339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500"/>
              <a:t>LLM controls the app</a:t>
            </a:r>
            <a:endParaRPr b="1" sz="2500"/>
          </a:p>
          <a:p>
            <a:pPr indent="0" lvl="0" marL="0" rtl="0" algn="l">
              <a:spcBef>
                <a:spcPts val="0"/>
              </a:spcBef>
              <a:spcAft>
                <a:spcPts val="0"/>
              </a:spcAft>
              <a:buNone/>
            </a:pPr>
            <a:r>
              <a:rPr b="1" lang="en-US" sz="2500"/>
              <a:t>Automating drawing</a:t>
            </a:r>
            <a:endParaRPr b="1" sz="2500"/>
          </a:p>
          <a:p>
            <a:pPr indent="0" lvl="0" marL="0" rtl="0" algn="l">
              <a:spcBef>
                <a:spcPts val="0"/>
              </a:spcBef>
              <a:spcAft>
                <a:spcPts val="0"/>
              </a:spcAft>
              <a:buNone/>
            </a:pPr>
            <a:r>
              <a:rPr b="1" lang="en-US" sz="2500"/>
              <a:t>bounding boxes </a:t>
            </a:r>
            <a:endParaRPr b="1" sz="2500"/>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2" name="Shape 642"/>
        <p:cNvGrpSpPr/>
        <p:nvPr/>
      </p:nvGrpSpPr>
      <p:grpSpPr>
        <a:xfrm>
          <a:off x="0" y="0"/>
          <a:ext cx="0" cy="0"/>
          <a:chOff x="0" y="0"/>
          <a:chExt cx="0" cy="0"/>
        </a:xfrm>
      </p:grpSpPr>
      <p:pic>
        <p:nvPicPr>
          <p:cNvPr id="643" name="Google Shape;643;p94" title="ChatGPT GIF Oct 21, 2026, 07_46_49 AM.gif"/>
          <p:cNvPicPr preferRelativeResize="0"/>
          <p:nvPr/>
        </p:nvPicPr>
        <p:blipFill>
          <a:blip r:embed="rId3">
            <a:alphaModFix/>
          </a:blip>
          <a:stretch>
            <a:fillRect/>
          </a:stretch>
        </p:blipFill>
        <p:spPr>
          <a:xfrm>
            <a:off x="152400" y="152400"/>
            <a:ext cx="7863840" cy="6553200"/>
          </a:xfrm>
          <a:prstGeom prst="rect">
            <a:avLst/>
          </a:prstGeom>
          <a:noFill/>
          <a:ln>
            <a:noFill/>
          </a:ln>
        </p:spPr>
      </p:pic>
      <p:sp>
        <p:nvSpPr>
          <p:cNvPr id="644" name="Google Shape;644;p94"/>
          <p:cNvSpPr txBox="1"/>
          <p:nvPr/>
        </p:nvSpPr>
        <p:spPr>
          <a:xfrm>
            <a:off x="8238150" y="2837225"/>
            <a:ext cx="3566400" cy="1339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500"/>
              <a:t>LLM controlling App</a:t>
            </a:r>
            <a:endParaRPr b="1" sz="2500"/>
          </a:p>
          <a:p>
            <a:pPr indent="0" lvl="0" marL="0" rtl="0" algn="l">
              <a:spcBef>
                <a:spcPts val="0"/>
              </a:spcBef>
              <a:spcAft>
                <a:spcPts val="0"/>
              </a:spcAft>
              <a:buNone/>
            </a:pPr>
            <a:r>
              <a:rPr b="1" lang="en-US" sz="2500"/>
              <a:t>to create bounding</a:t>
            </a:r>
            <a:endParaRPr b="1" sz="2500"/>
          </a:p>
          <a:p>
            <a:pPr indent="0" lvl="0" marL="0" rtl="0" algn="l">
              <a:spcBef>
                <a:spcPts val="0"/>
              </a:spcBef>
              <a:spcAft>
                <a:spcPts val="0"/>
              </a:spcAft>
              <a:buNone/>
            </a:pPr>
            <a:r>
              <a:rPr b="1" lang="en-US" sz="2500"/>
              <a:t>boxes</a:t>
            </a:r>
            <a:endParaRPr b="1" sz="2500"/>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9" name="Shape 649"/>
        <p:cNvGrpSpPr/>
        <p:nvPr/>
      </p:nvGrpSpPr>
      <p:grpSpPr>
        <a:xfrm>
          <a:off x="0" y="0"/>
          <a:ext cx="0" cy="0"/>
          <a:chOff x="0" y="0"/>
          <a:chExt cx="0" cy="0"/>
        </a:xfrm>
      </p:grpSpPr>
      <p:pic>
        <p:nvPicPr>
          <p:cNvPr id="650" name="Google Shape;650;p95"/>
          <p:cNvPicPr preferRelativeResize="0"/>
          <p:nvPr/>
        </p:nvPicPr>
        <p:blipFill>
          <a:blip r:embed="rId3">
            <a:alphaModFix/>
          </a:blip>
          <a:stretch>
            <a:fillRect/>
          </a:stretch>
        </p:blipFill>
        <p:spPr>
          <a:xfrm>
            <a:off x="152400" y="152400"/>
            <a:ext cx="7269957" cy="6553201"/>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202E"/>
        </a:solidFill>
      </p:bgPr>
    </p:bg>
    <p:spTree>
      <p:nvGrpSpPr>
        <p:cNvPr id="655" name="Shape 655"/>
        <p:cNvGrpSpPr/>
        <p:nvPr/>
      </p:nvGrpSpPr>
      <p:grpSpPr>
        <a:xfrm>
          <a:off x="0" y="0"/>
          <a:ext cx="0" cy="0"/>
          <a:chOff x="0" y="0"/>
          <a:chExt cx="0" cy="0"/>
        </a:xfrm>
      </p:grpSpPr>
      <p:sp>
        <p:nvSpPr>
          <p:cNvPr id="656" name="Google Shape;656;p96"/>
          <p:cNvSpPr/>
          <p:nvPr/>
        </p:nvSpPr>
        <p:spPr>
          <a:xfrm>
            <a:off x="812800" y="812800"/>
            <a:ext cx="10883392" cy="27429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08A5D"/>
              </a:buClr>
              <a:buSzPts val="1400"/>
              <a:buFont typeface="JetBrains Mono"/>
              <a:buNone/>
            </a:pPr>
            <a:r>
              <a:rPr b="0" i="0" lang="en-US" sz="1400" u="none" cap="none" strike="noStrike">
                <a:solidFill>
                  <a:srgbClr val="F08A5D"/>
                </a:solidFill>
                <a:latin typeface="JetBrains Mono"/>
                <a:ea typeface="JetBrains Mono"/>
                <a:cs typeface="JetBrains Mono"/>
                <a:sym typeface="JetBrains Mono"/>
              </a:rPr>
              <a:t>GEHA DENTAL RAG · GENERATOR FINETUNING</a:t>
            </a:r>
            <a:endParaRPr b="0" i="0" sz="1400" u="none" cap="none" strike="noStrike">
              <a:solidFill>
                <a:schemeClr val="dk1"/>
              </a:solidFill>
              <a:latin typeface="IBM Plex Sans"/>
              <a:ea typeface="IBM Plex Sans"/>
              <a:cs typeface="IBM Plex Sans"/>
              <a:sym typeface="IBM Plex Sans"/>
            </a:endParaRPr>
          </a:p>
        </p:txBody>
      </p:sp>
      <p:sp>
        <p:nvSpPr>
          <p:cNvPr id="657" name="Google Shape;657;p96"/>
          <p:cNvSpPr txBox="1"/>
          <p:nvPr>
            <p:ph type="title"/>
          </p:nvPr>
        </p:nvSpPr>
        <p:spPr>
          <a:xfrm>
            <a:off x="812800" y="2265710"/>
            <a:ext cx="10883392" cy="1412180"/>
          </a:xfrm>
          <a:prstGeom prst="rect">
            <a:avLst/>
          </a:prstGeom>
          <a:noFill/>
          <a:ln>
            <a:noFill/>
          </a:ln>
        </p:spPr>
        <p:txBody>
          <a:bodyPr anchorCtr="0" anchor="t" bIns="0" lIns="0" spcFirstLastPara="1" rIns="0" wrap="square" tIns="0">
            <a:normAutofit/>
          </a:bodyPr>
          <a:lstStyle/>
          <a:p>
            <a:pPr indent="0" lvl="0" marL="0" rtl="0" algn="l">
              <a:lnSpc>
                <a:spcPct val="104999"/>
              </a:lnSpc>
              <a:spcBef>
                <a:spcPts val="0"/>
              </a:spcBef>
              <a:spcAft>
                <a:spcPts val="0"/>
              </a:spcAft>
              <a:buClr>
                <a:srgbClr val="F3F1EA"/>
              </a:buClr>
              <a:buSzPts val="5200"/>
              <a:buFont typeface="IBM Plex Sans"/>
              <a:buNone/>
            </a:pPr>
            <a:r>
              <a:rPr b="1" i="0" lang="en-US" sz="5200">
                <a:solidFill>
                  <a:srgbClr val="F3F1EA"/>
                </a:solidFill>
                <a:latin typeface="IBM Plex Sans"/>
                <a:ea typeface="IBM Plex Sans"/>
                <a:cs typeface="IBM Plex Sans"/>
                <a:sym typeface="IBM Plex Sans"/>
              </a:rPr>
              <a:t>Teaching the answer model to read our passages</a:t>
            </a:r>
            <a:endParaRPr sz="5200"/>
          </a:p>
        </p:txBody>
      </p:sp>
      <p:sp>
        <p:nvSpPr>
          <p:cNvPr id="658" name="Google Shape;658;p96"/>
          <p:cNvSpPr/>
          <p:nvPr/>
        </p:nvSpPr>
        <p:spPr>
          <a:xfrm>
            <a:off x="812800" y="3906490"/>
            <a:ext cx="10883392" cy="71120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B9C3D1"/>
              </a:buClr>
              <a:buSzPts val="2000"/>
              <a:buFont typeface="IBM Plex Sans"/>
              <a:buNone/>
            </a:pPr>
            <a:r>
              <a:rPr b="0" i="0" lang="en-US" sz="2000" u="none" cap="none" strike="noStrike">
                <a:solidFill>
                  <a:srgbClr val="B9C3D1"/>
                </a:solidFill>
                <a:latin typeface="IBM Plex Sans"/>
                <a:ea typeface="IBM Plex Sans"/>
                <a:cs typeface="IBM Plex Sans"/>
                <a:sym typeface="IBM Plex Sans"/>
              </a:rPr>
              <a:t>LoRA instruction finetuning of Qwen2.5‑1.5B‑Instruct on direct and chain‑of‑thought examples</a:t>
            </a:r>
            <a:endParaRPr b="0" i="0" sz="2000" u="none" cap="none" strike="noStrike">
              <a:solidFill>
                <a:schemeClr val="dk1"/>
              </a:solidFill>
              <a:latin typeface="IBM Plex Sans"/>
              <a:ea typeface="IBM Plex Sans"/>
              <a:cs typeface="IBM Plex Sans"/>
              <a:sym typeface="IBM Plex Sans"/>
            </a:endParaRPr>
          </a:p>
        </p:txBody>
      </p:sp>
      <p:sp>
        <p:nvSpPr>
          <p:cNvPr id="659" name="Google Shape;659;p96"/>
          <p:cNvSpPr/>
          <p:nvPr/>
        </p:nvSpPr>
        <p:spPr>
          <a:xfrm>
            <a:off x="812800" y="5796310"/>
            <a:ext cx="10883392" cy="27429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8C98A8"/>
              </a:buClr>
              <a:buSzPts val="1400"/>
              <a:buFont typeface="IBM Plex Sans"/>
              <a:buNone/>
            </a:pPr>
            <a:r>
              <a:rPr b="0" i="0" lang="en-US" sz="1400" u="none" cap="none" strike="noStrike">
                <a:solidFill>
                  <a:srgbClr val="8C98A8"/>
                </a:solidFill>
                <a:latin typeface="IBM Plex Sans"/>
                <a:ea typeface="IBM Plex Sans"/>
                <a:cs typeface="IBM Plex Sans"/>
                <a:sym typeface="IBM Plex Sans"/>
              </a:rPr>
              <a:t>October 2026 · experiment log · results from the Colab A100 run, 21 Oct</a:t>
            </a:r>
            <a:endParaRPr b="0" i="0" sz="1400" u="none" cap="none" strike="noStrike">
              <a:solidFill>
                <a:schemeClr val="dk1"/>
              </a:solidFill>
              <a:latin typeface="IBM Plex Sans"/>
              <a:ea typeface="IBM Plex Sans"/>
              <a:cs typeface="IBM Plex Sans"/>
              <a:sym typeface="IBM Plex Sans"/>
            </a:endParaRP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5F0"/>
        </a:solidFill>
      </p:bgPr>
    </p:bg>
    <p:spTree>
      <p:nvGrpSpPr>
        <p:cNvPr id="664" name="Shape 664"/>
        <p:cNvGrpSpPr/>
        <p:nvPr/>
      </p:nvGrpSpPr>
      <p:grpSpPr>
        <a:xfrm>
          <a:off x="0" y="0"/>
          <a:ext cx="0" cy="0"/>
          <a:chOff x="0" y="0"/>
          <a:chExt cx="0" cy="0"/>
        </a:xfrm>
      </p:grpSpPr>
      <p:sp>
        <p:nvSpPr>
          <p:cNvPr id="665" name="Google Shape;665;p97"/>
          <p:cNvSpPr txBox="1"/>
          <p:nvPr>
            <p:ph type="title"/>
          </p:nvPr>
        </p:nvSpPr>
        <p:spPr>
          <a:xfrm>
            <a:off x="812800" y="812800"/>
            <a:ext cx="10883392" cy="47243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6202E"/>
              </a:buClr>
              <a:buSzPts val="3200"/>
              <a:buFont typeface="IBM Plex Sans"/>
              <a:buNone/>
            </a:pPr>
            <a:r>
              <a:rPr b="1" i="0" lang="en-US" sz="3200">
                <a:solidFill>
                  <a:srgbClr val="16202E"/>
                </a:solidFill>
                <a:latin typeface="IBM Plex Sans"/>
                <a:ea typeface="IBM Plex Sans"/>
                <a:cs typeface="IBM Plex Sans"/>
                <a:sym typeface="IBM Plex Sans"/>
              </a:rPr>
              <a:t>Two places to finetune a RAG system</a:t>
            </a:r>
            <a:endParaRPr sz="3200"/>
          </a:p>
        </p:txBody>
      </p:sp>
      <p:sp>
        <p:nvSpPr>
          <p:cNvPr id="666" name="Google Shape;666;p97"/>
          <p:cNvSpPr/>
          <p:nvPr/>
        </p:nvSpPr>
        <p:spPr>
          <a:xfrm>
            <a:off x="819150" y="1621780"/>
            <a:ext cx="5143500" cy="4213870"/>
          </a:xfrm>
          <a:prstGeom prst="roundRect">
            <a:avLst>
              <a:gd fmla="val 2863"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 name="Google Shape;667;p97"/>
          <p:cNvSpPr/>
          <p:nvPr/>
        </p:nvSpPr>
        <p:spPr>
          <a:xfrm>
            <a:off x="1130300" y="1932930"/>
            <a:ext cx="4656836"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F6DB5"/>
              </a:buClr>
              <a:buSzPts val="1200"/>
              <a:buFont typeface="JetBrains Mono"/>
              <a:buNone/>
            </a:pPr>
            <a:r>
              <a:rPr b="0" i="0" lang="en-US" sz="1200" u="none" cap="none" strike="noStrike">
                <a:solidFill>
                  <a:srgbClr val="2F6DB5"/>
                </a:solidFill>
                <a:latin typeface="JetBrains Mono"/>
                <a:ea typeface="JetBrains Mono"/>
                <a:cs typeface="JetBrains Mono"/>
                <a:sym typeface="JetBrains Mono"/>
              </a:rPr>
              <a:t>RETRIEVER · DONE EARLIER</a:t>
            </a:r>
            <a:endParaRPr b="0" i="0" sz="1200" u="none" cap="none" strike="noStrike">
              <a:solidFill>
                <a:schemeClr val="dk1"/>
              </a:solidFill>
              <a:latin typeface="IBM Plex Sans"/>
              <a:ea typeface="IBM Plex Sans"/>
              <a:cs typeface="IBM Plex Sans"/>
              <a:sym typeface="IBM Plex Sans"/>
            </a:endParaRPr>
          </a:p>
        </p:txBody>
      </p:sp>
      <p:sp>
        <p:nvSpPr>
          <p:cNvPr id="668" name="Google Shape;668;p97"/>
          <p:cNvSpPr/>
          <p:nvPr/>
        </p:nvSpPr>
        <p:spPr>
          <a:xfrm>
            <a:off x="1130300" y="2298650"/>
            <a:ext cx="4656836" cy="3606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02E"/>
              </a:buClr>
              <a:buSzPts val="2200"/>
              <a:buFont typeface="IBM Plex Sans"/>
              <a:buNone/>
            </a:pPr>
            <a:r>
              <a:rPr b="1" i="0" lang="en-US" sz="2200" u="none" cap="none" strike="noStrike">
                <a:solidFill>
                  <a:srgbClr val="16202E"/>
                </a:solidFill>
                <a:latin typeface="IBM Plex Sans"/>
                <a:ea typeface="IBM Plex Sans"/>
                <a:cs typeface="IBM Plex Sans"/>
                <a:sym typeface="IBM Plex Sans"/>
              </a:rPr>
              <a:t>Which chunks the LLM sees</a:t>
            </a:r>
            <a:endParaRPr b="0" i="0" sz="2200" u="none" cap="none" strike="noStrike">
              <a:solidFill>
                <a:schemeClr val="dk1"/>
              </a:solidFill>
              <a:latin typeface="IBM Plex Sans"/>
              <a:ea typeface="IBM Plex Sans"/>
              <a:cs typeface="IBM Plex Sans"/>
              <a:sym typeface="IBM Plex Sans"/>
            </a:endParaRPr>
          </a:p>
        </p:txBody>
      </p:sp>
      <p:sp>
        <p:nvSpPr>
          <p:cNvPr id="669" name="Google Shape;669;p97"/>
          <p:cNvSpPr/>
          <p:nvPr/>
        </p:nvSpPr>
        <p:spPr>
          <a:xfrm>
            <a:off x="1130300" y="2786311"/>
            <a:ext cx="465683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568"/>
              </a:buClr>
              <a:buSzPts val="1500"/>
              <a:buFont typeface="IBM Plex Sans"/>
              <a:buNone/>
            </a:pPr>
            <a:r>
              <a:rPr b="0" i="0" lang="en-US" sz="1500" u="none" cap="none" strike="noStrike">
                <a:solidFill>
                  <a:srgbClr val="4A5568"/>
                </a:solidFill>
                <a:latin typeface="IBM Plex Sans"/>
                <a:ea typeface="IBM Plex Sans"/>
                <a:cs typeface="IBM Plex Sans"/>
                <a:sym typeface="IBM Plex Sans"/>
              </a:rPr>
              <a:t>bge‑base‑en‑v1.5 embedding model, contrastive loss on question → chunk pairs.</a:t>
            </a:r>
            <a:endParaRPr b="0" i="0" sz="1500" u="none" cap="none" strike="noStrike">
              <a:solidFill>
                <a:schemeClr val="dk1"/>
              </a:solidFill>
              <a:latin typeface="IBM Plex Sans"/>
              <a:ea typeface="IBM Plex Sans"/>
              <a:cs typeface="IBM Plex Sans"/>
              <a:sym typeface="IBM Plex Sans"/>
            </a:endParaRPr>
          </a:p>
        </p:txBody>
      </p:sp>
      <p:sp>
        <p:nvSpPr>
          <p:cNvPr id="670" name="Google Shape;670;p97"/>
          <p:cNvSpPr/>
          <p:nvPr/>
        </p:nvSpPr>
        <p:spPr>
          <a:xfrm>
            <a:off x="1130300" y="4991100"/>
            <a:ext cx="465683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500"/>
              <a:buFont typeface="IBM Plex Sans"/>
              <a:buNone/>
            </a:pPr>
            <a:r>
              <a:rPr b="1" i="0" lang="en-US" sz="1500" u="none" cap="none" strike="noStrike">
                <a:solidFill>
                  <a:srgbClr val="16202E"/>
                </a:solidFill>
                <a:latin typeface="IBM Plex Sans"/>
                <a:ea typeface="IBM Plex Sans"/>
                <a:cs typeface="IBM Plex Sans"/>
                <a:sym typeface="IBM Plex Sans"/>
              </a:rPr>
              <a:t>Recall@5: 64.6% → 68.7%</a:t>
            </a:r>
            <a:r>
              <a:rPr b="0" i="0" lang="en-US" sz="1500" u="none" cap="none" strike="noStrike">
                <a:solidFill>
                  <a:srgbClr val="16202E"/>
                </a:solidFill>
                <a:latin typeface="IBM Plex Sans"/>
                <a:ea typeface="IBM Plex Sans"/>
                <a:cs typeface="IBM Plex Sans"/>
                <a:sym typeface="IBM Plex Sans"/>
              </a:rPr>
              <a:t> on the held‑out brochure</a:t>
            </a:r>
            <a:endParaRPr b="0" i="0" sz="1500" u="none" cap="none" strike="noStrike">
              <a:solidFill>
                <a:schemeClr val="dk1"/>
              </a:solidFill>
              <a:latin typeface="IBM Plex Sans"/>
              <a:ea typeface="IBM Plex Sans"/>
              <a:cs typeface="IBM Plex Sans"/>
              <a:sym typeface="IBM Plex Sans"/>
            </a:endParaRPr>
          </a:p>
        </p:txBody>
      </p:sp>
      <p:sp>
        <p:nvSpPr>
          <p:cNvPr id="671" name="Google Shape;671;p97"/>
          <p:cNvSpPr/>
          <p:nvPr/>
        </p:nvSpPr>
        <p:spPr>
          <a:xfrm>
            <a:off x="6229350" y="1621780"/>
            <a:ext cx="5143500" cy="4213870"/>
          </a:xfrm>
          <a:prstGeom prst="roundRect">
            <a:avLst>
              <a:gd fmla="val 2863" name="adj"/>
            </a:avLst>
          </a:prstGeom>
          <a:solidFill>
            <a:srgbClr val="FDFCF9"/>
          </a:solidFill>
          <a:ln cap="flat" cmpd="sng" w="12700">
            <a:solidFill>
              <a:srgbClr val="D962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 name="Google Shape;672;p97"/>
          <p:cNvSpPr/>
          <p:nvPr/>
        </p:nvSpPr>
        <p:spPr>
          <a:xfrm>
            <a:off x="6540500" y="1932930"/>
            <a:ext cx="4656836"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4481A"/>
              </a:buClr>
              <a:buSzPts val="1200"/>
              <a:buFont typeface="JetBrains Mono"/>
              <a:buNone/>
            </a:pPr>
            <a:r>
              <a:rPr b="0" i="0" lang="en-US" sz="1200" u="none" cap="none" strike="noStrike">
                <a:solidFill>
                  <a:srgbClr val="B4481A"/>
                </a:solidFill>
                <a:latin typeface="JetBrains Mono"/>
                <a:ea typeface="JetBrains Mono"/>
                <a:cs typeface="JetBrains Mono"/>
                <a:sym typeface="JetBrains Mono"/>
              </a:rPr>
              <a:t>GENERATOR · THIS DECK</a:t>
            </a:r>
            <a:endParaRPr b="0" i="0" sz="1200" u="none" cap="none" strike="noStrike">
              <a:solidFill>
                <a:schemeClr val="dk1"/>
              </a:solidFill>
              <a:latin typeface="IBM Plex Sans"/>
              <a:ea typeface="IBM Plex Sans"/>
              <a:cs typeface="IBM Plex Sans"/>
              <a:sym typeface="IBM Plex Sans"/>
            </a:endParaRPr>
          </a:p>
        </p:txBody>
      </p:sp>
      <p:sp>
        <p:nvSpPr>
          <p:cNvPr id="673" name="Google Shape;673;p97"/>
          <p:cNvSpPr/>
          <p:nvPr/>
        </p:nvSpPr>
        <p:spPr>
          <a:xfrm>
            <a:off x="6540500" y="2298650"/>
            <a:ext cx="4656836" cy="3606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02E"/>
              </a:buClr>
              <a:buSzPts val="2200"/>
              <a:buFont typeface="IBM Plex Sans"/>
              <a:buNone/>
            </a:pPr>
            <a:r>
              <a:rPr b="1" i="0" lang="en-US" sz="2200" u="none" cap="none" strike="noStrike">
                <a:solidFill>
                  <a:srgbClr val="16202E"/>
                </a:solidFill>
                <a:latin typeface="IBM Plex Sans"/>
                <a:ea typeface="IBM Plex Sans"/>
                <a:cs typeface="IBM Plex Sans"/>
                <a:sym typeface="IBM Plex Sans"/>
              </a:rPr>
              <a:t>How the LLM answers from them</a:t>
            </a:r>
            <a:endParaRPr b="0" i="0" sz="2200" u="none" cap="none" strike="noStrike">
              <a:solidFill>
                <a:schemeClr val="dk1"/>
              </a:solidFill>
              <a:latin typeface="IBM Plex Sans"/>
              <a:ea typeface="IBM Plex Sans"/>
              <a:cs typeface="IBM Plex Sans"/>
              <a:sym typeface="IBM Plex Sans"/>
            </a:endParaRPr>
          </a:p>
        </p:txBody>
      </p:sp>
      <p:sp>
        <p:nvSpPr>
          <p:cNvPr id="674" name="Google Shape;674;p97"/>
          <p:cNvSpPr/>
          <p:nvPr/>
        </p:nvSpPr>
        <p:spPr>
          <a:xfrm>
            <a:off x="6540500" y="2786311"/>
            <a:ext cx="465683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568"/>
              </a:buClr>
              <a:buSzPts val="1500"/>
              <a:buFont typeface="IBM Plex Sans"/>
              <a:buNone/>
            </a:pPr>
            <a:r>
              <a:rPr b="0" i="0" lang="en-US" sz="1500" u="none" cap="none" strike="noStrike">
                <a:solidFill>
                  <a:srgbClr val="4A5568"/>
                </a:solidFill>
                <a:latin typeface="IBM Plex Sans"/>
                <a:ea typeface="IBM Plex Sans"/>
                <a:cs typeface="IBM Plex Sans"/>
                <a:sym typeface="IBM Plex Sans"/>
              </a:rPr>
              <a:t>Qwen2.5‑1.5B‑Instruct chat model, LoRA instruction finetuning on passage + question → answer.</a:t>
            </a:r>
            <a:endParaRPr b="0" i="0" sz="1500" u="none" cap="none" strike="noStrike">
              <a:solidFill>
                <a:schemeClr val="dk1"/>
              </a:solidFill>
              <a:latin typeface="IBM Plex Sans"/>
              <a:ea typeface="IBM Plex Sans"/>
              <a:cs typeface="IBM Plex Sans"/>
              <a:sym typeface="IBM Plex Sans"/>
            </a:endParaRPr>
          </a:p>
        </p:txBody>
      </p:sp>
      <p:sp>
        <p:nvSpPr>
          <p:cNvPr id="675" name="Google Shape;675;p97"/>
          <p:cNvSpPr/>
          <p:nvPr/>
        </p:nvSpPr>
        <p:spPr>
          <a:xfrm>
            <a:off x="6540500" y="5257800"/>
            <a:ext cx="4656836"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500"/>
              <a:buFont typeface="IBM Plex Sans"/>
              <a:buNone/>
            </a:pPr>
            <a:r>
              <a:rPr b="1" i="0" lang="en-US" sz="1500" u="none" cap="none" strike="noStrike">
                <a:solidFill>
                  <a:srgbClr val="16202E"/>
                </a:solidFill>
                <a:latin typeface="IBM Plex Sans"/>
                <a:ea typeface="IBM Plex Sans"/>
                <a:cs typeface="IBM Plex Sans"/>
                <a:sym typeface="IBM Plex Sans"/>
              </a:rPr>
              <a:t>Answer F1: 0.51 → 0.57</a:t>
            </a:r>
            <a:r>
              <a:rPr b="0" i="0" lang="en-US" sz="1500" u="none" cap="none" strike="noStrike">
                <a:solidFill>
                  <a:srgbClr val="16202E"/>
                </a:solidFill>
                <a:latin typeface="IBM Plex Sans"/>
                <a:ea typeface="IBM Plex Sans"/>
                <a:cs typeface="IBM Plex Sans"/>
                <a:sym typeface="IBM Plex Sans"/>
              </a:rPr>
              <a:t> on the held‑out brochure</a:t>
            </a:r>
            <a:endParaRPr b="0" i="0" sz="1500" u="none" cap="none" strike="noStrike">
              <a:solidFill>
                <a:schemeClr val="dk1"/>
              </a:solidFill>
              <a:latin typeface="IBM Plex Sans"/>
              <a:ea typeface="IBM Plex Sans"/>
              <a:cs typeface="IBM Plex Sans"/>
              <a:sym typeface="IBM Plex Sans"/>
            </a:endParaRPr>
          </a:p>
        </p:txBody>
      </p:sp>
      <p:sp>
        <p:nvSpPr>
          <p:cNvPr id="676" name="Google Shape;676;p97"/>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A7280"/>
              </a:buClr>
              <a:buSzPts val="1200"/>
              <a:buFont typeface="IBM Plex Sans"/>
              <a:buNone/>
            </a:pPr>
            <a:r>
              <a:rPr b="0" i="0" lang="en-US" sz="1200" u="none" cap="none" strike="noStrike">
                <a:solidFill>
                  <a:srgbClr val="6A7280"/>
                </a:solidFill>
                <a:latin typeface="IBM Plex Sans"/>
                <a:ea typeface="IBM Plex Sans"/>
                <a:cs typeface="IBM Plex Sans"/>
                <a:sym typeface="IBM Plex Sans"/>
              </a:rPr>
              <a:t>The slide that started this: instruction finetuning with direct and chain‑of‑thought data (FLAN, arXiv 2210.11416)</a:t>
            </a:r>
            <a:endParaRPr b="0" i="0" sz="1200" u="none" cap="none" strike="noStrike">
              <a:solidFill>
                <a:schemeClr val="dk1"/>
              </a:solidFill>
              <a:latin typeface="IBM Plex Sans"/>
              <a:ea typeface="IBM Plex Sans"/>
              <a:cs typeface="IBM Plex Sans"/>
              <a:sym typeface="IBM Plex Sans"/>
            </a:endParaRPr>
          </a:p>
        </p:txBody>
      </p:sp>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5F0"/>
        </a:solidFill>
      </p:bgPr>
    </p:bg>
    <p:spTree>
      <p:nvGrpSpPr>
        <p:cNvPr id="681" name="Shape 681"/>
        <p:cNvGrpSpPr/>
        <p:nvPr/>
      </p:nvGrpSpPr>
      <p:grpSpPr>
        <a:xfrm>
          <a:off x="0" y="0"/>
          <a:ext cx="0" cy="0"/>
          <a:chOff x="0" y="0"/>
          <a:chExt cx="0" cy="0"/>
        </a:xfrm>
      </p:grpSpPr>
      <p:sp>
        <p:nvSpPr>
          <p:cNvPr id="682" name="Google Shape;682;p98"/>
          <p:cNvSpPr txBox="1"/>
          <p:nvPr>
            <p:ph type="title"/>
          </p:nvPr>
        </p:nvSpPr>
        <p:spPr>
          <a:xfrm>
            <a:off x="812800" y="812800"/>
            <a:ext cx="10883392" cy="47243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6202E"/>
              </a:buClr>
              <a:buSzPts val="3200"/>
              <a:buFont typeface="IBM Plex Sans"/>
              <a:buNone/>
            </a:pPr>
            <a:r>
              <a:rPr b="1" i="0" lang="en-US" sz="3200">
                <a:solidFill>
                  <a:srgbClr val="16202E"/>
                </a:solidFill>
                <a:latin typeface="IBM Plex Sans"/>
                <a:ea typeface="IBM Plex Sans"/>
                <a:cs typeface="IBM Plex Sans"/>
                <a:sym typeface="IBM Plex Sans"/>
              </a:rPr>
              <a:t>The pipeline, end to end</a:t>
            </a:r>
            <a:endParaRPr sz="3200"/>
          </a:p>
        </p:txBody>
      </p:sp>
      <p:sp>
        <p:nvSpPr>
          <p:cNvPr id="683" name="Google Shape;683;p98"/>
          <p:cNvSpPr/>
          <p:nvPr/>
        </p:nvSpPr>
        <p:spPr>
          <a:xfrm>
            <a:off x="819150" y="1672580"/>
            <a:ext cx="2286000" cy="2316361"/>
          </a:xfrm>
          <a:prstGeom prst="roundRect">
            <a:avLst>
              <a:gd fmla="val 5278"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 name="Google Shape;684;p98"/>
          <p:cNvSpPr/>
          <p:nvPr/>
        </p:nvSpPr>
        <p:spPr>
          <a:xfrm>
            <a:off x="1054100" y="1907530"/>
            <a:ext cx="1870583"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F6DB5"/>
              </a:buClr>
              <a:buSzPts val="1200"/>
              <a:buFont typeface="JetBrains Mono"/>
              <a:buNone/>
            </a:pPr>
            <a:r>
              <a:rPr b="0" i="0" lang="en-US" sz="1200" u="none" cap="none" strike="noStrike">
                <a:solidFill>
                  <a:srgbClr val="2F6DB5"/>
                </a:solidFill>
                <a:latin typeface="JetBrains Mono"/>
                <a:ea typeface="JetBrains Mono"/>
                <a:cs typeface="JetBrains Mono"/>
                <a:sym typeface="JetBrains Mono"/>
              </a:rPr>
              <a:t>01</a:t>
            </a:r>
            <a:endParaRPr b="0" i="0" sz="1200" u="none" cap="none" strike="noStrike">
              <a:solidFill>
                <a:schemeClr val="dk1"/>
              </a:solidFill>
              <a:latin typeface="IBM Plex Sans"/>
              <a:ea typeface="IBM Plex Sans"/>
              <a:cs typeface="IBM Plex Sans"/>
              <a:sym typeface="IBM Plex Sans"/>
            </a:endParaRPr>
          </a:p>
        </p:txBody>
      </p:sp>
      <p:sp>
        <p:nvSpPr>
          <p:cNvPr id="685" name="Google Shape;685;p98"/>
          <p:cNvSpPr/>
          <p:nvPr/>
        </p:nvSpPr>
        <p:spPr>
          <a:xfrm>
            <a:off x="1054100" y="2222450"/>
            <a:ext cx="1870583"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02E"/>
              </a:buClr>
              <a:buSzPts val="1800"/>
              <a:buFont typeface="IBM Plex Sans"/>
              <a:buNone/>
            </a:pPr>
            <a:r>
              <a:rPr b="1" i="0" lang="en-US" sz="1800" u="none" cap="none" strike="noStrike">
                <a:solidFill>
                  <a:srgbClr val="16202E"/>
                </a:solidFill>
                <a:latin typeface="IBM Plex Sans"/>
                <a:ea typeface="IBM Plex Sans"/>
                <a:cs typeface="IBM Plex Sans"/>
                <a:sym typeface="IBM Plex Sans"/>
              </a:rPr>
              <a:t>QA pairs</a:t>
            </a:r>
            <a:endParaRPr b="0" i="0" sz="1800" u="none" cap="none" strike="noStrike">
              <a:solidFill>
                <a:schemeClr val="dk1"/>
              </a:solidFill>
              <a:latin typeface="IBM Plex Sans"/>
              <a:ea typeface="IBM Plex Sans"/>
              <a:cs typeface="IBM Plex Sans"/>
              <a:sym typeface="IBM Plex Sans"/>
            </a:endParaRPr>
          </a:p>
        </p:txBody>
      </p:sp>
      <p:sp>
        <p:nvSpPr>
          <p:cNvPr id="686" name="Google Shape;686;p98"/>
          <p:cNvSpPr/>
          <p:nvPr/>
        </p:nvSpPr>
        <p:spPr>
          <a:xfrm>
            <a:off x="1054100" y="2598341"/>
            <a:ext cx="1870583" cy="9499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568"/>
              </a:buClr>
              <a:buSzPts val="1300"/>
              <a:buFont typeface="IBM Plex Sans"/>
              <a:buNone/>
            </a:pPr>
            <a:r>
              <a:rPr b="0" i="0" lang="en-US" sz="1300" u="none" cap="none" strike="noStrike">
                <a:solidFill>
                  <a:srgbClr val="4A5568"/>
                </a:solidFill>
                <a:latin typeface="IBM Plex Sans"/>
                <a:ea typeface="IBM Plex Sans"/>
                <a:cs typeface="IBM Plex Sans"/>
                <a:sym typeface="IBM Plex Sans"/>
              </a:rPr>
              <a:t>Synthetic RAGAS questions + reference answers from the GEHA dental PDFs</a:t>
            </a:r>
            <a:endParaRPr b="0" i="0" sz="1300" u="none" cap="none" strike="noStrike">
              <a:solidFill>
                <a:schemeClr val="dk1"/>
              </a:solidFill>
              <a:latin typeface="IBM Plex Sans"/>
              <a:ea typeface="IBM Plex Sans"/>
              <a:cs typeface="IBM Plex Sans"/>
              <a:sym typeface="IBM Plex Sans"/>
            </a:endParaRPr>
          </a:p>
        </p:txBody>
      </p:sp>
      <p:pic>
        <p:nvPicPr>
          <p:cNvPr descr="connector" id="687" name="Google Shape;687;p98"/>
          <p:cNvPicPr preferRelativeResize="0"/>
          <p:nvPr/>
        </p:nvPicPr>
        <p:blipFill rotWithShape="1">
          <a:blip r:embed="rId3">
            <a:alphaModFix/>
          </a:blip>
          <a:srcRect b="0" l="0" r="0" t="0"/>
          <a:stretch/>
        </p:blipFill>
        <p:spPr>
          <a:xfrm>
            <a:off x="3213100" y="1666230"/>
            <a:ext cx="254000" cy="101600"/>
          </a:xfrm>
          <a:prstGeom prst="rect">
            <a:avLst/>
          </a:prstGeom>
          <a:noFill/>
          <a:ln>
            <a:noFill/>
          </a:ln>
        </p:spPr>
      </p:pic>
      <p:sp>
        <p:nvSpPr>
          <p:cNvPr id="688" name="Google Shape;688;p98"/>
          <p:cNvSpPr/>
          <p:nvPr/>
        </p:nvSpPr>
        <p:spPr>
          <a:xfrm>
            <a:off x="3575050" y="1672580"/>
            <a:ext cx="2286000" cy="2316361"/>
          </a:xfrm>
          <a:prstGeom prst="roundRect">
            <a:avLst>
              <a:gd fmla="val 5278"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 name="Google Shape;689;p98"/>
          <p:cNvSpPr/>
          <p:nvPr/>
        </p:nvSpPr>
        <p:spPr>
          <a:xfrm>
            <a:off x="3810000" y="1907530"/>
            <a:ext cx="1870583"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F6DB5"/>
              </a:buClr>
              <a:buSzPts val="1200"/>
              <a:buFont typeface="JetBrains Mono"/>
              <a:buNone/>
            </a:pPr>
            <a:r>
              <a:rPr b="0" i="0" lang="en-US" sz="1200" u="none" cap="none" strike="noStrike">
                <a:solidFill>
                  <a:srgbClr val="2F6DB5"/>
                </a:solidFill>
                <a:latin typeface="JetBrains Mono"/>
                <a:ea typeface="JetBrains Mono"/>
                <a:cs typeface="JetBrains Mono"/>
                <a:sym typeface="JetBrains Mono"/>
              </a:rPr>
              <a:t>02</a:t>
            </a:r>
            <a:endParaRPr b="0" i="0" sz="1200" u="none" cap="none" strike="noStrike">
              <a:solidFill>
                <a:schemeClr val="dk1"/>
              </a:solidFill>
              <a:latin typeface="IBM Plex Sans"/>
              <a:ea typeface="IBM Plex Sans"/>
              <a:cs typeface="IBM Plex Sans"/>
              <a:sym typeface="IBM Plex Sans"/>
            </a:endParaRPr>
          </a:p>
        </p:txBody>
      </p:sp>
      <p:sp>
        <p:nvSpPr>
          <p:cNvPr id="690" name="Google Shape;690;p98"/>
          <p:cNvSpPr/>
          <p:nvPr/>
        </p:nvSpPr>
        <p:spPr>
          <a:xfrm>
            <a:off x="3810000" y="2222450"/>
            <a:ext cx="1870583"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02E"/>
              </a:buClr>
              <a:buSzPts val="1800"/>
              <a:buFont typeface="IBM Plex Sans"/>
              <a:buNone/>
            </a:pPr>
            <a:r>
              <a:rPr b="1" i="0" lang="en-US" sz="1800" u="none" cap="none" strike="noStrike">
                <a:solidFill>
                  <a:srgbClr val="16202E"/>
                </a:solidFill>
                <a:latin typeface="IBM Plex Sans"/>
                <a:ea typeface="IBM Plex Sans"/>
                <a:cs typeface="IBM Plex Sans"/>
                <a:sym typeface="IBM Plex Sans"/>
              </a:rPr>
              <a:t>SFT builder</a:t>
            </a:r>
            <a:endParaRPr b="0" i="0" sz="1800" u="none" cap="none" strike="noStrike">
              <a:solidFill>
                <a:schemeClr val="dk1"/>
              </a:solidFill>
              <a:latin typeface="IBM Plex Sans"/>
              <a:ea typeface="IBM Plex Sans"/>
              <a:cs typeface="IBM Plex Sans"/>
              <a:sym typeface="IBM Plex Sans"/>
            </a:endParaRPr>
          </a:p>
        </p:txBody>
      </p:sp>
      <p:sp>
        <p:nvSpPr>
          <p:cNvPr id="691" name="Google Shape;691;p98"/>
          <p:cNvSpPr/>
          <p:nvPr/>
        </p:nvSpPr>
        <p:spPr>
          <a:xfrm>
            <a:off x="3810000" y="2598341"/>
            <a:ext cx="1870583" cy="118105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568"/>
              </a:buClr>
              <a:buSzPts val="1300"/>
              <a:buFont typeface="IBM Plex Sans"/>
              <a:buNone/>
            </a:pPr>
            <a:r>
              <a:rPr b="0" i="0" lang="en-US" sz="1300" u="none" cap="none" strike="noStrike">
                <a:solidFill>
                  <a:srgbClr val="4A5568"/>
                </a:solidFill>
                <a:latin typeface="IBM Plex Sans"/>
                <a:ea typeface="IBM Plex Sans"/>
                <a:cs typeface="IBM Plex Sans"/>
                <a:sym typeface="IBM Plex Sans"/>
              </a:rPr>
              <a:t>Gold passage + 2 distractors, shuffled. One direct and one chain‑of‑thought target each</a:t>
            </a:r>
            <a:endParaRPr b="0" i="0" sz="1300" u="none" cap="none" strike="noStrike">
              <a:solidFill>
                <a:schemeClr val="dk1"/>
              </a:solidFill>
              <a:latin typeface="IBM Plex Sans"/>
              <a:ea typeface="IBM Plex Sans"/>
              <a:cs typeface="IBM Plex Sans"/>
              <a:sym typeface="IBM Plex Sans"/>
            </a:endParaRPr>
          </a:p>
        </p:txBody>
      </p:sp>
      <p:pic>
        <p:nvPicPr>
          <p:cNvPr descr="connector" id="692" name="Google Shape;692;p98"/>
          <p:cNvPicPr preferRelativeResize="0"/>
          <p:nvPr/>
        </p:nvPicPr>
        <p:blipFill rotWithShape="1">
          <a:blip r:embed="rId3">
            <a:alphaModFix/>
          </a:blip>
          <a:srcRect b="0" l="0" r="0" t="0"/>
          <a:stretch/>
        </p:blipFill>
        <p:spPr>
          <a:xfrm>
            <a:off x="5969000" y="1666230"/>
            <a:ext cx="254000" cy="101600"/>
          </a:xfrm>
          <a:prstGeom prst="rect">
            <a:avLst/>
          </a:prstGeom>
          <a:noFill/>
          <a:ln>
            <a:noFill/>
          </a:ln>
        </p:spPr>
      </p:pic>
      <p:sp>
        <p:nvSpPr>
          <p:cNvPr id="693" name="Google Shape;693;p98"/>
          <p:cNvSpPr/>
          <p:nvPr/>
        </p:nvSpPr>
        <p:spPr>
          <a:xfrm>
            <a:off x="6330950" y="1672580"/>
            <a:ext cx="2286000" cy="2316361"/>
          </a:xfrm>
          <a:prstGeom prst="roundRect">
            <a:avLst>
              <a:gd fmla="val 5278" name="adj"/>
            </a:avLst>
          </a:prstGeom>
          <a:solidFill>
            <a:srgbClr val="FDFCF9"/>
          </a:solidFill>
          <a:ln cap="flat" cmpd="sng" w="12700">
            <a:solidFill>
              <a:srgbClr val="D962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 name="Google Shape;694;p98"/>
          <p:cNvSpPr/>
          <p:nvPr/>
        </p:nvSpPr>
        <p:spPr>
          <a:xfrm>
            <a:off x="6565900" y="1907530"/>
            <a:ext cx="1870583"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4481A"/>
              </a:buClr>
              <a:buSzPts val="1200"/>
              <a:buFont typeface="JetBrains Mono"/>
              <a:buNone/>
            </a:pPr>
            <a:r>
              <a:rPr b="0" i="0" lang="en-US" sz="1200" u="none" cap="none" strike="noStrike">
                <a:solidFill>
                  <a:srgbClr val="B4481A"/>
                </a:solidFill>
                <a:latin typeface="JetBrains Mono"/>
                <a:ea typeface="JetBrains Mono"/>
                <a:cs typeface="JetBrains Mono"/>
                <a:sym typeface="JetBrains Mono"/>
              </a:rPr>
              <a:t>03</a:t>
            </a:r>
            <a:endParaRPr b="0" i="0" sz="1200" u="none" cap="none" strike="noStrike">
              <a:solidFill>
                <a:schemeClr val="dk1"/>
              </a:solidFill>
              <a:latin typeface="IBM Plex Sans"/>
              <a:ea typeface="IBM Plex Sans"/>
              <a:cs typeface="IBM Plex Sans"/>
              <a:sym typeface="IBM Plex Sans"/>
            </a:endParaRPr>
          </a:p>
        </p:txBody>
      </p:sp>
      <p:sp>
        <p:nvSpPr>
          <p:cNvPr id="695" name="Google Shape;695;p98"/>
          <p:cNvSpPr/>
          <p:nvPr/>
        </p:nvSpPr>
        <p:spPr>
          <a:xfrm>
            <a:off x="6565900" y="2222450"/>
            <a:ext cx="1870583"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02E"/>
              </a:buClr>
              <a:buSzPts val="1800"/>
              <a:buFont typeface="IBM Plex Sans"/>
              <a:buNone/>
            </a:pPr>
            <a:r>
              <a:rPr b="1" i="0" lang="en-US" sz="1800" u="none" cap="none" strike="noStrike">
                <a:solidFill>
                  <a:srgbClr val="16202E"/>
                </a:solidFill>
                <a:latin typeface="IBM Plex Sans"/>
                <a:ea typeface="IBM Plex Sans"/>
                <a:cs typeface="IBM Plex Sans"/>
                <a:sym typeface="IBM Plex Sans"/>
              </a:rPr>
              <a:t>LoRA training</a:t>
            </a:r>
            <a:endParaRPr b="0" i="0" sz="1800" u="none" cap="none" strike="noStrike">
              <a:solidFill>
                <a:schemeClr val="dk1"/>
              </a:solidFill>
              <a:latin typeface="IBM Plex Sans"/>
              <a:ea typeface="IBM Plex Sans"/>
              <a:cs typeface="IBM Plex Sans"/>
              <a:sym typeface="IBM Plex Sans"/>
            </a:endParaRPr>
          </a:p>
        </p:txBody>
      </p:sp>
      <p:sp>
        <p:nvSpPr>
          <p:cNvPr id="696" name="Google Shape;696;p98"/>
          <p:cNvSpPr/>
          <p:nvPr/>
        </p:nvSpPr>
        <p:spPr>
          <a:xfrm>
            <a:off x="6565900" y="2598341"/>
            <a:ext cx="1870583" cy="9499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568"/>
              </a:buClr>
              <a:buSzPts val="1300"/>
              <a:buFont typeface="IBM Plex Sans"/>
              <a:buNone/>
            </a:pPr>
            <a:r>
              <a:rPr b="0" i="0" lang="en-US" sz="1300" u="none" cap="none" strike="noStrike">
                <a:solidFill>
                  <a:srgbClr val="4A5568"/>
                </a:solidFill>
                <a:latin typeface="IBM Plex Sans"/>
                <a:ea typeface="IBM Plex Sans"/>
                <a:cs typeface="IBM Plex Sans"/>
                <a:sym typeface="IBM Plex Sans"/>
              </a:rPr>
              <a:t>Loss on answer tokens only. Keep the adapter with the lowest validation loss</a:t>
            </a:r>
            <a:endParaRPr b="0" i="0" sz="1300" u="none" cap="none" strike="noStrike">
              <a:solidFill>
                <a:schemeClr val="dk1"/>
              </a:solidFill>
              <a:latin typeface="IBM Plex Sans"/>
              <a:ea typeface="IBM Plex Sans"/>
              <a:cs typeface="IBM Plex Sans"/>
              <a:sym typeface="IBM Plex Sans"/>
            </a:endParaRPr>
          </a:p>
        </p:txBody>
      </p:sp>
      <p:pic>
        <p:nvPicPr>
          <p:cNvPr descr="connector" id="697" name="Google Shape;697;p98"/>
          <p:cNvPicPr preferRelativeResize="0"/>
          <p:nvPr/>
        </p:nvPicPr>
        <p:blipFill rotWithShape="1">
          <a:blip r:embed="rId3">
            <a:alphaModFix/>
          </a:blip>
          <a:srcRect b="0" l="0" r="0" t="0"/>
          <a:stretch/>
        </p:blipFill>
        <p:spPr>
          <a:xfrm>
            <a:off x="8724900" y="1666230"/>
            <a:ext cx="254000" cy="101600"/>
          </a:xfrm>
          <a:prstGeom prst="rect">
            <a:avLst/>
          </a:prstGeom>
          <a:noFill/>
          <a:ln>
            <a:noFill/>
          </a:ln>
        </p:spPr>
      </p:pic>
      <p:sp>
        <p:nvSpPr>
          <p:cNvPr id="698" name="Google Shape;698;p98"/>
          <p:cNvSpPr/>
          <p:nvPr/>
        </p:nvSpPr>
        <p:spPr>
          <a:xfrm>
            <a:off x="9086850" y="1672580"/>
            <a:ext cx="2286000" cy="2316361"/>
          </a:xfrm>
          <a:prstGeom prst="roundRect">
            <a:avLst>
              <a:gd fmla="val 5278"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 name="Google Shape;699;p98"/>
          <p:cNvSpPr/>
          <p:nvPr/>
        </p:nvSpPr>
        <p:spPr>
          <a:xfrm>
            <a:off x="9321800" y="1907530"/>
            <a:ext cx="1870583"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F6DB5"/>
              </a:buClr>
              <a:buSzPts val="1200"/>
              <a:buFont typeface="JetBrains Mono"/>
              <a:buNone/>
            </a:pPr>
            <a:r>
              <a:rPr b="0" i="0" lang="en-US" sz="1200" u="none" cap="none" strike="noStrike">
                <a:solidFill>
                  <a:srgbClr val="2F6DB5"/>
                </a:solidFill>
                <a:latin typeface="JetBrains Mono"/>
                <a:ea typeface="JetBrains Mono"/>
                <a:cs typeface="JetBrains Mono"/>
                <a:sym typeface="JetBrains Mono"/>
              </a:rPr>
              <a:t>04</a:t>
            </a:r>
            <a:endParaRPr b="0" i="0" sz="1200" u="none" cap="none" strike="noStrike">
              <a:solidFill>
                <a:schemeClr val="dk1"/>
              </a:solidFill>
              <a:latin typeface="IBM Plex Sans"/>
              <a:ea typeface="IBM Plex Sans"/>
              <a:cs typeface="IBM Plex Sans"/>
              <a:sym typeface="IBM Plex Sans"/>
            </a:endParaRPr>
          </a:p>
        </p:txBody>
      </p:sp>
      <p:sp>
        <p:nvSpPr>
          <p:cNvPr id="700" name="Google Shape;700;p98"/>
          <p:cNvSpPr/>
          <p:nvPr/>
        </p:nvSpPr>
        <p:spPr>
          <a:xfrm>
            <a:off x="9321800" y="2222450"/>
            <a:ext cx="1870583"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02E"/>
              </a:buClr>
              <a:buSzPts val="1800"/>
              <a:buFont typeface="IBM Plex Sans"/>
              <a:buNone/>
            </a:pPr>
            <a:r>
              <a:rPr b="1" i="0" lang="en-US" sz="1800" u="none" cap="none" strike="noStrike">
                <a:solidFill>
                  <a:srgbClr val="16202E"/>
                </a:solidFill>
                <a:latin typeface="IBM Plex Sans"/>
                <a:ea typeface="IBM Plex Sans"/>
                <a:cs typeface="IBM Plex Sans"/>
                <a:sym typeface="IBM Plex Sans"/>
              </a:rPr>
              <a:t>Held‑out eval</a:t>
            </a:r>
            <a:endParaRPr b="0" i="0" sz="1800" u="none" cap="none" strike="noStrike">
              <a:solidFill>
                <a:schemeClr val="dk1"/>
              </a:solidFill>
              <a:latin typeface="IBM Plex Sans"/>
              <a:ea typeface="IBM Plex Sans"/>
              <a:cs typeface="IBM Plex Sans"/>
              <a:sym typeface="IBM Plex Sans"/>
            </a:endParaRPr>
          </a:p>
        </p:txBody>
      </p:sp>
      <p:sp>
        <p:nvSpPr>
          <p:cNvPr id="701" name="Google Shape;701;p98"/>
          <p:cNvSpPr/>
          <p:nvPr/>
        </p:nvSpPr>
        <p:spPr>
          <a:xfrm>
            <a:off x="9321800" y="2598341"/>
            <a:ext cx="1870583" cy="9499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568"/>
              </a:buClr>
              <a:buSzPts val="1300"/>
              <a:buFont typeface="IBM Plex Sans"/>
              <a:buNone/>
            </a:pPr>
            <a:r>
              <a:rPr b="0" i="0" lang="en-US" sz="1300" u="none" cap="none" strike="noStrike">
                <a:solidFill>
                  <a:srgbClr val="4A5568"/>
                </a:solidFill>
                <a:latin typeface="IBM Plex Sans"/>
                <a:ea typeface="IBM Plex Sans"/>
                <a:cs typeface="IBM Plex Sans"/>
                <a:sym typeface="IBM Plex Sans"/>
              </a:rPr>
              <a:t>Unseen plan brochure. Base vs tuned, same prompts; only the adapter differs</a:t>
            </a:r>
            <a:endParaRPr b="0" i="0" sz="1300" u="none" cap="none" strike="noStrike">
              <a:solidFill>
                <a:schemeClr val="dk1"/>
              </a:solidFill>
              <a:latin typeface="IBM Plex Sans"/>
              <a:ea typeface="IBM Plex Sans"/>
              <a:cs typeface="IBM Plex Sans"/>
              <a:sym typeface="IBM Plex Sans"/>
            </a:endParaRPr>
          </a:p>
        </p:txBody>
      </p:sp>
      <p:sp>
        <p:nvSpPr>
          <p:cNvPr id="702" name="Google Shape;702;p98"/>
          <p:cNvSpPr/>
          <p:nvPr/>
        </p:nvSpPr>
        <p:spPr>
          <a:xfrm>
            <a:off x="812800" y="4401691"/>
            <a:ext cx="5284724" cy="52318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400"/>
              <a:buFont typeface="IBM Plex Sans"/>
              <a:buNone/>
            </a:pPr>
            <a:r>
              <a:rPr b="1" i="0" lang="en-US" sz="1400" u="none" cap="none" strike="noStrike">
                <a:solidFill>
                  <a:srgbClr val="16202E"/>
                </a:solidFill>
                <a:latin typeface="IBM Plex Sans"/>
                <a:ea typeface="IBM Plex Sans"/>
                <a:cs typeface="IBM Plex Sans"/>
                <a:sym typeface="IBM Plex Sans"/>
              </a:rPr>
              <a:t>Why distractors:</a:t>
            </a:r>
            <a:r>
              <a:rPr b="0" i="0" lang="en-US" sz="1400" u="none" cap="none" strike="noStrike">
                <a:solidFill>
                  <a:srgbClr val="4A5568"/>
                </a:solidFill>
                <a:latin typeface="IBM Plex Sans"/>
                <a:ea typeface="IBM Plex Sans"/>
                <a:cs typeface="IBM Plex Sans"/>
                <a:sym typeface="IBM Plex Sans"/>
              </a:rPr>
              <a:t> retrieval is never perfect, so the model must learn to ignore irrelevant chunks (the RAFT recipe).</a:t>
            </a:r>
            <a:endParaRPr b="0" i="0" sz="1400" u="none" cap="none" strike="noStrike">
              <a:solidFill>
                <a:schemeClr val="dk1"/>
              </a:solidFill>
              <a:latin typeface="IBM Plex Sans"/>
              <a:ea typeface="IBM Plex Sans"/>
              <a:cs typeface="IBM Plex Sans"/>
              <a:sym typeface="IBM Plex Sans"/>
            </a:endParaRPr>
          </a:p>
        </p:txBody>
      </p:sp>
      <p:sp>
        <p:nvSpPr>
          <p:cNvPr id="703" name="Google Shape;703;p98"/>
          <p:cNvSpPr/>
          <p:nvPr/>
        </p:nvSpPr>
        <p:spPr>
          <a:xfrm>
            <a:off x="6248400" y="4401691"/>
            <a:ext cx="5284724" cy="52318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400"/>
              <a:buFont typeface="IBM Plex Sans"/>
              <a:buNone/>
            </a:pPr>
            <a:r>
              <a:rPr b="1" i="0" lang="en-US" sz="1400" u="none" cap="none" strike="noStrike">
                <a:solidFill>
                  <a:srgbClr val="16202E"/>
                </a:solidFill>
                <a:latin typeface="IBM Plex Sans"/>
                <a:ea typeface="IBM Plex Sans"/>
                <a:cs typeface="IBM Plex Sans"/>
                <a:sym typeface="IBM Plex Sans"/>
              </a:rPr>
              <a:t>Why two formats:</a:t>
            </a:r>
            <a:r>
              <a:rPr b="0" i="0" lang="en-US" sz="1400" u="none" cap="none" strike="noStrike">
                <a:solidFill>
                  <a:srgbClr val="4A5568"/>
                </a:solidFill>
                <a:latin typeface="IBM Plex Sans"/>
                <a:ea typeface="IBM Plex Sans"/>
                <a:cs typeface="IBM Plex Sans"/>
                <a:sym typeface="IBM Plex Sans"/>
              </a:rPr>
              <a:t> mixing direct and chain‑of‑thought targets in one run is the FLAN multi‑task recipe.</a:t>
            </a:r>
            <a:endParaRPr b="0" i="0" sz="1400" u="none" cap="none" strike="noStrike">
              <a:solidFill>
                <a:schemeClr val="dk1"/>
              </a:solidFill>
              <a:latin typeface="IBM Plex Sans"/>
              <a:ea typeface="IBM Plex Sans"/>
              <a:cs typeface="IBM Plex Sans"/>
              <a:sym typeface="IBM Plex Sans"/>
            </a:endParaRPr>
          </a:p>
        </p:txBody>
      </p:sp>
      <p:sp>
        <p:nvSpPr>
          <p:cNvPr id="704" name="Google Shape;704;p98"/>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A7280"/>
              </a:buClr>
              <a:buSzPts val="1200"/>
              <a:buFont typeface="JetBrains Mono"/>
              <a:buNone/>
            </a:pPr>
            <a:r>
              <a:rPr b="0" i="0" lang="en-US" sz="1200" u="none" cap="none" strike="noStrike">
                <a:solidFill>
                  <a:srgbClr val="6A7280"/>
                </a:solidFill>
                <a:latin typeface="JetBrains Mono"/>
                <a:ea typeface="JetBrains Mono"/>
                <a:cs typeface="JetBrains Mono"/>
                <a:sym typeface="JetBrains Mono"/>
              </a:rPr>
              <a:t>prepare_sft.py → train_lora.py → plot_loss.py → eval_generator.py</a:t>
            </a:r>
            <a:endParaRPr b="0" i="0" sz="1200" u="none" cap="none" strike="noStrike">
              <a:solidFill>
                <a:schemeClr val="dk1"/>
              </a:solidFill>
              <a:latin typeface="IBM Plex Sans"/>
              <a:ea typeface="IBM Plex Sans"/>
              <a:cs typeface="IBM Plex Sans"/>
              <a:sym typeface="IBM Plex Sans"/>
            </a:endParaRPr>
          </a:p>
        </p:txBody>
      </p:sp>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5F0"/>
        </a:solidFill>
      </p:bgPr>
    </p:bg>
    <p:spTree>
      <p:nvGrpSpPr>
        <p:cNvPr id="709" name="Shape 709"/>
        <p:cNvGrpSpPr/>
        <p:nvPr/>
      </p:nvGrpSpPr>
      <p:grpSpPr>
        <a:xfrm>
          <a:off x="0" y="0"/>
          <a:ext cx="0" cy="0"/>
          <a:chOff x="0" y="0"/>
          <a:chExt cx="0" cy="0"/>
        </a:xfrm>
      </p:grpSpPr>
      <p:sp>
        <p:nvSpPr>
          <p:cNvPr id="710" name="Google Shape;710;p99"/>
          <p:cNvSpPr txBox="1"/>
          <p:nvPr>
            <p:ph type="title"/>
          </p:nvPr>
        </p:nvSpPr>
        <p:spPr>
          <a:xfrm>
            <a:off x="812800" y="812800"/>
            <a:ext cx="10883392" cy="47243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6202E"/>
              </a:buClr>
              <a:buSzPts val="3200"/>
              <a:buFont typeface="IBM Plex Sans"/>
              <a:buNone/>
            </a:pPr>
            <a:r>
              <a:rPr b="1" i="0" lang="en-US" sz="3200">
                <a:solidFill>
                  <a:srgbClr val="16202E"/>
                </a:solidFill>
                <a:latin typeface="IBM Plex Sans"/>
                <a:ea typeface="IBM Plex Sans"/>
                <a:cs typeface="IBM Plex Sans"/>
                <a:sym typeface="IBM Plex Sans"/>
              </a:rPr>
              <a:t>One question becomes two training examples</a:t>
            </a:r>
            <a:endParaRPr sz="3200"/>
          </a:p>
        </p:txBody>
      </p:sp>
      <p:sp>
        <p:nvSpPr>
          <p:cNvPr id="711" name="Google Shape;711;p99"/>
          <p:cNvSpPr/>
          <p:nvPr/>
        </p:nvSpPr>
        <p:spPr>
          <a:xfrm>
            <a:off x="812800" y="1564630"/>
            <a:ext cx="5410200" cy="4277370"/>
          </a:xfrm>
          <a:prstGeom prst="roundRect">
            <a:avLst>
              <a:gd fmla="val 2969" name="adj"/>
            </a:avLst>
          </a:prstGeom>
          <a:solidFill>
            <a:srgbClr val="16202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 name="Google Shape;712;p99"/>
          <p:cNvSpPr/>
          <p:nvPr/>
        </p:nvSpPr>
        <p:spPr>
          <a:xfrm>
            <a:off x="1066800" y="1818630"/>
            <a:ext cx="5049266"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8C98A8"/>
              </a:buClr>
              <a:buSzPts val="1200"/>
              <a:buFont typeface="JetBrains Mono"/>
              <a:buNone/>
            </a:pPr>
            <a:r>
              <a:rPr b="0" i="0" lang="en-US" sz="1200" u="none" cap="none" strike="noStrike">
                <a:solidFill>
                  <a:srgbClr val="8C98A8"/>
                </a:solidFill>
                <a:latin typeface="JetBrains Mono"/>
                <a:ea typeface="JetBrains Mono"/>
                <a:cs typeface="JetBrains Mono"/>
                <a:sym typeface="JetBrains Mono"/>
              </a:rPr>
              <a:t>PROMPT · masked, not trained on</a:t>
            </a:r>
            <a:endParaRPr b="0" i="0" sz="1200" u="none" cap="none" strike="noStrike">
              <a:solidFill>
                <a:schemeClr val="dk1"/>
              </a:solidFill>
              <a:latin typeface="IBM Plex Sans"/>
              <a:ea typeface="IBM Plex Sans"/>
              <a:cs typeface="IBM Plex Sans"/>
              <a:sym typeface="IBM Plex Sans"/>
            </a:endParaRPr>
          </a:p>
        </p:txBody>
      </p:sp>
      <p:sp>
        <p:nvSpPr>
          <p:cNvPr id="713" name="Google Shape;713;p99"/>
          <p:cNvSpPr/>
          <p:nvPr/>
        </p:nvSpPr>
        <p:spPr>
          <a:xfrm>
            <a:off x="1066800" y="2158950"/>
            <a:ext cx="5049266" cy="711200"/>
          </a:xfrm>
          <a:prstGeom prst="rect">
            <a:avLst/>
          </a:prstGeom>
          <a:noFill/>
          <a:ln>
            <a:noFill/>
          </a:ln>
        </p:spPr>
        <p:txBody>
          <a:bodyPr anchorCtr="0" anchor="t" bIns="0" lIns="0" spcFirstLastPara="1" rIns="0" wrap="square" tIns="0">
            <a:noAutofit/>
          </a:bodyPr>
          <a:lstStyle/>
          <a:p>
            <a:pPr indent="0" lvl="0" marL="0" marR="0" rtl="0" algn="l">
              <a:lnSpc>
                <a:spcPct val="150000"/>
              </a:lnSpc>
              <a:spcBef>
                <a:spcPts val="0"/>
              </a:spcBef>
              <a:spcAft>
                <a:spcPts val="0"/>
              </a:spcAft>
              <a:buClr>
                <a:srgbClr val="D6DCE4"/>
              </a:buClr>
              <a:buSzPts val="1200"/>
              <a:buFont typeface="JetBrains Mono"/>
              <a:buNone/>
            </a:pPr>
            <a:r>
              <a:rPr b="0" i="0" lang="en-US" sz="1200" u="none" cap="none" strike="noStrike">
                <a:solidFill>
                  <a:srgbClr val="D6DCE4"/>
                </a:solidFill>
                <a:latin typeface="JetBrains Mono"/>
                <a:ea typeface="JetBrains Mono"/>
                <a:cs typeface="JetBrains Mono"/>
                <a:sym typeface="JetBrains Mono"/>
              </a:rPr>
              <a:t>[1] guide p.6 · Plan features </a:t>
            </a:r>
            <a:r>
              <a:rPr b="0" i="0" lang="en-US" sz="1200" u="none" cap="none" strike="noStrike">
                <a:solidFill>
                  <a:srgbClr val="8C98A8"/>
                </a:solidFill>
                <a:latin typeface="JetBrains Mono"/>
                <a:ea typeface="JetBrains Mono"/>
                <a:cs typeface="JetBrains Mono"/>
                <a:sym typeface="JetBrains Mono"/>
              </a:rPr>
              <a:t>(distractor)</a:t>
            </a:r>
            <a:endParaRPr b="0" i="0" sz="1200" u="none" cap="none" strike="noStrike">
              <a:solidFill>
                <a:schemeClr val="dk1"/>
              </a:solidFill>
              <a:latin typeface="IBM Plex Sans"/>
              <a:ea typeface="IBM Plex Sans"/>
              <a:cs typeface="IBM Plex Sans"/>
              <a:sym typeface="IBM Plex Sans"/>
            </a:endParaRPr>
          </a:p>
          <a:p>
            <a:pPr indent="0" lvl="0" marL="0" marR="0" rtl="0" algn="l">
              <a:lnSpc>
                <a:spcPct val="150000"/>
              </a:lnSpc>
              <a:spcBef>
                <a:spcPts val="0"/>
              </a:spcBef>
              <a:spcAft>
                <a:spcPts val="0"/>
              </a:spcAft>
              <a:buClr>
                <a:srgbClr val="D6DCE4"/>
              </a:buClr>
              <a:buSzPts val="1200"/>
              <a:buFont typeface="JetBrains Mono"/>
              <a:buNone/>
            </a:pPr>
            <a:r>
              <a:rPr b="0" i="0" lang="en-US" sz="1200" u="none" cap="none" strike="noStrike">
                <a:solidFill>
                  <a:srgbClr val="D6DCE4"/>
                </a:solidFill>
                <a:latin typeface="JetBrains Mono"/>
                <a:ea typeface="JetBrains Mono"/>
                <a:cs typeface="JetBrains Mono"/>
                <a:sym typeface="JetBrains Mono"/>
              </a:rPr>
              <a:t>[2] guide p.2 · Contact us </a:t>
            </a:r>
            <a:r>
              <a:rPr b="0" i="0" lang="en-US" sz="1200" u="none" cap="none" strike="noStrike">
                <a:solidFill>
                  <a:srgbClr val="F08A5D"/>
                </a:solidFill>
                <a:latin typeface="JetBrains Mono"/>
                <a:ea typeface="JetBrains Mono"/>
                <a:cs typeface="JetBrains Mono"/>
                <a:sym typeface="JetBrains Mono"/>
              </a:rPr>
              <a:t>(gold)</a:t>
            </a:r>
            <a:endParaRPr b="0" i="0" sz="1200" u="none" cap="none" strike="noStrike">
              <a:solidFill>
                <a:schemeClr val="dk1"/>
              </a:solidFill>
              <a:latin typeface="IBM Plex Sans"/>
              <a:ea typeface="IBM Plex Sans"/>
              <a:cs typeface="IBM Plex Sans"/>
              <a:sym typeface="IBM Plex Sans"/>
            </a:endParaRPr>
          </a:p>
          <a:p>
            <a:pPr indent="0" lvl="0" marL="0" marR="0" rtl="0" algn="l">
              <a:lnSpc>
                <a:spcPct val="150000"/>
              </a:lnSpc>
              <a:spcBef>
                <a:spcPts val="0"/>
              </a:spcBef>
              <a:spcAft>
                <a:spcPts val="0"/>
              </a:spcAft>
              <a:buClr>
                <a:srgbClr val="D6DCE4"/>
              </a:buClr>
              <a:buSzPts val="1200"/>
              <a:buFont typeface="JetBrains Mono"/>
              <a:buNone/>
            </a:pPr>
            <a:r>
              <a:rPr b="0" i="0" lang="en-US" sz="1200" u="none" cap="none" strike="noStrike">
                <a:solidFill>
                  <a:srgbClr val="D6DCE4"/>
                </a:solidFill>
                <a:latin typeface="JetBrains Mono"/>
                <a:ea typeface="JetBrains Mono"/>
                <a:cs typeface="JetBrains Mono"/>
                <a:sym typeface="JetBrains Mono"/>
              </a:rPr>
              <a:t>[3] guide p.4 · Both plans include </a:t>
            </a:r>
            <a:r>
              <a:rPr b="0" i="0" lang="en-US" sz="1200" u="none" cap="none" strike="noStrike">
                <a:solidFill>
                  <a:srgbClr val="8C98A8"/>
                </a:solidFill>
                <a:latin typeface="JetBrains Mono"/>
                <a:ea typeface="JetBrains Mono"/>
                <a:cs typeface="JetBrains Mono"/>
                <a:sym typeface="JetBrains Mono"/>
              </a:rPr>
              <a:t>(distractor)</a:t>
            </a:r>
            <a:endParaRPr b="0" i="0" sz="1200" u="none" cap="none" strike="noStrike">
              <a:solidFill>
                <a:schemeClr val="dk1"/>
              </a:solidFill>
              <a:latin typeface="IBM Plex Sans"/>
              <a:ea typeface="IBM Plex Sans"/>
              <a:cs typeface="IBM Plex Sans"/>
              <a:sym typeface="IBM Plex Sans"/>
            </a:endParaRPr>
          </a:p>
        </p:txBody>
      </p:sp>
      <p:sp>
        <p:nvSpPr>
          <p:cNvPr id="714" name="Google Shape;714;p99"/>
          <p:cNvSpPr/>
          <p:nvPr/>
        </p:nvSpPr>
        <p:spPr>
          <a:xfrm>
            <a:off x="1066800" y="2971750"/>
            <a:ext cx="5049266" cy="482600"/>
          </a:xfrm>
          <a:prstGeom prst="rect">
            <a:avLst/>
          </a:prstGeom>
          <a:noFill/>
          <a:ln>
            <a:noFill/>
          </a:ln>
        </p:spPr>
        <p:txBody>
          <a:bodyPr anchorCtr="0" anchor="t" bIns="0" lIns="0" spcFirstLastPara="1" rIns="0" wrap="square" tIns="0">
            <a:noAutofit/>
          </a:bodyPr>
          <a:lstStyle/>
          <a:p>
            <a:pPr indent="0" lvl="0" marL="0" marR="0" rtl="0" algn="l">
              <a:lnSpc>
                <a:spcPct val="150000"/>
              </a:lnSpc>
              <a:spcBef>
                <a:spcPts val="0"/>
              </a:spcBef>
              <a:spcAft>
                <a:spcPts val="0"/>
              </a:spcAft>
              <a:buClr>
                <a:srgbClr val="F3F1EA"/>
              </a:buClr>
              <a:buSzPts val="1200"/>
              <a:buFont typeface="JetBrains Mono"/>
              <a:buNone/>
            </a:pPr>
            <a:r>
              <a:rPr b="0" i="0" lang="en-US" sz="1200" u="none" cap="none" strike="noStrike">
                <a:solidFill>
                  <a:srgbClr val="F3F1EA"/>
                </a:solidFill>
                <a:latin typeface="JetBrains Mono"/>
                <a:ea typeface="JetBrains Mono"/>
                <a:cs typeface="JetBrains Mono"/>
                <a:sym typeface="JetBrains Mono"/>
              </a:rPr>
              <a:t>Question: What is the phone number to contact a FedViser for GEHA dental benefits?</a:t>
            </a:r>
            <a:endParaRPr b="0" i="0" sz="1200" u="none" cap="none" strike="noStrike">
              <a:solidFill>
                <a:schemeClr val="dk1"/>
              </a:solidFill>
              <a:latin typeface="IBM Plex Sans"/>
              <a:ea typeface="IBM Plex Sans"/>
              <a:cs typeface="IBM Plex Sans"/>
              <a:sym typeface="IBM Plex Sans"/>
            </a:endParaRPr>
          </a:p>
        </p:txBody>
      </p:sp>
      <p:sp>
        <p:nvSpPr>
          <p:cNvPr id="715" name="Google Shape;715;p99"/>
          <p:cNvSpPr/>
          <p:nvPr/>
        </p:nvSpPr>
        <p:spPr>
          <a:xfrm>
            <a:off x="6483350" y="1570980"/>
            <a:ext cx="4889500" cy="1170880"/>
          </a:xfrm>
          <a:prstGeom prst="roundRect">
            <a:avLst>
              <a:gd fmla="val 10304"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 name="Google Shape;716;p99"/>
          <p:cNvSpPr/>
          <p:nvPr/>
        </p:nvSpPr>
        <p:spPr>
          <a:xfrm>
            <a:off x="6692900" y="1780530"/>
            <a:ext cx="460451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F6DB5"/>
              </a:buClr>
              <a:buSzPts val="1200"/>
              <a:buFont typeface="JetBrains Mono"/>
              <a:buNone/>
            </a:pPr>
            <a:r>
              <a:rPr b="0" i="0" lang="en-US" sz="1200" u="none" cap="none" strike="noStrike">
                <a:solidFill>
                  <a:srgbClr val="2F6DB5"/>
                </a:solidFill>
                <a:latin typeface="JetBrains Mono"/>
                <a:ea typeface="JetBrains Mono"/>
                <a:cs typeface="JetBrains Mono"/>
                <a:sym typeface="JetBrains Mono"/>
              </a:rPr>
              <a:t>DIRECT TARGET · trained on</a:t>
            </a:r>
            <a:endParaRPr b="0" i="0" sz="1200" u="none" cap="none" strike="noStrike">
              <a:solidFill>
                <a:schemeClr val="dk1"/>
              </a:solidFill>
              <a:latin typeface="IBM Plex Sans"/>
              <a:ea typeface="IBM Plex Sans"/>
              <a:cs typeface="IBM Plex Sans"/>
              <a:sym typeface="IBM Plex Sans"/>
            </a:endParaRPr>
          </a:p>
        </p:txBody>
      </p:sp>
      <p:sp>
        <p:nvSpPr>
          <p:cNvPr id="717" name="Google Shape;717;p99"/>
          <p:cNvSpPr/>
          <p:nvPr/>
        </p:nvSpPr>
        <p:spPr>
          <a:xfrm>
            <a:off x="6692900" y="2070050"/>
            <a:ext cx="4604512" cy="4876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300"/>
              <a:buFont typeface="IBM Plex Sans"/>
              <a:buNone/>
            </a:pPr>
            <a:r>
              <a:rPr b="0" i="0" lang="en-US" sz="1300" u="none" cap="none" strike="noStrike">
                <a:solidFill>
                  <a:srgbClr val="16202E"/>
                </a:solidFill>
                <a:latin typeface="IBM Plex Sans"/>
                <a:ea typeface="IBM Plex Sans"/>
                <a:cs typeface="IBM Plex Sans"/>
                <a:sym typeface="IBM Plex Sans"/>
              </a:rPr>
              <a:t>You can reach a FedViser … by calling 1‑855‑572‑1636 Monday through Friday from 8 a.m. to 8 p.m. Eastern time.</a:t>
            </a:r>
            <a:endParaRPr b="0" i="0" sz="1300" u="none" cap="none" strike="noStrike">
              <a:solidFill>
                <a:schemeClr val="dk1"/>
              </a:solidFill>
              <a:latin typeface="IBM Plex Sans"/>
              <a:ea typeface="IBM Plex Sans"/>
              <a:cs typeface="IBM Plex Sans"/>
              <a:sym typeface="IBM Plex Sans"/>
            </a:endParaRPr>
          </a:p>
        </p:txBody>
      </p:sp>
      <p:sp>
        <p:nvSpPr>
          <p:cNvPr id="718" name="Google Shape;718;p99"/>
          <p:cNvSpPr/>
          <p:nvPr/>
        </p:nvSpPr>
        <p:spPr>
          <a:xfrm>
            <a:off x="6483350" y="2906961"/>
            <a:ext cx="4889500" cy="1851620"/>
          </a:xfrm>
          <a:prstGeom prst="roundRect">
            <a:avLst>
              <a:gd fmla="val 6516" name="adj"/>
            </a:avLst>
          </a:prstGeom>
          <a:solidFill>
            <a:srgbClr val="FDFCF9"/>
          </a:solidFill>
          <a:ln cap="flat" cmpd="sng" w="12700">
            <a:solidFill>
              <a:srgbClr val="D962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 name="Google Shape;719;p99"/>
          <p:cNvSpPr/>
          <p:nvPr/>
        </p:nvSpPr>
        <p:spPr>
          <a:xfrm>
            <a:off x="6692900" y="3116511"/>
            <a:ext cx="460451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4481A"/>
              </a:buClr>
              <a:buSzPts val="1200"/>
              <a:buFont typeface="JetBrains Mono"/>
              <a:buNone/>
            </a:pPr>
            <a:r>
              <a:rPr b="0" i="0" lang="en-US" sz="1200" u="none" cap="none" strike="noStrike">
                <a:solidFill>
                  <a:srgbClr val="B4481A"/>
                </a:solidFill>
                <a:latin typeface="JetBrains Mono"/>
                <a:ea typeface="JetBrains Mono"/>
                <a:cs typeface="JetBrains Mono"/>
                <a:sym typeface="JetBrains Mono"/>
              </a:rPr>
              <a:t>CHAIN‑OF‑THOUGHT TARGET · trained on</a:t>
            </a:r>
            <a:endParaRPr b="0" i="0" sz="1200" u="none" cap="none" strike="noStrike">
              <a:solidFill>
                <a:schemeClr val="dk1"/>
              </a:solidFill>
              <a:latin typeface="IBM Plex Sans"/>
              <a:ea typeface="IBM Plex Sans"/>
              <a:cs typeface="IBM Plex Sans"/>
              <a:sym typeface="IBM Plex Sans"/>
            </a:endParaRPr>
          </a:p>
        </p:txBody>
      </p:sp>
      <p:sp>
        <p:nvSpPr>
          <p:cNvPr id="720" name="Google Shape;720;p99"/>
          <p:cNvSpPr/>
          <p:nvPr/>
        </p:nvSpPr>
        <p:spPr>
          <a:xfrm>
            <a:off x="6692900" y="3406031"/>
            <a:ext cx="4604512" cy="1168400"/>
          </a:xfrm>
          <a:prstGeom prst="rect">
            <a:avLst/>
          </a:prstGeom>
          <a:noFill/>
          <a:ln>
            <a:noFill/>
          </a:ln>
        </p:spPr>
        <p:txBody>
          <a:bodyPr anchorCtr="0" anchor="t" bIns="0" lIns="0" spcFirstLastPara="1" rIns="0" wrap="square" tIns="0">
            <a:noAutofit/>
          </a:bodyPr>
          <a:lstStyle/>
          <a:p>
            <a:pPr indent="0" lvl="0" marL="0" marR="0" rtl="0" algn="l">
              <a:lnSpc>
                <a:spcPct val="150000"/>
              </a:lnSpc>
              <a:spcBef>
                <a:spcPts val="0"/>
              </a:spcBef>
              <a:spcAft>
                <a:spcPts val="0"/>
              </a:spcAft>
              <a:buClr>
                <a:srgbClr val="16202E"/>
              </a:buClr>
              <a:buSzPts val="1200"/>
              <a:buFont typeface="JetBrains Mono"/>
              <a:buNone/>
            </a:pPr>
            <a:r>
              <a:rPr b="0" i="0" lang="en-US" sz="1200" u="none" cap="none" strike="noStrike">
                <a:solidFill>
                  <a:srgbClr val="16202E"/>
                </a:solidFill>
                <a:latin typeface="JetBrains Mono"/>
                <a:ea typeface="JetBrains Mono"/>
                <a:cs typeface="JetBrains Mono"/>
                <a:sym typeface="JetBrains Mono"/>
              </a:rPr>
              <a:t>Evidence:</a:t>
            </a:r>
            <a:endParaRPr b="0" i="0" sz="1200" u="none" cap="none" strike="noStrike">
              <a:solidFill>
                <a:schemeClr val="dk1"/>
              </a:solidFill>
              <a:latin typeface="IBM Plex Sans"/>
              <a:ea typeface="IBM Plex Sans"/>
              <a:cs typeface="IBM Plex Sans"/>
              <a:sym typeface="IBM Plex Sans"/>
            </a:endParaRPr>
          </a:p>
          <a:p>
            <a:pPr indent="0" lvl="0" marL="0" marR="0" rtl="0" algn="l">
              <a:lnSpc>
                <a:spcPct val="150000"/>
              </a:lnSpc>
              <a:spcBef>
                <a:spcPts val="0"/>
              </a:spcBef>
              <a:spcAft>
                <a:spcPts val="0"/>
              </a:spcAft>
              <a:buClr>
                <a:srgbClr val="16202E"/>
              </a:buClr>
              <a:buSzPts val="1200"/>
              <a:buFont typeface="JetBrains Mono"/>
              <a:buNone/>
            </a:pPr>
            <a:r>
              <a:rPr b="0" i="0" lang="en-US" sz="1200" u="none" cap="none" strike="noStrike">
                <a:solidFill>
                  <a:srgbClr val="16202E"/>
                </a:solidFill>
                <a:latin typeface="JetBrains Mono"/>
                <a:ea typeface="JetBrains Mono"/>
                <a:cs typeface="JetBrains Mono"/>
                <a:sym typeface="JetBrains Mono"/>
              </a:rPr>
              <a:t>- [2] “Reach a FedViser Monday‑Friday from 8 a.m.‑8 p.m.”</a:t>
            </a:r>
            <a:endParaRPr b="0" i="0" sz="1200" u="none" cap="none" strike="noStrike">
              <a:solidFill>
                <a:schemeClr val="dk1"/>
              </a:solidFill>
              <a:latin typeface="IBM Plex Sans"/>
              <a:ea typeface="IBM Plex Sans"/>
              <a:cs typeface="IBM Plex Sans"/>
              <a:sym typeface="IBM Plex Sans"/>
            </a:endParaRPr>
          </a:p>
          <a:p>
            <a:pPr indent="0" lvl="0" marL="0" marR="0" rtl="0" algn="l">
              <a:lnSpc>
                <a:spcPct val="150000"/>
              </a:lnSpc>
              <a:spcBef>
                <a:spcPts val="0"/>
              </a:spcBef>
              <a:spcAft>
                <a:spcPts val="0"/>
              </a:spcAft>
              <a:buClr>
                <a:srgbClr val="16202E"/>
              </a:buClr>
              <a:buSzPts val="1200"/>
              <a:buFont typeface="JetBrains Mono"/>
              <a:buNone/>
            </a:pPr>
            <a:r>
              <a:rPr b="0" i="0" lang="en-US" sz="1200" u="none" cap="none" strike="noStrike">
                <a:solidFill>
                  <a:srgbClr val="16202E"/>
                </a:solidFill>
                <a:latin typeface="JetBrains Mono"/>
                <a:ea typeface="JetBrains Mono"/>
                <a:cs typeface="JetBrains Mono"/>
                <a:sym typeface="JetBrains Mono"/>
              </a:rPr>
              <a:t>Answer: You can reach a FedViser … 1‑855‑572‑1636 …</a:t>
            </a:r>
            <a:endParaRPr b="0" i="0" sz="1200" u="none" cap="none" strike="noStrike">
              <a:solidFill>
                <a:schemeClr val="dk1"/>
              </a:solidFill>
              <a:latin typeface="IBM Plex Sans"/>
              <a:ea typeface="IBM Plex Sans"/>
              <a:cs typeface="IBM Plex Sans"/>
              <a:sym typeface="IBM Plex Sans"/>
            </a:endParaRPr>
          </a:p>
        </p:txBody>
      </p:sp>
      <p:sp>
        <p:nvSpPr>
          <p:cNvPr id="721" name="Google Shape;721;p99"/>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A7280"/>
              </a:buClr>
              <a:buSzPts val="1200"/>
              <a:buFont typeface="IBM Plex Sans"/>
              <a:buNone/>
            </a:pPr>
            <a:r>
              <a:rPr b="0" i="0" lang="en-US" sz="1200" u="none" cap="none" strike="noStrike">
                <a:solidFill>
                  <a:srgbClr val="6A7280"/>
                </a:solidFill>
                <a:latin typeface="IBM Plex Sans"/>
                <a:ea typeface="IBM Plex Sans"/>
                <a:cs typeface="IBM Plex Sans"/>
                <a:sym typeface="IBM Plex Sans"/>
              </a:rPr>
              <a:t>Real example ragas‑0002 (abridged). Evidence is extractive: the gold sentences that overlap the reference answer most.</a:t>
            </a:r>
            <a:endParaRPr b="0" i="0" sz="1200" u="none" cap="none" strike="noStrike">
              <a:solidFill>
                <a:schemeClr val="dk1"/>
              </a:solidFill>
              <a:latin typeface="IBM Plex Sans"/>
              <a:ea typeface="IBM Plex Sans"/>
              <a:cs typeface="IBM Plex Sans"/>
              <a:sym typeface="IBM Plex Sans"/>
            </a:endParaRPr>
          </a:p>
        </p:txBody>
      </p:sp>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5F0"/>
        </a:solidFill>
      </p:bgPr>
    </p:bg>
    <p:spTree>
      <p:nvGrpSpPr>
        <p:cNvPr id="726" name="Shape 726"/>
        <p:cNvGrpSpPr/>
        <p:nvPr/>
      </p:nvGrpSpPr>
      <p:grpSpPr>
        <a:xfrm>
          <a:off x="0" y="0"/>
          <a:ext cx="0" cy="0"/>
          <a:chOff x="0" y="0"/>
          <a:chExt cx="0" cy="0"/>
        </a:xfrm>
      </p:grpSpPr>
      <p:sp>
        <p:nvSpPr>
          <p:cNvPr id="727" name="Google Shape;727;p100"/>
          <p:cNvSpPr txBox="1"/>
          <p:nvPr>
            <p:ph type="title"/>
          </p:nvPr>
        </p:nvSpPr>
        <p:spPr>
          <a:xfrm>
            <a:off x="812800" y="812800"/>
            <a:ext cx="10883392" cy="47243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6202E"/>
              </a:buClr>
              <a:buSzPts val="3200"/>
              <a:buFont typeface="IBM Plex Sans"/>
              <a:buNone/>
            </a:pPr>
            <a:r>
              <a:rPr b="1" i="0" lang="en-US" sz="3200">
                <a:solidFill>
                  <a:srgbClr val="16202E"/>
                </a:solidFill>
                <a:latin typeface="IBM Plex Sans"/>
                <a:ea typeface="IBM Plex Sans"/>
                <a:cs typeface="IBM Plex Sans"/>
                <a:sym typeface="IBM Plex Sans"/>
              </a:rPr>
              <a:t>Data splits: the test set is a different document</a:t>
            </a:r>
            <a:endParaRPr sz="3200"/>
          </a:p>
        </p:txBody>
      </p:sp>
      <p:graphicFrame>
        <p:nvGraphicFramePr>
          <p:cNvPr id="728" name="Google Shape;728;p100"/>
          <p:cNvGraphicFramePr/>
          <p:nvPr/>
        </p:nvGraphicFramePr>
        <p:xfrm>
          <a:off x="825500" y="1628130"/>
          <a:ext cx="3000000" cy="3000000"/>
        </p:xfrm>
        <a:graphic>
          <a:graphicData uri="http://schemas.openxmlformats.org/drawingml/2006/table">
            <a:tbl>
              <a:tblPr>
                <a:noFill/>
                <a:tableStyleId>{EEE02795-A6B7-4247-B71C-ED7A564BFD40}</a:tableStyleId>
              </a:tblPr>
              <a:tblGrid>
                <a:gridCol w="2190650"/>
                <a:gridCol w="1417475"/>
                <a:gridCol w="1417475"/>
                <a:gridCol w="1417475"/>
              </a:tblGrid>
              <a:tr h="386000">
                <a:tc>
                  <a:txBody>
                    <a:bodyPr/>
                    <a:lstStyle/>
                    <a:p>
                      <a:pPr indent="0" lvl="0" marL="0" marR="0" rtl="0" algn="l">
                        <a:lnSpc>
                          <a:spcPct val="140000"/>
                        </a:lnSpc>
                        <a:spcBef>
                          <a:spcPts val="0"/>
                        </a:spcBef>
                        <a:spcAft>
                          <a:spcPts val="0"/>
                        </a:spcAft>
                        <a:buClr>
                          <a:schemeClr val="dk1"/>
                        </a:buClr>
                        <a:buSzPts val="1400"/>
                        <a:buFont typeface="IBM Plex Sans"/>
                        <a:buNone/>
                      </a:pPr>
                      <a:r>
                        <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b="1" lang="en-US" sz="1400" u="none" cap="none" strike="noStrike">
                          <a:solidFill>
                            <a:srgbClr val="16202E"/>
                          </a:solidFill>
                          <a:latin typeface="IBM Plex Sans"/>
                          <a:ea typeface="IBM Plex Sans"/>
                          <a:cs typeface="IBM Plex Sans"/>
                          <a:sym typeface="IBM Plex Sans"/>
                        </a:rPr>
                        <a:t>train</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6B5B1"/>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b="1" lang="en-US" sz="1400" u="none" cap="none" strike="noStrike">
                          <a:solidFill>
                            <a:srgbClr val="16202E"/>
                          </a:solidFill>
                          <a:latin typeface="IBM Plex Sans"/>
                          <a:ea typeface="IBM Plex Sans"/>
                          <a:cs typeface="IBM Plex Sans"/>
                          <a:sym typeface="IBM Plex Sans"/>
                        </a:rPr>
                        <a:t>validation</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6B5B1"/>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b="1" lang="en-US" sz="1400" u="none" cap="none" strike="noStrike">
                          <a:solidFill>
                            <a:srgbClr val="16202E"/>
                          </a:solidFill>
                          <a:latin typeface="IBM Plex Sans"/>
                          <a:ea typeface="IBM Plex Sans"/>
                          <a:cs typeface="IBM Plex Sans"/>
                          <a:sym typeface="IBM Plex Sans"/>
                        </a:rPr>
                        <a:t>test</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6B5B1"/>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r>
              <a:tr h="386000">
                <a:tc>
                  <a:txBody>
                    <a:bodyPr/>
                    <a:lstStyle/>
                    <a:p>
                      <a:pPr indent="0" lvl="0" marL="0" marR="0" rtl="0" algn="l">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Document</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guide</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guide</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brochure</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r>
              <a:tr h="386000">
                <a:tc>
                  <a:txBody>
                    <a:bodyPr/>
                    <a:lstStyle/>
                    <a:p>
                      <a:pPr indent="0" lvl="0" marL="0" marR="0" rtl="0" algn="l">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Sections</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22</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6</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72</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r>
              <a:tr h="386000">
                <a:tc>
                  <a:txBody>
                    <a:bodyPr/>
                    <a:lstStyle/>
                    <a:p>
                      <a:pPr indent="0" lvl="0" marL="0" marR="0" rtl="0" algn="l">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QA pairs</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78</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24</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41</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r>
              <a:tr h="386000">
                <a:tc>
                  <a:txBody>
                    <a:bodyPr/>
                    <a:lstStyle/>
                    <a:p>
                      <a:pPr indent="0" lvl="0" marL="0" marR="0" rtl="0" algn="l">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SFT examples</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156</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48</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82</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r>
              <a:tr h="386000">
                <a:tc>
                  <a:txBody>
                    <a:bodyPr/>
                    <a:lstStyle/>
                    <a:p>
                      <a:pPr indent="0" lvl="0" marL="0" marR="0" rtl="0" algn="l">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Distractor pool</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34</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8</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167</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r>
              <a:tr h="386000">
                <a:tc>
                  <a:txBody>
                    <a:bodyPr/>
                    <a:lstStyle/>
                    <a:p>
                      <a:pPr indent="0" lvl="0" marL="0" marR="0" rtl="0" algn="l">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Prompt tokens, mean</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990</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702</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1,251</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r>
              <a:tr h="386000">
                <a:tc>
                  <a:txBody>
                    <a:bodyPr/>
                    <a:lstStyle/>
                    <a:p>
                      <a:pPr indent="0" lvl="0" marL="0" marR="0" rtl="0" algn="l">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Answer tokens, mean</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135</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120</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199</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r>
            </a:tbl>
          </a:graphicData>
        </a:graphic>
      </p:graphicFrame>
      <p:sp>
        <p:nvSpPr>
          <p:cNvPr id="729" name="Google Shape;729;p100"/>
          <p:cNvSpPr/>
          <p:nvPr/>
        </p:nvSpPr>
        <p:spPr>
          <a:xfrm>
            <a:off x="7630567" y="1621780"/>
            <a:ext cx="3742283" cy="3088084"/>
          </a:xfrm>
          <a:prstGeom prst="roundRect">
            <a:avLst>
              <a:gd fmla="val 3907"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 name="Google Shape;730;p100"/>
          <p:cNvSpPr/>
          <p:nvPr/>
        </p:nvSpPr>
        <p:spPr>
          <a:xfrm>
            <a:off x="7890917" y="1882130"/>
            <a:ext cx="3318231" cy="26923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02E"/>
              </a:buClr>
              <a:buSzPts val="1600"/>
              <a:buFont typeface="IBM Plex Sans"/>
              <a:buNone/>
            </a:pPr>
            <a:r>
              <a:rPr b="1" i="0" lang="en-US" sz="1600" u="none" cap="none" strike="noStrike">
                <a:solidFill>
                  <a:srgbClr val="16202E"/>
                </a:solidFill>
                <a:latin typeface="IBM Plex Sans"/>
                <a:ea typeface="IBM Plex Sans"/>
                <a:cs typeface="IBM Plex Sans"/>
                <a:sym typeface="IBM Plex Sans"/>
              </a:rPr>
              <a:t>Leakage checks: 5 of 5 pass</a:t>
            </a:r>
            <a:endParaRPr b="0" i="0" sz="1600" u="none" cap="none" strike="noStrike">
              <a:solidFill>
                <a:schemeClr val="dk1"/>
              </a:solidFill>
              <a:latin typeface="IBM Plex Sans"/>
              <a:ea typeface="IBM Plex Sans"/>
              <a:cs typeface="IBM Plex Sans"/>
              <a:sym typeface="IBM Plex Sans"/>
            </a:endParaRPr>
          </a:p>
        </p:txBody>
      </p:sp>
      <p:pic>
        <p:nvPicPr>
          <p:cNvPr descr="CheckCircle" id="731" name="Google Shape;731;p100"/>
          <p:cNvPicPr preferRelativeResize="0"/>
          <p:nvPr/>
        </p:nvPicPr>
        <p:blipFill rotWithShape="1">
          <a:blip r:embed="rId3">
            <a:alphaModFix/>
          </a:blip>
          <a:srcRect b="0" l="0" r="0" t="0"/>
          <a:stretch/>
        </p:blipFill>
        <p:spPr>
          <a:xfrm>
            <a:off x="7890917" y="2266900"/>
            <a:ext cx="203200" cy="203200"/>
          </a:xfrm>
          <a:prstGeom prst="rect">
            <a:avLst/>
          </a:prstGeom>
          <a:noFill/>
          <a:ln>
            <a:noFill/>
          </a:ln>
        </p:spPr>
      </p:pic>
      <p:sp>
        <p:nvSpPr>
          <p:cNvPr id="732" name="Google Shape;732;p100"/>
          <p:cNvSpPr/>
          <p:nvPr/>
        </p:nvSpPr>
        <p:spPr>
          <a:xfrm>
            <a:off x="8195717" y="2252960"/>
            <a:ext cx="1851839" cy="2565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300"/>
              <a:buFont typeface="IBM Plex Sans"/>
              <a:buNone/>
            </a:pPr>
            <a:r>
              <a:rPr b="0" i="0" lang="en-US" sz="1300" u="none" cap="none" strike="noStrike">
                <a:solidFill>
                  <a:srgbClr val="16202E"/>
                </a:solidFill>
                <a:latin typeface="IBM Plex Sans"/>
                <a:ea typeface="IBM Plex Sans"/>
                <a:cs typeface="IBM Plex Sans"/>
                <a:sym typeface="IBM Plex Sans"/>
              </a:rPr>
              <a:t>No shared chunk IDs</a:t>
            </a:r>
            <a:endParaRPr b="0" i="0" sz="1300" u="none" cap="none" strike="noStrike">
              <a:solidFill>
                <a:schemeClr val="dk1"/>
              </a:solidFill>
              <a:latin typeface="IBM Plex Sans"/>
              <a:ea typeface="IBM Plex Sans"/>
              <a:cs typeface="IBM Plex Sans"/>
              <a:sym typeface="IBM Plex Sans"/>
            </a:endParaRPr>
          </a:p>
        </p:txBody>
      </p:sp>
      <p:pic>
        <p:nvPicPr>
          <p:cNvPr descr="CheckCircle" id="733" name="Google Shape;733;p100"/>
          <p:cNvPicPr preferRelativeResize="0"/>
          <p:nvPr/>
        </p:nvPicPr>
        <p:blipFill rotWithShape="1">
          <a:blip r:embed="rId3">
            <a:alphaModFix/>
          </a:blip>
          <a:srcRect b="0" l="0" r="0" t="0"/>
          <a:stretch/>
        </p:blipFill>
        <p:spPr>
          <a:xfrm>
            <a:off x="7890917" y="2625030"/>
            <a:ext cx="203200" cy="203200"/>
          </a:xfrm>
          <a:prstGeom prst="rect">
            <a:avLst/>
          </a:prstGeom>
          <a:noFill/>
          <a:ln>
            <a:noFill/>
          </a:ln>
        </p:spPr>
      </p:pic>
      <p:sp>
        <p:nvSpPr>
          <p:cNvPr id="734" name="Google Shape;734;p100"/>
          <p:cNvSpPr/>
          <p:nvPr/>
        </p:nvSpPr>
        <p:spPr>
          <a:xfrm>
            <a:off x="8195717" y="2611090"/>
            <a:ext cx="2265938" cy="2565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300"/>
              <a:buFont typeface="IBM Plex Sans"/>
              <a:buNone/>
            </a:pPr>
            <a:r>
              <a:rPr b="0" i="0" lang="en-US" sz="1300" u="none" cap="none" strike="noStrike">
                <a:solidFill>
                  <a:srgbClr val="16202E"/>
                </a:solidFill>
                <a:latin typeface="IBM Plex Sans"/>
                <a:ea typeface="IBM Plex Sans"/>
                <a:cs typeface="IBM Plex Sans"/>
                <a:sym typeface="IBM Plex Sans"/>
              </a:rPr>
              <a:t>Train/val sections disjoint</a:t>
            </a:r>
            <a:endParaRPr b="0" i="0" sz="1300" u="none" cap="none" strike="noStrike">
              <a:solidFill>
                <a:schemeClr val="dk1"/>
              </a:solidFill>
              <a:latin typeface="IBM Plex Sans"/>
              <a:ea typeface="IBM Plex Sans"/>
              <a:cs typeface="IBM Plex Sans"/>
              <a:sym typeface="IBM Plex Sans"/>
            </a:endParaRPr>
          </a:p>
        </p:txBody>
      </p:sp>
      <p:pic>
        <p:nvPicPr>
          <p:cNvPr descr="CheckCircle" id="735" name="Google Shape;735;p100"/>
          <p:cNvPicPr preferRelativeResize="0"/>
          <p:nvPr/>
        </p:nvPicPr>
        <p:blipFill rotWithShape="1">
          <a:blip r:embed="rId3">
            <a:alphaModFix/>
          </a:blip>
          <a:srcRect b="0" l="0" r="0" t="0"/>
          <a:stretch/>
        </p:blipFill>
        <p:spPr>
          <a:xfrm>
            <a:off x="7890917" y="2983161"/>
            <a:ext cx="203200" cy="203200"/>
          </a:xfrm>
          <a:prstGeom prst="rect">
            <a:avLst/>
          </a:prstGeom>
          <a:noFill/>
          <a:ln>
            <a:noFill/>
          </a:ln>
        </p:spPr>
      </p:pic>
      <p:sp>
        <p:nvSpPr>
          <p:cNvPr id="736" name="Google Shape;736;p100"/>
          <p:cNvSpPr/>
          <p:nvPr/>
        </p:nvSpPr>
        <p:spPr>
          <a:xfrm>
            <a:off x="8195717" y="2969220"/>
            <a:ext cx="2020848" cy="2565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300"/>
              <a:buFont typeface="IBM Plex Sans"/>
              <a:buNone/>
            </a:pPr>
            <a:r>
              <a:rPr b="0" i="0" lang="en-US" sz="1300" u="none" cap="none" strike="noStrike">
                <a:solidFill>
                  <a:srgbClr val="16202E"/>
                </a:solidFill>
                <a:latin typeface="IBM Plex Sans"/>
                <a:ea typeface="IBM Plex Sans"/>
                <a:cs typeface="IBM Plex Sans"/>
                <a:sym typeface="IBM Plex Sans"/>
              </a:rPr>
              <a:t>Test document unseen</a:t>
            </a:r>
            <a:endParaRPr b="0" i="0" sz="1300" u="none" cap="none" strike="noStrike">
              <a:solidFill>
                <a:schemeClr val="dk1"/>
              </a:solidFill>
              <a:latin typeface="IBM Plex Sans"/>
              <a:ea typeface="IBM Plex Sans"/>
              <a:cs typeface="IBM Plex Sans"/>
              <a:sym typeface="IBM Plex Sans"/>
            </a:endParaRPr>
          </a:p>
        </p:txBody>
      </p:sp>
      <p:pic>
        <p:nvPicPr>
          <p:cNvPr descr="CheckCircle" id="737" name="Google Shape;737;p100"/>
          <p:cNvPicPr preferRelativeResize="0"/>
          <p:nvPr/>
        </p:nvPicPr>
        <p:blipFill rotWithShape="1">
          <a:blip r:embed="rId3">
            <a:alphaModFix/>
          </a:blip>
          <a:srcRect b="0" l="0" r="0" t="0"/>
          <a:stretch/>
        </p:blipFill>
        <p:spPr>
          <a:xfrm>
            <a:off x="7890917" y="3341291"/>
            <a:ext cx="203200" cy="203200"/>
          </a:xfrm>
          <a:prstGeom prst="rect">
            <a:avLst/>
          </a:prstGeom>
          <a:noFill/>
          <a:ln>
            <a:noFill/>
          </a:ln>
        </p:spPr>
      </p:pic>
      <p:sp>
        <p:nvSpPr>
          <p:cNvPr id="738" name="Google Shape;738;p100"/>
          <p:cNvSpPr/>
          <p:nvPr/>
        </p:nvSpPr>
        <p:spPr>
          <a:xfrm>
            <a:off x="8195717" y="3327350"/>
            <a:ext cx="2017276" cy="2565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300"/>
              <a:buFont typeface="IBM Plex Sans"/>
              <a:buNone/>
            </a:pPr>
            <a:r>
              <a:rPr b="0" i="0" lang="en-US" sz="1300" u="none" cap="none" strike="noStrike">
                <a:solidFill>
                  <a:srgbClr val="16202E"/>
                </a:solidFill>
                <a:latin typeface="IBM Plex Sans"/>
                <a:ea typeface="IBM Plex Sans"/>
                <a:cs typeface="IBM Plex Sans"/>
                <a:sym typeface="IBM Plex Sans"/>
              </a:rPr>
              <a:t>No repeated questions</a:t>
            </a:r>
            <a:endParaRPr b="0" i="0" sz="1300" u="none" cap="none" strike="noStrike">
              <a:solidFill>
                <a:schemeClr val="dk1"/>
              </a:solidFill>
              <a:latin typeface="IBM Plex Sans"/>
              <a:ea typeface="IBM Plex Sans"/>
              <a:cs typeface="IBM Plex Sans"/>
              <a:sym typeface="IBM Plex Sans"/>
            </a:endParaRPr>
          </a:p>
        </p:txBody>
      </p:sp>
      <p:pic>
        <p:nvPicPr>
          <p:cNvPr descr="CheckCircle" id="739" name="Google Shape;739;p100"/>
          <p:cNvPicPr preferRelativeResize="0"/>
          <p:nvPr/>
        </p:nvPicPr>
        <p:blipFill rotWithShape="1">
          <a:blip r:embed="rId3">
            <a:alphaModFix/>
          </a:blip>
          <a:srcRect b="0" l="0" r="0" t="0"/>
          <a:stretch/>
        </p:blipFill>
        <p:spPr>
          <a:xfrm>
            <a:off x="7890917" y="3699421"/>
            <a:ext cx="203200" cy="203200"/>
          </a:xfrm>
          <a:prstGeom prst="rect">
            <a:avLst/>
          </a:prstGeom>
          <a:noFill/>
          <a:ln>
            <a:noFill/>
          </a:ln>
        </p:spPr>
      </p:pic>
      <p:sp>
        <p:nvSpPr>
          <p:cNvPr id="740" name="Google Shape;740;p100"/>
          <p:cNvSpPr/>
          <p:nvPr/>
        </p:nvSpPr>
        <p:spPr>
          <a:xfrm>
            <a:off x="8195717" y="3685480"/>
            <a:ext cx="2145090" cy="2565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300"/>
              <a:buFont typeface="IBM Plex Sans"/>
              <a:buNone/>
            </a:pPr>
            <a:r>
              <a:rPr b="0" i="0" lang="en-US" sz="1300" u="none" cap="none" strike="noStrike">
                <a:solidFill>
                  <a:srgbClr val="16202E"/>
                </a:solidFill>
                <a:latin typeface="IBM Plex Sans"/>
                <a:ea typeface="IBM Plex Sans"/>
                <a:cs typeface="IBM Plex Sans"/>
                <a:sym typeface="IBM Plex Sans"/>
              </a:rPr>
              <a:t>Sources inside own split</a:t>
            </a:r>
            <a:endParaRPr b="0" i="0" sz="1300" u="none" cap="none" strike="noStrike">
              <a:solidFill>
                <a:schemeClr val="dk1"/>
              </a:solidFill>
              <a:latin typeface="IBM Plex Sans"/>
              <a:ea typeface="IBM Plex Sans"/>
              <a:cs typeface="IBM Plex Sans"/>
              <a:sym typeface="IBM Plex Sans"/>
            </a:endParaRPr>
          </a:p>
        </p:txBody>
      </p:sp>
      <p:sp>
        <p:nvSpPr>
          <p:cNvPr id="741" name="Google Shape;741;p100"/>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A7280"/>
              </a:buClr>
              <a:buSzPts val="1200"/>
              <a:buFont typeface="IBM Plex Sans"/>
              <a:buNone/>
            </a:pPr>
            <a:r>
              <a:rPr b="0" i="0" lang="en-US" sz="1200" u="none" cap="none" strike="noStrike">
                <a:solidFill>
                  <a:srgbClr val="6A7280"/>
                </a:solidFill>
                <a:latin typeface="IBM Plex Sans"/>
                <a:ea typeface="IBM Plex Sans"/>
                <a:cs typeface="IBM Plex Sans"/>
                <a:sym typeface="IBM Plex Sans"/>
              </a:rPr>
              <a:t>Guide = 2026 GEHA dental benefits guide · Brochure = 2026 plan brochure · Report: results/data_splits.md</a:t>
            </a:r>
            <a:endParaRPr b="0" i="0" sz="1200" u="none" cap="none" strike="noStrike">
              <a:solidFill>
                <a:schemeClr val="dk1"/>
              </a:solidFill>
              <a:latin typeface="IBM Plex Sans"/>
              <a:ea typeface="IBM Plex Sans"/>
              <a:cs typeface="IBM Plex Sans"/>
              <a:sym typeface="IBM Plex Sans"/>
            </a:endParaRPr>
          </a:p>
        </p:txBody>
      </p:sp>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5F0"/>
        </a:solidFill>
      </p:bgPr>
    </p:bg>
    <p:spTree>
      <p:nvGrpSpPr>
        <p:cNvPr id="746" name="Shape 746"/>
        <p:cNvGrpSpPr/>
        <p:nvPr/>
      </p:nvGrpSpPr>
      <p:grpSpPr>
        <a:xfrm>
          <a:off x="0" y="0"/>
          <a:ext cx="0" cy="0"/>
          <a:chOff x="0" y="0"/>
          <a:chExt cx="0" cy="0"/>
        </a:xfrm>
      </p:grpSpPr>
      <p:sp>
        <p:nvSpPr>
          <p:cNvPr id="747" name="Google Shape;747;p101"/>
          <p:cNvSpPr txBox="1"/>
          <p:nvPr>
            <p:ph type="title"/>
          </p:nvPr>
        </p:nvSpPr>
        <p:spPr>
          <a:xfrm>
            <a:off x="812800" y="812800"/>
            <a:ext cx="10883392" cy="47243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6202E"/>
              </a:buClr>
              <a:buSzPts val="3200"/>
              <a:buFont typeface="IBM Plex Sans"/>
              <a:buNone/>
            </a:pPr>
            <a:r>
              <a:rPr b="1" i="0" lang="en-US" sz="3200">
                <a:solidFill>
                  <a:srgbClr val="16202E"/>
                </a:solidFill>
                <a:latin typeface="IBM Plex Sans"/>
                <a:ea typeface="IBM Plex Sans"/>
                <a:cs typeface="IBM Plex Sans"/>
                <a:sym typeface="IBM Plex Sans"/>
              </a:rPr>
              <a:t>The model: a frozen 1.5B base with a small adapter</a:t>
            </a:r>
            <a:endParaRPr sz="3200"/>
          </a:p>
        </p:txBody>
      </p:sp>
      <p:sp>
        <p:nvSpPr>
          <p:cNvPr id="748" name="Google Shape;748;p101"/>
          <p:cNvSpPr/>
          <p:nvPr/>
        </p:nvSpPr>
        <p:spPr>
          <a:xfrm>
            <a:off x="819150" y="1621780"/>
            <a:ext cx="2476500" cy="1931591"/>
          </a:xfrm>
          <a:prstGeom prst="roundRect">
            <a:avLst>
              <a:gd fmla="val 6246"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101"/>
          <p:cNvSpPr/>
          <p:nvPr/>
        </p:nvSpPr>
        <p:spPr>
          <a:xfrm>
            <a:off x="1079500" y="1882130"/>
            <a:ext cx="2014474" cy="64006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6202E"/>
              </a:buClr>
              <a:buSzPts val="4400"/>
              <a:buFont typeface="IBM Plex Sans"/>
              <a:buNone/>
            </a:pPr>
            <a:r>
              <a:rPr b="1" i="0" lang="en-US" sz="4400" u="none" cap="none" strike="noStrike">
                <a:solidFill>
                  <a:srgbClr val="16202E"/>
                </a:solidFill>
                <a:latin typeface="IBM Plex Sans"/>
                <a:ea typeface="IBM Plex Sans"/>
                <a:cs typeface="IBM Plex Sans"/>
                <a:sym typeface="IBM Plex Sans"/>
              </a:rPr>
              <a:t>1.5B</a:t>
            </a:r>
            <a:endParaRPr b="0" i="0" sz="4400" u="none" cap="none" strike="noStrike">
              <a:solidFill>
                <a:schemeClr val="dk1"/>
              </a:solidFill>
              <a:latin typeface="IBM Plex Sans"/>
              <a:ea typeface="IBM Plex Sans"/>
              <a:cs typeface="IBM Plex Sans"/>
              <a:sym typeface="IBM Plex Sans"/>
            </a:endParaRPr>
          </a:p>
        </p:txBody>
      </p:sp>
      <p:sp>
        <p:nvSpPr>
          <p:cNvPr id="750" name="Google Shape;750;p101"/>
          <p:cNvSpPr/>
          <p:nvPr/>
        </p:nvSpPr>
        <p:spPr>
          <a:xfrm>
            <a:off x="1079500" y="2572990"/>
            <a:ext cx="2014474" cy="50542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frozen weights in Qwen2.5‑1.5B‑Instruct</a:t>
            </a:r>
            <a:endParaRPr b="0" i="0" sz="1400" u="none" cap="none" strike="noStrike">
              <a:solidFill>
                <a:schemeClr val="dk1"/>
              </a:solidFill>
              <a:latin typeface="IBM Plex Sans"/>
              <a:ea typeface="IBM Plex Sans"/>
              <a:cs typeface="IBM Plex Sans"/>
              <a:sym typeface="IBM Plex Sans"/>
            </a:endParaRPr>
          </a:p>
        </p:txBody>
      </p:sp>
      <p:sp>
        <p:nvSpPr>
          <p:cNvPr id="751" name="Google Shape;751;p101"/>
          <p:cNvSpPr/>
          <p:nvPr/>
        </p:nvSpPr>
        <p:spPr>
          <a:xfrm>
            <a:off x="3511550" y="1621780"/>
            <a:ext cx="2476500" cy="1931591"/>
          </a:xfrm>
          <a:prstGeom prst="roundRect">
            <a:avLst>
              <a:gd fmla="val 6246" name="adj"/>
            </a:avLst>
          </a:prstGeom>
          <a:solidFill>
            <a:srgbClr val="FDFCF9"/>
          </a:solidFill>
          <a:ln cap="flat" cmpd="sng" w="12700">
            <a:solidFill>
              <a:srgbClr val="D962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 name="Google Shape;752;p101"/>
          <p:cNvSpPr/>
          <p:nvPr/>
        </p:nvSpPr>
        <p:spPr>
          <a:xfrm>
            <a:off x="3771900" y="1882130"/>
            <a:ext cx="2014474" cy="64006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B4481A"/>
              </a:buClr>
              <a:buSzPts val="4400"/>
              <a:buFont typeface="IBM Plex Sans"/>
              <a:buNone/>
            </a:pPr>
            <a:r>
              <a:rPr b="1" i="0" lang="en-US" sz="4400" u="none" cap="none" strike="noStrike">
                <a:solidFill>
                  <a:srgbClr val="B4481A"/>
                </a:solidFill>
                <a:latin typeface="IBM Plex Sans"/>
                <a:ea typeface="IBM Plex Sans"/>
                <a:cs typeface="IBM Plex Sans"/>
                <a:sym typeface="IBM Plex Sans"/>
              </a:rPr>
              <a:t>18.5M</a:t>
            </a:r>
            <a:endParaRPr b="0" i="0" sz="4400" u="none" cap="none" strike="noStrike">
              <a:solidFill>
                <a:schemeClr val="dk1"/>
              </a:solidFill>
              <a:latin typeface="IBM Plex Sans"/>
              <a:ea typeface="IBM Plex Sans"/>
              <a:cs typeface="IBM Plex Sans"/>
              <a:sym typeface="IBM Plex Sans"/>
            </a:endParaRPr>
          </a:p>
        </p:txBody>
      </p:sp>
      <p:sp>
        <p:nvSpPr>
          <p:cNvPr id="753" name="Google Shape;753;p101"/>
          <p:cNvSpPr/>
          <p:nvPr/>
        </p:nvSpPr>
        <p:spPr>
          <a:xfrm>
            <a:off x="3771900" y="2572990"/>
            <a:ext cx="2014474" cy="74543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trainable LoRA weights, about 1.2% of the model</a:t>
            </a:r>
            <a:endParaRPr b="0" i="0" sz="1400" u="none" cap="none" strike="noStrike">
              <a:solidFill>
                <a:schemeClr val="dk1"/>
              </a:solidFill>
              <a:latin typeface="IBM Plex Sans"/>
              <a:ea typeface="IBM Plex Sans"/>
              <a:cs typeface="IBM Plex Sans"/>
              <a:sym typeface="IBM Plex Sans"/>
            </a:endParaRPr>
          </a:p>
        </p:txBody>
      </p:sp>
      <p:sp>
        <p:nvSpPr>
          <p:cNvPr id="754" name="Google Shape;754;p101"/>
          <p:cNvSpPr/>
          <p:nvPr/>
        </p:nvSpPr>
        <p:spPr>
          <a:xfrm>
            <a:off x="6203950" y="1621780"/>
            <a:ext cx="2476500" cy="1931591"/>
          </a:xfrm>
          <a:prstGeom prst="roundRect">
            <a:avLst>
              <a:gd fmla="val 6246"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p101"/>
          <p:cNvSpPr/>
          <p:nvPr/>
        </p:nvSpPr>
        <p:spPr>
          <a:xfrm>
            <a:off x="6464300" y="1882130"/>
            <a:ext cx="2014474" cy="64006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6202E"/>
              </a:buClr>
              <a:buSzPts val="4400"/>
              <a:buFont typeface="IBM Plex Sans"/>
              <a:buNone/>
            </a:pPr>
            <a:r>
              <a:rPr b="1" i="0" lang="en-US" sz="4400" u="none" cap="none" strike="noStrike">
                <a:solidFill>
                  <a:srgbClr val="16202E"/>
                </a:solidFill>
                <a:latin typeface="IBM Plex Sans"/>
                <a:ea typeface="IBM Plex Sans"/>
                <a:cs typeface="IBM Plex Sans"/>
                <a:sym typeface="IBM Plex Sans"/>
              </a:rPr>
              <a:t>20</a:t>
            </a:r>
            <a:endParaRPr b="0" i="0" sz="4400" u="none" cap="none" strike="noStrike">
              <a:solidFill>
                <a:schemeClr val="dk1"/>
              </a:solidFill>
              <a:latin typeface="IBM Plex Sans"/>
              <a:ea typeface="IBM Plex Sans"/>
              <a:cs typeface="IBM Plex Sans"/>
              <a:sym typeface="IBM Plex Sans"/>
            </a:endParaRPr>
          </a:p>
        </p:txBody>
      </p:sp>
      <p:sp>
        <p:nvSpPr>
          <p:cNvPr id="756" name="Google Shape;756;p101"/>
          <p:cNvSpPr/>
          <p:nvPr/>
        </p:nvSpPr>
        <p:spPr>
          <a:xfrm>
            <a:off x="6464300" y="2572990"/>
            <a:ext cx="2014474" cy="74543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optimizer steps per epoch (156 examples ÷ batch 8)</a:t>
            </a:r>
            <a:endParaRPr b="0" i="0" sz="1400" u="none" cap="none" strike="noStrike">
              <a:solidFill>
                <a:schemeClr val="dk1"/>
              </a:solidFill>
              <a:latin typeface="IBM Plex Sans"/>
              <a:ea typeface="IBM Plex Sans"/>
              <a:cs typeface="IBM Plex Sans"/>
              <a:sym typeface="IBM Plex Sans"/>
            </a:endParaRPr>
          </a:p>
        </p:txBody>
      </p:sp>
      <p:sp>
        <p:nvSpPr>
          <p:cNvPr id="757" name="Google Shape;757;p101"/>
          <p:cNvSpPr/>
          <p:nvPr/>
        </p:nvSpPr>
        <p:spPr>
          <a:xfrm>
            <a:off x="8896350" y="1621780"/>
            <a:ext cx="2476500" cy="1931591"/>
          </a:xfrm>
          <a:prstGeom prst="roundRect">
            <a:avLst>
              <a:gd fmla="val 6246"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 name="Google Shape;758;p101"/>
          <p:cNvSpPr/>
          <p:nvPr/>
        </p:nvSpPr>
        <p:spPr>
          <a:xfrm>
            <a:off x="9156700" y="1882130"/>
            <a:ext cx="2014474" cy="64006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6202E"/>
              </a:buClr>
              <a:buSzPts val="4400"/>
              <a:buFont typeface="IBM Plex Sans"/>
              <a:buNone/>
            </a:pPr>
            <a:r>
              <a:rPr b="1" i="0" lang="en-US" sz="4400" u="none" cap="none" strike="noStrike">
                <a:solidFill>
                  <a:srgbClr val="16202E"/>
                </a:solidFill>
                <a:latin typeface="IBM Plex Sans"/>
                <a:ea typeface="IBM Plex Sans"/>
                <a:cs typeface="IBM Plex Sans"/>
                <a:sym typeface="IBM Plex Sans"/>
              </a:rPr>
              <a:t>74 MB</a:t>
            </a:r>
            <a:endParaRPr b="0" i="0" sz="4400" u="none" cap="none" strike="noStrike">
              <a:solidFill>
                <a:schemeClr val="dk1"/>
              </a:solidFill>
              <a:latin typeface="IBM Plex Sans"/>
              <a:ea typeface="IBM Plex Sans"/>
              <a:cs typeface="IBM Plex Sans"/>
              <a:sym typeface="IBM Plex Sans"/>
            </a:endParaRPr>
          </a:p>
        </p:txBody>
      </p:sp>
      <p:sp>
        <p:nvSpPr>
          <p:cNvPr id="759" name="Google Shape;759;p101"/>
          <p:cNvSpPr/>
          <p:nvPr/>
        </p:nvSpPr>
        <p:spPr>
          <a:xfrm>
            <a:off x="9156700" y="2572990"/>
            <a:ext cx="2014474" cy="50542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adapter file on disk, vs about 3 GB for the base</a:t>
            </a:r>
            <a:endParaRPr b="0" i="0" sz="1400" u="none" cap="none" strike="noStrike">
              <a:solidFill>
                <a:schemeClr val="dk1"/>
              </a:solidFill>
              <a:latin typeface="IBM Plex Sans"/>
              <a:ea typeface="IBM Plex Sans"/>
              <a:cs typeface="IBM Plex Sans"/>
              <a:sym typeface="IBM Plex Sans"/>
            </a:endParaRPr>
          </a:p>
        </p:txBody>
      </p:sp>
      <p:graphicFrame>
        <p:nvGraphicFramePr>
          <p:cNvPr id="760" name="Google Shape;760;p101"/>
          <p:cNvGraphicFramePr/>
          <p:nvPr/>
        </p:nvGraphicFramePr>
        <p:xfrm>
          <a:off x="825500" y="3928021"/>
          <a:ext cx="3000000" cy="3000000"/>
        </p:xfrm>
        <a:graphic>
          <a:graphicData uri="http://schemas.openxmlformats.org/drawingml/2006/table">
            <a:tbl>
              <a:tblPr>
                <a:noFill/>
                <a:tableStyleId>{EEE02795-A6B7-4247-B71C-ED7A564BFD40}</a:tableStyleId>
              </a:tblPr>
              <a:tblGrid>
                <a:gridCol w="2638425"/>
                <a:gridCol w="2638425"/>
                <a:gridCol w="2638425"/>
                <a:gridCol w="2638425"/>
              </a:tblGrid>
              <a:tr h="359325">
                <a:tc>
                  <a:txBody>
                    <a:bodyPr/>
                    <a:lstStyle/>
                    <a:p>
                      <a:pPr indent="0" lvl="0" marL="0" marR="0" rtl="0" algn="l">
                        <a:lnSpc>
                          <a:spcPct val="140000"/>
                        </a:lnSpc>
                        <a:spcBef>
                          <a:spcPts val="0"/>
                        </a:spcBef>
                        <a:spcAft>
                          <a:spcPts val="0"/>
                        </a:spcAft>
                        <a:buClr>
                          <a:srgbClr val="16202E"/>
                        </a:buClr>
                        <a:buSzPts val="1300"/>
                        <a:buFont typeface="IBM Plex Sans"/>
                        <a:buNone/>
                      </a:pPr>
                      <a:r>
                        <a:rPr b="1" lang="en-US" sz="1300" u="none" cap="none" strike="noStrike">
                          <a:solidFill>
                            <a:srgbClr val="16202E"/>
                          </a:solidFill>
                          <a:latin typeface="IBM Plex Sans"/>
                          <a:ea typeface="IBM Plex Sans"/>
                          <a:cs typeface="IBM Plex Sans"/>
                          <a:sym typeface="IBM Plex Sans"/>
                        </a:rPr>
                        <a:t>LoRA</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4BF"/>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c>
                  <a:txBody>
                    <a:bodyPr/>
                    <a:lstStyle/>
                    <a:p>
                      <a:pPr indent="0" lvl="0" marL="0" marR="0" rtl="0" algn="l">
                        <a:lnSpc>
                          <a:spcPct val="140000"/>
                        </a:lnSpc>
                        <a:spcBef>
                          <a:spcPts val="0"/>
                        </a:spcBef>
                        <a:spcAft>
                          <a:spcPts val="0"/>
                        </a:spcAft>
                        <a:buClr>
                          <a:srgbClr val="16202E"/>
                        </a:buClr>
                        <a:buSzPts val="1300"/>
                        <a:buFont typeface="IBM Plex Sans"/>
                        <a:buNone/>
                      </a:pPr>
                      <a:r>
                        <a:rPr b="1" lang="en-US" sz="1300" u="none" cap="none" strike="noStrike">
                          <a:solidFill>
                            <a:srgbClr val="16202E"/>
                          </a:solidFill>
                          <a:latin typeface="IBM Plex Sans"/>
                          <a:ea typeface="IBM Plex Sans"/>
                          <a:cs typeface="IBM Plex Sans"/>
                          <a:sym typeface="IBM Plex Sans"/>
                        </a:rPr>
                        <a:t>Targets</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B6B5B1"/>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c>
                  <a:txBody>
                    <a:bodyPr/>
                    <a:lstStyle/>
                    <a:p>
                      <a:pPr indent="0" lvl="0" marL="0" marR="0" rtl="0" algn="l">
                        <a:lnSpc>
                          <a:spcPct val="140000"/>
                        </a:lnSpc>
                        <a:spcBef>
                          <a:spcPts val="0"/>
                        </a:spcBef>
                        <a:spcAft>
                          <a:spcPts val="0"/>
                        </a:spcAft>
                        <a:buClr>
                          <a:srgbClr val="16202E"/>
                        </a:buClr>
                        <a:buSzPts val="1300"/>
                        <a:buFont typeface="IBM Plex Sans"/>
                        <a:buNone/>
                      </a:pPr>
                      <a:r>
                        <a:rPr b="1" lang="en-US" sz="1300" u="none" cap="none" strike="noStrike">
                          <a:solidFill>
                            <a:srgbClr val="16202E"/>
                          </a:solidFill>
                          <a:latin typeface="IBM Plex Sans"/>
                          <a:ea typeface="IBM Plex Sans"/>
                          <a:cs typeface="IBM Plex Sans"/>
                          <a:sym typeface="IBM Plex Sans"/>
                        </a:rPr>
                        <a:t>Optimizer</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B6B5B1"/>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c>
                  <a:txBody>
                    <a:bodyPr/>
                    <a:lstStyle/>
                    <a:p>
                      <a:pPr indent="0" lvl="0" marL="0" marR="0" rtl="0" algn="l">
                        <a:lnSpc>
                          <a:spcPct val="140000"/>
                        </a:lnSpc>
                        <a:spcBef>
                          <a:spcPts val="0"/>
                        </a:spcBef>
                        <a:spcAft>
                          <a:spcPts val="0"/>
                        </a:spcAft>
                        <a:buClr>
                          <a:srgbClr val="16202E"/>
                        </a:buClr>
                        <a:buSzPts val="1300"/>
                        <a:buFont typeface="IBM Plex Sans"/>
                        <a:buNone/>
                      </a:pPr>
                      <a:r>
                        <a:rPr b="1" lang="en-US" sz="1300" u="none" cap="none" strike="noStrike">
                          <a:solidFill>
                            <a:srgbClr val="16202E"/>
                          </a:solidFill>
                          <a:latin typeface="IBM Plex Sans"/>
                          <a:ea typeface="IBM Plex Sans"/>
                          <a:cs typeface="IBM Plex Sans"/>
                          <a:sym typeface="IBM Plex Sans"/>
                        </a:rPr>
                        <a:t>Selection</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B6B5B1"/>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r>
              <a:tr h="359325">
                <a:tc>
                  <a:txBody>
                    <a:bodyPr/>
                    <a:lstStyle/>
                    <a:p>
                      <a:pPr indent="0" lvl="0" marL="0" marR="0" rtl="0" algn="l">
                        <a:lnSpc>
                          <a:spcPct val="140000"/>
                        </a:lnSpc>
                        <a:spcBef>
                          <a:spcPts val="0"/>
                        </a:spcBef>
                        <a:spcAft>
                          <a:spcPts val="0"/>
                        </a:spcAft>
                        <a:buClr>
                          <a:srgbClr val="16202E"/>
                        </a:buClr>
                        <a:buSzPts val="1300"/>
                        <a:buFont typeface="IBM Plex Sans"/>
                        <a:buNone/>
                      </a:pPr>
                      <a:r>
                        <a:rPr lang="en-US" sz="1300" u="none" cap="none" strike="noStrike">
                          <a:solidFill>
                            <a:srgbClr val="16202E"/>
                          </a:solidFill>
                          <a:latin typeface="IBM Plex Sans"/>
                          <a:ea typeface="IBM Plex Sans"/>
                          <a:cs typeface="IBM Plex Sans"/>
                          <a:sym typeface="IBM Plex Sans"/>
                        </a:rPr>
                        <a:t>rank 16, alpha 32, dropout 0.05</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6202E"/>
                        </a:buClr>
                        <a:buSzPts val="1300"/>
                        <a:buFont typeface="IBM Plex Sans"/>
                        <a:buNone/>
                      </a:pPr>
                      <a:r>
                        <a:rPr lang="en-US" sz="1300" u="none" cap="none" strike="noStrike">
                          <a:solidFill>
                            <a:srgbClr val="16202E"/>
                          </a:solidFill>
                          <a:latin typeface="IBM Plex Sans"/>
                          <a:ea typeface="IBM Plex Sans"/>
                          <a:cs typeface="IBM Plex Sans"/>
                          <a:sym typeface="IBM Plex Sans"/>
                        </a:rPr>
                        <a:t>q, k, v, o, gate, up, down</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6202E"/>
                        </a:buClr>
                        <a:buSzPts val="1300"/>
                        <a:buFont typeface="IBM Plex Sans"/>
                        <a:buNone/>
                      </a:pPr>
                      <a:r>
                        <a:rPr lang="en-US" sz="1300" u="none" cap="none" strike="noStrike">
                          <a:solidFill>
                            <a:srgbClr val="16202E"/>
                          </a:solidFill>
                          <a:latin typeface="IBM Plex Sans"/>
                          <a:ea typeface="IBM Plex Sans"/>
                          <a:cs typeface="IBM Plex Sans"/>
                          <a:sym typeface="IBM Plex Sans"/>
                        </a:rPr>
                        <a:t>AdamW 2e‑4, warmup + cosine</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6202E"/>
                        </a:buClr>
                        <a:buSzPts val="1300"/>
                        <a:buFont typeface="IBM Plex Sans"/>
                        <a:buNone/>
                      </a:pPr>
                      <a:r>
                        <a:rPr lang="en-US" sz="1300" u="none" cap="none" strike="noStrike">
                          <a:solidFill>
                            <a:srgbClr val="16202E"/>
                          </a:solidFill>
                          <a:latin typeface="IBM Plex Sans"/>
                          <a:ea typeface="IBM Plex Sans"/>
                          <a:cs typeface="IBM Plex Sans"/>
                          <a:sym typeface="IBM Plex Sans"/>
                        </a:rPr>
                        <a:t>lowest validation loss</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r>
            </a:tbl>
          </a:graphicData>
        </a:graphic>
      </p:graphicFrame>
      <p:sp>
        <p:nvSpPr>
          <p:cNvPr id="761" name="Google Shape;761;p101"/>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A7280"/>
              </a:buClr>
              <a:buSzPts val="1200"/>
              <a:buFont typeface="IBM Plex Sans"/>
              <a:buNone/>
            </a:pPr>
            <a:r>
              <a:rPr b="0" i="0" lang="en-US" sz="1200" u="none" cap="none" strike="noStrike">
                <a:solidFill>
                  <a:srgbClr val="6A7280"/>
                </a:solidFill>
                <a:latin typeface="IBM Plex Sans"/>
                <a:ea typeface="IBM Plex Sans"/>
                <a:cs typeface="IBM Plex Sans"/>
                <a:sym typeface="IBM Plex Sans"/>
              </a:rPr>
              <a:t>Adapter size measured from adapter_model.safetensors (fp32); base size is the bf16 checkpoint</a:t>
            </a:r>
            <a:endParaRPr b="0" i="0" sz="1200" u="none" cap="none" strike="noStrike">
              <a:solidFill>
                <a:schemeClr val="dk1"/>
              </a:solidFill>
              <a:latin typeface="IBM Plex Sans"/>
              <a:ea typeface="IBM Plex Sans"/>
              <a:cs typeface="IBM Plex Sans"/>
              <a:sym typeface="IBM Plex Sans"/>
            </a:endParaRP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5F0"/>
        </a:solidFill>
      </p:bgPr>
    </p:bg>
    <p:spTree>
      <p:nvGrpSpPr>
        <p:cNvPr id="766" name="Shape 766"/>
        <p:cNvGrpSpPr/>
        <p:nvPr/>
      </p:nvGrpSpPr>
      <p:grpSpPr>
        <a:xfrm>
          <a:off x="0" y="0"/>
          <a:ext cx="0" cy="0"/>
          <a:chOff x="0" y="0"/>
          <a:chExt cx="0" cy="0"/>
        </a:xfrm>
      </p:grpSpPr>
      <p:sp>
        <p:nvSpPr>
          <p:cNvPr id="767" name="Google Shape;767;p102"/>
          <p:cNvSpPr txBox="1"/>
          <p:nvPr>
            <p:ph type="title"/>
          </p:nvPr>
        </p:nvSpPr>
        <p:spPr>
          <a:xfrm>
            <a:off x="812800" y="812800"/>
            <a:ext cx="10883392" cy="47243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6202E"/>
              </a:buClr>
              <a:buSzPts val="3200"/>
              <a:buFont typeface="IBM Plex Sans"/>
              <a:buNone/>
            </a:pPr>
            <a:r>
              <a:rPr b="1" i="0" lang="en-US" sz="3200">
                <a:solidFill>
                  <a:srgbClr val="16202E"/>
                </a:solidFill>
                <a:latin typeface="IBM Plex Sans"/>
                <a:ea typeface="IBM Plex Sans"/>
                <a:cs typeface="IBM Plex Sans"/>
                <a:sym typeface="IBM Plex Sans"/>
              </a:rPr>
              <a:t>On the Mac: 4 h 41 min, one finished epoch</a:t>
            </a:r>
            <a:endParaRPr sz="3200"/>
          </a:p>
        </p:txBody>
      </p:sp>
      <p:pic>
        <p:nvPicPr>
          <p:cNvPr descr="ellipse" id="768" name="Google Shape;768;p102"/>
          <p:cNvPicPr preferRelativeResize="0"/>
          <p:nvPr/>
        </p:nvPicPr>
        <p:blipFill rotWithShape="1">
          <a:blip r:embed="rId3">
            <a:alphaModFix/>
          </a:blip>
          <a:srcRect b="0" l="0" r="0" t="0"/>
          <a:stretch/>
        </p:blipFill>
        <p:spPr>
          <a:xfrm>
            <a:off x="812800" y="1920230"/>
            <a:ext cx="203200" cy="203200"/>
          </a:xfrm>
          <a:prstGeom prst="rect">
            <a:avLst/>
          </a:prstGeom>
          <a:noFill/>
          <a:ln>
            <a:noFill/>
          </a:ln>
        </p:spPr>
      </p:pic>
      <p:sp>
        <p:nvSpPr>
          <p:cNvPr id="769" name="Google Shape;769;p102"/>
          <p:cNvSpPr/>
          <p:nvPr/>
        </p:nvSpPr>
        <p:spPr>
          <a:xfrm>
            <a:off x="812800" y="2199630"/>
            <a:ext cx="2563876" cy="3098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600"/>
              <a:buFont typeface="JetBrains Mono"/>
              <a:buNone/>
            </a:pPr>
            <a:r>
              <a:rPr b="1" i="0" lang="en-US" sz="1600" u="none" cap="none" strike="noStrike">
                <a:solidFill>
                  <a:srgbClr val="16202E"/>
                </a:solidFill>
                <a:latin typeface="JetBrains Mono"/>
                <a:ea typeface="JetBrains Mono"/>
                <a:cs typeface="JetBrains Mono"/>
                <a:sym typeface="JetBrains Mono"/>
              </a:rPr>
              <a:t>02:53</a:t>
            </a:r>
            <a:endParaRPr b="0" i="0" sz="1600" u="none" cap="none" strike="noStrike">
              <a:solidFill>
                <a:schemeClr val="dk1"/>
              </a:solidFill>
              <a:latin typeface="IBM Plex Sans"/>
              <a:ea typeface="IBM Plex Sans"/>
              <a:cs typeface="IBM Plex Sans"/>
              <a:sym typeface="IBM Plex Sans"/>
            </a:endParaRPr>
          </a:p>
        </p:txBody>
      </p:sp>
      <p:sp>
        <p:nvSpPr>
          <p:cNvPr id="770" name="Google Shape;770;p102"/>
          <p:cNvSpPr/>
          <p:nvPr/>
        </p:nvSpPr>
        <p:spPr>
          <a:xfrm>
            <a:off x="812800" y="2560290"/>
            <a:ext cx="2563876" cy="50542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Start on an M1 Pro, 32 GB, fp32 on the GPU (MPS)</a:t>
            </a:r>
            <a:endParaRPr b="0" i="0" sz="1400" u="none" cap="none" strike="noStrike">
              <a:solidFill>
                <a:schemeClr val="dk1"/>
              </a:solidFill>
              <a:latin typeface="IBM Plex Sans"/>
              <a:ea typeface="IBM Plex Sans"/>
              <a:cs typeface="IBM Plex Sans"/>
              <a:sym typeface="IBM Plex Sans"/>
            </a:endParaRPr>
          </a:p>
        </p:txBody>
      </p:sp>
      <p:pic>
        <p:nvPicPr>
          <p:cNvPr descr="ellipse" id="771" name="Google Shape;771;p102"/>
          <p:cNvPicPr preferRelativeResize="0"/>
          <p:nvPr/>
        </p:nvPicPr>
        <p:blipFill rotWithShape="1">
          <a:blip r:embed="rId3">
            <a:alphaModFix/>
          </a:blip>
          <a:srcRect b="0" l="0" r="0" t="0"/>
          <a:stretch/>
        </p:blipFill>
        <p:spPr>
          <a:xfrm>
            <a:off x="3505200" y="1920230"/>
            <a:ext cx="203200" cy="203200"/>
          </a:xfrm>
          <a:prstGeom prst="rect">
            <a:avLst/>
          </a:prstGeom>
          <a:noFill/>
          <a:ln>
            <a:noFill/>
          </a:ln>
        </p:spPr>
      </p:pic>
      <p:sp>
        <p:nvSpPr>
          <p:cNvPr id="772" name="Google Shape;772;p102"/>
          <p:cNvSpPr/>
          <p:nvPr/>
        </p:nvSpPr>
        <p:spPr>
          <a:xfrm>
            <a:off x="3505200" y="2199630"/>
            <a:ext cx="2563876" cy="3098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600"/>
              <a:buFont typeface="JetBrains Mono"/>
              <a:buNone/>
            </a:pPr>
            <a:r>
              <a:rPr b="1" i="0" lang="en-US" sz="1600" u="none" cap="none" strike="noStrike">
                <a:solidFill>
                  <a:srgbClr val="16202E"/>
                </a:solidFill>
                <a:latin typeface="JetBrains Mono"/>
                <a:ea typeface="JetBrains Mono"/>
                <a:cs typeface="JetBrains Mono"/>
                <a:sym typeface="JetBrains Mono"/>
              </a:rPr>
              <a:t>03:57</a:t>
            </a:r>
            <a:endParaRPr b="0" i="0" sz="1600" u="none" cap="none" strike="noStrike">
              <a:solidFill>
                <a:schemeClr val="dk1"/>
              </a:solidFill>
              <a:latin typeface="IBM Plex Sans"/>
              <a:ea typeface="IBM Plex Sans"/>
              <a:cs typeface="IBM Plex Sans"/>
              <a:sym typeface="IBM Plex Sans"/>
            </a:endParaRPr>
          </a:p>
        </p:txBody>
      </p:sp>
      <p:sp>
        <p:nvSpPr>
          <p:cNvPr id="773" name="Google Shape;773;p102"/>
          <p:cNvSpPr/>
          <p:nvPr/>
        </p:nvSpPr>
        <p:spPr>
          <a:xfrm>
            <a:off x="3505200" y="2560290"/>
            <a:ext cx="2563876" cy="74543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Epoch 1 done in 56 min. Validation loss 0.626 → 0.517; adapter saved</a:t>
            </a:r>
            <a:endParaRPr b="0" i="0" sz="1400" u="none" cap="none" strike="noStrike">
              <a:solidFill>
                <a:schemeClr val="dk1"/>
              </a:solidFill>
              <a:latin typeface="IBM Plex Sans"/>
              <a:ea typeface="IBM Plex Sans"/>
              <a:cs typeface="IBM Plex Sans"/>
              <a:sym typeface="IBM Plex Sans"/>
            </a:endParaRPr>
          </a:p>
        </p:txBody>
      </p:sp>
      <p:pic>
        <p:nvPicPr>
          <p:cNvPr descr="ellipse" id="774" name="Google Shape;774;p102"/>
          <p:cNvPicPr preferRelativeResize="0"/>
          <p:nvPr/>
        </p:nvPicPr>
        <p:blipFill rotWithShape="1">
          <a:blip r:embed="rId4">
            <a:alphaModFix/>
          </a:blip>
          <a:srcRect b="0" l="0" r="0" t="0"/>
          <a:stretch/>
        </p:blipFill>
        <p:spPr>
          <a:xfrm>
            <a:off x="6197600" y="1920230"/>
            <a:ext cx="203200" cy="203200"/>
          </a:xfrm>
          <a:prstGeom prst="rect">
            <a:avLst/>
          </a:prstGeom>
          <a:noFill/>
          <a:ln>
            <a:noFill/>
          </a:ln>
        </p:spPr>
      </p:pic>
      <p:sp>
        <p:nvSpPr>
          <p:cNvPr id="775" name="Google Shape;775;p102"/>
          <p:cNvSpPr/>
          <p:nvPr/>
        </p:nvSpPr>
        <p:spPr>
          <a:xfrm>
            <a:off x="6197600" y="2199630"/>
            <a:ext cx="2563876" cy="3098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600"/>
              <a:buFont typeface="JetBrains Mono"/>
              <a:buNone/>
            </a:pPr>
            <a:r>
              <a:rPr b="1" i="0" lang="en-US" sz="1600" u="none" cap="none" strike="noStrike">
                <a:solidFill>
                  <a:srgbClr val="16202E"/>
                </a:solidFill>
                <a:latin typeface="JetBrains Mono"/>
                <a:ea typeface="JetBrains Mono"/>
                <a:cs typeface="JetBrains Mono"/>
                <a:sym typeface="JetBrains Mono"/>
              </a:rPr>
              <a:t>06:39</a:t>
            </a:r>
            <a:endParaRPr b="0" i="0" sz="1600" u="none" cap="none" strike="noStrike">
              <a:solidFill>
                <a:schemeClr val="dk1"/>
              </a:solidFill>
              <a:latin typeface="IBM Plex Sans"/>
              <a:ea typeface="IBM Plex Sans"/>
              <a:cs typeface="IBM Plex Sans"/>
              <a:sym typeface="IBM Plex Sans"/>
            </a:endParaRPr>
          </a:p>
        </p:txBody>
      </p:sp>
      <p:sp>
        <p:nvSpPr>
          <p:cNvPr id="776" name="Google Shape;776;p102"/>
          <p:cNvSpPr/>
          <p:nvPr/>
        </p:nvSpPr>
        <p:spPr>
          <a:xfrm>
            <a:off x="6197600" y="2560290"/>
            <a:ext cx="2563876" cy="74543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Battery at 1%: the Mac hibernates for 12 min, epoch 2 still unfinished</a:t>
            </a:r>
            <a:endParaRPr b="0" i="0" sz="1400" u="none" cap="none" strike="noStrike">
              <a:solidFill>
                <a:schemeClr val="dk1"/>
              </a:solidFill>
              <a:latin typeface="IBM Plex Sans"/>
              <a:ea typeface="IBM Plex Sans"/>
              <a:cs typeface="IBM Plex Sans"/>
              <a:sym typeface="IBM Plex Sans"/>
            </a:endParaRPr>
          </a:p>
        </p:txBody>
      </p:sp>
      <p:pic>
        <p:nvPicPr>
          <p:cNvPr descr="ellipse" id="777" name="Google Shape;777;p102"/>
          <p:cNvPicPr preferRelativeResize="0"/>
          <p:nvPr/>
        </p:nvPicPr>
        <p:blipFill rotWithShape="1">
          <a:blip r:embed="rId5">
            <a:alphaModFix/>
          </a:blip>
          <a:srcRect b="0" l="0" r="0" t="0"/>
          <a:stretch/>
        </p:blipFill>
        <p:spPr>
          <a:xfrm>
            <a:off x="8890000" y="1920230"/>
            <a:ext cx="203200" cy="203200"/>
          </a:xfrm>
          <a:prstGeom prst="rect">
            <a:avLst/>
          </a:prstGeom>
          <a:noFill/>
          <a:ln>
            <a:noFill/>
          </a:ln>
        </p:spPr>
      </p:pic>
      <p:sp>
        <p:nvSpPr>
          <p:cNvPr id="778" name="Google Shape;778;p102"/>
          <p:cNvSpPr/>
          <p:nvPr/>
        </p:nvSpPr>
        <p:spPr>
          <a:xfrm>
            <a:off x="8890000" y="2199630"/>
            <a:ext cx="2563876" cy="3098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600"/>
              <a:buFont typeface="JetBrains Mono"/>
              <a:buNone/>
            </a:pPr>
            <a:r>
              <a:rPr b="1" i="0" lang="en-US" sz="1600" u="none" cap="none" strike="noStrike">
                <a:solidFill>
                  <a:srgbClr val="16202E"/>
                </a:solidFill>
                <a:latin typeface="JetBrains Mono"/>
                <a:ea typeface="JetBrains Mono"/>
                <a:cs typeface="JetBrains Mono"/>
                <a:sym typeface="JetBrains Mono"/>
              </a:rPr>
              <a:t>07:34</a:t>
            </a:r>
            <a:endParaRPr b="0" i="0" sz="1600" u="none" cap="none" strike="noStrike">
              <a:solidFill>
                <a:schemeClr val="dk1"/>
              </a:solidFill>
              <a:latin typeface="IBM Plex Sans"/>
              <a:ea typeface="IBM Plex Sans"/>
              <a:cs typeface="IBM Plex Sans"/>
              <a:sym typeface="IBM Plex Sans"/>
            </a:endParaRPr>
          </a:p>
        </p:txBody>
      </p:sp>
      <p:sp>
        <p:nvSpPr>
          <p:cNvPr id="779" name="Google Shape;779;p102"/>
          <p:cNvSpPr/>
          <p:nvPr/>
        </p:nvSpPr>
        <p:spPr>
          <a:xfrm>
            <a:off x="8890000" y="2560290"/>
            <a:ext cx="2563876" cy="50542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Stopped. Full run moves to a Colab GPU</a:t>
            </a:r>
            <a:endParaRPr b="0" i="0" sz="1400" u="none" cap="none" strike="noStrike">
              <a:solidFill>
                <a:schemeClr val="dk1"/>
              </a:solidFill>
              <a:latin typeface="IBM Plex Sans"/>
              <a:ea typeface="IBM Plex Sans"/>
              <a:cs typeface="IBM Plex Sans"/>
              <a:sym typeface="IBM Plex Sans"/>
            </a:endParaRPr>
          </a:p>
        </p:txBody>
      </p:sp>
      <p:pic>
        <p:nvPicPr>
          <p:cNvPr descr="line" id="780" name="Google Shape;780;p102"/>
          <p:cNvPicPr preferRelativeResize="0"/>
          <p:nvPr/>
        </p:nvPicPr>
        <p:blipFill rotWithShape="1">
          <a:blip r:embed="rId6">
            <a:alphaModFix/>
          </a:blip>
          <a:srcRect b="0" l="0" r="0" t="0"/>
          <a:stretch/>
        </p:blipFill>
        <p:spPr>
          <a:xfrm>
            <a:off x="812800" y="1717030"/>
            <a:ext cx="10566400" cy="50800"/>
          </a:xfrm>
          <a:prstGeom prst="rect">
            <a:avLst/>
          </a:prstGeom>
          <a:noFill/>
          <a:ln>
            <a:noFill/>
          </a:ln>
        </p:spPr>
      </p:pic>
      <p:sp>
        <p:nvSpPr>
          <p:cNvPr id="781" name="Google Shape;781;p102"/>
          <p:cNvSpPr/>
          <p:nvPr/>
        </p:nvSpPr>
        <p:spPr>
          <a:xfrm>
            <a:off x="819150" y="3642271"/>
            <a:ext cx="3373934" cy="1165771"/>
          </a:xfrm>
          <a:prstGeom prst="roundRect">
            <a:avLst>
              <a:gd fmla="val 10349" name="adj"/>
            </a:avLst>
          </a:prstGeom>
          <a:solidFill>
            <a:srgbClr val="FDFCF9"/>
          </a:solidFill>
          <a:ln cap="flat" cmpd="sng" w="12700">
            <a:solidFill>
              <a:srgbClr val="E2DED3"/>
            </a:solidFill>
            <a:prstDash val="solid"/>
            <a:round/>
            <a:headEnd len="sm" w="sm" type="none"/>
            <a:tailEnd len="sm" w="sm" type="none"/>
          </a:ln>
        </p:spPr>
        <p:txBody>
          <a:bodyPr anchorCtr="0" anchor="t" bIns="148800" lIns="174200" spcFirstLastPara="1" rIns="85550" wrap="square" tIns="174200">
            <a:noAutofit/>
          </a:bodyPr>
          <a:lstStyle/>
          <a:p>
            <a:pPr indent="0" lvl="0" marL="0" marR="0" rtl="0" algn="l">
              <a:lnSpc>
                <a:spcPct val="140000"/>
              </a:lnSpc>
              <a:spcBef>
                <a:spcPts val="0"/>
              </a:spcBef>
              <a:spcAft>
                <a:spcPts val="0"/>
              </a:spcAft>
              <a:buClr>
                <a:srgbClr val="16202E"/>
              </a:buClr>
              <a:buSzPts val="1400"/>
              <a:buFont typeface="IBM Plex Sans"/>
              <a:buNone/>
            </a:pPr>
            <a:r>
              <a:rPr b="1" i="0" lang="en-US" sz="1400" u="none" cap="none" strike="noStrike">
                <a:solidFill>
                  <a:srgbClr val="16202E"/>
                </a:solidFill>
                <a:latin typeface="IBM Plex Sans"/>
                <a:ea typeface="IBM Plex Sans"/>
                <a:cs typeface="IBM Plex Sans"/>
                <a:sym typeface="IBM Plex Sans"/>
              </a:rPr>
              <a:t>No bf16 on M1.</a:t>
            </a:r>
            <a:r>
              <a:rPr b="0" i="0" lang="en-US" sz="1400" u="none" cap="none" strike="noStrike">
                <a:solidFill>
                  <a:srgbClr val="16202E"/>
                </a:solidFill>
                <a:latin typeface="IBM Plex Sans"/>
                <a:ea typeface="IBM Plex Sans"/>
                <a:cs typeface="IBM Plex Sans"/>
                <a:sym typeface="IBM Plex Sans"/>
              </a:rPr>
              <a:t> fp32 doubles memory and compute compared with a bf16 GPU.</a:t>
            </a:r>
            <a:endParaRPr b="0" i="0" sz="1400" u="none" cap="none" strike="noStrike">
              <a:solidFill>
                <a:schemeClr val="dk1"/>
              </a:solidFill>
              <a:latin typeface="IBM Plex Sans"/>
              <a:ea typeface="IBM Plex Sans"/>
              <a:cs typeface="IBM Plex Sans"/>
              <a:sym typeface="IBM Plex Sans"/>
            </a:endParaRPr>
          </a:p>
        </p:txBody>
      </p:sp>
      <p:sp>
        <p:nvSpPr>
          <p:cNvPr id="782" name="Google Shape;782;p102"/>
          <p:cNvSpPr/>
          <p:nvPr/>
        </p:nvSpPr>
        <p:spPr>
          <a:xfrm>
            <a:off x="4408984" y="3642271"/>
            <a:ext cx="3373983" cy="1165771"/>
          </a:xfrm>
          <a:prstGeom prst="roundRect">
            <a:avLst>
              <a:gd fmla="val 10349" name="adj"/>
            </a:avLst>
          </a:prstGeom>
          <a:solidFill>
            <a:srgbClr val="FDFCF9"/>
          </a:solidFill>
          <a:ln cap="flat" cmpd="sng" w="12700">
            <a:solidFill>
              <a:srgbClr val="E2DED3"/>
            </a:solidFill>
            <a:prstDash val="solid"/>
            <a:round/>
            <a:headEnd len="sm" w="sm" type="none"/>
            <a:tailEnd len="sm" w="sm" type="none"/>
          </a:ln>
        </p:spPr>
        <p:txBody>
          <a:bodyPr anchorCtr="0" anchor="t" bIns="174200" lIns="174200" spcFirstLastPara="1" rIns="85550" wrap="square" tIns="174200">
            <a:noAutofit/>
          </a:bodyPr>
          <a:lstStyle/>
          <a:p>
            <a:pPr indent="0" lvl="0" marL="0" marR="0" rtl="0" algn="l">
              <a:lnSpc>
                <a:spcPct val="140000"/>
              </a:lnSpc>
              <a:spcBef>
                <a:spcPts val="0"/>
              </a:spcBef>
              <a:spcAft>
                <a:spcPts val="0"/>
              </a:spcAft>
              <a:buClr>
                <a:srgbClr val="16202E"/>
              </a:buClr>
              <a:buSzPts val="1400"/>
              <a:buFont typeface="IBM Plex Sans"/>
              <a:buNone/>
            </a:pPr>
            <a:r>
              <a:rPr b="1" i="0" lang="en-US" sz="1400" u="none" cap="none" strike="noStrike">
                <a:solidFill>
                  <a:srgbClr val="16202E"/>
                </a:solidFill>
                <a:latin typeface="IBM Plex Sans"/>
                <a:ea typeface="IBM Plex Sans"/>
                <a:cs typeface="IBM Plex Sans"/>
                <a:sym typeface="IBM Plex Sans"/>
              </a:rPr>
              <a:t>Ran on battery.</a:t>
            </a:r>
            <a:r>
              <a:rPr b="0" i="0" lang="en-US" sz="1400" u="none" cap="none" strike="noStrike">
                <a:solidFill>
                  <a:srgbClr val="16202E"/>
                </a:solidFill>
                <a:latin typeface="IBM Plex Sans"/>
                <a:ea typeface="IBM Plex Sans"/>
                <a:cs typeface="IBM Plex Sans"/>
                <a:sym typeface="IBM Plex Sans"/>
              </a:rPr>
              <a:t> macOS throttled the job, then hibernated it.</a:t>
            </a:r>
            <a:endParaRPr b="0" i="0" sz="1400" u="none" cap="none" strike="noStrike">
              <a:solidFill>
                <a:schemeClr val="dk1"/>
              </a:solidFill>
              <a:latin typeface="IBM Plex Sans"/>
              <a:ea typeface="IBM Plex Sans"/>
              <a:cs typeface="IBM Plex Sans"/>
              <a:sym typeface="IBM Plex Sans"/>
            </a:endParaRPr>
          </a:p>
        </p:txBody>
      </p:sp>
      <p:sp>
        <p:nvSpPr>
          <p:cNvPr id="783" name="Google Shape;783;p102"/>
          <p:cNvSpPr/>
          <p:nvPr/>
        </p:nvSpPr>
        <p:spPr>
          <a:xfrm>
            <a:off x="7998867" y="3642271"/>
            <a:ext cx="3373983" cy="1165771"/>
          </a:xfrm>
          <a:prstGeom prst="roundRect">
            <a:avLst>
              <a:gd fmla="val 10349" name="adj"/>
            </a:avLst>
          </a:prstGeom>
          <a:solidFill>
            <a:srgbClr val="FDFCF9"/>
          </a:solidFill>
          <a:ln cap="flat" cmpd="sng" w="12700">
            <a:solidFill>
              <a:srgbClr val="E2DED3"/>
            </a:solidFill>
            <a:prstDash val="solid"/>
            <a:round/>
            <a:headEnd len="sm" w="sm" type="none"/>
            <a:tailEnd len="sm" w="sm" type="none"/>
          </a:ln>
        </p:spPr>
        <p:txBody>
          <a:bodyPr anchorCtr="0" anchor="t" bIns="174200" lIns="174200" spcFirstLastPara="1" rIns="85550" wrap="square" tIns="174200">
            <a:noAutofit/>
          </a:bodyPr>
          <a:lstStyle/>
          <a:p>
            <a:pPr indent="0" lvl="0" marL="0" marR="0" rtl="0" algn="l">
              <a:lnSpc>
                <a:spcPct val="140000"/>
              </a:lnSpc>
              <a:spcBef>
                <a:spcPts val="0"/>
              </a:spcBef>
              <a:spcAft>
                <a:spcPts val="0"/>
              </a:spcAft>
              <a:buClr>
                <a:srgbClr val="16202E"/>
              </a:buClr>
              <a:buSzPts val="1400"/>
              <a:buFont typeface="IBM Plex Sans"/>
              <a:buNone/>
            </a:pPr>
            <a:r>
              <a:rPr b="1" i="0" lang="en-US" sz="1400" u="none" cap="none" strike="noStrike">
                <a:solidFill>
                  <a:srgbClr val="16202E"/>
                </a:solidFill>
                <a:latin typeface="IBM Plex Sans"/>
                <a:ea typeface="IBM Plex Sans"/>
                <a:cs typeface="IBM Plex Sans"/>
                <a:sym typeface="IBM Plex Sans"/>
              </a:rPr>
              <a:t>Memory pressure.</a:t>
            </a:r>
            <a:r>
              <a:rPr b="0" i="0" lang="en-US" sz="1400" u="none" cap="none" strike="noStrike">
                <a:solidFill>
                  <a:srgbClr val="16202E"/>
                </a:solidFill>
                <a:latin typeface="IBM Plex Sans"/>
                <a:ea typeface="IBM Plex Sans"/>
                <a:cs typeface="IBM Plex Sans"/>
                <a:sym typeface="IBM Plex Sans"/>
              </a:rPr>
              <a:t> 15.8 of 17 GB swap in use slowed every step.</a:t>
            </a:r>
            <a:endParaRPr b="0" i="0" sz="1400" u="none" cap="none" strike="noStrike">
              <a:solidFill>
                <a:schemeClr val="dk1"/>
              </a:solidFill>
              <a:latin typeface="IBM Plex Sans"/>
              <a:ea typeface="IBM Plex Sans"/>
              <a:cs typeface="IBM Plex Sans"/>
              <a:sym typeface="IBM Plex Sans"/>
            </a:endParaRPr>
          </a:p>
        </p:txBody>
      </p:sp>
      <p:sp>
        <p:nvSpPr>
          <p:cNvPr id="784" name="Google Shape;784;p102"/>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A7280"/>
              </a:buClr>
              <a:buSzPts val="1200"/>
              <a:buFont typeface="IBM Plex Sans"/>
              <a:buNone/>
            </a:pPr>
            <a:r>
              <a:rPr b="0" i="0" lang="en-US" sz="1200" u="none" cap="none" strike="noStrike">
                <a:solidFill>
                  <a:srgbClr val="6A7280"/>
                </a:solidFill>
                <a:latin typeface="IBM Plex Sans"/>
                <a:ea typeface="IBM Plex Sans"/>
                <a:cs typeface="IBM Plex Sans"/>
                <a:sym typeface="IBM Plex Sans"/>
              </a:rPr>
              <a:t>Times are local (PDT), 21 Oct 2026, from the training log and macOS power log</a:t>
            </a:r>
            <a:endParaRPr b="0" i="0" sz="1200" u="none" cap="none" strike="noStrike">
              <a:solidFill>
                <a:schemeClr val="dk1"/>
              </a:solidFill>
              <a:latin typeface="IBM Plex Sans"/>
              <a:ea typeface="IBM Plex Sans"/>
              <a:cs typeface="IBM Plex Sans"/>
              <a:sym typeface="IBM Plex Sans"/>
            </a:endParaRPr>
          </a:p>
        </p:txBody>
      </p:sp>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5F0"/>
        </a:solidFill>
      </p:bgPr>
    </p:bg>
    <p:spTree>
      <p:nvGrpSpPr>
        <p:cNvPr id="789" name="Shape 789"/>
        <p:cNvGrpSpPr/>
        <p:nvPr/>
      </p:nvGrpSpPr>
      <p:grpSpPr>
        <a:xfrm>
          <a:off x="0" y="0"/>
          <a:ext cx="0" cy="0"/>
          <a:chOff x="0" y="0"/>
          <a:chExt cx="0" cy="0"/>
        </a:xfrm>
      </p:grpSpPr>
      <p:sp>
        <p:nvSpPr>
          <p:cNvPr id="790" name="Google Shape;790;p103"/>
          <p:cNvSpPr txBox="1"/>
          <p:nvPr>
            <p:ph type="title"/>
          </p:nvPr>
        </p:nvSpPr>
        <p:spPr>
          <a:xfrm>
            <a:off x="812800" y="812800"/>
            <a:ext cx="10883392" cy="47243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6202E"/>
              </a:buClr>
              <a:buSzPts val="3200"/>
              <a:buFont typeface="IBM Plex Sans"/>
              <a:buNone/>
            </a:pPr>
            <a:r>
              <a:rPr b="1" i="0" lang="en-US" sz="3200">
                <a:solidFill>
                  <a:srgbClr val="16202E"/>
                </a:solidFill>
                <a:latin typeface="IBM Plex Sans"/>
                <a:ea typeface="IBM Plex Sans"/>
                <a:cs typeface="IBM Plex Sans"/>
                <a:sym typeface="IBM Plex Sans"/>
              </a:rPr>
              <a:t>On a Colab A100: all 3 epochs in 3.5 minutes</a:t>
            </a:r>
            <a:endParaRPr sz="3200"/>
          </a:p>
        </p:txBody>
      </p:sp>
      <p:sp>
        <p:nvSpPr>
          <p:cNvPr id="791" name="Google Shape;791;p103"/>
          <p:cNvSpPr/>
          <p:nvPr/>
        </p:nvSpPr>
        <p:spPr>
          <a:xfrm>
            <a:off x="819150" y="1621780"/>
            <a:ext cx="3373934" cy="1931591"/>
          </a:xfrm>
          <a:prstGeom prst="roundRect">
            <a:avLst>
              <a:gd fmla="val 6246"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 name="Google Shape;792;p103"/>
          <p:cNvSpPr/>
          <p:nvPr/>
        </p:nvSpPr>
        <p:spPr>
          <a:xfrm>
            <a:off x="1079500" y="1882130"/>
            <a:ext cx="2938831" cy="64006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6202E"/>
              </a:buClr>
              <a:buSzPts val="4400"/>
              <a:buFont typeface="IBM Plex Sans"/>
              <a:buNone/>
            </a:pPr>
            <a:r>
              <a:rPr b="1" i="0" lang="en-US" sz="4400" u="none" cap="none" strike="noStrike">
                <a:solidFill>
                  <a:srgbClr val="16202E"/>
                </a:solidFill>
                <a:latin typeface="IBM Plex Sans"/>
                <a:ea typeface="IBM Plex Sans"/>
                <a:cs typeface="IBM Plex Sans"/>
                <a:sym typeface="IBM Plex Sans"/>
              </a:rPr>
              <a:t>56 min</a:t>
            </a:r>
            <a:endParaRPr b="0" i="0" sz="4400" u="none" cap="none" strike="noStrike">
              <a:solidFill>
                <a:schemeClr val="dk1"/>
              </a:solidFill>
              <a:latin typeface="IBM Plex Sans"/>
              <a:ea typeface="IBM Plex Sans"/>
              <a:cs typeface="IBM Plex Sans"/>
              <a:sym typeface="IBM Plex Sans"/>
            </a:endParaRPr>
          </a:p>
        </p:txBody>
      </p:sp>
      <p:sp>
        <p:nvSpPr>
          <p:cNvPr id="793" name="Google Shape;793;p103"/>
          <p:cNvSpPr/>
          <p:nvPr/>
        </p:nvSpPr>
        <p:spPr>
          <a:xfrm>
            <a:off x="1079500" y="2572990"/>
            <a:ext cx="2938831" cy="50542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one epoch on the M1 Pro, fp32 on MPS</a:t>
            </a:r>
            <a:endParaRPr b="0" i="0" sz="1400" u="none" cap="none" strike="noStrike">
              <a:solidFill>
                <a:schemeClr val="dk1"/>
              </a:solidFill>
              <a:latin typeface="IBM Plex Sans"/>
              <a:ea typeface="IBM Plex Sans"/>
              <a:cs typeface="IBM Plex Sans"/>
              <a:sym typeface="IBM Plex Sans"/>
            </a:endParaRPr>
          </a:p>
        </p:txBody>
      </p:sp>
      <p:sp>
        <p:nvSpPr>
          <p:cNvPr id="794" name="Google Shape;794;p103"/>
          <p:cNvSpPr/>
          <p:nvPr/>
        </p:nvSpPr>
        <p:spPr>
          <a:xfrm>
            <a:off x="4408984" y="1621780"/>
            <a:ext cx="3373983" cy="1931591"/>
          </a:xfrm>
          <a:prstGeom prst="roundRect">
            <a:avLst>
              <a:gd fmla="val 6246" name="adj"/>
            </a:avLst>
          </a:prstGeom>
          <a:solidFill>
            <a:srgbClr val="FDFCF9"/>
          </a:solidFill>
          <a:ln cap="flat" cmpd="sng" w="12700">
            <a:solidFill>
              <a:srgbClr val="D962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 name="Google Shape;795;p103"/>
          <p:cNvSpPr/>
          <p:nvPr/>
        </p:nvSpPr>
        <p:spPr>
          <a:xfrm>
            <a:off x="4669334" y="1882130"/>
            <a:ext cx="2938882" cy="64006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B4481A"/>
              </a:buClr>
              <a:buSzPts val="4400"/>
              <a:buFont typeface="IBM Plex Sans"/>
              <a:buNone/>
            </a:pPr>
            <a:r>
              <a:rPr b="1" i="0" lang="en-US" sz="4400" u="none" cap="none" strike="noStrike">
                <a:solidFill>
                  <a:srgbClr val="B4481A"/>
                </a:solidFill>
                <a:latin typeface="IBM Plex Sans"/>
                <a:ea typeface="IBM Plex Sans"/>
                <a:cs typeface="IBM Plex Sans"/>
                <a:sym typeface="IBM Plex Sans"/>
              </a:rPr>
              <a:t>71 s</a:t>
            </a:r>
            <a:endParaRPr b="0" i="0" sz="4400" u="none" cap="none" strike="noStrike">
              <a:solidFill>
                <a:schemeClr val="dk1"/>
              </a:solidFill>
              <a:latin typeface="IBM Plex Sans"/>
              <a:ea typeface="IBM Plex Sans"/>
              <a:cs typeface="IBM Plex Sans"/>
              <a:sym typeface="IBM Plex Sans"/>
            </a:endParaRPr>
          </a:p>
        </p:txBody>
      </p:sp>
      <p:sp>
        <p:nvSpPr>
          <p:cNvPr id="796" name="Google Shape;796;p103"/>
          <p:cNvSpPr/>
          <p:nvPr/>
        </p:nvSpPr>
        <p:spPr>
          <a:xfrm>
            <a:off x="4669334" y="2572990"/>
            <a:ext cx="2938882" cy="74543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one epoch on an A100‑SXM4‑40GB, bf16, validation included</a:t>
            </a:r>
            <a:endParaRPr b="0" i="0" sz="1400" u="none" cap="none" strike="noStrike">
              <a:solidFill>
                <a:schemeClr val="dk1"/>
              </a:solidFill>
              <a:latin typeface="IBM Plex Sans"/>
              <a:ea typeface="IBM Plex Sans"/>
              <a:cs typeface="IBM Plex Sans"/>
              <a:sym typeface="IBM Plex Sans"/>
            </a:endParaRPr>
          </a:p>
        </p:txBody>
      </p:sp>
      <p:sp>
        <p:nvSpPr>
          <p:cNvPr id="797" name="Google Shape;797;p103"/>
          <p:cNvSpPr/>
          <p:nvPr/>
        </p:nvSpPr>
        <p:spPr>
          <a:xfrm>
            <a:off x="7998867" y="1621780"/>
            <a:ext cx="3373983" cy="1931591"/>
          </a:xfrm>
          <a:prstGeom prst="roundRect">
            <a:avLst>
              <a:gd fmla="val 6246"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 name="Google Shape;798;p103"/>
          <p:cNvSpPr/>
          <p:nvPr/>
        </p:nvSpPr>
        <p:spPr>
          <a:xfrm>
            <a:off x="8259217" y="1882130"/>
            <a:ext cx="2938882" cy="64006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6202E"/>
              </a:buClr>
              <a:buSzPts val="4400"/>
              <a:buFont typeface="IBM Plex Sans"/>
              <a:buNone/>
            </a:pPr>
            <a:r>
              <a:rPr b="1" i="0" lang="en-US" sz="4400" u="none" cap="none" strike="noStrike">
                <a:solidFill>
                  <a:srgbClr val="16202E"/>
                </a:solidFill>
                <a:latin typeface="IBM Plex Sans"/>
                <a:ea typeface="IBM Plex Sans"/>
                <a:cs typeface="IBM Plex Sans"/>
                <a:sym typeface="IBM Plex Sans"/>
              </a:rPr>
              <a:t>≈47×</a:t>
            </a:r>
            <a:endParaRPr b="0" i="0" sz="4400" u="none" cap="none" strike="noStrike">
              <a:solidFill>
                <a:schemeClr val="dk1"/>
              </a:solidFill>
              <a:latin typeface="IBM Plex Sans"/>
              <a:ea typeface="IBM Plex Sans"/>
              <a:cs typeface="IBM Plex Sans"/>
              <a:sym typeface="IBM Plex Sans"/>
            </a:endParaRPr>
          </a:p>
        </p:txBody>
      </p:sp>
      <p:sp>
        <p:nvSpPr>
          <p:cNvPr id="799" name="Google Shape;799;p103"/>
          <p:cNvSpPr/>
          <p:nvPr/>
        </p:nvSpPr>
        <p:spPr>
          <a:xfrm>
            <a:off x="8259217" y="2572990"/>
            <a:ext cx="2938882" cy="50542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faster per epoch, same code and data</a:t>
            </a:r>
            <a:endParaRPr b="0" i="0" sz="1400" u="none" cap="none" strike="noStrike">
              <a:solidFill>
                <a:schemeClr val="dk1"/>
              </a:solidFill>
              <a:latin typeface="IBM Plex Sans"/>
              <a:ea typeface="IBM Plex Sans"/>
              <a:cs typeface="IBM Plex Sans"/>
              <a:sym typeface="IBM Plex Sans"/>
            </a:endParaRPr>
          </a:p>
        </p:txBody>
      </p:sp>
      <p:graphicFrame>
        <p:nvGraphicFramePr>
          <p:cNvPr id="800" name="Google Shape;800;p103"/>
          <p:cNvGraphicFramePr/>
          <p:nvPr/>
        </p:nvGraphicFramePr>
        <p:xfrm>
          <a:off x="825500" y="3928021"/>
          <a:ext cx="3000000" cy="3000000"/>
        </p:xfrm>
        <a:graphic>
          <a:graphicData uri="http://schemas.openxmlformats.org/drawingml/2006/table">
            <a:tbl>
              <a:tblPr>
                <a:noFill/>
                <a:tableStyleId>{EEE02795-A6B7-4247-B71C-ED7A564BFD40}</a:tableStyleId>
              </a:tblPr>
              <a:tblGrid>
                <a:gridCol w="4221475"/>
                <a:gridCol w="2110750"/>
                <a:gridCol w="4221475"/>
              </a:tblGrid>
              <a:tr h="386000">
                <a:tc>
                  <a:txBody>
                    <a:bodyPr/>
                    <a:lstStyle/>
                    <a:p>
                      <a:pPr indent="0" lvl="0" marL="0" marR="0" rtl="0" algn="l">
                        <a:lnSpc>
                          <a:spcPct val="140000"/>
                        </a:lnSpc>
                        <a:spcBef>
                          <a:spcPts val="0"/>
                        </a:spcBef>
                        <a:spcAft>
                          <a:spcPts val="0"/>
                        </a:spcAft>
                        <a:buClr>
                          <a:srgbClr val="16202E"/>
                        </a:buClr>
                        <a:buSzPts val="1400"/>
                        <a:buFont typeface="IBM Plex Sans"/>
                        <a:buNone/>
                      </a:pPr>
                      <a:r>
                        <a:rPr b="1" lang="en-US" sz="1400" u="none" cap="none" strike="noStrike">
                          <a:solidFill>
                            <a:srgbClr val="16202E"/>
                          </a:solidFill>
                          <a:latin typeface="IBM Plex Sans"/>
                          <a:ea typeface="IBM Plex Sans"/>
                          <a:cs typeface="IBM Plex Sans"/>
                          <a:sym typeface="IBM Plex Sans"/>
                        </a:rPr>
                        <a:t>Colab stage</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b="1" lang="en-US" sz="1400" u="none" cap="none" strike="noStrike">
                          <a:solidFill>
                            <a:srgbClr val="16202E"/>
                          </a:solidFill>
                          <a:latin typeface="IBM Plex Sans"/>
                          <a:ea typeface="IBM Plex Sans"/>
                          <a:cs typeface="IBM Plex Sans"/>
                          <a:sym typeface="IBM Plex Sans"/>
                        </a:rPr>
                        <a:t>Time</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6B5B1"/>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c>
                  <a:txBody>
                    <a:bodyPr/>
                    <a:lstStyle/>
                    <a:p>
                      <a:pPr indent="0" lvl="0" marL="0" marR="0" rtl="0" algn="l">
                        <a:lnSpc>
                          <a:spcPct val="140000"/>
                        </a:lnSpc>
                        <a:spcBef>
                          <a:spcPts val="0"/>
                        </a:spcBef>
                        <a:spcAft>
                          <a:spcPts val="0"/>
                        </a:spcAft>
                        <a:buClr>
                          <a:srgbClr val="16202E"/>
                        </a:buClr>
                        <a:buSzPts val="1400"/>
                        <a:buFont typeface="IBM Plex Sans"/>
                        <a:buNone/>
                      </a:pPr>
                      <a:r>
                        <a:rPr b="1" lang="en-US" sz="1400" u="none" cap="none" strike="noStrike">
                          <a:solidFill>
                            <a:srgbClr val="16202E"/>
                          </a:solidFill>
                          <a:latin typeface="IBM Plex Sans"/>
                          <a:ea typeface="IBM Plex Sans"/>
                          <a:cs typeface="IBM Plex Sans"/>
                          <a:sym typeface="IBM Plex Sans"/>
                        </a:rPr>
                        <a:t>Output</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6B5B1"/>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r>
              <a:tr h="386000">
                <a:tc>
                  <a:txBody>
                    <a:bodyPr/>
                    <a:lstStyle/>
                    <a:p>
                      <a:pPr indent="0" lvl="0" marL="0" marR="0" rtl="0" algn="l">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Training: 60 steps, 7 validation passes</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3.5 min</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train_log.jsonl, best adapter</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r>
              <a:tr h="386000">
                <a:tc>
                  <a:txBody>
                    <a:bodyPr/>
                    <a:lstStyle/>
                    <a:p>
                      <a:pPr indent="0" lvl="0" marL="0" marR="0" rtl="0" algn="l">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Eval: 82 examples × 2 models</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4BF"/>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≈23 min</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l">
                        <a:lnSpc>
                          <a:spcPct val="140000"/>
                        </a:lnSpc>
                        <a:spcBef>
                          <a:spcPts val="0"/>
                        </a:spcBef>
                        <a:spcAft>
                          <a:spcPts val="0"/>
                        </a:spcAft>
                        <a:buClr>
                          <a:srgbClr val="16202E"/>
                        </a:buClr>
                        <a:buSzPts val="1400"/>
                        <a:buFont typeface="IBM Plex Sans"/>
                        <a:buNone/>
                      </a:pPr>
                      <a:r>
                        <a:rPr lang="en-US" sz="1400" u="none" cap="none" strike="noStrike">
                          <a:solidFill>
                            <a:srgbClr val="16202E"/>
                          </a:solidFill>
                          <a:latin typeface="IBM Plex Sans"/>
                          <a:ea typeface="IBM Plex Sans"/>
                          <a:cs typeface="IBM Plex Sans"/>
                          <a:sym typeface="IBM Plex Sans"/>
                        </a:rPr>
                        <a:t>generator_comparison.json</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r>
            </a:tbl>
          </a:graphicData>
        </a:graphic>
      </p:graphicFrame>
      <p:sp>
        <p:nvSpPr>
          <p:cNvPr id="801" name="Google Shape;801;p103"/>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A7280"/>
              </a:buClr>
              <a:buSzPts val="1200"/>
              <a:buFont typeface="IBM Plex Sans"/>
              <a:buNone/>
            </a:pPr>
            <a:r>
              <a:rPr b="0" i="0" lang="en-US" sz="1200" u="none" cap="none" strike="noStrike">
                <a:solidFill>
                  <a:srgbClr val="6A7280"/>
                </a:solidFill>
                <a:latin typeface="IBM Plex Sans"/>
                <a:ea typeface="IBM Plex Sans"/>
                <a:cs typeface="IBM Plex Sans"/>
                <a:sym typeface="IBM Plex Sans"/>
              </a:rPr>
              <a:t>Training time from train_log.jsonl (elapsed_s = 212); eval time from result file timestamps</a:t>
            </a:r>
            <a:endParaRPr b="0" i="0" sz="1200" u="none" cap="none" strike="noStrike">
              <a:solidFill>
                <a:schemeClr val="dk1"/>
              </a:solidFill>
              <a:latin typeface="IBM Plex Sans"/>
              <a:ea typeface="IBM Plex Sans"/>
              <a:cs typeface="IBM Plex Sans"/>
              <a:sym typeface="IBM Plex Sans"/>
            </a:endParaRPr>
          </a:p>
        </p:txBody>
      </p:sp>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5F0"/>
        </a:solidFill>
      </p:bgPr>
    </p:bg>
    <p:spTree>
      <p:nvGrpSpPr>
        <p:cNvPr id="806" name="Shape 806"/>
        <p:cNvGrpSpPr/>
        <p:nvPr/>
      </p:nvGrpSpPr>
      <p:grpSpPr>
        <a:xfrm>
          <a:off x="0" y="0"/>
          <a:ext cx="0" cy="0"/>
          <a:chOff x="0" y="0"/>
          <a:chExt cx="0" cy="0"/>
        </a:xfrm>
      </p:grpSpPr>
      <p:sp>
        <p:nvSpPr>
          <p:cNvPr id="807" name="Google Shape;807;p104"/>
          <p:cNvSpPr txBox="1"/>
          <p:nvPr>
            <p:ph type="title"/>
          </p:nvPr>
        </p:nvSpPr>
        <p:spPr>
          <a:xfrm>
            <a:off x="812800" y="812800"/>
            <a:ext cx="10883392" cy="91946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6202E"/>
              </a:buClr>
              <a:buSzPts val="3200"/>
              <a:buFont typeface="IBM Plex Sans"/>
              <a:buNone/>
            </a:pPr>
            <a:r>
              <a:rPr b="1" i="0" lang="en-US" sz="3200">
                <a:solidFill>
                  <a:srgbClr val="16202E"/>
                </a:solidFill>
                <a:latin typeface="IBM Plex Sans"/>
                <a:ea typeface="IBM Plex Sans"/>
                <a:cs typeface="IBM Plex Sans"/>
                <a:sym typeface="IBM Plex Sans"/>
              </a:rPr>
              <a:t>Validation loss bottoms out after one epoch, then climbs</a:t>
            </a:r>
            <a:endParaRPr sz="3200"/>
          </a:p>
        </p:txBody>
      </p:sp>
      <p:cxnSp>
        <p:nvCxnSpPr>
          <p:cNvPr id="808" name="Google Shape;808;p104"/>
          <p:cNvCxnSpPr/>
          <p:nvPr/>
        </p:nvCxnSpPr>
        <p:spPr>
          <a:xfrm>
            <a:off x="812800" y="5253434"/>
            <a:ext cx="6096000" cy="0"/>
          </a:xfrm>
          <a:prstGeom prst="straightConnector1">
            <a:avLst/>
          </a:prstGeom>
          <a:noFill/>
          <a:ln cap="flat" cmpd="sng" w="19050">
            <a:solidFill>
              <a:srgbClr val="C9C3B5"/>
            </a:solidFill>
            <a:prstDash val="solid"/>
            <a:round/>
            <a:headEnd len="sm" w="sm" type="none"/>
            <a:tailEnd len="sm" w="sm" type="none"/>
          </a:ln>
        </p:spPr>
      </p:cxnSp>
      <p:sp>
        <p:nvSpPr>
          <p:cNvPr id="809" name="Google Shape;809;p104"/>
          <p:cNvSpPr/>
          <p:nvPr/>
        </p:nvSpPr>
        <p:spPr>
          <a:xfrm>
            <a:off x="1300480" y="1785739"/>
            <a:ext cx="54864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6202E"/>
              </a:buClr>
              <a:buSzPts val="1200"/>
              <a:buFont typeface="JetBrains Mono"/>
              <a:buNone/>
            </a:pPr>
            <a:r>
              <a:rPr b="0" i="0" lang="en-US" sz="1200" u="none" cap="none" strike="noStrike">
                <a:solidFill>
                  <a:srgbClr val="16202E"/>
                </a:solidFill>
                <a:latin typeface="JetBrains Mono"/>
                <a:ea typeface="JetBrains Mono"/>
                <a:cs typeface="JetBrains Mono"/>
                <a:sym typeface="JetBrains Mono"/>
              </a:rPr>
              <a:t>0.627</a:t>
            </a:r>
            <a:endParaRPr b="0" i="0" sz="1200" u="none" cap="none" strike="noStrike">
              <a:solidFill>
                <a:schemeClr val="dk1"/>
              </a:solidFill>
              <a:latin typeface="IBM Plex Sans"/>
              <a:ea typeface="IBM Plex Sans"/>
              <a:cs typeface="IBM Plex Sans"/>
              <a:sym typeface="IBM Plex Sans"/>
            </a:endParaRPr>
          </a:p>
        </p:txBody>
      </p:sp>
      <p:sp>
        <p:nvSpPr>
          <p:cNvPr id="810" name="Google Shape;810;p104"/>
          <p:cNvSpPr/>
          <p:nvPr/>
        </p:nvSpPr>
        <p:spPr>
          <a:xfrm>
            <a:off x="1270000" y="2062559"/>
            <a:ext cx="609600" cy="3181350"/>
          </a:xfrm>
          <a:custGeom>
            <a:rect b="b" l="l" r="r" t="t"/>
            <a:pathLst>
              <a:path extrusionOk="0" h="3181350" w="609600">
                <a:moveTo>
                  <a:pt x="50800" y="0"/>
                </a:moveTo>
                <a:lnTo>
                  <a:pt x="558800" y="0"/>
                </a:lnTo>
                <a:cubicBezTo>
                  <a:pt x="572273" y="0"/>
                  <a:pt x="585194" y="5352"/>
                  <a:pt x="594721" y="14879"/>
                </a:cubicBezTo>
                <a:cubicBezTo>
                  <a:pt x="604248" y="24406"/>
                  <a:pt x="609600" y="37327"/>
                  <a:pt x="609600" y="50800"/>
                </a:cubicBezTo>
                <a:lnTo>
                  <a:pt x="609600" y="3181350"/>
                </a:lnTo>
                <a:lnTo>
                  <a:pt x="0" y="3181350"/>
                </a:lnTo>
                <a:lnTo>
                  <a:pt x="0" y="50800"/>
                </a:lnTo>
                <a:cubicBezTo>
                  <a:pt x="0" y="22744"/>
                  <a:pt x="22744" y="0"/>
                  <a:pt x="50800" y="0"/>
                </a:cubicBezTo>
                <a:close/>
              </a:path>
            </a:pathLst>
          </a:custGeom>
          <a:solidFill>
            <a:srgbClr val="C9C3B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 name="Google Shape;811;p104"/>
          <p:cNvSpPr/>
          <p:nvPr/>
        </p:nvSpPr>
        <p:spPr>
          <a:xfrm>
            <a:off x="2062480" y="2249289"/>
            <a:ext cx="54864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6202E"/>
              </a:buClr>
              <a:buSzPts val="1200"/>
              <a:buFont typeface="JetBrains Mono"/>
              <a:buNone/>
            </a:pPr>
            <a:r>
              <a:rPr b="0" i="0" lang="en-US" sz="1200" u="none" cap="none" strike="noStrike">
                <a:solidFill>
                  <a:srgbClr val="16202E"/>
                </a:solidFill>
                <a:latin typeface="JetBrains Mono"/>
                <a:ea typeface="JetBrains Mono"/>
                <a:cs typeface="JetBrains Mono"/>
                <a:sym typeface="JetBrains Mono"/>
              </a:rPr>
              <a:t>0.535</a:t>
            </a:r>
            <a:endParaRPr b="0" i="0" sz="1200" u="none" cap="none" strike="noStrike">
              <a:solidFill>
                <a:schemeClr val="dk1"/>
              </a:solidFill>
              <a:latin typeface="IBM Plex Sans"/>
              <a:ea typeface="IBM Plex Sans"/>
              <a:cs typeface="IBM Plex Sans"/>
              <a:sym typeface="IBM Plex Sans"/>
            </a:endParaRPr>
          </a:p>
        </p:txBody>
      </p:sp>
      <p:sp>
        <p:nvSpPr>
          <p:cNvPr id="812" name="Google Shape;812;p104"/>
          <p:cNvSpPr/>
          <p:nvPr/>
        </p:nvSpPr>
        <p:spPr>
          <a:xfrm>
            <a:off x="2032000" y="2526109"/>
            <a:ext cx="609600" cy="2717800"/>
          </a:xfrm>
          <a:custGeom>
            <a:rect b="b" l="l" r="r" t="t"/>
            <a:pathLst>
              <a:path extrusionOk="0" h="2717800" w="609600">
                <a:moveTo>
                  <a:pt x="50800" y="0"/>
                </a:moveTo>
                <a:lnTo>
                  <a:pt x="558800" y="0"/>
                </a:lnTo>
                <a:cubicBezTo>
                  <a:pt x="572273" y="0"/>
                  <a:pt x="585194" y="5352"/>
                  <a:pt x="594721" y="14879"/>
                </a:cubicBezTo>
                <a:cubicBezTo>
                  <a:pt x="604248" y="24406"/>
                  <a:pt x="609600" y="37327"/>
                  <a:pt x="609600" y="50800"/>
                </a:cubicBezTo>
                <a:lnTo>
                  <a:pt x="609600" y="2717800"/>
                </a:lnTo>
                <a:lnTo>
                  <a:pt x="0" y="2717800"/>
                </a:lnTo>
                <a:lnTo>
                  <a:pt x="0" y="50800"/>
                </a:lnTo>
                <a:cubicBezTo>
                  <a:pt x="0" y="22744"/>
                  <a:pt x="22744" y="0"/>
                  <a:pt x="50800" y="0"/>
                </a:cubicBezTo>
                <a:close/>
              </a:path>
            </a:pathLst>
          </a:custGeom>
          <a:solidFill>
            <a:srgbClr val="C9C3B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 name="Google Shape;813;p104"/>
          <p:cNvSpPr/>
          <p:nvPr/>
        </p:nvSpPr>
        <p:spPr>
          <a:xfrm>
            <a:off x="2824480" y="2338189"/>
            <a:ext cx="54864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B4481A"/>
              </a:buClr>
              <a:buSzPts val="1200"/>
              <a:buFont typeface="JetBrains Mono"/>
              <a:buNone/>
            </a:pPr>
            <a:r>
              <a:rPr b="1" i="0" lang="en-US" sz="1200" u="none" cap="none" strike="noStrike">
                <a:solidFill>
                  <a:srgbClr val="B4481A"/>
                </a:solidFill>
                <a:latin typeface="JetBrains Mono"/>
                <a:ea typeface="JetBrains Mono"/>
                <a:cs typeface="JetBrains Mono"/>
                <a:sym typeface="JetBrains Mono"/>
              </a:rPr>
              <a:t>0.517</a:t>
            </a:r>
            <a:endParaRPr b="0" i="0" sz="1200" u="none" cap="none" strike="noStrike">
              <a:solidFill>
                <a:schemeClr val="dk1"/>
              </a:solidFill>
              <a:latin typeface="IBM Plex Sans"/>
              <a:ea typeface="IBM Plex Sans"/>
              <a:cs typeface="IBM Plex Sans"/>
              <a:sym typeface="IBM Plex Sans"/>
            </a:endParaRPr>
          </a:p>
        </p:txBody>
      </p:sp>
      <p:sp>
        <p:nvSpPr>
          <p:cNvPr id="814" name="Google Shape;814;p104"/>
          <p:cNvSpPr/>
          <p:nvPr/>
        </p:nvSpPr>
        <p:spPr>
          <a:xfrm>
            <a:off x="2794000" y="2615009"/>
            <a:ext cx="609600" cy="2628900"/>
          </a:xfrm>
          <a:custGeom>
            <a:rect b="b" l="l" r="r" t="t"/>
            <a:pathLst>
              <a:path extrusionOk="0" h="2628900" w="609600">
                <a:moveTo>
                  <a:pt x="50800" y="0"/>
                </a:moveTo>
                <a:lnTo>
                  <a:pt x="558800" y="0"/>
                </a:lnTo>
                <a:cubicBezTo>
                  <a:pt x="572273" y="0"/>
                  <a:pt x="585194" y="5352"/>
                  <a:pt x="594721" y="14879"/>
                </a:cubicBezTo>
                <a:cubicBezTo>
                  <a:pt x="604248" y="24406"/>
                  <a:pt x="609600" y="37327"/>
                  <a:pt x="609600" y="50800"/>
                </a:cubicBezTo>
                <a:lnTo>
                  <a:pt x="609600" y="2628900"/>
                </a:lnTo>
                <a:lnTo>
                  <a:pt x="0" y="2628900"/>
                </a:lnTo>
                <a:lnTo>
                  <a:pt x="0" y="50800"/>
                </a:lnTo>
                <a:cubicBezTo>
                  <a:pt x="0" y="22744"/>
                  <a:pt x="22744" y="0"/>
                  <a:pt x="50800" y="0"/>
                </a:cubicBezTo>
                <a:close/>
              </a:path>
            </a:pathLst>
          </a:custGeom>
          <a:solidFill>
            <a:srgbClr val="D9622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 name="Google Shape;815;p104"/>
          <p:cNvSpPr/>
          <p:nvPr/>
        </p:nvSpPr>
        <p:spPr>
          <a:xfrm>
            <a:off x="3586480" y="2217539"/>
            <a:ext cx="54864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6202E"/>
              </a:buClr>
              <a:buSzPts val="1200"/>
              <a:buFont typeface="JetBrains Mono"/>
              <a:buNone/>
            </a:pPr>
            <a:r>
              <a:rPr b="0" i="0" lang="en-US" sz="1200" u="none" cap="none" strike="noStrike">
                <a:solidFill>
                  <a:srgbClr val="16202E"/>
                </a:solidFill>
                <a:latin typeface="JetBrains Mono"/>
                <a:ea typeface="JetBrains Mono"/>
                <a:cs typeface="JetBrains Mono"/>
                <a:sym typeface="JetBrains Mono"/>
              </a:rPr>
              <a:t>0.541</a:t>
            </a:r>
            <a:endParaRPr b="0" i="0" sz="1200" u="none" cap="none" strike="noStrike">
              <a:solidFill>
                <a:schemeClr val="dk1"/>
              </a:solidFill>
              <a:latin typeface="IBM Plex Sans"/>
              <a:ea typeface="IBM Plex Sans"/>
              <a:cs typeface="IBM Plex Sans"/>
              <a:sym typeface="IBM Plex Sans"/>
            </a:endParaRPr>
          </a:p>
        </p:txBody>
      </p:sp>
      <p:sp>
        <p:nvSpPr>
          <p:cNvPr id="816" name="Google Shape;816;p104"/>
          <p:cNvSpPr/>
          <p:nvPr/>
        </p:nvSpPr>
        <p:spPr>
          <a:xfrm>
            <a:off x="3556000" y="2494359"/>
            <a:ext cx="609600" cy="2749550"/>
          </a:xfrm>
          <a:custGeom>
            <a:rect b="b" l="l" r="r" t="t"/>
            <a:pathLst>
              <a:path extrusionOk="0" h="2749550" w="609600">
                <a:moveTo>
                  <a:pt x="50800" y="0"/>
                </a:moveTo>
                <a:lnTo>
                  <a:pt x="558800" y="0"/>
                </a:lnTo>
                <a:cubicBezTo>
                  <a:pt x="572273" y="0"/>
                  <a:pt x="585194" y="5352"/>
                  <a:pt x="594721" y="14879"/>
                </a:cubicBezTo>
                <a:cubicBezTo>
                  <a:pt x="604248" y="24406"/>
                  <a:pt x="609600" y="37327"/>
                  <a:pt x="609600" y="50800"/>
                </a:cubicBezTo>
                <a:lnTo>
                  <a:pt x="609600" y="2749550"/>
                </a:lnTo>
                <a:lnTo>
                  <a:pt x="0" y="2749550"/>
                </a:lnTo>
                <a:lnTo>
                  <a:pt x="0" y="50800"/>
                </a:lnTo>
                <a:cubicBezTo>
                  <a:pt x="0" y="22744"/>
                  <a:pt x="22744" y="0"/>
                  <a:pt x="50800" y="0"/>
                </a:cubicBezTo>
                <a:close/>
              </a:path>
            </a:pathLst>
          </a:custGeom>
          <a:solidFill>
            <a:srgbClr val="C9C3B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 name="Google Shape;817;p104"/>
          <p:cNvSpPr/>
          <p:nvPr/>
        </p:nvSpPr>
        <p:spPr>
          <a:xfrm>
            <a:off x="4348480" y="2039739"/>
            <a:ext cx="54864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6202E"/>
              </a:buClr>
              <a:buSzPts val="1200"/>
              <a:buFont typeface="JetBrains Mono"/>
              <a:buNone/>
            </a:pPr>
            <a:r>
              <a:rPr b="0" i="0" lang="en-US" sz="1200" u="none" cap="none" strike="noStrike">
                <a:solidFill>
                  <a:srgbClr val="16202E"/>
                </a:solidFill>
                <a:latin typeface="JetBrains Mono"/>
                <a:ea typeface="JetBrains Mono"/>
                <a:cs typeface="JetBrains Mono"/>
                <a:sym typeface="JetBrains Mono"/>
              </a:rPr>
              <a:t>0.576</a:t>
            </a:r>
            <a:endParaRPr b="0" i="0" sz="1200" u="none" cap="none" strike="noStrike">
              <a:solidFill>
                <a:schemeClr val="dk1"/>
              </a:solidFill>
              <a:latin typeface="IBM Plex Sans"/>
              <a:ea typeface="IBM Plex Sans"/>
              <a:cs typeface="IBM Plex Sans"/>
              <a:sym typeface="IBM Plex Sans"/>
            </a:endParaRPr>
          </a:p>
        </p:txBody>
      </p:sp>
      <p:sp>
        <p:nvSpPr>
          <p:cNvPr id="818" name="Google Shape;818;p104"/>
          <p:cNvSpPr/>
          <p:nvPr/>
        </p:nvSpPr>
        <p:spPr>
          <a:xfrm>
            <a:off x="4318000" y="2316559"/>
            <a:ext cx="609600" cy="2927350"/>
          </a:xfrm>
          <a:custGeom>
            <a:rect b="b" l="l" r="r" t="t"/>
            <a:pathLst>
              <a:path extrusionOk="0" h="2927350" w="609600">
                <a:moveTo>
                  <a:pt x="50800" y="0"/>
                </a:moveTo>
                <a:lnTo>
                  <a:pt x="558800" y="0"/>
                </a:lnTo>
                <a:cubicBezTo>
                  <a:pt x="572273" y="0"/>
                  <a:pt x="585194" y="5352"/>
                  <a:pt x="594721" y="14879"/>
                </a:cubicBezTo>
                <a:cubicBezTo>
                  <a:pt x="604248" y="24406"/>
                  <a:pt x="609600" y="37327"/>
                  <a:pt x="609600" y="50800"/>
                </a:cubicBezTo>
                <a:lnTo>
                  <a:pt x="609600" y="2927350"/>
                </a:lnTo>
                <a:lnTo>
                  <a:pt x="0" y="2927350"/>
                </a:lnTo>
                <a:lnTo>
                  <a:pt x="0" y="50800"/>
                </a:lnTo>
                <a:cubicBezTo>
                  <a:pt x="0" y="22744"/>
                  <a:pt x="22744" y="0"/>
                  <a:pt x="50800" y="0"/>
                </a:cubicBezTo>
                <a:close/>
              </a:path>
            </a:pathLst>
          </a:custGeom>
          <a:solidFill>
            <a:srgbClr val="C9C3B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 name="Google Shape;819;p104"/>
          <p:cNvSpPr/>
          <p:nvPr/>
        </p:nvSpPr>
        <p:spPr>
          <a:xfrm>
            <a:off x="5110480" y="1912739"/>
            <a:ext cx="54864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6202E"/>
              </a:buClr>
              <a:buSzPts val="1200"/>
              <a:buFont typeface="JetBrains Mono"/>
              <a:buNone/>
            </a:pPr>
            <a:r>
              <a:rPr b="0" i="0" lang="en-US" sz="1200" u="none" cap="none" strike="noStrike">
                <a:solidFill>
                  <a:srgbClr val="16202E"/>
                </a:solidFill>
                <a:latin typeface="JetBrains Mono"/>
                <a:ea typeface="JetBrains Mono"/>
                <a:cs typeface="JetBrains Mono"/>
                <a:sym typeface="JetBrains Mono"/>
              </a:rPr>
              <a:t>0.601</a:t>
            </a:r>
            <a:endParaRPr b="0" i="0" sz="1200" u="none" cap="none" strike="noStrike">
              <a:solidFill>
                <a:schemeClr val="dk1"/>
              </a:solidFill>
              <a:latin typeface="IBM Plex Sans"/>
              <a:ea typeface="IBM Plex Sans"/>
              <a:cs typeface="IBM Plex Sans"/>
              <a:sym typeface="IBM Plex Sans"/>
            </a:endParaRPr>
          </a:p>
        </p:txBody>
      </p:sp>
      <p:sp>
        <p:nvSpPr>
          <p:cNvPr id="820" name="Google Shape;820;p104"/>
          <p:cNvSpPr/>
          <p:nvPr/>
        </p:nvSpPr>
        <p:spPr>
          <a:xfrm>
            <a:off x="5080000" y="2189559"/>
            <a:ext cx="609600" cy="3054350"/>
          </a:xfrm>
          <a:custGeom>
            <a:rect b="b" l="l" r="r" t="t"/>
            <a:pathLst>
              <a:path extrusionOk="0" h="3054350" w="609600">
                <a:moveTo>
                  <a:pt x="50800" y="0"/>
                </a:moveTo>
                <a:lnTo>
                  <a:pt x="558800" y="0"/>
                </a:lnTo>
                <a:cubicBezTo>
                  <a:pt x="572273" y="0"/>
                  <a:pt x="585194" y="5352"/>
                  <a:pt x="594721" y="14879"/>
                </a:cubicBezTo>
                <a:cubicBezTo>
                  <a:pt x="604248" y="24406"/>
                  <a:pt x="609600" y="37327"/>
                  <a:pt x="609600" y="50800"/>
                </a:cubicBezTo>
                <a:lnTo>
                  <a:pt x="609600" y="3054350"/>
                </a:lnTo>
                <a:lnTo>
                  <a:pt x="0" y="3054350"/>
                </a:lnTo>
                <a:lnTo>
                  <a:pt x="0" y="50800"/>
                </a:lnTo>
                <a:cubicBezTo>
                  <a:pt x="0" y="22744"/>
                  <a:pt x="22744" y="0"/>
                  <a:pt x="50800" y="0"/>
                </a:cubicBezTo>
                <a:close/>
              </a:path>
            </a:pathLst>
          </a:custGeom>
          <a:solidFill>
            <a:srgbClr val="C9C3B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 name="Google Shape;821;p104"/>
          <p:cNvSpPr/>
          <p:nvPr/>
        </p:nvSpPr>
        <p:spPr>
          <a:xfrm>
            <a:off x="5872480" y="1880989"/>
            <a:ext cx="54864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6202E"/>
              </a:buClr>
              <a:buSzPts val="1200"/>
              <a:buFont typeface="JetBrains Mono"/>
              <a:buNone/>
            </a:pPr>
            <a:r>
              <a:rPr b="0" i="0" lang="en-US" sz="1200" u="none" cap="none" strike="noStrike">
                <a:solidFill>
                  <a:srgbClr val="16202E"/>
                </a:solidFill>
                <a:latin typeface="JetBrains Mono"/>
                <a:ea typeface="JetBrains Mono"/>
                <a:cs typeface="JetBrains Mono"/>
                <a:sym typeface="JetBrains Mono"/>
              </a:rPr>
              <a:t>0.607</a:t>
            </a:r>
            <a:endParaRPr b="0" i="0" sz="1200" u="none" cap="none" strike="noStrike">
              <a:solidFill>
                <a:schemeClr val="dk1"/>
              </a:solidFill>
              <a:latin typeface="IBM Plex Sans"/>
              <a:ea typeface="IBM Plex Sans"/>
              <a:cs typeface="IBM Plex Sans"/>
              <a:sym typeface="IBM Plex Sans"/>
            </a:endParaRPr>
          </a:p>
        </p:txBody>
      </p:sp>
      <p:sp>
        <p:nvSpPr>
          <p:cNvPr id="822" name="Google Shape;822;p104"/>
          <p:cNvSpPr/>
          <p:nvPr/>
        </p:nvSpPr>
        <p:spPr>
          <a:xfrm>
            <a:off x="5842000" y="2157809"/>
            <a:ext cx="609600" cy="3086100"/>
          </a:xfrm>
          <a:custGeom>
            <a:rect b="b" l="l" r="r" t="t"/>
            <a:pathLst>
              <a:path extrusionOk="0" h="3086100" w="609600">
                <a:moveTo>
                  <a:pt x="50800" y="0"/>
                </a:moveTo>
                <a:lnTo>
                  <a:pt x="558800" y="0"/>
                </a:lnTo>
                <a:cubicBezTo>
                  <a:pt x="572273" y="0"/>
                  <a:pt x="585194" y="5352"/>
                  <a:pt x="594721" y="14879"/>
                </a:cubicBezTo>
                <a:cubicBezTo>
                  <a:pt x="604248" y="24406"/>
                  <a:pt x="609600" y="37327"/>
                  <a:pt x="609600" y="50800"/>
                </a:cubicBezTo>
                <a:lnTo>
                  <a:pt x="609600" y="3086100"/>
                </a:lnTo>
                <a:lnTo>
                  <a:pt x="0" y="3086100"/>
                </a:lnTo>
                <a:lnTo>
                  <a:pt x="0" y="50800"/>
                </a:lnTo>
                <a:cubicBezTo>
                  <a:pt x="0" y="22744"/>
                  <a:pt x="22744" y="0"/>
                  <a:pt x="50800" y="0"/>
                </a:cubicBezTo>
                <a:close/>
              </a:path>
            </a:pathLst>
          </a:custGeom>
          <a:solidFill>
            <a:srgbClr val="C9C3B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 name="Google Shape;823;p104"/>
          <p:cNvSpPr/>
          <p:nvPr/>
        </p:nvSpPr>
        <p:spPr>
          <a:xfrm>
            <a:off x="1244600" y="5339159"/>
            <a:ext cx="66040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4A5568"/>
              </a:buClr>
              <a:buSzPts val="1200"/>
              <a:buFont typeface="IBM Plex Sans"/>
              <a:buNone/>
            </a:pPr>
            <a:r>
              <a:rPr b="0" i="0" lang="en-US" sz="1200" u="none" cap="none" strike="noStrike">
                <a:solidFill>
                  <a:srgbClr val="4A5568"/>
                </a:solidFill>
                <a:latin typeface="IBM Plex Sans"/>
                <a:ea typeface="IBM Plex Sans"/>
                <a:cs typeface="IBM Plex Sans"/>
                <a:sym typeface="IBM Plex Sans"/>
              </a:rPr>
              <a:t>0</a:t>
            </a:r>
            <a:endParaRPr b="0" i="0" sz="1200" u="none" cap="none" strike="noStrike">
              <a:solidFill>
                <a:schemeClr val="dk1"/>
              </a:solidFill>
              <a:latin typeface="IBM Plex Sans"/>
              <a:ea typeface="IBM Plex Sans"/>
              <a:cs typeface="IBM Plex Sans"/>
              <a:sym typeface="IBM Plex Sans"/>
            </a:endParaRPr>
          </a:p>
        </p:txBody>
      </p:sp>
      <p:sp>
        <p:nvSpPr>
          <p:cNvPr id="824" name="Google Shape;824;p104"/>
          <p:cNvSpPr/>
          <p:nvPr/>
        </p:nvSpPr>
        <p:spPr>
          <a:xfrm>
            <a:off x="2006600" y="5339159"/>
            <a:ext cx="66040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4A5568"/>
              </a:buClr>
              <a:buSzPts val="1200"/>
              <a:buFont typeface="IBM Plex Sans"/>
              <a:buNone/>
            </a:pPr>
            <a:r>
              <a:rPr b="0" i="0" lang="en-US" sz="1200" u="none" cap="none" strike="noStrike">
                <a:solidFill>
                  <a:srgbClr val="4A5568"/>
                </a:solidFill>
                <a:latin typeface="IBM Plex Sans"/>
                <a:ea typeface="IBM Plex Sans"/>
                <a:cs typeface="IBM Plex Sans"/>
                <a:sym typeface="IBM Plex Sans"/>
              </a:rPr>
              <a:t>0.5</a:t>
            </a:r>
            <a:endParaRPr b="0" i="0" sz="1200" u="none" cap="none" strike="noStrike">
              <a:solidFill>
                <a:schemeClr val="dk1"/>
              </a:solidFill>
              <a:latin typeface="IBM Plex Sans"/>
              <a:ea typeface="IBM Plex Sans"/>
              <a:cs typeface="IBM Plex Sans"/>
              <a:sym typeface="IBM Plex Sans"/>
            </a:endParaRPr>
          </a:p>
        </p:txBody>
      </p:sp>
      <p:sp>
        <p:nvSpPr>
          <p:cNvPr id="825" name="Google Shape;825;p104"/>
          <p:cNvSpPr/>
          <p:nvPr/>
        </p:nvSpPr>
        <p:spPr>
          <a:xfrm>
            <a:off x="2768600" y="5339159"/>
            <a:ext cx="66040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B4481A"/>
              </a:buClr>
              <a:buSzPts val="1200"/>
              <a:buFont typeface="IBM Plex Sans"/>
              <a:buNone/>
            </a:pPr>
            <a:r>
              <a:rPr b="1" i="0" lang="en-US" sz="1200" u="none" cap="none" strike="noStrike">
                <a:solidFill>
                  <a:srgbClr val="B4481A"/>
                </a:solidFill>
                <a:latin typeface="IBM Plex Sans"/>
                <a:ea typeface="IBM Plex Sans"/>
                <a:cs typeface="IBM Plex Sans"/>
                <a:sym typeface="IBM Plex Sans"/>
              </a:rPr>
              <a:t>1</a:t>
            </a:r>
            <a:endParaRPr b="0" i="0" sz="1200" u="none" cap="none" strike="noStrike">
              <a:solidFill>
                <a:schemeClr val="dk1"/>
              </a:solidFill>
              <a:latin typeface="IBM Plex Sans"/>
              <a:ea typeface="IBM Plex Sans"/>
              <a:cs typeface="IBM Plex Sans"/>
              <a:sym typeface="IBM Plex Sans"/>
            </a:endParaRPr>
          </a:p>
        </p:txBody>
      </p:sp>
      <p:sp>
        <p:nvSpPr>
          <p:cNvPr id="826" name="Google Shape;826;p104"/>
          <p:cNvSpPr/>
          <p:nvPr/>
        </p:nvSpPr>
        <p:spPr>
          <a:xfrm>
            <a:off x="3530600" y="5339159"/>
            <a:ext cx="66040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4A5568"/>
              </a:buClr>
              <a:buSzPts val="1200"/>
              <a:buFont typeface="IBM Plex Sans"/>
              <a:buNone/>
            </a:pPr>
            <a:r>
              <a:rPr b="0" i="0" lang="en-US" sz="1200" u="none" cap="none" strike="noStrike">
                <a:solidFill>
                  <a:srgbClr val="4A5568"/>
                </a:solidFill>
                <a:latin typeface="IBM Plex Sans"/>
                <a:ea typeface="IBM Plex Sans"/>
                <a:cs typeface="IBM Plex Sans"/>
                <a:sym typeface="IBM Plex Sans"/>
              </a:rPr>
              <a:t>1.5</a:t>
            </a:r>
            <a:endParaRPr b="0" i="0" sz="1200" u="none" cap="none" strike="noStrike">
              <a:solidFill>
                <a:schemeClr val="dk1"/>
              </a:solidFill>
              <a:latin typeface="IBM Plex Sans"/>
              <a:ea typeface="IBM Plex Sans"/>
              <a:cs typeface="IBM Plex Sans"/>
              <a:sym typeface="IBM Plex Sans"/>
            </a:endParaRPr>
          </a:p>
        </p:txBody>
      </p:sp>
      <p:sp>
        <p:nvSpPr>
          <p:cNvPr id="827" name="Google Shape;827;p104"/>
          <p:cNvSpPr/>
          <p:nvPr/>
        </p:nvSpPr>
        <p:spPr>
          <a:xfrm>
            <a:off x="4292600" y="5339159"/>
            <a:ext cx="66040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4A5568"/>
              </a:buClr>
              <a:buSzPts val="1200"/>
              <a:buFont typeface="IBM Plex Sans"/>
              <a:buNone/>
            </a:pPr>
            <a:r>
              <a:rPr b="0" i="0" lang="en-US" sz="1200" u="none" cap="none" strike="noStrike">
                <a:solidFill>
                  <a:srgbClr val="4A5568"/>
                </a:solidFill>
                <a:latin typeface="IBM Plex Sans"/>
                <a:ea typeface="IBM Plex Sans"/>
                <a:cs typeface="IBM Plex Sans"/>
                <a:sym typeface="IBM Plex Sans"/>
              </a:rPr>
              <a:t>2</a:t>
            </a:r>
            <a:endParaRPr b="0" i="0" sz="1200" u="none" cap="none" strike="noStrike">
              <a:solidFill>
                <a:schemeClr val="dk1"/>
              </a:solidFill>
              <a:latin typeface="IBM Plex Sans"/>
              <a:ea typeface="IBM Plex Sans"/>
              <a:cs typeface="IBM Plex Sans"/>
              <a:sym typeface="IBM Plex Sans"/>
            </a:endParaRPr>
          </a:p>
        </p:txBody>
      </p:sp>
      <p:sp>
        <p:nvSpPr>
          <p:cNvPr id="828" name="Google Shape;828;p104"/>
          <p:cNvSpPr/>
          <p:nvPr/>
        </p:nvSpPr>
        <p:spPr>
          <a:xfrm>
            <a:off x="5054600" y="5339159"/>
            <a:ext cx="66040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4A5568"/>
              </a:buClr>
              <a:buSzPts val="1200"/>
              <a:buFont typeface="IBM Plex Sans"/>
              <a:buNone/>
            </a:pPr>
            <a:r>
              <a:rPr b="0" i="0" lang="en-US" sz="1200" u="none" cap="none" strike="noStrike">
                <a:solidFill>
                  <a:srgbClr val="4A5568"/>
                </a:solidFill>
                <a:latin typeface="IBM Plex Sans"/>
                <a:ea typeface="IBM Plex Sans"/>
                <a:cs typeface="IBM Plex Sans"/>
                <a:sym typeface="IBM Plex Sans"/>
              </a:rPr>
              <a:t>2.5</a:t>
            </a:r>
            <a:endParaRPr b="0" i="0" sz="1200" u="none" cap="none" strike="noStrike">
              <a:solidFill>
                <a:schemeClr val="dk1"/>
              </a:solidFill>
              <a:latin typeface="IBM Plex Sans"/>
              <a:ea typeface="IBM Plex Sans"/>
              <a:cs typeface="IBM Plex Sans"/>
              <a:sym typeface="IBM Plex Sans"/>
            </a:endParaRPr>
          </a:p>
        </p:txBody>
      </p:sp>
      <p:sp>
        <p:nvSpPr>
          <p:cNvPr id="829" name="Google Shape;829;p104"/>
          <p:cNvSpPr/>
          <p:nvPr/>
        </p:nvSpPr>
        <p:spPr>
          <a:xfrm>
            <a:off x="5816600" y="5339159"/>
            <a:ext cx="66040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4A5568"/>
              </a:buClr>
              <a:buSzPts val="1200"/>
              <a:buFont typeface="IBM Plex Sans"/>
              <a:buNone/>
            </a:pPr>
            <a:r>
              <a:rPr b="0" i="0" lang="en-US" sz="1200" u="none" cap="none" strike="noStrike">
                <a:solidFill>
                  <a:srgbClr val="4A5568"/>
                </a:solidFill>
                <a:latin typeface="IBM Plex Sans"/>
                <a:ea typeface="IBM Plex Sans"/>
                <a:cs typeface="IBM Plex Sans"/>
                <a:sym typeface="IBM Plex Sans"/>
              </a:rPr>
              <a:t>3</a:t>
            </a:r>
            <a:endParaRPr b="0" i="0" sz="1200" u="none" cap="none" strike="noStrike">
              <a:solidFill>
                <a:schemeClr val="dk1"/>
              </a:solidFill>
              <a:latin typeface="IBM Plex Sans"/>
              <a:ea typeface="IBM Plex Sans"/>
              <a:cs typeface="IBM Plex Sans"/>
              <a:sym typeface="IBM Plex Sans"/>
            </a:endParaRPr>
          </a:p>
        </p:txBody>
      </p:sp>
      <p:sp>
        <p:nvSpPr>
          <p:cNvPr id="830" name="Google Shape;830;p104"/>
          <p:cNvSpPr/>
          <p:nvPr/>
        </p:nvSpPr>
        <p:spPr>
          <a:xfrm>
            <a:off x="721360" y="5628680"/>
            <a:ext cx="627888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4A5568"/>
              </a:buClr>
              <a:buSzPts val="1200"/>
              <a:buFont typeface="IBM Plex Sans"/>
              <a:buNone/>
            </a:pPr>
            <a:r>
              <a:rPr b="0" i="0" lang="en-US" sz="1200" u="none" cap="none" strike="noStrike">
                <a:solidFill>
                  <a:srgbClr val="4A5568"/>
                </a:solidFill>
                <a:latin typeface="IBM Plex Sans"/>
                <a:ea typeface="IBM Plex Sans"/>
                <a:cs typeface="IBM Plex Sans"/>
                <a:sym typeface="IBM Plex Sans"/>
              </a:rPr>
              <a:t>epoch</a:t>
            </a:r>
            <a:endParaRPr b="0" i="0" sz="1200" u="none" cap="none" strike="noStrike">
              <a:solidFill>
                <a:schemeClr val="dk1"/>
              </a:solidFill>
              <a:latin typeface="IBM Plex Sans"/>
              <a:ea typeface="IBM Plex Sans"/>
              <a:cs typeface="IBM Plex Sans"/>
              <a:sym typeface="IBM Plex Sans"/>
            </a:endParaRPr>
          </a:p>
        </p:txBody>
      </p:sp>
      <p:sp>
        <p:nvSpPr>
          <p:cNvPr id="831" name="Google Shape;831;p104"/>
          <p:cNvSpPr/>
          <p:nvPr/>
        </p:nvSpPr>
        <p:spPr>
          <a:xfrm>
            <a:off x="7315200" y="3009900"/>
            <a:ext cx="4185920"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4481A"/>
              </a:buClr>
              <a:buSzPts val="1500"/>
              <a:buFont typeface="IBM Plex Sans"/>
              <a:buNone/>
            </a:pPr>
            <a:r>
              <a:rPr b="1" i="0" lang="en-US" sz="1500" u="none" cap="none" strike="noStrike">
                <a:solidFill>
                  <a:srgbClr val="B4481A"/>
                </a:solidFill>
                <a:latin typeface="IBM Plex Sans"/>
                <a:ea typeface="IBM Plex Sans"/>
                <a:cs typeface="IBM Plex Sans"/>
                <a:sym typeface="IBM Plex Sans"/>
              </a:rPr>
              <a:t>Best at epoch 1 (step 20):</a:t>
            </a:r>
            <a:r>
              <a:rPr b="0" i="0" lang="en-US" sz="1500" u="none" cap="none" strike="noStrike">
                <a:solidFill>
                  <a:srgbClr val="4A5568"/>
                </a:solidFill>
                <a:latin typeface="IBM Plex Sans"/>
                <a:ea typeface="IBM Plex Sans"/>
                <a:cs typeface="IBM Plex Sans"/>
                <a:sym typeface="IBM Plex Sans"/>
              </a:rPr>
              <a:t> 0.517, down 17% from 0.627 before training.</a:t>
            </a:r>
            <a:endParaRPr b="0" i="0" sz="1500" u="none" cap="none" strike="noStrike">
              <a:solidFill>
                <a:schemeClr val="dk1"/>
              </a:solidFill>
              <a:latin typeface="IBM Plex Sans"/>
              <a:ea typeface="IBM Plex Sans"/>
              <a:cs typeface="IBM Plex Sans"/>
              <a:sym typeface="IBM Plex Sans"/>
            </a:endParaRPr>
          </a:p>
        </p:txBody>
      </p:sp>
      <p:sp>
        <p:nvSpPr>
          <p:cNvPr id="832" name="Google Shape;832;p104"/>
          <p:cNvSpPr/>
          <p:nvPr/>
        </p:nvSpPr>
        <p:spPr>
          <a:xfrm>
            <a:off x="7315200" y="3721100"/>
            <a:ext cx="4185920" cy="825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500"/>
              <a:buFont typeface="IBM Plex Sans"/>
              <a:buNone/>
            </a:pPr>
            <a:r>
              <a:rPr b="1" i="0" lang="en-US" sz="1500" u="none" cap="none" strike="noStrike">
                <a:solidFill>
                  <a:srgbClr val="16202E"/>
                </a:solidFill>
                <a:latin typeface="IBM Plex Sans"/>
                <a:ea typeface="IBM Plex Sans"/>
                <a:cs typeface="IBM Plex Sans"/>
                <a:sym typeface="IBM Plex Sans"/>
              </a:rPr>
              <a:t>Epochs 2–3:</a:t>
            </a:r>
            <a:r>
              <a:rPr b="0" i="0" lang="en-US" sz="1500" u="none" cap="none" strike="noStrike">
                <a:solidFill>
                  <a:srgbClr val="4A5568"/>
                </a:solidFill>
                <a:latin typeface="IBM Plex Sans"/>
                <a:ea typeface="IBM Plex Sans"/>
                <a:cs typeface="IBM Plex Sans"/>
                <a:sym typeface="IBM Plex Sans"/>
              </a:rPr>
              <a:t> validation loss climbs back to 0.607 while train loss keeps falling to about 0.11.</a:t>
            </a:r>
            <a:endParaRPr b="0" i="0" sz="1500" u="none" cap="none" strike="noStrike">
              <a:solidFill>
                <a:schemeClr val="dk1"/>
              </a:solidFill>
              <a:latin typeface="IBM Plex Sans"/>
              <a:ea typeface="IBM Plex Sans"/>
              <a:cs typeface="IBM Plex Sans"/>
              <a:sym typeface="IBM Plex Sans"/>
            </a:endParaRPr>
          </a:p>
        </p:txBody>
      </p:sp>
      <p:sp>
        <p:nvSpPr>
          <p:cNvPr id="833" name="Google Shape;833;p104"/>
          <p:cNvSpPr/>
          <p:nvPr/>
        </p:nvSpPr>
        <p:spPr>
          <a:xfrm>
            <a:off x="7315200" y="4699000"/>
            <a:ext cx="4185920"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02E"/>
              </a:buClr>
              <a:buSzPts val="1500"/>
              <a:buFont typeface="IBM Plex Sans"/>
              <a:buNone/>
            </a:pPr>
            <a:r>
              <a:rPr b="1" i="0" lang="en-US" sz="1500" u="none" cap="none" strike="noStrike">
                <a:solidFill>
                  <a:srgbClr val="16202E"/>
                </a:solidFill>
                <a:latin typeface="IBM Plex Sans"/>
                <a:ea typeface="IBM Plex Sans"/>
                <a:cs typeface="IBM Plex Sans"/>
                <a:sym typeface="IBM Plex Sans"/>
              </a:rPr>
              <a:t>Kept:</a:t>
            </a:r>
            <a:r>
              <a:rPr b="0" i="0" lang="en-US" sz="1500" u="none" cap="none" strike="noStrike">
                <a:solidFill>
                  <a:srgbClr val="4A5568"/>
                </a:solidFill>
                <a:latin typeface="IBM Plex Sans"/>
                <a:ea typeface="IBM Plex Sans"/>
                <a:cs typeface="IBM Plex Sans"/>
                <a:sym typeface="IBM Plex Sans"/>
              </a:rPr>
              <a:t> only the epoch‑1 adapter, so the later epochs never reach the eval.</a:t>
            </a:r>
            <a:endParaRPr b="0" i="0" sz="1500" u="none" cap="none" strike="noStrike">
              <a:solidFill>
                <a:schemeClr val="dk1"/>
              </a:solidFill>
              <a:latin typeface="IBM Plex Sans"/>
              <a:ea typeface="IBM Plex Sans"/>
              <a:cs typeface="IBM Plex Sans"/>
              <a:sym typeface="IBM Plex Sans"/>
            </a:endParaRPr>
          </a:p>
        </p:txBody>
      </p:sp>
      <p:sp>
        <p:nvSpPr>
          <p:cNvPr id="834" name="Google Shape;834;p104"/>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A7280"/>
              </a:buClr>
              <a:buSzPts val="1200"/>
              <a:buFont typeface="IBM Plex Sans"/>
              <a:buNone/>
            </a:pPr>
            <a:r>
              <a:rPr b="0" i="0" lang="en-US" sz="1200" u="none" cap="none" strike="noStrike">
                <a:solidFill>
                  <a:srgbClr val="6A7280"/>
                </a:solidFill>
                <a:latin typeface="IBM Plex Sans"/>
                <a:ea typeface="IBM Plex Sans"/>
                <a:cs typeface="IBM Plex Sans"/>
                <a:sym typeface="IBM Plex Sans"/>
              </a:rPr>
              <a:t>Validation = 24 questions × 2 formats from guide sections never trained on · Colab A100 run · bars start at zero</a:t>
            </a:r>
            <a:endParaRPr b="0" i="0" sz="1200" u="none" cap="none" strike="noStrike">
              <a:solidFill>
                <a:schemeClr val="dk1"/>
              </a:solidFill>
              <a:latin typeface="IBM Plex Sans"/>
              <a:ea typeface="IBM Plex Sans"/>
              <a:cs typeface="IBM Plex Sans"/>
              <a:sym typeface="IBM Plex Sans"/>
            </a:endParaRPr>
          </a:p>
        </p:txBody>
      </p:sp>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202E"/>
        </a:solidFill>
      </p:bgPr>
    </p:bg>
    <p:spTree>
      <p:nvGrpSpPr>
        <p:cNvPr id="839" name="Shape 839"/>
        <p:cNvGrpSpPr/>
        <p:nvPr/>
      </p:nvGrpSpPr>
      <p:grpSpPr>
        <a:xfrm>
          <a:off x="0" y="0"/>
          <a:ext cx="0" cy="0"/>
          <a:chOff x="0" y="0"/>
          <a:chExt cx="0" cy="0"/>
        </a:xfrm>
      </p:grpSpPr>
      <p:sp>
        <p:nvSpPr>
          <p:cNvPr id="840" name="Google Shape;840;p105"/>
          <p:cNvSpPr txBox="1"/>
          <p:nvPr>
            <p:ph type="title"/>
          </p:nvPr>
        </p:nvSpPr>
        <p:spPr>
          <a:xfrm>
            <a:off x="812800" y="812800"/>
            <a:ext cx="10883392" cy="91946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F3F1EA"/>
              </a:buClr>
              <a:buSzPts val="3200"/>
              <a:buFont typeface="IBM Plex Sans"/>
              <a:buNone/>
            </a:pPr>
            <a:r>
              <a:rPr b="1" i="0" lang="en-US" sz="3200">
                <a:solidFill>
                  <a:srgbClr val="F3F1EA"/>
                </a:solidFill>
                <a:latin typeface="IBM Plex Sans"/>
                <a:ea typeface="IBM Plex Sans"/>
                <a:cs typeface="IBM Plex Sans"/>
                <a:sym typeface="IBM Plex Sans"/>
              </a:rPr>
              <a:t>Is it overfit? Yes after epoch 1, and the kept adapter avoids it</a:t>
            </a:r>
            <a:endParaRPr sz="3200"/>
          </a:p>
        </p:txBody>
      </p:sp>
      <p:sp>
        <p:nvSpPr>
          <p:cNvPr id="841" name="Google Shape;841;p105"/>
          <p:cNvSpPr/>
          <p:nvPr/>
        </p:nvSpPr>
        <p:spPr>
          <a:xfrm>
            <a:off x="812800" y="2011660"/>
            <a:ext cx="3352800" cy="3830340"/>
          </a:xfrm>
          <a:prstGeom prst="roundRect">
            <a:avLst>
              <a:gd fmla="val 3788" name="adj"/>
            </a:avLst>
          </a:prstGeom>
          <a:solidFill>
            <a:srgbClr val="1F2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 name="Google Shape;842;p105"/>
          <p:cNvSpPr/>
          <p:nvPr/>
        </p:nvSpPr>
        <p:spPr>
          <a:xfrm>
            <a:off x="1066800" y="2265660"/>
            <a:ext cx="2930144"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08A5D"/>
              </a:buClr>
              <a:buSzPts val="1200"/>
              <a:buFont typeface="JetBrains Mono"/>
              <a:buNone/>
            </a:pPr>
            <a:r>
              <a:rPr b="0" i="0" lang="en-US" sz="1200" u="none" cap="none" strike="noStrike">
                <a:solidFill>
                  <a:srgbClr val="F08A5D"/>
                </a:solidFill>
                <a:latin typeface="JetBrains Mono"/>
                <a:ea typeface="JetBrains Mono"/>
                <a:cs typeface="JetBrains Mono"/>
                <a:sym typeface="JetBrains Mono"/>
              </a:rPr>
              <a:t>EPOCH 3</a:t>
            </a:r>
            <a:endParaRPr b="0" i="0" sz="1200" u="none" cap="none" strike="noStrike">
              <a:solidFill>
                <a:schemeClr val="dk1"/>
              </a:solidFill>
              <a:latin typeface="IBM Plex Sans"/>
              <a:ea typeface="IBM Plex Sans"/>
              <a:cs typeface="IBM Plex Sans"/>
              <a:sym typeface="IBM Plex Sans"/>
            </a:endParaRPr>
          </a:p>
        </p:txBody>
      </p:sp>
      <p:sp>
        <p:nvSpPr>
          <p:cNvPr id="843" name="Google Shape;843;p105"/>
          <p:cNvSpPr/>
          <p:nvPr/>
        </p:nvSpPr>
        <p:spPr>
          <a:xfrm>
            <a:off x="1066800" y="2605980"/>
            <a:ext cx="2930144" cy="75178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F3F1EA"/>
              </a:buClr>
              <a:buSzPts val="2200"/>
              <a:buFont typeface="JetBrains Mono"/>
              <a:buNone/>
            </a:pPr>
            <a:r>
              <a:rPr b="1" i="0" lang="en-US" sz="2200" u="none" cap="none" strike="noStrike">
                <a:solidFill>
                  <a:srgbClr val="F3F1EA"/>
                </a:solidFill>
                <a:latin typeface="JetBrains Mono"/>
                <a:ea typeface="JetBrains Mono"/>
                <a:cs typeface="JetBrains Mono"/>
                <a:sym typeface="JetBrains Mono"/>
              </a:rPr>
              <a:t>train ≈0.11</a:t>
            </a:r>
            <a:endParaRPr b="0" i="0" sz="2200" u="none" cap="none" strike="noStrike">
              <a:solidFill>
                <a:schemeClr val="dk1"/>
              </a:solidFill>
              <a:latin typeface="IBM Plex Sans"/>
              <a:ea typeface="IBM Plex Sans"/>
              <a:cs typeface="IBM Plex Sans"/>
              <a:sym typeface="IBM Plex Sans"/>
            </a:endParaRPr>
          </a:p>
          <a:p>
            <a:pPr indent="0" lvl="0" marL="0" marR="0" rtl="0" algn="l">
              <a:lnSpc>
                <a:spcPct val="130000"/>
              </a:lnSpc>
              <a:spcBef>
                <a:spcPts val="0"/>
              </a:spcBef>
              <a:spcAft>
                <a:spcPts val="0"/>
              </a:spcAft>
              <a:buClr>
                <a:srgbClr val="F3F1EA"/>
              </a:buClr>
              <a:buSzPts val="2200"/>
              <a:buFont typeface="JetBrains Mono"/>
              <a:buNone/>
            </a:pPr>
            <a:r>
              <a:rPr b="1" i="0" lang="en-US" sz="2200" u="none" cap="none" strike="noStrike">
                <a:solidFill>
                  <a:srgbClr val="F3F1EA"/>
                </a:solidFill>
                <a:latin typeface="JetBrains Mono"/>
                <a:ea typeface="JetBrains Mono"/>
                <a:cs typeface="JetBrains Mono"/>
                <a:sym typeface="JetBrains Mono"/>
              </a:rPr>
              <a:t>val   0.607</a:t>
            </a:r>
            <a:endParaRPr b="0" i="0" sz="2200" u="none" cap="none" strike="noStrike">
              <a:solidFill>
                <a:schemeClr val="dk1"/>
              </a:solidFill>
              <a:latin typeface="IBM Plex Sans"/>
              <a:ea typeface="IBM Plex Sans"/>
              <a:cs typeface="IBM Plex Sans"/>
              <a:sym typeface="IBM Plex Sans"/>
            </a:endParaRPr>
          </a:p>
        </p:txBody>
      </p:sp>
      <p:sp>
        <p:nvSpPr>
          <p:cNvPr id="844" name="Google Shape;844;p105"/>
          <p:cNvSpPr/>
          <p:nvPr/>
        </p:nvSpPr>
        <p:spPr>
          <a:xfrm>
            <a:off x="1066800" y="3459361"/>
            <a:ext cx="2930144" cy="1020961"/>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9C3D1"/>
              </a:buClr>
              <a:buSzPts val="1400"/>
              <a:buFont typeface="IBM Plex Sans"/>
              <a:buNone/>
            </a:pPr>
            <a:r>
              <a:rPr b="0" i="0" lang="en-US" sz="1400" u="none" cap="none" strike="noStrike">
                <a:solidFill>
                  <a:srgbClr val="B9C3D1"/>
                </a:solidFill>
                <a:latin typeface="IBM Plex Sans"/>
                <a:ea typeface="IBM Plex Sans"/>
                <a:cs typeface="IBM Plex Sans"/>
                <a:sym typeface="IBM Plex Sans"/>
              </a:rPr>
              <a:t>The gap between validation and recent training loss grows from −0.07 to +0.48: the model memorizes the 78 training answers.</a:t>
            </a:r>
            <a:endParaRPr b="0" i="0" sz="1400" u="none" cap="none" strike="noStrike">
              <a:solidFill>
                <a:schemeClr val="dk1"/>
              </a:solidFill>
              <a:latin typeface="IBM Plex Sans"/>
              <a:ea typeface="IBM Plex Sans"/>
              <a:cs typeface="IBM Plex Sans"/>
              <a:sym typeface="IBM Plex Sans"/>
            </a:endParaRPr>
          </a:p>
        </p:txBody>
      </p:sp>
      <p:sp>
        <p:nvSpPr>
          <p:cNvPr id="845" name="Google Shape;845;p105"/>
          <p:cNvSpPr/>
          <p:nvPr/>
        </p:nvSpPr>
        <p:spPr>
          <a:xfrm>
            <a:off x="4419600" y="2011660"/>
            <a:ext cx="3352800" cy="3830340"/>
          </a:xfrm>
          <a:prstGeom prst="roundRect">
            <a:avLst>
              <a:gd fmla="val 3788" name="adj"/>
            </a:avLst>
          </a:prstGeom>
          <a:solidFill>
            <a:srgbClr val="1F2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6" name="Google Shape;846;p105"/>
          <p:cNvSpPr/>
          <p:nvPr/>
        </p:nvSpPr>
        <p:spPr>
          <a:xfrm>
            <a:off x="4673600" y="2265660"/>
            <a:ext cx="2930144"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08A5D"/>
              </a:buClr>
              <a:buSzPts val="1200"/>
              <a:buFont typeface="JetBrains Mono"/>
              <a:buNone/>
            </a:pPr>
            <a:r>
              <a:rPr b="0" i="0" lang="en-US" sz="1200" u="none" cap="none" strike="noStrike">
                <a:solidFill>
                  <a:srgbClr val="F08A5D"/>
                </a:solidFill>
                <a:latin typeface="JetBrains Mono"/>
                <a:ea typeface="JetBrains Mono"/>
                <a:cs typeface="JetBrains Mono"/>
                <a:sym typeface="JetBrains Mono"/>
              </a:rPr>
              <a:t>EPOCH 1 (KEPT)</a:t>
            </a:r>
            <a:endParaRPr b="0" i="0" sz="1200" u="none" cap="none" strike="noStrike">
              <a:solidFill>
                <a:schemeClr val="dk1"/>
              </a:solidFill>
              <a:latin typeface="IBM Plex Sans"/>
              <a:ea typeface="IBM Plex Sans"/>
              <a:cs typeface="IBM Plex Sans"/>
              <a:sym typeface="IBM Plex Sans"/>
            </a:endParaRPr>
          </a:p>
        </p:txBody>
      </p:sp>
      <p:sp>
        <p:nvSpPr>
          <p:cNvPr id="847" name="Google Shape;847;p105"/>
          <p:cNvSpPr/>
          <p:nvPr/>
        </p:nvSpPr>
        <p:spPr>
          <a:xfrm>
            <a:off x="4673600" y="2605980"/>
            <a:ext cx="2930144" cy="38859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F3F1EA"/>
              </a:buClr>
              <a:buSzPts val="2200"/>
              <a:buFont typeface="JetBrains Mono"/>
              <a:buNone/>
            </a:pPr>
            <a:r>
              <a:rPr b="1" i="0" lang="en-US" sz="2200" u="none" cap="none" strike="noStrike">
                <a:solidFill>
                  <a:srgbClr val="F3F1EA"/>
                </a:solidFill>
                <a:latin typeface="JetBrains Mono"/>
                <a:ea typeface="JetBrains Mono"/>
                <a:cs typeface="JetBrains Mono"/>
                <a:sym typeface="JetBrains Mono"/>
              </a:rPr>
              <a:t>val 0.517</a:t>
            </a:r>
            <a:endParaRPr b="0" i="0" sz="2200" u="none" cap="none" strike="noStrike">
              <a:solidFill>
                <a:schemeClr val="dk1"/>
              </a:solidFill>
              <a:latin typeface="IBM Plex Sans"/>
              <a:ea typeface="IBM Plex Sans"/>
              <a:cs typeface="IBM Plex Sans"/>
              <a:sym typeface="IBM Plex Sans"/>
            </a:endParaRPr>
          </a:p>
        </p:txBody>
      </p:sp>
      <p:sp>
        <p:nvSpPr>
          <p:cNvPr id="848" name="Google Shape;848;p105"/>
          <p:cNvSpPr/>
          <p:nvPr/>
        </p:nvSpPr>
        <p:spPr>
          <a:xfrm>
            <a:off x="4673600" y="3096171"/>
            <a:ext cx="2930144" cy="1020961"/>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9C3D1"/>
              </a:buClr>
              <a:buSzPts val="1400"/>
              <a:buFont typeface="IBM Plex Sans"/>
              <a:buNone/>
            </a:pPr>
            <a:r>
              <a:rPr b="0" i="0" lang="en-US" sz="1400" u="none" cap="none" strike="noStrike">
                <a:solidFill>
                  <a:srgbClr val="B9C3D1"/>
                </a:solidFill>
                <a:latin typeface="IBM Plex Sans"/>
                <a:ea typeface="IBM Plex Sans"/>
                <a:cs typeface="IBM Plex Sans"/>
                <a:sym typeface="IBM Plex Sans"/>
              </a:rPr>
              <a:t>Lowest validation loss of the run. Best‑checkpoint selection saved this adapter, and it is the one evaluated.</a:t>
            </a:r>
            <a:endParaRPr b="0" i="0" sz="1400" u="none" cap="none" strike="noStrike">
              <a:solidFill>
                <a:schemeClr val="dk1"/>
              </a:solidFill>
              <a:latin typeface="IBM Plex Sans"/>
              <a:ea typeface="IBM Plex Sans"/>
              <a:cs typeface="IBM Plex Sans"/>
              <a:sym typeface="IBM Plex Sans"/>
            </a:endParaRPr>
          </a:p>
        </p:txBody>
      </p:sp>
      <p:sp>
        <p:nvSpPr>
          <p:cNvPr id="849" name="Google Shape;849;p105"/>
          <p:cNvSpPr/>
          <p:nvPr/>
        </p:nvSpPr>
        <p:spPr>
          <a:xfrm>
            <a:off x="8026400" y="2011660"/>
            <a:ext cx="3352800" cy="3830340"/>
          </a:xfrm>
          <a:prstGeom prst="roundRect">
            <a:avLst>
              <a:gd fmla="val 3788" name="adj"/>
            </a:avLst>
          </a:prstGeom>
          <a:solidFill>
            <a:srgbClr val="1F2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0" name="Google Shape;850;p105"/>
          <p:cNvSpPr/>
          <p:nvPr/>
        </p:nvSpPr>
        <p:spPr>
          <a:xfrm>
            <a:off x="8280400" y="2265660"/>
            <a:ext cx="2930144"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08A5D"/>
              </a:buClr>
              <a:buSzPts val="1200"/>
              <a:buFont typeface="JetBrains Mono"/>
              <a:buNone/>
            </a:pPr>
            <a:r>
              <a:rPr b="0" i="0" lang="en-US" sz="1200" u="none" cap="none" strike="noStrike">
                <a:solidFill>
                  <a:srgbClr val="F08A5D"/>
                </a:solidFill>
                <a:latin typeface="JetBrains Mono"/>
                <a:ea typeface="JetBrains Mono"/>
                <a:cs typeface="JetBrains Mono"/>
                <a:sym typeface="JetBrains Mono"/>
              </a:rPr>
              <a:t>UNSEEN DOCUMENT</a:t>
            </a:r>
            <a:endParaRPr b="0" i="0" sz="1200" u="none" cap="none" strike="noStrike">
              <a:solidFill>
                <a:schemeClr val="dk1"/>
              </a:solidFill>
              <a:latin typeface="IBM Plex Sans"/>
              <a:ea typeface="IBM Plex Sans"/>
              <a:cs typeface="IBM Plex Sans"/>
              <a:sym typeface="IBM Plex Sans"/>
            </a:endParaRPr>
          </a:p>
        </p:txBody>
      </p:sp>
      <p:sp>
        <p:nvSpPr>
          <p:cNvPr id="851" name="Google Shape;851;p105"/>
          <p:cNvSpPr/>
          <p:nvPr/>
        </p:nvSpPr>
        <p:spPr>
          <a:xfrm>
            <a:off x="8280400" y="2605980"/>
            <a:ext cx="2930144" cy="772071"/>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D6DCE4"/>
              </a:buClr>
              <a:buSzPts val="1400"/>
              <a:buFont typeface="IBM Plex Sans"/>
              <a:buNone/>
            </a:pPr>
            <a:r>
              <a:rPr b="0" i="0" lang="en-US" sz="1400" u="none" cap="none" strike="noStrike">
                <a:solidFill>
                  <a:srgbClr val="D6DCE4"/>
                </a:solidFill>
                <a:latin typeface="IBM Plex Sans"/>
                <a:ea typeface="IBM Plex Sans"/>
                <a:cs typeface="IBM Plex Sans"/>
                <a:sym typeface="IBM Plex Sans"/>
              </a:rPr>
              <a:t>On the brochure the kept adapter beats the base model: answer F1 +0.06, gold citations +0.12.</a:t>
            </a:r>
            <a:endParaRPr b="0" i="0" sz="1400" u="none" cap="none" strike="noStrike">
              <a:solidFill>
                <a:schemeClr val="dk1"/>
              </a:solidFill>
              <a:latin typeface="IBM Plex Sans"/>
              <a:ea typeface="IBM Plex Sans"/>
              <a:cs typeface="IBM Plex Sans"/>
              <a:sym typeface="IBM Plex Sans"/>
            </a:endParaRPr>
          </a:p>
        </p:txBody>
      </p:sp>
      <p:sp>
        <p:nvSpPr>
          <p:cNvPr id="852" name="Google Shape;852;p105"/>
          <p:cNvSpPr/>
          <p:nvPr/>
        </p:nvSpPr>
        <p:spPr>
          <a:xfrm>
            <a:off x="8280400" y="3479651"/>
            <a:ext cx="2930144" cy="52318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D6DCE4"/>
              </a:buClr>
              <a:buSzPts val="1400"/>
              <a:buFont typeface="IBM Plex Sans"/>
              <a:buNone/>
            </a:pPr>
            <a:r>
              <a:rPr b="0" i="0" lang="en-US" sz="1400" u="none" cap="none" strike="noStrike">
                <a:solidFill>
                  <a:srgbClr val="D6DCE4"/>
                </a:solidFill>
                <a:latin typeface="IBM Plex Sans"/>
                <a:ea typeface="IBM Plex Sans"/>
                <a:cs typeface="IBM Plex Sans"/>
                <a:sym typeface="IBM Plex Sans"/>
              </a:rPr>
              <a:t>So it generalizes, but the margin is small and part of it is style.</a:t>
            </a:r>
            <a:endParaRPr b="0" i="0" sz="1400" u="none" cap="none" strike="noStrike">
              <a:solidFill>
                <a:schemeClr val="dk1"/>
              </a:solidFill>
              <a:latin typeface="IBM Plex Sans"/>
              <a:ea typeface="IBM Plex Sans"/>
              <a:cs typeface="IBM Plex Sans"/>
              <a:sym typeface="IBM Plex Sans"/>
            </a:endParaRPr>
          </a:p>
        </p:txBody>
      </p:sp>
      <p:sp>
        <p:nvSpPr>
          <p:cNvPr id="853" name="Google Shape;853;p105"/>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8C98A8"/>
              </a:buClr>
              <a:buSzPts val="1200"/>
              <a:buFont typeface="IBM Plex Sans"/>
              <a:buNone/>
            </a:pPr>
            <a:r>
              <a:rPr b="0" i="0" lang="en-US" sz="1200" u="none" cap="none" strike="noStrike">
                <a:solidFill>
                  <a:srgbClr val="8C98A8"/>
                </a:solidFill>
                <a:latin typeface="IBM Plex Sans"/>
                <a:ea typeface="IBM Plex Sans"/>
                <a:cs typeface="IBM Plex Sans"/>
                <a:sym typeface="IBM Plex Sans"/>
              </a:rPr>
              <a:t>Your 1–2 epoch instinct was right for this data: 20 optimizer steps were enough</a:t>
            </a:r>
            <a:endParaRPr b="0" i="0" sz="1200" u="none" cap="none" strike="noStrike">
              <a:solidFill>
                <a:schemeClr val="dk1"/>
              </a:solidFill>
              <a:latin typeface="IBM Plex Sans"/>
              <a:ea typeface="IBM Plex Sans"/>
              <a:cs typeface="IBM Plex Sans"/>
              <a:sym typeface="IBM Plex Sans"/>
            </a:endParaRPr>
          </a:p>
        </p:txBody>
      </p:sp>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5F0"/>
        </a:solidFill>
      </p:bgPr>
    </p:bg>
    <p:spTree>
      <p:nvGrpSpPr>
        <p:cNvPr id="858" name="Shape 858"/>
        <p:cNvGrpSpPr/>
        <p:nvPr/>
      </p:nvGrpSpPr>
      <p:grpSpPr>
        <a:xfrm>
          <a:off x="0" y="0"/>
          <a:ext cx="0" cy="0"/>
          <a:chOff x="0" y="0"/>
          <a:chExt cx="0" cy="0"/>
        </a:xfrm>
      </p:grpSpPr>
      <p:sp>
        <p:nvSpPr>
          <p:cNvPr id="859" name="Google Shape;859;p106"/>
          <p:cNvSpPr txBox="1"/>
          <p:nvPr>
            <p:ph type="title"/>
          </p:nvPr>
        </p:nvSpPr>
        <p:spPr>
          <a:xfrm>
            <a:off x="812800" y="812800"/>
            <a:ext cx="11379200" cy="895995"/>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6202E"/>
              </a:buClr>
              <a:buSzPts val="3140"/>
              <a:buFont typeface="IBM Plex Sans"/>
              <a:buNone/>
            </a:pPr>
            <a:r>
              <a:rPr b="1" i="0" lang="en-US" sz="3140">
                <a:solidFill>
                  <a:srgbClr val="16202E"/>
                </a:solidFill>
                <a:latin typeface="IBM Plex Sans"/>
                <a:ea typeface="IBM Plex Sans"/>
                <a:cs typeface="IBM Plex Sans"/>
                <a:sym typeface="IBM Plex Sans"/>
              </a:rPr>
              <a:t>On the unseen brochure, the tuned model answers better</a:t>
            </a:r>
            <a:endParaRPr sz="3140"/>
          </a:p>
        </p:txBody>
      </p:sp>
      <p:graphicFrame>
        <p:nvGraphicFramePr>
          <p:cNvPr id="860" name="Google Shape;860;p106"/>
          <p:cNvGraphicFramePr/>
          <p:nvPr/>
        </p:nvGraphicFramePr>
        <p:xfrm>
          <a:off x="825500" y="2000895"/>
          <a:ext cx="3000000" cy="3000000"/>
        </p:xfrm>
        <a:graphic>
          <a:graphicData uri="http://schemas.openxmlformats.org/drawingml/2006/table">
            <a:tbl>
              <a:tblPr>
                <a:noFill/>
                <a:tableStyleId>{EEE02795-A6B7-4247-B71C-ED7A564BFD40}</a:tableStyleId>
              </a:tblPr>
              <a:tblGrid>
                <a:gridCol w="3271650"/>
                <a:gridCol w="1160900"/>
                <a:gridCol w="1371975"/>
                <a:gridCol w="1160900"/>
                <a:gridCol w="2110750"/>
                <a:gridCol w="1477525"/>
              </a:tblGrid>
              <a:tr h="375850">
                <a:tc>
                  <a:txBody>
                    <a:bodyPr/>
                    <a:lstStyle/>
                    <a:p>
                      <a:pPr indent="0" lvl="0" marL="0" marR="0" rtl="0" algn="l">
                        <a:lnSpc>
                          <a:spcPct val="139970"/>
                        </a:lnSpc>
                        <a:spcBef>
                          <a:spcPts val="0"/>
                        </a:spcBef>
                        <a:spcAft>
                          <a:spcPts val="0"/>
                        </a:spcAft>
                        <a:buClr>
                          <a:srgbClr val="16202E"/>
                        </a:buClr>
                        <a:buSzPts val="1361"/>
                        <a:buFont typeface="IBM Plex Sans"/>
                        <a:buNone/>
                      </a:pPr>
                      <a:r>
                        <a:rPr b="1" lang="en-US" sz="1361" u="none" cap="none" strike="noStrike">
                          <a:solidFill>
                            <a:srgbClr val="16202E"/>
                          </a:solidFill>
                          <a:latin typeface="IBM Plex Sans"/>
                          <a:ea typeface="IBM Plex Sans"/>
                          <a:cs typeface="IBM Plex Sans"/>
                          <a:sym typeface="IBM Plex Sans"/>
                        </a:rPr>
                        <a:t>Metric (41 questions each)</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b="1" lang="en-US" sz="1361" u="none" cap="none" strike="noStrike">
                          <a:solidFill>
                            <a:srgbClr val="16202E"/>
                          </a:solidFill>
                          <a:latin typeface="IBM Plex Sans"/>
                          <a:ea typeface="IBM Plex Sans"/>
                          <a:cs typeface="IBM Plex Sans"/>
                          <a:sym typeface="IBM Plex Sans"/>
                        </a:rPr>
                        <a:t>Base</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6B5B1"/>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b="1" lang="en-US" sz="1361" u="none" cap="none" strike="noStrike">
                          <a:solidFill>
                            <a:srgbClr val="16202E"/>
                          </a:solidFill>
                          <a:latin typeface="IBM Plex Sans"/>
                          <a:ea typeface="IBM Plex Sans"/>
                          <a:cs typeface="IBM Plex Sans"/>
                          <a:sym typeface="IBM Plex Sans"/>
                        </a:rPr>
                        <a:t>Tuned</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6B5B1"/>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b="1" lang="en-US" sz="1361" u="none" cap="none" strike="noStrike">
                          <a:solidFill>
                            <a:srgbClr val="16202E"/>
                          </a:solidFill>
                          <a:latin typeface="IBM Plex Sans"/>
                          <a:ea typeface="IBM Plex Sans"/>
                          <a:cs typeface="IBM Plex Sans"/>
                          <a:sym typeface="IBM Plex Sans"/>
                        </a:rPr>
                        <a:t>Change</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6B5B1"/>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b="1" lang="en-US" sz="1361" u="none" cap="none" strike="noStrike">
                          <a:solidFill>
                            <a:srgbClr val="16202E"/>
                          </a:solidFill>
                          <a:latin typeface="IBM Plex Sans"/>
                          <a:ea typeface="IBM Plex Sans"/>
                          <a:cs typeface="IBM Plex Sans"/>
                          <a:sym typeface="IBM Plex Sans"/>
                        </a:rPr>
                        <a:t>95% CI</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6B5B1"/>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b="1" lang="en-US" sz="1361" u="none" cap="none" strike="noStrike">
                          <a:solidFill>
                            <a:srgbClr val="16202E"/>
                          </a:solidFill>
                          <a:latin typeface="IBM Plex Sans"/>
                          <a:ea typeface="IBM Plex Sans"/>
                          <a:cs typeface="IBM Plex Sans"/>
                          <a:sym typeface="IBM Plex Sans"/>
                        </a:rPr>
                        <a:t>Better / worse</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6B5B1"/>
                      </a:solidFill>
                      <a:prstDash val="solid"/>
                      <a:round/>
                      <a:headEnd len="sm" w="sm" type="none"/>
                      <a:tailEnd len="sm" w="sm" type="none"/>
                    </a:lnL>
                    <a:lnR cap="flat" cmpd="sng" w="12700">
                      <a:solidFill>
                        <a:srgbClr val="B6B5B1"/>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6B5B1"/>
                      </a:solidFill>
                      <a:prstDash val="solid"/>
                      <a:round/>
                      <a:headEnd len="sm" w="sm" type="none"/>
                      <a:tailEnd len="sm" w="sm" type="none"/>
                    </a:lnB>
                    <a:solidFill>
                      <a:srgbClr val="E4E3DE"/>
                    </a:solidFill>
                  </a:tcPr>
                </a:tc>
              </a:tr>
              <a:tr h="375900">
                <a:tc>
                  <a:txBody>
                    <a:bodyPr/>
                    <a:lstStyle/>
                    <a:p>
                      <a:pPr indent="0" lvl="0" marL="0" marR="0" rtl="0" algn="l">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Answer F1, direct</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0.51</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0.57</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+0.06</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+0.002 to +0.109</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27 / 14</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6B5B1"/>
                      </a:solidFill>
                      <a:prstDash val="solid"/>
                      <a:round/>
                      <a:headEnd len="sm" w="sm" type="none"/>
                      <a:tailEnd len="sm" w="sm" type="none"/>
                    </a:lnT>
                    <a:lnB cap="flat" cmpd="sng" w="12700">
                      <a:solidFill>
                        <a:srgbClr val="C4C4BF"/>
                      </a:solidFill>
                      <a:prstDash val="solid"/>
                      <a:round/>
                      <a:headEnd len="sm" w="sm" type="none"/>
                      <a:tailEnd len="sm" w="sm" type="none"/>
                    </a:lnB>
                  </a:tcPr>
                </a:tc>
              </a:tr>
              <a:tr h="375900">
                <a:tc>
                  <a:txBody>
                    <a:bodyPr/>
                    <a:lstStyle/>
                    <a:p>
                      <a:pPr indent="0" lvl="0" marL="0" marR="0" rtl="0" algn="l">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Answer F1, chain of thought</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0.49</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0.54</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+0.06</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+0.000 to +0.108</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29 / 11</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r>
              <a:tr h="375900">
                <a:tc>
                  <a:txBody>
                    <a:bodyPr/>
                    <a:lstStyle/>
                    <a:p>
                      <a:pPr indent="0" lvl="0" marL="0" marR="0" rtl="0" algn="l">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Cites the gold passage</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0.72</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0.84</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+0.12</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−0.008 to +0.240</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15 / 4</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r>
              <a:tr h="375900">
                <a:tc>
                  <a:txBody>
                    <a:bodyPr/>
                    <a:lstStyle/>
                    <a:p>
                      <a:pPr indent="0" lvl="0" marL="0" marR="0" rtl="0" algn="l">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Quotes found in passages</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0.87</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0.87</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0.00</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−0.104 to +0.097</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7 / 7</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r>
              <a:tr h="375900">
                <a:tc>
                  <a:txBody>
                    <a:bodyPr/>
                    <a:lstStyle/>
                    <a:p>
                      <a:pPr indent="0" lvl="0" marL="0" marR="0" rtl="0" algn="l">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CoT format followed</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1.00</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1.00</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0.00</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C4C4BF"/>
                      </a:solidFill>
                      <a:prstDash val="solid"/>
                      <a:round/>
                      <a:headEnd len="sm" w="sm" type="none"/>
                      <a:tailEnd len="sm" w="sm" type="none"/>
                    </a:lnR>
                    <a:lnT cap="flat" cmpd="sng" w="12700">
                      <a:solidFill>
                        <a:srgbClr val="BFBCB5"/>
                      </a:solidFill>
                      <a:prstDash val="solid"/>
                      <a:round/>
                      <a:headEnd len="sm" w="sm" type="none"/>
                      <a:tailEnd len="sm" w="sm" type="none"/>
                    </a:lnT>
                    <a:lnB cap="flat" cmpd="sng" w="12700">
                      <a:solidFill>
                        <a:srgbClr val="C4C4BF"/>
                      </a:solidFill>
                      <a:prstDash val="solid"/>
                      <a:round/>
                      <a:headEnd len="sm" w="sm" type="none"/>
                      <a:tailEnd len="sm" w="sm" type="none"/>
                    </a:lnB>
                  </a:tcPr>
                </a:tc>
              </a:tr>
              <a:tr h="375900">
                <a:tc>
                  <a:txBody>
                    <a:bodyPr/>
                    <a:lstStyle/>
                    <a:p>
                      <a:pPr indent="0" lvl="0" marL="0" marR="0" rtl="0" algn="l">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Answer length, words</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C4C4BF"/>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62</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88</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+26</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reference: 107</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c>
                  <a:txBody>
                    <a:bodyPr/>
                    <a:lstStyle/>
                    <a:p>
                      <a:pPr indent="0" lvl="0" marL="0" marR="0" rtl="0" algn="r">
                        <a:lnSpc>
                          <a:spcPct val="139970"/>
                        </a:lnSpc>
                        <a:spcBef>
                          <a:spcPts val="0"/>
                        </a:spcBef>
                        <a:spcAft>
                          <a:spcPts val="0"/>
                        </a:spcAft>
                        <a:buClr>
                          <a:srgbClr val="16202E"/>
                        </a:buClr>
                        <a:buSzPts val="1361"/>
                        <a:buFont typeface="IBM Plex Sans"/>
                        <a:buNone/>
                      </a:pPr>
                      <a:r>
                        <a:rPr lang="en-US" sz="1361" u="none" cap="none" strike="noStrike">
                          <a:solidFill>
                            <a:srgbClr val="16202E"/>
                          </a:solidFill>
                          <a:latin typeface="IBM Plex Sans"/>
                          <a:ea typeface="IBM Plex Sans"/>
                          <a:cs typeface="IBM Plex Sans"/>
                          <a:sym typeface="IBM Plex Sans"/>
                        </a:rPr>
                        <a:t>–</a:t>
                      </a:r>
                      <a:endParaRPr sz="1361" u="none" cap="none" strike="noStrike">
                        <a:latin typeface="IBM Plex Sans"/>
                        <a:ea typeface="IBM Plex Sans"/>
                        <a:cs typeface="IBM Plex Sans"/>
                        <a:sym typeface="IBM Plex Sans"/>
                      </a:endParaRPr>
                    </a:p>
                  </a:txBody>
                  <a:tcPr marT="60475" marB="60475" marR="60475" marL="60475">
                    <a:lnL cap="flat" cmpd="sng" w="12700">
                      <a:solidFill>
                        <a:srgbClr val="BFBCB5"/>
                      </a:solidFill>
                      <a:prstDash val="solid"/>
                      <a:round/>
                      <a:headEnd len="sm" w="sm" type="none"/>
                      <a:tailEnd len="sm" w="sm" type="none"/>
                    </a:lnL>
                    <a:lnR cap="flat" cmpd="sng" w="12700">
                      <a:solidFill>
                        <a:srgbClr val="BFBCB5"/>
                      </a:solidFill>
                      <a:prstDash val="solid"/>
                      <a:round/>
                      <a:headEnd len="sm" w="sm" type="none"/>
                      <a:tailEnd len="sm" w="sm" type="none"/>
                    </a:lnR>
                    <a:lnT cap="flat" cmpd="sng" w="12700">
                      <a:solidFill>
                        <a:srgbClr val="C4C4BF"/>
                      </a:solidFill>
                      <a:prstDash val="solid"/>
                      <a:round/>
                      <a:headEnd len="sm" w="sm" type="none"/>
                      <a:tailEnd len="sm" w="sm" type="none"/>
                    </a:lnT>
                    <a:lnB cap="flat" cmpd="sng" w="12700">
                      <a:solidFill>
                        <a:srgbClr val="BFBCB5"/>
                      </a:solidFill>
                      <a:prstDash val="solid"/>
                      <a:round/>
                      <a:headEnd len="sm" w="sm" type="none"/>
                      <a:tailEnd len="sm" w="sm" type="none"/>
                    </a:lnB>
                    <a:solidFill>
                      <a:srgbClr val="EFECE3"/>
                    </a:solidFill>
                  </a:tcPr>
                </a:tc>
              </a:tr>
            </a:tbl>
          </a:graphicData>
        </a:graphic>
      </p:graphicFrame>
      <p:sp>
        <p:nvSpPr>
          <p:cNvPr id="861" name="Google Shape;861;p106"/>
          <p:cNvSpPr/>
          <p:nvPr/>
        </p:nvSpPr>
        <p:spPr>
          <a:xfrm>
            <a:off x="819150" y="4943227"/>
            <a:ext cx="5168900" cy="892423"/>
          </a:xfrm>
          <a:prstGeom prst="roundRect">
            <a:avLst>
              <a:gd fmla="val 13519" name="adj"/>
            </a:avLst>
          </a:prstGeom>
          <a:solidFill>
            <a:srgbClr val="FDFCF9"/>
          </a:solidFill>
          <a:ln cap="flat" cmpd="sng" w="12700">
            <a:solidFill>
              <a:srgbClr val="D962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 name="Google Shape;862;p106"/>
          <p:cNvSpPr/>
          <p:nvPr/>
        </p:nvSpPr>
        <p:spPr>
          <a:xfrm>
            <a:off x="1028700" y="5152777"/>
            <a:ext cx="4892294" cy="498723"/>
          </a:xfrm>
          <a:prstGeom prst="rect">
            <a:avLst/>
          </a:prstGeom>
          <a:noFill/>
          <a:ln>
            <a:noFill/>
          </a:ln>
        </p:spPr>
        <p:txBody>
          <a:bodyPr anchorCtr="0" anchor="t" bIns="0" lIns="0" spcFirstLastPara="1" rIns="0" wrap="square" tIns="0">
            <a:noAutofit/>
          </a:bodyPr>
          <a:lstStyle/>
          <a:p>
            <a:pPr indent="0" lvl="0" marL="0" marR="0" rtl="0" algn="l">
              <a:lnSpc>
                <a:spcPct val="140014"/>
              </a:lnSpc>
              <a:spcBef>
                <a:spcPts val="0"/>
              </a:spcBef>
              <a:spcAft>
                <a:spcPts val="0"/>
              </a:spcAft>
              <a:buClr>
                <a:srgbClr val="16202E"/>
              </a:buClr>
              <a:buSzPts val="1347"/>
              <a:buFont typeface="IBM Plex Sans"/>
              <a:buNone/>
            </a:pPr>
            <a:r>
              <a:rPr b="1" i="0" lang="en-US" sz="1347" u="none" cap="none" strike="noStrike">
                <a:solidFill>
                  <a:srgbClr val="16202E"/>
                </a:solidFill>
                <a:latin typeface="IBM Plex Sans"/>
                <a:ea typeface="IBM Plex Sans"/>
                <a:cs typeface="IBM Plex Sans"/>
                <a:sym typeface="IBM Plex Sans"/>
              </a:rPr>
              <a:t>Real gain:</a:t>
            </a:r>
            <a:r>
              <a:rPr b="0" i="0" lang="en-US" sz="1347" u="none" cap="none" strike="noStrike">
                <a:solidFill>
                  <a:srgbClr val="16202E"/>
                </a:solidFill>
                <a:latin typeface="IBM Plex Sans"/>
                <a:ea typeface="IBM Plex Sans"/>
                <a:cs typeface="IBM Plex Sans"/>
                <a:sym typeface="IBM Plex Sans"/>
              </a:rPr>
              <a:t> better on about two‑thirds of questions, and cites the gold passage over a distractor more often.</a:t>
            </a:r>
            <a:endParaRPr b="0" i="0" sz="1347" u="none" cap="none" strike="noStrike">
              <a:solidFill>
                <a:schemeClr val="dk1"/>
              </a:solidFill>
              <a:latin typeface="IBM Plex Sans"/>
              <a:ea typeface="IBM Plex Sans"/>
              <a:cs typeface="IBM Plex Sans"/>
              <a:sym typeface="IBM Plex Sans"/>
            </a:endParaRPr>
          </a:p>
        </p:txBody>
      </p:sp>
      <p:sp>
        <p:nvSpPr>
          <p:cNvPr id="863" name="Google Shape;863;p106"/>
          <p:cNvSpPr/>
          <p:nvPr/>
        </p:nvSpPr>
        <p:spPr>
          <a:xfrm>
            <a:off x="6203950" y="4943227"/>
            <a:ext cx="5168900" cy="892423"/>
          </a:xfrm>
          <a:prstGeom prst="roundRect">
            <a:avLst>
              <a:gd fmla="val 13519"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 name="Google Shape;864;p106"/>
          <p:cNvSpPr/>
          <p:nvPr/>
        </p:nvSpPr>
        <p:spPr>
          <a:xfrm>
            <a:off x="6413500" y="5152777"/>
            <a:ext cx="4892294" cy="498723"/>
          </a:xfrm>
          <a:prstGeom prst="rect">
            <a:avLst/>
          </a:prstGeom>
          <a:noFill/>
          <a:ln>
            <a:noFill/>
          </a:ln>
        </p:spPr>
        <p:txBody>
          <a:bodyPr anchorCtr="0" anchor="t" bIns="0" lIns="0" spcFirstLastPara="1" rIns="0" wrap="square" tIns="0">
            <a:noAutofit/>
          </a:bodyPr>
          <a:lstStyle/>
          <a:p>
            <a:pPr indent="0" lvl="0" marL="0" marR="0" rtl="0" algn="l">
              <a:lnSpc>
                <a:spcPct val="140014"/>
              </a:lnSpc>
              <a:spcBef>
                <a:spcPts val="0"/>
              </a:spcBef>
              <a:spcAft>
                <a:spcPts val="0"/>
              </a:spcAft>
              <a:buClr>
                <a:srgbClr val="16202E"/>
              </a:buClr>
              <a:buSzPts val="1347"/>
              <a:buFont typeface="IBM Plex Sans"/>
              <a:buNone/>
            </a:pPr>
            <a:r>
              <a:rPr b="1" i="0" lang="en-US" sz="1347" u="none" cap="none" strike="noStrike">
                <a:solidFill>
                  <a:srgbClr val="16202E"/>
                </a:solidFill>
                <a:latin typeface="IBM Plex Sans"/>
                <a:ea typeface="IBM Plex Sans"/>
                <a:cs typeface="IBM Plex Sans"/>
                <a:sym typeface="IBM Plex Sans"/>
              </a:rPr>
              <a:t>Read with care:</a:t>
            </a:r>
            <a:r>
              <a:rPr b="0" i="0" lang="en-US" sz="1347" u="none" cap="none" strike="noStrike">
                <a:solidFill>
                  <a:srgbClr val="16202E"/>
                </a:solidFill>
                <a:latin typeface="IBM Plex Sans"/>
                <a:ea typeface="IBM Plex Sans"/>
                <a:cs typeface="IBM Plex Sans"/>
                <a:sym typeface="IBM Plex Sans"/>
              </a:rPr>
              <a:t> the intervals almost touch zero, and longer answers closer to the reference length also raise F1.</a:t>
            </a:r>
            <a:endParaRPr b="0" i="0" sz="1347" u="none" cap="none" strike="noStrike">
              <a:solidFill>
                <a:schemeClr val="dk1"/>
              </a:solidFill>
              <a:latin typeface="IBM Plex Sans"/>
              <a:ea typeface="IBM Plex Sans"/>
              <a:cs typeface="IBM Plex Sans"/>
              <a:sym typeface="IBM Plex Sans"/>
            </a:endParaRPr>
          </a:p>
        </p:txBody>
      </p:sp>
      <p:sp>
        <p:nvSpPr>
          <p:cNvPr id="865" name="Google Shape;865;p106"/>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A7280"/>
              </a:buClr>
              <a:buSzPts val="1200"/>
              <a:buFont typeface="IBM Plex Sans"/>
              <a:buNone/>
            </a:pPr>
            <a:r>
              <a:rPr b="0" i="0" lang="en-US" sz="1200" u="none" cap="none" strike="noStrike">
                <a:solidFill>
                  <a:srgbClr val="6A7280"/>
                </a:solidFill>
                <a:latin typeface="IBM Plex Sans"/>
                <a:ea typeface="IBM Plex Sans"/>
                <a:cs typeface="IBM Plex Sans"/>
                <a:sym typeface="IBM Plex Sans"/>
              </a:rPr>
              <a:t>Epoch‑1 adapter vs base, same prompts, greedy decoding · paired bootstrap over questions, 5,000 resamples · one training seed</a:t>
            </a:r>
            <a:endParaRPr b="0" i="0" sz="1200" u="none" cap="none" strike="noStrike">
              <a:solidFill>
                <a:schemeClr val="dk1"/>
              </a:solidFill>
              <a:latin typeface="IBM Plex Sans"/>
              <a:ea typeface="IBM Plex Sans"/>
              <a:cs typeface="IBM Plex Sans"/>
              <a:sym typeface="IBM Plex Sans"/>
            </a:endParaRPr>
          </a:p>
        </p:txBody>
      </p:sp>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CFCFB"/>
        </a:solidFill>
      </p:bgPr>
    </p:bg>
    <p:spTree>
      <p:nvGrpSpPr>
        <p:cNvPr id="870" name="Shape 870"/>
        <p:cNvGrpSpPr/>
        <p:nvPr/>
      </p:nvGrpSpPr>
      <p:grpSpPr>
        <a:xfrm>
          <a:off x="0" y="0"/>
          <a:ext cx="0" cy="0"/>
          <a:chOff x="0" y="0"/>
          <a:chExt cx="0" cy="0"/>
        </a:xfrm>
      </p:grpSpPr>
      <p:sp>
        <p:nvSpPr>
          <p:cNvPr id="871" name="Google Shape;871;p107"/>
          <p:cNvSpPr txBox="1"/>
          <p:nvPr>
            <p:ph type="title"/>
          </p:nvPr>
        </p:nvSpPr>
        <p:spPr>
          <a:xfrm>
            <a:off x="812800" y="609600"/>
            <a:ext cx="10883392" cy="41652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6202E"/>
              </a:buClr>
              <a:buSzPts val="2800"/>
              <a:buFont typeface="IBM Plex Sans"/>
              <a:buNone/>
            </a:pPr>
            <a:r>
              <a:rPr b="1" i="0" lang="en-US" sz="2800">
                <a:solidFill>
                  <a:srgbClr val="16202E"/>
                </a:solidFill>
                <a:latin typeface="IBM Plex Sans"/>
                <a:ea typeface="IBM Plex Sans"/>
                <a:cs typeface="IBM Plex Sans"/>
                <a:sym typeface="IBM Plex Sans"/>
              </a:rPr>
              <a:t>The whole run on one page</a:t>
            </a:r>
            <a:endParaRPr sz="2800"/>
          </a:p>
        </p:txBody>
      </p:sp>
      <p:pic>
        <p:nvPicPr>
          <p:cNvPr descr="Six-panel training dashboard for the Colab A100 run: train and validation loss, generalization gap, learning rate, gradient norm, wall clock, and base versus finetuned eval scores" id="872" name="Google Shape;872;p107"/>
          <p:cNvPicPr preferRelativeResize="0"/>
          <p:nvPr/>
        </p:nvPicPr>
        <p:blipFill rotWithShape="1">
          <a:blip r:embed="rId3">
            <a:alphaModFix/>
          </a:blip>
          <a:srcRect b="0" l="-11176" r="-11176" t="0"/>
          <a:stretch/>
        </p:blipFill>
        <p:spPr>
          <a:xfrm>
            <a:off x="812800" y="1203920"/>
            <a:ext cx="10566400" cy="4826000"/>
          </a:xfrm>
          <a:prstGeom prst="rect">
            <a:avLst/>
          </a:prstGeom>
          <a:noFill/>
          <a:ln>
            <a:noFill/>
          </a:ln>
        </p:spPr>
      </p:pic>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5F0"/>
        </a:solidFill>
      </p:bgPr>
    </p:bg>
    <p:spTree>
      <p:nvGrpSpPr>
        <p:cNvPr id="877" name="Shape 877"/>
        <p:cNvGrpSpPr/>
        <p:nvPr/>
      </p:nvGrpSpPr>
      <p:grpSpPr>
        <a:xfrm>
          <a:off x="0" y="0"/>
          <a:ext cx="0" cy="0"/>
          <a:chOff x="0" y="0"/>
          <a:chExt cx="0" cy="0"/>
        </a:xfrm>
      </p:grpSpPr>
      <p:sp>
        <p:nvSpPr>
          <p:cNvPr id="878" name="Google Shape;878;p108"/>
          <p:cNvSpPr txBox="1"/>
          <p:nvPr>
            <p:ph type="title"/>
          </p:nvPr>
        </p:nvSpPr>
        <p:spPr>
          <a:xfrm>
            <a:off x="812800" y="812800"/>
            <a:ext cx="10883392" cy="47243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6202E"/>
              </a:buClr>
              <a:buSzPts val="3200"/>
              <a:buFont typeface="IBM Plex Sans"/>
              <a:buNone/>
            </a:pPr>
            <a:r>
              <a:rPr b="1" i="0" lang="en-US" sz="3200">
                <a:solidFill>
                  <a:srgbClr val="16202E"/>
                </a:solidFill>
                <a:latin typeface="IBM Plex Sans"/>
                <a:ea typeface="IBM Plex Sans"/>
                <a:cs typeface="IBM Plex Sans"/>
                <a:sym typeface="IBM Plex Sans"/>
              </a:rPr>
              <a:t>What we learned, and what to run next</a:t>
            </a:r>
            <a:endParaRPr sz="3200"/>
          </a:p>
        </p:txBody>
      </p:sp>
      <p:sp>
        <p:nvSpPr>
          <p:cNvPr id="879" name="Google Shape;879;p108"/>
          <p:cNvSpPr/>
          <p:nvPr/>
        </p:nvSpPr>
        <p:spPr>
          <a:xfrm>
            <a:off x="819150" y="1570980"/>
            <a:ext cx="5168900" cy="1302941"/>
          </a:xfrm>
          <a:prstGeom prst="roundRect">
            <a:avLst>
              <a:gd fmla="val 9260" name="adj"/>
            </a:avLst>
          </a:prstGeom>
          <a:solidFill>
            <a:srgbClr val="FDFCF9"/>
          </a:solidFill>
          <a:ln cap="flat" cmpd="sng" w="12700">
            <a:solidFill>
              <a:srgbClr val="D962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p108"/>
          <p:cNvSpPr/>
          <p:nvPr/>
        </p:nvSpPr>
        <p:spPr>
          <a:xfrm>
            <a:off x="1054100" y="1805930"/>
            <a:ext cx="4839970" cy="2844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02E"/>
              </a:buClr>
              <a:buSzPts val="1700"/>
              <a:buFont typeface="IBM Plex Sans"/>
              <a:buNone/>
            </a:pPr>
            <a:r>
              <a:rPr b="1" i="0" lang="en-US" sz="1700" u="none" cap="none" strike="noStrike">
                <a:solidFill>
                  <a:srgbClr val="16202E"/>
                </a:solidFill>
                <a:latin typeface="IBM Plex Sans"/>
                <a:ea typeface="IBM Plex Sans"/>
                <a:cs typeface="IBM Plex Sans"/>
                <a:sym typeface="IBM Plex Sans"/>
              </a:rPr>
              <a:t>One epoch is enough here</a:t>
            </a:r>
            <a:endParaRPr b="0" i="0" sz="1700" u="none" cap="none" strike="noStrike">
              <a:solidFill>
                <a:schemeClr val="dk1"/>
              </a:solidFill>
              <a:latin typeface="IBM Plex Sans"/>
              <a:ea typeface="IBM Plex Sans"/>
              <a:cs typeface="IBM Plex Sans"/>
              <a:sym typeface="IBM Plex Sans"/>
            </a:endParaRPr>
          </a:p>
        </p:txBody>
      </p:sp>
      <p:sp>
        <p:nvSpPr>
          <p:cNvPr id="881" name="Google Shape;881;p108"/>
          <p:cNvSpPr/>
          <p:nvPr/>
        </p:nvSpPr>
        <p:spPr>
          <a:xfrm>
            <a:off x="1054100" y="2141190"/>
            <a:ext cx="4839970" cy="52318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With 156 examples, 20 steps reach the best validation loss. Next run: --epochs 1, or --patience 2.</a:t>
            </a:r>
            <a:endParaRPr b="0" i="0" sz="1400" u="none" cap="none" strike="noStrike">
              <a:solidFill>
                <a:schemeClr val="dk1"/>
              </a:solidFill>
              <a:latin typeface="IBM Plex Sans"/>
              <a:ea typeface="IBM Plex Sans"/>
              <a:cs typeface="IBM Plex Sans"/>
              <a:sym typeface="IBM Plex Sans"/>
            </a:endParaRPr>
          </a:p>
        </p:txBody>
      </p:sp>
      <p:sp>
        <p:nvSpPr>
          <p:cNvPr id="882" name="Google Shape;882;p108"/>
          <p:cNvSpPr/>
          <p:nvPr/>
        </p:nvSpPr>
        <p:spPr>
          <a:xfrm>
            <a:off x="6203950" y="1570980"/>
            <a:ext cx="5168900" cy="1302941"/>
          </a:xfrm>
          <a:prstGeom prst="roundRect">
            <a:avLst>
              <a:gd fmla="val 9260"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 name="Google Shape;883;p108"/>
          <p:cNvSpPr/>
          <p:nvPr/>
        </p:nvSpPr>
        <p:spPr>
          <a:xfrm>
            <a:off x="6438900" y="1805930"/>
            <a:ext cx="4839970" cy="2844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02E"/>
              </a:buClr>
              <a:buSzPts val="1700"/>
              <a:buFont typeface="IBM Plex Sans"/>
              <a:buNone/>
            </a:pPr>
            <a:r>
              <a:rPr b="1" i="0" lang="en-US" sz="1700" u="none" cap="none" strike="noStrike">
                <a:solidFill>
                  <a:srgbClr val="16202E"/>
                </a:solidFill>
                <a:latin typeface="IBM Plex Sans"/>
                <a:ea typeface="IBM Plex Sans"/>
                <a:cs typeface="IBM Plex Sans"/>
                <a:sym typeface="IBM Plex Sans"/>
              </a:rPr>
              <a:t>The gain is real but modest</a:t>
            </a:r>
            <a:endParaRPr b="0" i="0" sz="1700" u="none" cap="none" strike="noStrike">
              <a:solidFill>
                <a:schemeClr val="dk1"/>
              </a:solidFill>
              <a:latin typeface="IBM Plex Sans"/>
              <a:ea typeface="IBM Plex Sans"/>
              <a:cs typeface="IBM Plex Sans"/>
              <a:sym typeface="IBM Plex Sans"/>
            </a:endParaRPr>
          </a:p>
        </p:txBody>
      </p:sp>
      <p:sp>
        <p:nvSpPr>
          <p:cNvPr id="884" name="Google Shape;884;p108"/>
          <p:cNvSpPr/>
          <p:nvPr/>
        </p:nvSpPr>
        <p:spPr>
          <a:xfrm>
            <a:off x="6438900" y="2141190"/>
            <a:ext cx="4839970" cy="52318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+0.06 answer F1 and +0.12 gold citations on an unseen document, from one seed and 41 questions.</a:t>
            </a:r>
            <a:endParaRPr b="0" i="0" sz="1400" u="none" cap="none" strike="noStrike">
              <a:solidFill>
                <a:schemeClr val="dk1"/>
              </a:solidFill>
              <a:latin typeface="IBM Plex Sans"/>
              <a:ea typeface="IBM Plex Sans"/>
              <a:cs typeface="IBM Plex Sans"/>
              <a:sym typeface="IBM Plex Sans"/>
            </a:endParaRPr>
          </a:p>
        </p:txBody>
      </p:sp>
      <p:sp>
        <p:nvSpPr>
          <p:cNvPr id="885" name="Google Shape;885;p108"/>
          <p:cNvSpPr/>
          <p:nvPr/>
        </p:nvSpPr>
        <p:spPr>
          <a:xfrm>
            <a:off x="819150" y="3089821"/>
            <a:ext cx="5168900" cy="1302941"/>
          </a:xfrm>
          <a:prstGeom prst="roundRect">
            <a:avLst>
              <a:gd fmla="val 9260"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 name="Google Shape;886;p108"/>
          <p:cNvSpPr/>
          <p:nvPr/>
        </p:nvSpPr>
        <p:spPr>
          <a:xfrm>
            <a:off x="1054100" y="3324771"/>
            <a:ext cx="4839970" cy="2844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02E"/>
              </a:buClr>
              <a:buSzPts val="1700"/>
              <a:buFont typeface="IBM Plex Sans"/>
              <a:buNone/>
            </a:pPr>
            <a:r>
              <a:rPr b="1" i="0" lang="en-US" sz="1700" u="none" cap="none" strike="noStrike">
                <a:solidFill>
                  <a:srgbClr val="16202E"/>
                </a:solidFill>
                <a:latin typeface="IBM Plex Sans"/>
                <a:ea typeface="IBM Plex Sans"/>
                <a:cs typeface="IBM Plex Sans"/>
                <a:sym typeface="IBM Plex Sans"/>
              </a:rPr>
              <a:t>Repeat across seeds</a:t>
            </a:r>
            <a:endParaRPr b="0" i="0" sz="1700" u="none" cap="none" strike="noStrike">
              <a:solidFill>
                <a:schemeClr val="dk1"/>
              </a:solidFill>
              <a:latin typeface="IBM Plex Sans"/>
              <a:ea typeface="IBM Plex Sans"/>
              <a:cs typeface="IBM Plex Sans"/>
              <a:sym typeface="IBM Plex Sans"/>
            </a:endParaRPr>
          </a:p>
        </p:txBody>
      </p:sp>
      <p:sp>
        <p:nvSpPr>
          <p:cNvPr id="887" name="Google Shape;887;p108"/>
          <p:cNvSpPr/>
          <p:nvPr/>
        </p:nvSpPr>
        <p:spPr>
          <a:xfrm>
            <a:off x="1054100" y="3660031"/>
            <a:ext cx="4839970" cy="52318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Three to five seeds at about 30 minutes each on an A100 tell us whether +0.06 holds.</a:t>
            </a:r>
            <a:endParaRPr b="0" i="0" sz="1400" u="none" cap="none" strike="noStrike">
              <a:solidFill>
                <a:schemeClr val="dk1"/>
              </a:solidFill>
              <a:latin typeface="IBM Plex Sans"/>
              <a:ea typeface="IBM Plex Sans"/>
              <a:cs typeface="IBM Plex Sans"/>
              <a:sym typeface="IBM Plex Sans"/>
            </a:endParaRPr>
          </a:p>
        </p:txBody>
      </p:sp>
      <p:sp>
        <p:nvSpPr>
          <p:cNvPr id="888" name="Google Shape;888;p108"/>
          <p:cNvSpPr/>
          <p:nvPr/>
        </p:nvSpPr>
        <p:spPr>
          <a:xfrm>
            <a:off x="6203950" y="3089821"/>
            <a:ext cx="5168900" cy="1302941"/>
          </a:xfrm>
          <a:prstGeom prst="roundRect">
            <a:avLst>
              <a:gd fmla="val 9260" name="adj"/>
            </a:avLst>
          </a:prstGeom>
          <a:solidFill>
            <a:srgbClr val="FDFCF9"/>
          </a:solidFill>
          <a:ln cap="flat" cmpd="sng" w="12700">
            <a:solidFill>
              <a:srgbClr val="E2DED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 name="Google Shape;889;p108"/>
          <p:cNvSpPr/>
          <p:nvPr/>
        </p:nvSpPr>
        <p:spPr>
          <a:xfrm>
            <a:off x="6438900" y="3324771"/>
            <a:ext cx="4839970" cy="2844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6202E"/>
              </a:buClr>
              <a:buSzPts val="1700"/>
              <a:buFont typeface="IBM Plex Sans"/>
              <a:buNone/>
            </a:pPr>
            <a:r>
              <a:rPr b="1" i="0" lang="en-US" sz="1700" u="none" cap="none" strike="noStrike">
                <a:solidFill>
                  <a:srgbClr val="16202E"/>
                </a:solidFill>
                <a:latin typeface="IBM Plex Sans"/>
                <a:ea typeface="IBM Plex Sans"/>
                <a:cs typeface="IBM Plex Sans"/>
                <a:sym typeface="IBM Plex Sans"/>
              </a:rPr>
              <a:t>Grade beyond token F1</a:t>
            </a:r>
            <a:endParaRPr b="0" i="0" sz="1700" u="none" cap="none" strike="noStrike">
              <a:solidFill>
                <a:schemeClr val="dk1"/>
              </a:solidFill>
              <a:latin typeface="IBM Plex Sans"/>
              <a:ea typeface="IBM Plex Sans"/>
              <a:cs typeface="IBM Plex Sans"/>
              <a:sym typeface="IBM Plex Sans"/>
            </a:endParaRPr>
          </a:p>
        </p:txBody>
      </p:sp>
      <p:sp>
        <p:nvSpPr>
          <p:cNvPr id="890" name="Google Shape;890;p108"/>
          <p:cNvSpPr/>
          <p:nvPr/>
        </p:nvSpPr>
        <p:spPr>
          <a:xfrm>
            <a:off x="6438900" y="3660031"/>
            <a:ext cx="4839970" cy="52318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568"/>
              </a:buClr>
              <a:buSzPts val="1400"/>
              <a:buFont typeface="IBM Plex Sans"/>
              <a:buNone/>
            </a:pPr>
            <a:r>
              <a:rPr b="0" i="0" lang="en-US" sz="1400" u="none" cap="none" strike="noStrike">
                <a:solidFill>
                  <a:srgbClr val="4A5568"/>
                </a:solidFill>
                <a:latin typeface="IBM Plex Sans"/>
                <a:ea typeface="IBM Plex Sans"/>
                <a:cs typeface="IBM Plex Sans"/>
                <a:sym typeface="IBM Plex Sans"/>
              </a:rPr>
              <a:t>Add an LLM‑judge or human check for correctness, and LLM‑written rationales instead of extractive ones.</a:t>
            </a:r>
            <a:endParaRPr b="0" i="0" sz="1400" u="none" cap="none" strike="noStrike">
              <a:solidFill>
                <a:schemeClr val="dk1"/>
              </a:solidFill>
              <a:latin typeface="IBM Plex Sans"/>
              <a:ea typeface="IBM Plex Sans"/>
              <a:cs typeface="IBM Plex Sans"/>
              <a:sym typeface="IBM Plex Sans"/>
            </a:endParaRPr>
          </a:p>
        </p:txBody>
      </p:sp>
      <p:sp>
        <p:nvSpPr>
          <p:cNvPr id="891" name="Google Shape;891;p108"/>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A7280"/>
              </a:buClr>
              <a:buSzPts val="1200"/>
              <a:buFont typeface="JetBrains Mono"/>
              <a:buNone/>
            </a:pPr>
            <a:r>
              <a:rPr b="0" i="0" lang="en-US" sz="1200" u="none" cap="none" strike="noStrike">
                <a:solidFill>
                  <a:srgbClr val="6A7280"/>
                </a:solidFill>
                <a:latin typeface="JetBrains Mono"/>
                <a:ea typeface="JetBrains Mono"/>
                <a:cs typeface="JetBrains Mono"/>
                <a:sym typeface="JetBrains Mono"/>
              </a:rPr>
              <a:t>finetuning_LLM_LORA/ · results/ · PR dougc333/geha#101</a:t>
            </a:r>
            <a:endParaRPr b="0" i="0" sz="1200" u="none" cap="none" strike="noStrike">
              <a:solidFill>
                <a:schemeClr val="dk1"/>
              </a:solidFill>
              <a:latin typeface="IBM Plex Sans"/>
              <a:ea typeface="IBM Plex Sans"/>
              <a:cs typeface="IBM Plex Sans"/>
              <a:sym typeface="IBM Plex Sans"/>
            </a:endParaRPr>
          </a:p>
        </p:txBody>
      </p:sp>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1" name="Shape 901"/>
        <p:cNvGrpSpPr/>
        <p:nvPr/>
      </p:nvGrpSpPr>
      <p:grpSpPr>
        <a:xfrm>
          <a:off x="0" y="0"/>
          <a:ext cx="0" cy="0"/>
          <a:chOff x="0" y="0"/>
          <a:chExt cx="0" cy="0"/>
        </a:xfrm>
      </p:grpSpPr>
      <p:pic>
        <p:nvPicPr>
          <p:cNvPr id="902" name="Google Shape;902;p110"/>
          <p:cNvPicPr preferRelativeResize="0"/>
          <p:nvPr/>
        </p:nvPicPr>
        <p:blipFill>
          <a:blip r:embed="rId3">
            <a:alphaModFix/>
          </a:blip>
          <a:stretch>
            <a:fillRect/>
          </a:stretch>
        </p:blipFill>
        <p:spPr>
          <a:xfrm>
            <a:off x="96763" y="3864725"/>
            <a:ext cx="11887203" cy="2993269"/>
          </a:xfrm>
          <a:prstGeom prst="rect">
            <a:avLst/>
          </a:prstGeom>
          <a:noFill/>
          <a:ln>
            <a:noFill/>
          </a:ln>
        </p:spPr>
      </p:pic>
      <p:pic>
        <p:nvPicPr>
          <p:cNvPr id="903" name="Google Shape;903;p110"/>
          <p:cNvPicPr preferRelativeResize="0"/>
          <p:nvPr/>
        </p:nvPicPr>
        <p:blipFill>
          <a:blip r:embed="rId4">
            <a:alphaModFix/>
          </a:blip>
          <a:stretch>
            <a:fillRect/>
          </a:stretch>
        </p:blipFill>
        <p:spPr>
          <a:xfrm>
            <a:off x="210675" y="581175"/>
            <a:ext cx="11659383" cy="3283549"/>
          </a:xfrm>
          <a:prstGeom prst="rect">
            <a:avLst/>
          </a:prstGeom>
          <a:noFill/>
          <a:ln>
            <a:noFill/>
          </a:ln>
        </p:spPr>
      </p:pic>
      <p:sp>
        <p:nvSpPr>
          <p:cNvPr id="904" name="Google Shape;904;p110"/>
          <p:cNvSpPr txBox="1"/>
          <p:nvPr/>
        </p:nvSpPr>
        <p:spPr>
          <a:xfrm>
            <a:off x="3477700" y="69550"/>
            <a:ext cx="80127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500"/>
              <a:t>Embedding Fine Tuning</a:t>
            </a:r>
            <a:endParaRPr b="1" sz="2500"/>
          </a:p>
        </p:txBody>
      </p:sp>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9" name="Shape 909"/>
        <p:cNvGrpSpPr/>
        <p:nvPr/>
      </p:nvGrpSpPr>
      <p:grpSpPr>
        <a:xfrm>
          <a:off x="0" y="0"/>
          <a:ext cx="0" cy="0"/>
          <a:chOff x="0" y="0"/>
          <a:chExt cx="0" cy="0"/>
        </a:xfrm>
      </p:grpSpPr>
      <p:pic>
        <p:nvPicPr>
          <p:cNvPr id="910" name="Google Shape;910;p111" title="naive_rag_row_chunks.png"/>
          <p:cNvPicPr preferRelativeResize="0"/>
          <p:nvPr/>
        </p:nvPicPr>
        <p:blipFill rotWithShape="1">
          <a:blip r:embed="rId3">
            <a:alphaModFix/>
          </a:blip>
          <a:srcRect b="0" l="0" r="0" t="0"/>
          <a:stretch/>
        </p:blipFill>
        <p:spPr>
          <a:xfrm>
            <a:off x="0" y="1377381"/>
            <a:ext cx="12191999" cy="4103238"/>
          </a:xfrm>
          <a:prstGeom prst="rect">
            <a:avLst/>
          </a:prstGeom>
          <a:noFill/>
          <a:ln>
            <a:noFill/>
          </a:ln>
        </p:spPr>
      </p:pic>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8F7"/>
        </a:solidFill>
      </p:bgPr>
    </p:bg>
    <p:spTree>
      <p:nvGrpSpPr>
        <p:cNvPr id="915" name="Shape 915"/>
        <p:cNvGrpSpPr/>
        <p:nvPr/>
      </p:nvGrpSpPr>
      <p:grpSpPr>
        <a:xfrm>
          <a:off x="0" y="0"/>
          <a:ext cx="0" cy="0"/>
          <a:chOff x="0" y="0"/>
          <a:chExt cx="0" cy="0"/>
        </a:xfrm>
      </p:grpSpPr>
      <p:sp>
        <p:nvSpPr>
          <p:cNvPr id="916" name="Google Shape;916;p112"/>
          <p:cNvSpPr/>
          <p:nvPr/>
        </p:nvSpPr>
        <p:spPr>
          <a:xfrm>
            <a:off x="533400" y="361950"/>
            <a:ext cx="11125200" cy="5238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82524"/>
              </a:buClr>
              <a:buSzPts val="3000"/>
              <a:buFont typeface="Helvetica Neue"/>
              <a:buNone/>
            </a:pPr>
            <a:r>
              <a:rPr b="1" lang="en-US" sz="3000">
                <a:solidFill>
                  <a:srgbClr val="182524"/>
                </a:solidFill>
                <a:latin typeface="Helvetica Neue"/>
                <a:ea typeface="Helvetica Neue"/>
                <a:cs typeface="Helvetica Neue"/>
                <a:sym typeface="Helvetica Neue"/>
              </a:rPr>
              <a:t>Structural context and context expansion</a:t>
            </a:r>
            <a:endParaRPr/>
          </a:p>
        </p:txBody>
      </p:sp>
      <p:sp>
        <p:nvSpPr>
          <p:cNvPr id="917" name="Google Shape;917;p112"/>
          <p:cNvSpPr/>
          <p:nvPr/>
        </p:nvSpPr>
        <p:spPr>
          <a:xfrm>
            <a:off x="533400" y="876300"/>
            <a:ext cx="11125200" cy="30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36463"/>
              </a:buClr>
              <a:buSzPts val="1500"/>
              <a:buFont typeface="Helvetica Neue"/>
              <a:buNone/>
            </a:pPr>
            <a:r>
              <a:rPr b="0" lang="en-US" sz="1500">
                <a:solidFill>
                  <a:srgbClr val="536463"/>
                </a:solidFill>
                <a:latin typeface="Helvetica Neue"/>
                <a:ea typeface="Helvetica Neue"/>
                <a:cs typeface="Helvetica Neue"/>
                <a:sym typeface="Helvetica Neue"/>
              </a:rPr>
              <a:t>The same policy page produces different retrieval boundaries</a:t>
            </a:r>
            <a:endParaRPr/>
          </a:p>
        </p:txBody>
      </p:sp>
      <p:sp>
        <p:nvSpPr>
          <p:cNvPr id="918" name="Google Shape;918;p112"/>
          <p:cNvSpPr/>
          <p:nvPr/>
        </p:nvSpPr>
        <p:spPr>
          <a:xfrm>
            <a:off x="533400" y="1333500"/>
            <a:ext cx="5381625"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E765E"/>
              </a:buClr>
              <a:buSzPts val="1200"/>
              <a:buFont typeface="Helvetica Neue"/>
              <a:buNone/>
            </a:pPr>
            <a:r>
              <a:rPr b="1" lang="en-US" sz="1200">
                <a:solidFill>
                  <a:srgbClr val="1E765E"/>
                </a:solidFill>
                <a:latin typeface="Helvetica Neue"/>
                <a:ea typeface="Helvetica Neue"/>
                <a:cs typeface="Helvetica Neue"/>
                <a:sym typeface="Helvetica Neue"/>
              </a:rPr>
              <a:t>STRUCTURAL CONTEXT</a:t>
            </a:r>
            <a:endParaRPr/>
          </a:p>
        </p:txBody>
      </p:sp>
      <p:sp>
        <p:nvSpPr>
          <p:cNvPr id="919" name="Google Shape;919;p112"/>
          <p:cNvSpPr/>
          <p:nvPr/>
        </p:nvSpPr>
        <p:spPr>
          <a:xfrm>
            <a:off x="6276975" y="1333500"/>
            <a:ext cx="5381625"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54DA6"/>
              </a:buClr>
              <a:buSzPts val="1200"/>
              <a:buFont typeface="Helvetica Neue"/>
              <a:buNone/>
            </a:pPr>
            <a:r>
              <a:rPr b="1" lang="en-US" sz="1200">
                <a:solidFill>
                  <a:srgbClr val="654DA6"/>
                </a:solidFill>
                <a:latin typeface="Helvetica Neue"/>
                <a:ea typeface="Helvetica Neue"/>
                <a:cs typeface="Helvetica Neue"/>
                <a:sym typeface="Helvetica Neue"/>
              </a:rPr>
              <a:t>CONTEXT EXPANSION</a:t>
            </a:r>
            <a:endParaRPr/>
          </a:p>
        </p:txBody>
      </p:sp>
      <p:sp>
        <p:nvSpPr>
          <p:cNvPr id="920" name="Google Shape;920;p112"/>
          <p:cNvSpPr/>
          <p:nvPr/>
        </p:nvSpPr>
        <p:spPr>
          <a:xfrm>
            <a:off x="476250" y="1619250"/>
            <a:ext cx="5495925" cy="2038350"/>
          </a:xfrm>
          <a:prstGeom prst="rect">
            <a:avLst/>
          </a:prstGeom>
          <a:solidFill>
            <a:srgbClr val="FFFFFF"/>
          </a:solidFill>
          <a:ln cap="flat" cmpd="sng" w="9525">
            <a:solidFill>
              <a:srgbClr val="D1DBD9"/>
            </a:solidFill>
            <a:prstDash val="solid"/>
            <a:round/>
            <a:headEnd len="sm" w="sm" type="none"/>
            <a:tailEnd len="sm" w="sm" type="none"/>
          </a:ln>
          <a:effectLst>
            <a:outerShdw blurRad="180975" dir="4443276" dist="69343">
              <a:srgbClr val="000000">
                <a:alpha val="1411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 name="Google Shape;921;p112"/>
          <p:cNvSpPr/>
          <p:nvPr/>
        </p:nvSpPr>
        <p:spPr>
          <a:xfrm>
            <a:off x="6219825" y="1619250"/>
            <a:ext cx="5495925" cy="2038350"/>
          </a:xfrm>
          <a:prstGeom prst="rect">
            <a:avLst/>
          </a:prstGeom>
          <a:solidFill>
            <a:srgbClr val="FFFFFF"/>
          </a:solidFill>
          <a:ln cap="flat" cmpd="sng" w="9525">
            <a:solidFill>
              <a:srgbClr val="D1DBD9"/>
            </a:solidFill>
            <a:prstDash val="solid"/>
            <a:round/>
            <a:headEnd len="sm" w="sm" type="none"/>
            <a:tailEnd len="sm" w="sm" type="none"/>
          </a:ln>
          <a:effectLst>
            <a:outerShdw blurRad="180975" dir="4443276" dist="69343">
              <a:srgbClr val="000000">
                <a:alpha val="1411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922" name="Google Shape;922;p112"/>
          <p:cNvPicPr preferRelativeResize="0"/>
          <p:nvPr/>
        </p:nvPicPr>
        <p:blipFill rotWithShape="1">
          <a:blip r:embed="rId3">
            <a:alphaModFix/>
          </a:blip>
          <a:srcRect b="0" l="0" r="0" t="0"/>
          <a:stretch/>
        </p:blipFill>
        <p:spPr>
          <a:xfrm>
            <a:off x="533400" y="1677421"/>
            <a:ext cx="5381625" cy="1922009"/>
          </a:xfrm>
          <a:prstGeom prst="rect">
            <a:avLst/>
          </a:prstGeom>
          <a:noFill/>
          <a:ln>
            <a:noFill/>
          </a:ln>
        </p:spPr>
      </p:pic>
      <p:pic>
        <p:nvPicPr>
          <p:cNvPr id="923" name="Google Shape;923;p112"/>
          <p:cNvPicPr preferRelativeResize="0"/>
          <p:nvPr/>
        </p:nvPicPr>
        <p:blipFill rotWithShape="1">
          <a:blip r:embed="rId4">
            <a:alphaModFix/>
          </a:blip>
          <a:srcRect b="0" l="0" r="0" t="0"/>
          <a:stretch/>
        </p:blipFill>
        <p:spPr>
          <a:xfrm>
            <a:off x="6276975" y="1677421"/>
            <a:ext cx="5381625" cy="1922009"/>
          </a:xfrm>
          <a:prstGeom prst="rect">
            <a:avLst/>
          </a:prstGeom>
          <a:noFill/>
          <a:ln>
            <a:noFill/>
          </a:ln>
        </p:spPr>
      </p:pic>
      <p:sp>
        <p:nvSpPr>
          <p:cNvPr id="924" name="Google Shape;924;p112"/>
          <p:cNvSpPr/>
          <p:nvPr/>
        </p:nvSpPr>
        <p:spPr>
          <a:xfrm>
            <a:off x="609600" y="2085975"/>
            <a:ext cx="5305425" cy="1381125"/>
          </a:xfrm>
          <a:prstGeom prst="rect">
            <a:avLst/>
          </a:prstGeom>
          <a:noFill/>
          <a:ln cap="flat" cmpd="sng" w="38100">
            <a:solidFill>
              <a:srgbClr val="D930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5" name="Google Shape;925;p112"/>
          <p:cNvSpPr/>
          <p:nvPr/>
        </p:nvSpPr>
        <p:spPr>
          <a:xfrm>
            <a:off x="6696075" y="2257425"/>
            <a:ext cx="4505325" cy="1314450"/>
          </a:xfrm>
          <a:prstGeom prst="rect">
            <a:avLst/>
          </a:prstGeom>
          <a:noFill/>
          <a:ln cap="flat" cmpd="sng" w="38100">
            <a:solidFill>
              <a:srgbClr val="D930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 name="Google Shape;926;p112"/>
          <p:cNvSpPr/>
          <p:nvPr/>
        </p:nvSpPr>
        <p:spPr>
          <a:xfrm>
            <a:off x="533400" y="3924300"/>
            <a:ext cx="538162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82524"/>
              </a:buClr>
              <a:buSzPts val="1950"/>
              <a:buFont typeface="Helvetica Neue"/>
              <a:buNone/>
            </a:pPr>
            <a:r>
              <a:rPr b="1" lang="en-US" sz="1950">
                <a:solidFill>
                  <a:srgbClr val="182524"/>
                </a:solidFill>
                <a:latin typeface="Helvetica Neue"/>
                <a:ea typeface="Helvetica Neue"/>
                <a:cs typeface="Helvetica Neue"/>
                <a:sym typeface="Helvetica Neue"/>
              </a:rPr>
              <a:t>Whole table returned</a:t>
            </a:r>
            <a:endParaRPr/>
          </a:p>
        </p:txBody>
      </p:sp>
      <p:sp>
        <p:nvSpPr>
          <p:cNvPr id="927" name="Google Shape;927;p112"/>
          <p:cNvSpPr/>
          <p:nvPr/>
        </p:nvSpPr>
        <p:spPr>
          <a:xfrm>
            <a:off x="533400" y="4324350"/>
            <a:ext cx="5095875" cy="1000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465856"/>
              </a:buClr>
              <a:buSzPts val="1425"/>
              <a:buFont typeface="Helvetica Neue"/>
              <a:buNone/>
            </a:pPr>
            <a:r>
              <a:rPr b="0" lang="en-US" sz="1425">
                <a:solidFill>
                  <a:srgbClr val="465856"/>
                </a:solidFill>
                <a:latin typeface="Helvetica Neue"/>
                <a:ea typeface="Helvetica Neue"/>
                <a:cs typeface="Helvetica Neue"/>
                <a:sym typeface="Helvetica Neue"/>
              </a:rPr>
              <a:t>Table-aware parsing keeps the header and all rows in one retrieval unit. The relationships among preference, drug, code, and description remain intact.</a:t>
            </a:r>
            <a:endParaRPr/>
          </a:p>
        </p:txBody>
      </p:sp>
      <p:sp>
        <p:nvSpPr>
          <p:cNvPr id="928" name="Google Shape;928;p112"/>
          <p:cNvSpPr/>
          <p:nvPr/>
        </p:nvSpPr>
        <p:spPr>
          <a:xfrm>
            <a:off x="6276975" y="3924300"/>
            <a:ext cx="538162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82524"/>
              </a:buClr>
              <a:buSzPts val="1950"/>
              <a:buFont typeface="Helvetica Neue"/>
              <a:buNone/>
            </a:pPr>
            <a:r>
              <a:rPr b="1" lang="en-US" sz="1950">
                <a:solidFill>
                  <a:srgbClr val="182524"/>
                </a:solidFill>
                <a:latin typeface="Helvetica Neue"/>
                <a:ea typeface="Helvetica Neue"/>
                <a:cs typeface="Helvetica Neue"/>
                <a:sym typeface="Helvetica Neue"/>
              </a:rPr>
              <a:t>Parent section returned</a:t>
            </a:r>
            <a:endParaRPr/>
          </a:p>
        </p:txBody>
      </p:sp>
      <p:sp>
        <p:nvSpPr>
          <p:cNvPr id="929" name="Google Shape;929;p112"/>
          <p:cNvSpPr/>
          <p:nvPr/>
        </p:nvSpPr>
        <p:spPr>
          <a:xfrm>
            <a:off x="6276975" y="4324350"/>
            <a:ext cx="5095875" cy="1000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465856"/>
              </a:buClr>
              <a:buSzPts val="1425"/>
              <a:buFont typeface="Helvetica Neue"/>
              <a:buNone/>
            </a:pPr>
            <a:r>
              <a:rPr b="0" lang="en-US" sz="1425">
                <a:solidFill>
                  <a:srgbClr val="465856"/>
                </a:solidFill>
                <a:latin typeface="Helvetica Neue"/>
                <a:ea typeface="Helvetica Neue"/>
                <a:cs typeface="Helvetica Neue"/>
                <a:sym typeface="Helvetica Neue"/>
              </a:rPr>
              <a:t>Parent-child retrieval can match a small passage about NCCN or FDA guidance, then return the full Universal Approval Criteria section as context.</a:t>
            </a:r>
            <a:endParaRPr/>
          </a:p>
        </p:txBody>
      </p:sp>
      <p:cxnSp>
        <p:nvCxnSpPr>
          <p:cNvPr id="930" name="Google Shape;930;p112"/>
          <p:cNvCxnSpPr/>
          <p:nvPr/>
        </p:nvCxnSpPr>
        <p:spPr>
          <a:xfrm>
            <a:off x="533400" y="6238875"/>
            <a:ext cx="11125200" cy="0"/>
          </a:xfrm>
          <a:prstGeom prst="straightConnector1">
            <a:avLst/>
          </a:prstGeom>
          <a:noFill/>
          <a:ln cap="flat" cmpd="sng" w="9525">
            <a:solidFill>
              <a:srgbClr val="CED8D6"/>
            </a:solidFill>
            <a:prstDash val="solid"/>
            <a:round/>
            <a:headEnd len="sm" w="sm" type="none"/>
            <a:tailEnd len="sm" w="sm" type="none"/>
          </a:ln>
        </p:spPr>
      </p:cxnSp>
      <p:sp>
        <p:nvSpPr>
          <p:cNvPr id="931" name="Google Shape;931;p112"/>
          <p:cNvSpPr/>
          <p:nvPr/>
        </p:nvSpPr>
        <p:spPr>
          <a:xfrm>
            <a:off x="533400" y="6343650"/>
            <a:ext cx="1112520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2716F"/>
              </a:buClr>
              <a:buSzPts val="1050"/>
              <a:buFont typeface="Helvetica Neue"/>
              <a:buNone/>
            </a:pPr>
            <a:r>
              <a:rPr b="0" lang="en-US" sz="1050">
                <a:solidFill>
                  <a:srgbClr val="62716F"/>
                </a:solidFill>
                <a:latin typeface="Helvetica Neue"/>
                <a:ea typeface="Helvetica Neue"/>
                <a:cs typeface="Helvetica Neue"/>
                <a:sym typeface="Helvetica Neue"/>
              </a:rPr>
              <a:t>Source: GEHA Coverage Policy: Bendamustine, page 1</a:t>
            </a:r>
            <a:endParaRPr/>
          </a:p>
        </p:txBody>
      </p:sp>
      <p:sp>
        <p:nvSpPr>
          <p:cNvPr id="932" name="Google Shape;932;p112"/>
          <p:cNvSpPr txBox="1"/>
          <p:nvPr/>
        </p:nvSpPr>
        <p:spPr>
          <a:xfrm>
            <a:off x="637225" y="5196825"/>
            <a:ext cx="5409300" cy="311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a:t>Ambiguity risk</a:t>
            </a:r>
            <a:endParaRPr b="1"/>
          </a:p>
        </p:txBody>
      </p:sp>
      <p:sp>
        <p:nvSpPr>
          <p:cNvPr id="933" name="Google Shape;933;p112"/>
          <p:cNvSpPr txBox="1"/>
          <p:nvPr/>
        </p:nvSpPr>
        <p:spPr>
          <a:xfrm>
            <a:off x="637225" y="5565000"/>
            <a:ext cx="5381700" cy="673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1200"/>
              <a:t>Duplicate or similar tables can repeat the same Treanda - Preferred rows for another condition. Without table-level context, retrieval may return the wrong result. This failure is unlikely to appear in the current small dataset.</a:t>
            </a:r>
            <a:endParaRPr sz="1200"/>
          </a:p>
        </p:txBody>
      </p:sp>
      <p:sp>
        <p:nvSpPr>
          <p:cNvPr id="934" name="Google Shape;934;p112"/>
          <p:cNvSpPr txBox="1"/>
          <p:nvPr/>
        </p:nvSpPr>
        <p:spPr>
          <a:xfrm>
            <a:off x="6386275" y="5451700"/>
            <a:ext cx="5324400" cy="311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a:t>Lesson</a:t>
            </a:r>
            <a:endParaRPr b="1"/>
          </a:p>
        </p:txBody>
      </p:sp>
      <p:sp>
        <p:nvSpPr>
          <p:cNvPr id="935" name="Google Shape;935;p112"/>
          <p:cNvSpPr txBox="1"/>
          <p:nvPr/>
        </p:nvSpPr>
        <p:spPr>
          <a:xfrm>
            <a:off x="6386275" y="5819875"/>
            <a:ext cx="5305500" cy="673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1200"/>
              <a:t>Returning the parent adds useful context, but every added passage consumes tokens and reduces the remaining context-window budget.</a:t>
            </a:r>
            <a:endParaRPr sz="1200"/>
          </a:p>
        </p:txBody>
      </p:sp>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0" name="Shape 940"/>
        <p:cNvGrpSpPr/>
        <p:nvPr/>
      </p:nvGrpSpPr>
      <p:grpSpPr>
        <a:xfrm>
          <a:off x="0" y="0"/>
          <a:ext cx="0" cy="0"/>
          <a:chOff x="0" y="0"/>
          <a:chExt cx="0" cy="0"/>
        </a:xfrm>
      </p:grpSpPr>
      <p:pic>
        <p:nvPicPr>
          <p:cNvPr id="941" name="Google Shape;941;p113"/>
          <p:cNvPicPr preferRelativeResize="0"/>
          <p:nvPr/>
        </p:nvPicPr>
        <p:blipFill>
          <a:blip r:embed="rId3">
            <a:alphaModFix/>
          </a:blip>
          <a:stretch>
            <a:fillRect/>
          </a:stretch>
        </p:blipFill>
        <p:spPr>
          <a:xfrm>
            <a:off x="209375" y="152400"/>
            <a:ext cx="8258525" cy="6553199"/>
          </a:xfrm>
          <a:prstGeom prst="rect">
            <a:avLst/>
          </a:prstGeom>
          <a:noFill/>
          <a:ln>
            <a:noFill/>
          </a:ln>
        </p:spPr>
      </p:pic>
      <p:sp>
        <p:nvSpPr>
          <p:cNvPr id="942" name="Google Shape;942;p113"/>
          <p:cNvSpPr txBox="1"/>
          <p:nvPr/>
        </p:nvSpPr>
        <p:spPr>
          <a:xfrm>
            <a:off x="8464100" y="576325"/>
            <a:ext cx="3029700" cy="2438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b="1" lang="en-US" sz="1500"/>
              <a:t>An error rate of 1.8–7% can remain invisible in prototypes and surface only at production scale.</a:t>
            </a:r>
            <a:endParaRPr b="1" sz="1500"/>
          </a:p>
          <a:p>
            <a:pPr indent="0" lvl="0" marL="0" rtl="0" algn="l">
              <a:spcBef>
                <a:spcPts val="0"/>
              </a:spcBef>
              <a:spcAft>
                <a:spcPts val="0"/>
              </a:spcAft>
              <a:buClr>
                <a:schemeClr val="dk1"/>
              </a:buClr>
              <a:buSzPts val="1100"/>
              <a:buFont typeface="Arial"/>
              <a:buNone/>
            </a:pPr>
            <a:r>
              <a:t/>
            </a:r>
            <a:endParaRPr b="1" sz="1500"/>
          </a:p>
          <a:p>
            <a:pPr indent="0" lvl="0" marL="0" rtl="0" algn="l">
              <a:spcBef>
                <a:spcPts val="0"/>
              </a:spcBef>
              <a:spcAft>
                <a:spcPts val="0"/>
              </a:spcAft>
              <a:buClr>
                <a:schemeClr val="dk1"/>
              </a:buClr>
              <a:buSzPts val="1100"/>
              <a:buFont typeface="Arial"/>
              <a:buNone/>
            </a:pPr>
            <a:r>
              <a:rPr b="1" lang="en-US" sz="1500"/>
              <a:t>These failures are difficult to simulate before launch.</a:t>
            </a:r>
            <a:endParaRPr b="1" sz="1500"/>
          </a:p>
          <a:p>
            <a:pPr indent="0" lvl="0" marL="0" rtl="0" algn="l">
              <a:spcBef>
                <a:spcPts val="0"/>
              </a:spcBef>
              <a:spcAft>
                <a:spcPts val="0"/>
              </a:spcAft>
              <a:buNone/>
            </a:pPr>
            <a:r>
              <a:t/>
            </a:r>
            <a:endParaRPr b="1" sz="1500"/>
          </a:p>
        </p:txBody>
      </p:sp>
      <p:pic>
        <p:nvPicPr>
          <p:cNvPr id="943" name="Google Shape;943;p113" title="context_window_error_risk.png"/>
          <p:cNvPicPr preferRelativeResize="0"/>
          <p:nvPr/>
        </p:nvPicPr>
        <p:blipFill>
          <a:blip r:embed="rId4">
            <a:alphaModFix/>
          </a:blip>
          <a:stretch>
            <a:fillRect/>
          </a:stretch>
        </p:blipFill>
        <p:spPr>
          <a:xfrm>
            <a:off x="8464100" y="4059350"/>
            <a:ext cx="3251202" cy="2438401"/>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8F7"/>
        </a:solidFill>
      </p:bgPr>
    </p:bg>
    <p:spTree>
      <p:nvGrpSpPr>
        <p:cNvPr id="948" name="Shape 948"/>
        <p:cNvGrpSpPr/>
        <p:nvPr/>
      </p:nvGrpSpPr>
      <p:grpSpPr>
        <a:xfrm>
          <a:off x="0" y="0"/>
          <a:ext cx="0" cy="0"/>
          <a:chOff x="0" y="0"/>
          <a:chExt cx="0" cy="0"/>
        </a:xfrm>
      </p:grpSpPr>
      <p:sp>
        <p:nvSpPr>
          <p:cNvPr id="949" name="Google Shape;949;p114"/>
          <p:cNvSpPr/>
          <p:nvPr/>
        </p:nvSpPr>
        <p:spPr>
          <a:xfrm>
            <a:off x="533400" y="333375"/>
            <a:ext cx="11125200" cy="5143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000">
                <a:solidFill>
                  <a:srgbClr val="182524"/>
                </a:solidFill>
                <a:latin typeface="Helvetica Neue"/>
                <a:ea typeface="Helvetica Neue"/>
                <a:cs typeface="Helvetica Neue"/>
                <a:sym typeface="Helvetica Neue"/>
              </a:rPr>
              <a:t>Intrinsic and extrinsic hallucinations</a:t>
            </a:r>
            <a:endParaRPr/>
          </a:p>
        </p:txBody>
      </p:sp>
      <p:sp>
        <p:nvSpPr>
          <p:cNvPr id="950" name="Google Shape;950;p114"/>
          <p:cNvSpPr/>
          <p:nvPr/>
        </p:nvSpPr>
        <p:spPr>
          <a:xfrm>
            <a:off x="533400" y="838200"/>
            <a:ext cx="1112520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500">
                <a:solidFill>
                  <a:srgbClr val="536463"/>
                </a:solidFill>
                <a:latin typeface="Helvetica Neue"/>
                <a:ea typeface="Helvetica Neue"/>
                <a:cs typeface="Helvetica Neue"/>
                <a:sym typeface="Helvetica Neue"/>
              </a:rPr>
              <a:t>Both are grounding failures, but they fail in different ways</a:t>
            </a:r>
            <a:endParaRPr/>
          </a:p>
        </p:txBody>
      </p:sp>
      <p:sp>
        <p:nvSpPr>
          <p:cNvPr id="951" name="Google Shape;951;p114"/>
          <p:cNvSpPr/>
          <p:nvPr/>
        </p:nvSpPr>
        <p:spPr>
          <a:xfrm>
            <a:off x="704850" y="1371600"/>
            <a:ext cx="476250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2025">
                <a:solidFill>
                  <a:srgbClr val="C62828"/>
                </a:solidFill>
                <a:latin typeface="Helvetica Neue"/>
                <a:ea typeface="Helvetica Neue"/>
                <a:cs typeface="Helvetica Neue"/>
                <a:sym typeface="Helvetica Neue"/>
              </a:rPr>
              <a:t>Intrinsic hallucination</a:t>
            </a:r>
            <a:endParaRPr/>
          </a:p>
        </p:txBody>
      </p:sp>
      <p:sp>
        <p:nvSpPr>
          <p:cNvPr id="952" name="Google Shape;952;p114"/>
          <p:cNvSpPr/>
          <p:nvPr/>
        </p:nvSpPr>
        <p:spPr>
          <a:xfrm>
            <a:off x="6724650" y="1371600"/>
            <a:ext cx="4762500"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2025">
                <a:solidFill>
                  <a:srgbClr val="C9780E"/>
                </a:solidFill>
                <a:latin typeface="Helvetica Neue"/>
                <a:ea typeface="Helvetica Neue"/>
                <a:cs typeface="Helvetica Neue"/>
                <a:sym typeface="Helvetica Neue"/>
              </a:rPr>
              <a:t>Extrinsic hallucination</a:t>
            </a:r>
            <a:endParaRPr/>
          </a:p>
        </p:txBody>
      </p:sp>
      <p:pic>
        <p:nvPicPr>
          <p:cNvPr id="953" name="Google Shape;953;p114"/>
          <p:cNvPicPr preferRelativeResize="0"/>
          <p:nvPr/>
        </p:nvPicPr>
        <p:blipFill rotWithShape="1">
          <a:blip r:embed="rId3">
            <a:alphaModFix/>
          </a:blip>
          <a:srcRect b="0" l="0" r="0" t="0"/>
          <a:stretch/>
        </p:blipFill>
        <p:spPr>
          <a:xfrm>
            <a:off x="3238500" y="1714500"/>
            <a:ext cx="5715000" cy="2857500"/>
          </a:xfrm>
          <a:prstGeom prst="rect">
            <a:avLst/>
          </a:prstGeom>
          <a:noFill/>
          <a:ln>
            <a:noFill/>
          </a:ln>
        </p:spPr>
      </p:pic>
      <p:sp>
        <p:nvSpPr>
          <p:cNvPr id="954" name="Google Shape;954;p114"/>
          <p:cNvSpPr/>
          <p:nvPr/>
        </p:nvSpPr>
        <p:spPr>
          <a:xfrm>
            <a:off x="704850" y="4524375"/>
            <a:ext cx="485775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650">
                <a:solidFill>
                  <a:srgbClr val="243130"/>
                </a:solidFill>
                <a:latin typeface="Helvetica Neue"/>
                <a:ea typeface="Helvetica Neue"/>
                <a:cs typeface="Helvetica Neue"/>
                <a:sym typeface="Helvetica Neue"/>
              </a:rPr>
              <a:t>Contradicts the retrieved evidence</a:t>
            </a:r>
            <a:endParaRPr/>
          </a:p>
        </p:txBody>
      </p:sp>
      <p:sp>
        <p:nvSpPr>
          <p:cNvPr id="955" name="Google Shape;955;p114"/>
          <p:cNvSpPr/>
          <p:nvPr/>
        </p:nvSpPr>
        <p:spPr>
          <a:xfrm>
            <a:off x="704850" y="4857750"/>
            <a:ext cx="476250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350">
                <a:solidFill>
                  <a:srgbClr val="536463"/>
                </a:solidFill>
                <a:latin typeface="Helvetica Neue"/>
                <a:ea typeface="Helvetica Neue"/>
                <a:cs typeface="Helvetica Neue"/>
                <a:sym typeface="Helvetica Neue"/>
              </a:rPr>
              <a:t>The answer changes a fact that appears in the source.</a:t>
            </a:r>
            <a:endParaRPr/>
          </a:p>
        </p:txBody>
      </p:sp>
      <p:sp>
        <p:nvSpPr>
          <p:cNvPr id="956" name="Google Shape;956;p114"/>
          <p:cNvSpPr/>
          <p:nvPr/>
        </p:nvSpPr>
        <p:spPr>
          <a:xfrm>
            <a:off x="704850" y="5305425"/>
            <a:ext cx="85725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200">
                <a:solidFill>
                  <a:srgbClr val="1E765E"/>
                </a:solidFill>
                <a:latin typeface="Helvetica Neue"/>
                <a:ea typeface="Helvetica Neue"/>
                <a:cs typeface="Helvetica Neue"/>
                <a:sym typeface="Helvetica Neue"/>
              </a:rPr>
              <a:t>Evidence</a:t>
            </a:r>
            <a:endParaRPr/>
          </a:p>
        </p:txBody>
      </p:sp>
      <p:sp>
        <p:nvSpPr>
          <p:cNvPr id="957" name="Google Shape;957;p114"/>
          <p:cNvSpPr/>
          <p:nvPr/>
        </p:nvSpPr>
        <p:spPr>
          <a:xfrm>
            <a:off x="1571625" y="5305425"/>
            <a:ext cx="3857625"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275">
                <a:solidFill>
                  <a:srgbClr val="243130"/>
                </a:solidFill>
                <a:latin typeface="Helvetica Neue"/>
                <a:ea typeface="Helvetica Neue"/>
                <a:cs typeface="Helvetica Neue"/>
                <a:sym typeface="Helvetica Neue"/>
              </a:rPr>
              <a:t>Coverage requires prior authorization.</a:t>
            </a:r>
            <a:endParaRPr/>
          </a:p>
        </p:txBody>
      </p:sp>
      <p:sp>
        <p:nvSpPr>
          <p:cNvPr id="958" name="Google Shape;958;p114"/>
          <p:cNvSpPr/>
          <p:nvPr/>
        </p:nvSpPr>
        <p:spPr>
          <a:xfrm>
            <a:off x="704850" y="5610225"/>
            <a:ext cx="85725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200">
                <a:solidFill>
                  <a:srgbClr val="C62828"/>
                </a:solidFill>
                <a:latin typeface="Helvetica Neue"/>
                <a:ea typeface="Helvetica Neue"/>
                <a:cs typeface="Helvetica Neue"/>
                <a:sym typeface="Helvetica Neue"/>
              </a:rPr>
              <a:t>Answer</a:t>
            </a:r>
            <a:endParaRPr/>
          </a:p>
        </p:txBody>
      </p:sp>
      <p:sp>
        <p:nvSpPr>
          <p:cNvPr id="959" name="Google Shape;959;p114"/>
          <p:cNvSpPr/>
          <p:nvPr/>
        </p:nvSpPr>
        <p:spPr>
          <a:xfrm>
            <a:off x="1571625" y="5610225"/>
            <a:ext cx="3857625"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275">
                <a:solidFill>
                  <a:srgbClr val="C62828"/>
                </a:solidFill>
                <a:latin typeface="Helvetica Neue"/>
                <a:ea typeface="Helvetica Neue"/>
                <a:cs typeface="Helvetica Neue"/>
                <a:sym typeface="Helvetica Neue"/>
              </a:rPr>
              <a:t>No prior authorization is required.</a:t>
            </a:r>
            <a:endParaRPr/>
          </a:p>
        </p:txBody>
      </p:sp>
      <p:sp>
        <p:nvSpPr>
          <p:cNvPr id="960" name="Google Shape;960;p114"/>
          <p:cNvSpPr/>
          <p:nvPr/>
        </p:nvSpPr>
        <p:spPr>
          <a:xfrm>
            <a:off x="6724650" y="4524375"/>
            <a:ext cx="476250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650">
                <a:solidFill>
                  <a:srgbClr val="243130"/>
                </a:solidFill>
                <a:latin typeface="Helvetica Neue"/>
                <a:ea typeface="Helvetica Neue"/>
                <a:cs typeface="Helvetica Neue"/>
                <a:sym typeface="Helvetica Neue"/>
              </a:rPr>
              <a:t>Adds a claim absent from the evidence</a:t>
            </a:r>
            <a:endParaRPr/>
          </a:p>
        </p:txBody>
      </p:sp>
      <p:sp>
        <p:nvSpPr>
          <p:cNvPr id="961" name="Google Shape;961;p114"/>
          <p:cNvSpPr/>
          <p:nvPr/>
        </p:nvSpPr>
        <p:spPr>
          <a:xfrm>
            <a:off x="6724650" y="4857750"/>
            <a:ext cx="476250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350">
                <a:solidFill>
                  <a:srgbClr val="536463"/>
                </a:solidFill>
                <a:latin typeface="Helvetica Neue"/>
                <a:ea typeface="Helvetica Neue"/>
                <a:cs typeface="Helvetica Neue"/>
                <a:sym typeface="Helvetica Neue"/>
              </a:rPr>
              <a:t>The answer introduces a fact the source never establishes.</a:t>
            </a:r>
            <a:endParaRPr/>
          </a:p>
        </p:txBody>
      </p:sp>
      <p:sp>
        <p:nvSpPr>
          <p:cNvPr id="962" name="Google Shape;962;p114"/>
          <p:cNvSpPr/>
          <p:nvPr/>
        </p:nvSpPr>
        <p:spPr>
          <a:xfrm>
            <a:off x="6724650" y="5305425"/>
            <a:ext cx="85725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200">
                <a:solidFill>
                  <a:srgbClr val="1E765E"/>
                </a:solidFill>
                <a:latin typeface="Helvetica Neue"/>
                <a:ea typeface="Helvetica Neue"/>
                <a:cs typeface="Helvetica Neue"/>
                <a:sym typeface="Helvetica Neue"/>
              </a:rPr>
              <a:t>Evidence</a:t>
            </a:r>
            <a:endParaRPr/>
          </a:p>
        </p:txBody>
      </p:sp>
      <p:sp>
        <p:nvSpPr>
          <p:cNvPr id="963" name="Google Shape;963;p114"/>
          <p:cNvSpPr/>
          <p:nvPr/>
        </p:nvSpPr>
        <p:spPr>
          <a:xfrm>
            <a:off x="7591425" y="5305425"/>
            <a:ext cx="3857625"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275">
                <a:solidFill>
                  <a:srgbClr val="243130"/>
                </a:solidFill>
                <a:latin typeface="Helvetica Neue"/>
                <a:ea typeface="Helvetica Neue"/>
                <a:cs typeface="Helvetica Neue"/>
                <a:sym typeface="Helvetica Neue"/>
              </a:rPr>
              <a:t>The policy lists covered drug codes.</a:t>
            </a:r>
            <a:endParaRPr/>
          </a:p>
        </p:txBody>
      </p:sp>
      <p:sp>
        <p:nvSpPr>
          <p:cNvPr id="964" name="Google Shape;964;p114"/>
          <p:cNvSpPr/>
          <p:nvPr/>
        </p:nvSpPr>
        <p:spPr>
          <a:xfrm>
            <a:off x="6724650" y="5610225"/>
            <a:ext cx="85725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200">
                <a:solidFill>
                  <a:srgbClr val="C9780E"/>
                </a:solidFill>
                <a:latin typeface="Helvetica Neue"/>
                <a:ea typeface="Helvetica Neue"/>
                <a:cs typeface="Helvetica Neue"/>
                <a:sym typeface="Helvetica Neue"/>
              </a:rPr>
              <a:t>Answer</a:t>
            </a:r>
            <a:endParaRPr/>
          </a:p>
        </p:txBody>
      </p:sp>
      <p:sp>
        <p:nvSpPr>
          <p:cNvPr id="965" name="Google Shape;965;p114"/>
          <p:cNvSpPr/>
          <p:nvPr/>
        </p:nvSpPr>
        <p:spPr>
          <a:xfrm>
            <a:off x="7591425" y="5610225"/>
            <a:ext cx="3857625"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275">
                <a:solidFill>
                  <a:srgbClr val="C9780E"/>
                </a:solidFill>
                <a:latin typeface="Helvetica Neue"/>
                <a:ea typeface="Helvetica Neue"/>
                <a:cs typeface="Helvetica Neue"/>
                <a:sym typeface="Helvetica Neue"/>
              </a:rPr>
              <a:t>The policy guarantees same-day approval.</a:t>
            </a:r>
            <a:endParaRPr/>
          </a:p>
        </p:txBody>
      </p:sp>
      <p:cxnSp>
        <p:nvCxnSpPr>
          <p:cNvPr id="966" name="Google Shape;966;p114"/>
          <p:cNvCxnSpPr/>
          <p:nvPr/>
        </p:nvCxnSpPr>
        <p:spPr>
          <a:xfrm>
            <a:off x="533400" y="6181725"/>
            <a:ext cx="11125200" cy="0"/>
          </a:xfrm>
          <a:prstGeom prst="straightConnector1">
            <a:avLst/>
          </a:prstGeom>
          <a:noFill/>
          <a:ln cap="flat" cmpd="sng" w="9525">
            <a:solidFill>
              <a:srgbClr val="D2DCDA"/>
            </a:solidFill>
            <a:prstDash val="solid"/>
            <a:round/>
            <a:headEnd len="sm" w="sm" type="none"/>
            <a:tailEnd len="sm" w="sm" type="none"/>
          </a:ln>
        </p:spPr>
      </p:cxnSp>
      <p:sp>
        <p:nvSpPr>
          <p:cNvPr id="967" name="Google Shape;967;p114"/>
          <p:cNvSpPr/>
          <p:nvPr/>
        </p:nvSpPr>
        <p:spPr>
          <a:xfrm>
            <a:off x="533400" y="6362700"/>
            <a:ext cx="1112520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200">
                <a:solidFill>
                  <a:srgbClr val="465856"/>
                </a:solidFill>
                <a:latin typeface="Helvetica Neue"/>
                <a:ea typeface="Helvetica Neue"/>
                <a:cs typeface="Helvetica Neue"/>
                <a:sym typeface="Helvetica Neue"/>
              </a:rPr>
              <a:t>Evaluation question: Does the answer contradict the context, or does it go beyond the context?</a:t>
            </a:r>
            <a:endParaRPr/>
          </a:p>
        </p:txBody>
      </p:sp>
      <p:pic>
        <p:nvPicPr>
          <p:cNvPr id="968" name="Google Shape;968;p114"/>
          <p:cNvPicPr preferRelativeResize="0"/>
          <p:nvPr/>
        </p:nvPicPr>
        <p:blipFill>
          <a:blip r:embed="rId4">
            <a:alphaModFix/>
          </a:blip>
          <a:stretch>
            <a:fillRect/>
          </a:stretch>
        </p:blipFill>
        <p:spPr>
          <a:xfrm>
            <a:off x="533400" y="8079525"/>
            <a:ext cx="2933701" cy="1894543"/>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8F7"/>
        </a:solidFill>
      </p:bgPr>
    </p:bg>
    <p:spTree>
      <p:nvGrpSpPr>
        <p:cNvPr id="973" name="Shape 973"/>
        <p:cNvGrpSpPr/>
        <p:nvPr/>
      </p:nvGrpSpPr>
      <p:grpSpPr>
        <a:xfrm>
          <a:off x="0" y="0"/>
          <a:ext cx="0" cy="0"/>
          <a:chOff x="0" y="0"/>
          <a:chExt cx="0" cy="0"/>
        </a:xfrm>
      </p:grpSpPr>
      <p:pic>
        <p:nvPicPr>
          <p:cNvPr id="974" name="Google Shape;974;p115"/>
          <p:cNvPicPr preferRelativeResize="0"/>
          <p:nvPr/>
        </p:nvPicPr>
        <p:blipFill rotWithShape="1">
          <a:blip r:embed="rId3">
            <a:alphaModFix/>
          </a:blip>
          <a:srcRect b="0" l="0" r="0" t="0"/>
          <a:stretch/>
        </p:blipFill>
        <p:spPr>
          <a:xfrm>
            <a:off x="485775" y="529"/>
            <a:ext cx="11220450" cy="6856942"/>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8F7"/>
        </a:solidFill>
      </p:bgPr>
    </p:bg>
    <p:spTree>
      <p:nvGrpSpPr>
        <p:cNvPr id="979" name="Shape 979"/>
        <p:cNvGrpSpPr/>
        <p:nvPr/>
      </p:nvGrpSpPr>
      <p:grpSpPr>
        <a:xfrm>
          <a:off x="0" y="0"/>
          <a:ext cx="0" cy="0"/>
          <a:chOff x="0" y="0"/>
          <a:chExt cx="0" cy="0"/>
        </a:xfrm>
      </p:grpSpPr>
      <p:sp>
        <p:nvSpPr>
          <p:cNvPr id="980" name="Google Shape;980;p116"/>
          <p:cNvSpPr/>
          <p:nvPr/>
        </p:nvSpPr>
        <p:spPr>
          <a:xfrm>
            <a:off x="533400" y="333375"/>
            <a:ext cx="11125200" cy="5143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82524"/>
              </a:buClr>
              <a:buSzPts val="3000"/>
              <a:buFont typeface="Helvetica Neue"/>
              <a:buNone/>
            </a:pPr>
            <a:r>
              <a:rPr b="1" lang="en-US" sz="3000">
                <a:solidFill>
                  <a:srgbClr val="182524"/>
                </a:solidFill>
                <a:latin typeface="Helvetica Neue"/>
                <a:ea typeface="Helvetica Neue"/>
                <a:cs typeface="Helvetica Neue"/>
                <a:sym typeface="Helvetica Neue"/>
              </a:rPr>
              <a:t>Cosine similarity in 384-dimensional space</a:t>
            </a:r>
            <a:endParaRPr/>
          </a:p>
        </p:txBody>
      </p:sp>
      <p:sp>
        <p:nvSpPr>
          <p:cNvPr id="981" name="Google Shape;981;p116"/>
          <p:cNvSpPr/>
          <p:nvPr/>
        </p:nvSpPr>
        <p:spPr>
          <a:xfrm>
            <a:off x="533400" y="838200"/>
            <a:ext cx="1112520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36463"/>
              </a:buClr>
              <a:buSzPts val="1500"/>
              <a:buFont typeface="Helvetica Neue"/>
              <a:buNone/>
            </a:pPr>
            <a:r>
              <a:rPr b="0" lang="en-US" sz="1500">
                <a:solidFill>
                  <a:srgbClr val="536463"/>
                </a:solidFill>
                <a:latin typeface="Helvetica Neue"/>
                <a:ea typeface="Helvetica Neue"/>
                <a:cs typeface="Helvetica Neue"/>
                <a:sym typeface="Helvetica Neue"/>
              </a:rPr>
              <a:t>The embedding model maps a query and every chunk to 384 floating-point coordinates</a:t>
            </a:r>
            <a:endParaRPr/>
          </a:p>
        </p:txBody>
      </p:sp>
      <p:sp>
        <p:nvSpPr>
          <p:cNvPr id="982" name="Google Shape;982;p116"/>
          <p:cNvSpPr/>
          <p:nvPr/>
        </p:nvSpPr>
        <p:spPr>
          <a:xfrm>
            <a:off x="533400" y="1381125"/>
            <a:ext cx="2762250" cy="30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76D98"/>
              </a:buClr>
              <a:buSzPts val="1800"/>
              <a:buFont typeface="Helvetica Neue"/>
              <a:buNone/>
            </a:pPr>
            <a:r>
              <a:rPr b="1" lang="en-US" sz="1800">
                <a:solidFill>
                  <a:srgbClr val="176D98"/>
                </a:solidFill>
                <a:latin typeface="Helvetica Neue"/>
                <a:ea typeface="Helvetica Neue"/>
                <a:cs typeface="Helvetica Neue"/>
                <a:sym typeface="Helvetica Neue"/>
              </a:rPr>
              <a:t>1  Query embedding</a:t>
            </a:r>
            <a:endParaRPr/>
          </a:p>
        </p:txBody>
      </p:sp>
      <p:sp>
        <p:nvSpPr>
          <p:cNvPr id="983" name="Google Shape;983;p116"/>
          <p:cNvSpPr/>
          <p:nvPr/>
        </p:nvSpPr>
        <p:spPr>
          <a:xfrm>
            <a:off x="533400" y="1809750"/>
            <a:ext cx="2857500" cy="590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43130"/>
              </a:buClr>
              <a:buSzPts val="1650"/>
              <a:buFont typeface="Helvetica Neue"/>
              <a:buNone/>
            </a:pPr>
            <a:r>
              <a:rPr b="1" lang="en-US" sz="1650">
                <a:solidFill>
                  <a:srgbClr val="243130"/>
                </a:solidFill>
                <a:latin typeface="Helvetica Neue"/>
                <a:ea typeface="Helvetica Neue"/>
                <a:cs typeface="Helvetica Neue"/>
                <a:sym typeface="Helvetica Neue"/>
              </a:rPr>
              <a:t>“Which policy covers thrombocytopenia?”</a:t>
            </a:r>
            <a:endParaRPr/>
          </a:p>
        </p:txBody>
      </p:sp>
      <p:sp>
        <p:nvSpPr>
          <p:cNvPr id="984" name="Google Shape;984;p116"/>
          <p:cNvSpPr/>
          <p:nvPr/>
        </p:nvSpPr>
        <p:spPr>
          <a:xfrm>
            <a:off x="533400" y="2600325"/>
            <a:ext cx="2952750" cy="590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B4CB2"/>
              </a:buClr>
              <a:buSzPts val="1500"/>
              <a:buFont typeface="Helvetica Neue"/>
              <a:buNone/>
            </a:pPr>
            <a:r>
              <a:rPr b="1" lang="en-US" sz="1500">
                <a:solidFill>
                  <a:srgbClr val="5B4CB2"/>
                </a:solidFill>
                <a:latin typeface="Helvetica Neue"/>
                <a:ea typeface="Helvetica Neue"/>
                <a:cs typeface="Helvetica Neue"/>
                <a:sym typeface="Helvetica Neue"/>
              </a:rPr>
              <a:t>Vector length = 384</a:t>
            </a:r>
            <a:endParaRPr/>
          </a:p>
          <a:p>
            <a:pPr indent="0" lvl="0" marL="0" marR="0" rtl="0" algn="l">
              <a:spcBef>
                <a:spcPts val="0"/>
              </a:spcBef>
              <a:spcAft>
                <a:spcPts val="0"/>
              </a:spcAft>
              <a:buClr>
                <a:srgbClr val="5B4CB2"/>
              </a:buClr>
              <a:buSzPts val="1500"/>
              <a:buFont typeface="Helvetica Neue"/>
              <a:buNone/>
            </a:pPr>
            <a:r>
              <a:rPr b="1" lang="en-US" sz="1500">
                <a:solidFill>
                  <a:srgbClr val="5B4CB2"/>
                </a:solidFill>
                <a:latin typeface="Helvetica Neue"/>
                <a:ea typeface="Helvetica Neue"/>
                <a:cs typeface="Helvetica Neue"/>
                <a:sym typeface="Helvetica Neue"/>
              </a:rPr>
              <a:t>One coordinate per dimension</a:t>
            </a:r>
            <a:endParaRPr/>
          </a:p>
        </p:txBody>
      </p:sp>
      <p:sp>
        <p:nvSpPr>
          <p:cNvPr id="985" name="Google Shape;985;p116"/>
          <p:cNvSpPr/>
          <p:nvPr/>
        </p:nvSpPr>
        <p:spPr>
          <a:xfrm>
            <a:off x="533400" y="3429000"/>
            <a:ext cx="2857500" cy="609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2716F"/>
              </a:buClr>
              <a:buSzPts val="1275"/>
              <a:buFont typeface="Helvetica Neue"/>
              <a:buNone/>
            </a:pPr>
            <a:r>
              <a:rPr b="0" lang="en-US" sz="1275">
                <a:solidFill>
                  <a:srgbClr val="62716F"/>
                </a:solidFill>
                <a:latin typeface="Helvetica Neue"/>
                <a:ea typeface="Helvetica Neue"/>
                <a:cs typeface="Helvetica Neue"/>
                <a:sym typeface="Helvetica Neue"/>
              </a:rPr>
              <a:t>The image shows three values.</a:t>
            </a:r>
            <a:endParaRPr/>
          </a:p>
          <a:p>
            <a:pPr indent="0" lvl="0" marL="0" marR="0" rtl="0" algn="l">
              <a:spcBef>
                <a:spcPts val="0"/>
              </a:spcBef>
              <a:spcAft>
                <a:spcPts val="0"/>
              </a:spcAft>
              <a:buClr>
                <a:srgbClr val="62716F"/>
              </a:buClr>
              <a:buSzPts val="1275"/>
              <a:buFont typeface="Helvetica Neue"/>
              <a:buNone/>
            </a:pPr>
            <a:r>
              <a:rPr b="0" lang="en-US" sz="1275">
                <a:solidFill>
                  <a:srgbClr val="62716F"/>
                </a:solidFill>
                <a:latin typeface="Helvetica Neue"/>
                <a:ea typeface="Helvetica Neue"/>
                <a:cs typeface="Helvetica Neue"/>
                <a:sym typeface="Helvetica Neue"/>
              </a:rPr>
              <a:t>The ellipsis represents the remaining 381.</a:t>
            </a:r>
            <a:endParaRPr/>
          </a:p>
        </p:txBody>
      </p:sp>
      <p:sp>
        <p:nvSpPr>
          <p:cNvPr id="986" name="Google Shape;986;p116"/>
          <p:cNvSpPr/>
          <p:nvPr/>
        </p:nvSpPr>
        <p:spPr>
          <a:xfrm>
            <a:off x="3857625" y="1381125"/>
            <a:ext cx="3714750" cy="30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E765E"/>
              </a:buClr>
              <a:buSzPts val="1800"/>
              <a:buFont typeface="Helvetica Neue"/>
              <a:buNone/>
            </a:pPr>
            <a:r>
              <a:rPr b="1" lang="en-US" sz="1800">
                <a:solidFill>
                  <a:srgbClr val="1E765E"/>
                </a:solidFill>
                <a:latin typeface="Helvetica Neue"/>
                <a:ea typeface="Helvetica Neue"/>
                <a:cs typeface="Helvetica Neue"/>
                <a:sym typeface="Helvetica Neue"/>
              </a:rPr>
              <a:t>2  Embedding space</a:t>
            </a:r>
            <a:endParaRPr/>
          </a:p>
        </p:txBody>
      </p:sp>
      <p:pic>
        <p:nvPicPr>
          <p:cNvPr id="987" name="Google Shape;987;p116"/>
          <p:cNvPicPr preferRelativeResize="0"/>
          <p:nvPr/>
        </p:nvPicPr>
        <p:blipFill rotWithShape="1">
          <a:blip r:embed="rId3">
            <a:alphaModFix/>
          </a:blip>
          <a:srcRect b="0" l="0" r="0" t="0"/>
          <a:stretch/>
        </p:blipFill>
        <p:spPr>
          <a:xfrm>
            <a:off x="3667125" y="1714500"/>
            <a:ext cx="4095750" cy="4095750"/>
          </a:xfrm>
          <a:prstGeom prst="rect">
            <a:avLst/>
          </a:prstGeom>
          <a:noFill/>
          <a:ln>
            <a:noFill/>
          </a:ln>
        </p:spPr>
      </p:pic>
      <p:cxnSp>
        <p:nvCxnSpPr>
          <p:cNvPr id="988" name="Google Shape;988;p116"/>
          <p:cNvCxnSpPr/>
          <p:nvPr/>
        </p:nvCxnSpPr>
        <p:spPr>
          <a:xfrm>
            <a:off x="5048250" y="3476625"/>
            <a:ext cx="666750" cy="619125"/>
          </a:xfrm>
          <a:prstGeom prst="straightConnector1">
            <a:avLst/>
          </a:prstGeom>
          <a:noFill/>
          <a:ln cap="flat" cmpd="sng" w="38100">
            <a:solidFill>
              <a:srgbClr val="D33A89"/>
            </a:solidFill>
            <a:prstDash val="solid"/>
            <a:round/>
            <a:headEnd len="sm" w="sm" type="none"/>
            <a:tailEnd len="sm" w="sm" type="none"/>
          </a:ln>
        </p:spPr>
      </p:cxnSp>
      <p:cxnSp>
        <p:nvCxnSpPr>
          <p:cNvPr id="989" name="Google Shape;989;p116"/>
          <p:cNvCxnSpPr/>
          <p:nvPr/>
        </p:nvCxnSpPr>
        <p:spPr>
          <a:xfrm>
            <a:off x="4810125" y="3333750"/>
            <a:ext cx="904875" cy="762000"/>
          </a:xfrm>
          <a:prstGeom prst="straightConnector1">
            <a:avLst/>
          </a:prstGeom>
          <a:noFill/>
          <a:ln cap="flat" cmpd="sng" w="28575">
            <a:solidFill>
              <a:srgbClr val="1D9A6C"/>
            </a:solidFill>
            <a:prstDash val="solid"/>
            <a:round/>
            <a:headEnd len="sm" w="sm" type="none"/>
            <a:tailEnd len="sm" w="sm" type="none"/>
          </a:ln>
        </p:spPr>
      </p:cxnSp>
      <p:cxnSp>
        <p:nvCxnSpPr>
          <p:cNvPr id="990" name="Google Shape;990;p116"/>
          <p:cNvCxnSpPr/>
          <p:nvPr/>
        </p:nvCxnSpPr>
        <p:spPr>
          <a:xfrm>
            <a:off x="5715000" y="2476500"/>
            <a:ext cx="0" cy="1619250"/>
          </a:xfrm>
          <a:prstGeom prst="straightConnector1">
            <a:avLst/>
          </a:prstGeom>
          <a:noFill/>
          <a:ln cap="flat" cmpd="sng" w="28575">
            <a:solidFill>
              <a:srgbClr val="257EB4"/>
            </a:solidFill>
            <a:prstDash val="solid"/>
            <a:round/>
            <a:headEnd len="sm" w="sm" type="none"/>
            <a:tailEnd len="sm" w="sm" type="none"/>
          </a:ln>
        </p:spPr>
      </p:cxnSp>
      <p:cxnSp>
        <p:nvCxnSpPr>
          <p:cNvPr id="991" name="Google Shape;991;p116"/>
          <p:cNvCxnSpPr/>
          <p:nvPr/>
        </p:nvCxnSpPr>
        <p:spPr>
          <a:xfrm>
            <a:off x="5715000" y="4095750"/>
            <a:ext cx="1143000" cy="857250"/>
          </a:xfrm>
          <a:prstGeom prst="straightConnector1">
            <a:avLst/>
          </a:prstGeom>
          <a:noFill/>
          <a:ln cap="flat" cmpd="sng" w="28575">
            <a:solidFill>
              <a:srgbClr val="C9780E"/>
            </a:solidFill>
            <a:prstDash val="solid"/>
            <a:round/>
            <a:headEnd len="sm" w="sm" type="none"/>
            <a:tailEnd len="sm" w="sm" type="none"/>
          </a:ln>
        </p:spPr>
      </p:cxnSp>
      <p:sp>
        <p:nvSpPr>
          <p:cNvPr id="992" name="Google Shape;992;p116"/>
          <p:cNvSpPr/>
          <p:nvPr/>
        </p:nvSpPr>
        <p:spPr>
          <a:xfrm>
            <a:off x="5657850" y="4038600"/>
            <a:ext cx="114300" cy="114300"/>
          </a:xfrm>
          <a:prstGeom prst="ellipse">
            <a:avLst/>
          </a:prstGeom>
          <a:solidFill>
            <a:srgbClr val="263837"/>
          </a:solidFill>
          <a:ln cap="flat" cmpd="sng" w="1905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 name="Google Shape;993;p116"/>
          <p:cNvSpPr/>
          <p:nvPr/>
        </p:nvSpPr>
        <p:spPr>
          <a:xfrm>
            <a:off x="4972050" y="3400425"/>
            <a:ext cx="152400" cy="152400"/>
          </a:xfrm>
          <a:prstGeom prst="ellipse">
            <a:avLst/>
          </a:prstGeom>
          <a:solidFill>
            <a:srgbClr val="D33A89"/>
          </a:solidFill>
          <a:ln cap="flat" cmpd="sng" w="19050">
            <a:solidFill>
              <a:srgbClr val="FFFFFF"/>
            </a:solidFill>
            <a:prstDash val="solid"/>
            <a:round/>
            <a:headEnd len="sm" w="sm" type="none"/>
            <a:tailEnd len="sm" w="sm" type="none"/>
          </a:ln>
          <a:effectLst>
            <a:outerShdw blurRad="180975" dir="4443276" dist="69343">
              <a:srgbClr val="000000">
                <a:alpha val="1411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 name="Google Shape;994;p116"/>
          <p:cNvSpPr/>
          <p:nvPr/>
        </p:nvSpPr>
        <p:spPr>
          <a:xfrm>
            <a:off x="5162550" y="3238500"/>
            <a:ext cx="904875"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D33A89"/>
              </a:buClr>
              <a:buSzPts val="1200"/>
              <a:buFont typeface="Helvetica Neue"/>
              <a:buNone/>
            </a:pPr>
            <a:r>
              <a:rPr b="1" lang="en-US" sz="1200">
                <a:solidFill>
                  <a:srgbClr val="D33A89"/>
                </a:solidFill>
                <a:latin typeface="Helvetica Neue"/>
                <a:ea typeface="Helvetica Neue"/>
                <a:cs typeface="Helvetica Neue"/>
                <a:sym typeface="Helvetica Neue"/>
              </a:rPr>
              <a:t>query q</a:t>
            </a:r>
            <a:endParaRPr/>
          </a:p>
        </p:txBody>
      </p:sp>
      <p:sp>
        <p:nvSpPr>
          <p:cNvPr id="995" name="Google Shape;995;p116"/>
          <p:cNvSpPr/>
          <p:nvPr/>
        </p:nvSpPr>
        <p:spPr>
          <a:xfrm>
            <a:off x="4733925" y="3257550"/>
            <a:ext cx="152400" cy="152400"/>
          </a:xfrm>
          <a:prstGeom prst="ellipse">
            <a:avLst/>
          </a:prstGeom>
          <a:solidFill>
            <a:srgbClr val="1D9A6C"/>
          </a:solidFill>
          <a:ln cap="flat" cmpd="sng" w="19050">
            <a:solidFill>
              <a:srgbClr val="FFFFFF"/>
            </a:solidFill>
            <a:prstDash val="solid"/>
            <a:round/>
            <a:headEnd len="sm" w="sm" type="none"/>
            <a:tailEnd len="sm" w="sm" type="none"/>
          </a:ln>
          <a:effectLst>
            <a:outerShdw blurRad="180975" dir="4443276" dist="69343">
              <a:srgbClr val="000000">
                <a:alpha val="1411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 name="Google Shape;996;p116"/>
          <p:cNvSpPr/>
          <p:nvPr/>
        </p:nvSpPr>
        <p:spPr>
          <a:xfrm>
            <a:off x="3933825" y="3352800"/>
            <a:ext cx="904875"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D9A6C"/>
              </a:buClr>
              <a:buSzPts val="1200"/>
              <a:buFont typeface="Helvetica Neue"/>
              <a:buNone/>
            </a:pPr>
            <a:r>
              <a:rPr b="1" lang="en-US" sz="1200">
                <a:solidFill>
                  <a:srgbClr val="1D9A6C"/>
                </a:solidFill>
                <a:latin typeface="Helvetica Neue"/>
                <a:ea typeface="Helvetica Neue"/>
                <a:cs typeface="Helvetica Neue"/>
                <a:sym typeface="Helvetica Neue"/>
              </a:rPr>
              <a:t>chunk A</a:t>
            </a:r>
            <a:endParaRPr/>
          </a:p>
        </p:txBody>
      </p:sp>
      <p:sp>
        <p:nvSpPr>
          <p:cNvPr id="997" name="Google Shape;997;p116"/>
          <p:cNvSpPr/>
          <p:nvPr/>
        </p:nvSpPr>
        <p:spPr>
          <a:xfrm>
            <a:off x="5638800" y="2400300"/>
            <a:ext cx="152400" cy="152400"/>
          </a:xfrm>
          <a:prstGeom prst="ellipse">
            <a:avLst/>
          </a:prstGeom>
          <a:solidFill>
            <a:srgbClr val="257EB4"/>
          </a:solidFill>
          <a:ln cap="flat" cmpd="sng" w="19050">
            <a:solidFill>
              <a:srgbClr val="FFFFFF"/>
            </a:solidFill>
            <a:prstDash val="solid"/>
            <a:round/>
            <a:headEnd len="sm" w="sm" type="none"/>
            <a:tailEnd len="sm" w="sm" type="none"/>
          </a:ln>
          <a:effectLst>
            <a:outerShdw blurRad="180975" dir="4443276" dist="69343">
              <a:srgbClr val="000000">
                <a:alpha val="1411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8" name="Google Shape;998;p116"/>
          <p:cNvSpPr/>
          <p:nvPr/>
        </p:nvSpPr>
        <p:spPr>
          <a:xfrm>
            <a:off x="5829300" y="2362200"/>
            <a:ext cx="904875"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57EB4"/>
              </a:buClr>
              <a:buSzPts val="1200"/>
              <a:buFont typeface="Helvetica Neue"/>
              <a:buNone/>
            </a:pPr>
            <a:r>
              <a:rPr b="1" lang="en-US" sz="1200">
                <a:solidFill>
                  <a:srgbClr val="257EB4"/>
                </a:solidFill>
                <a:latin typeface="Helvetica Neue"/>
                <a:ea typeface="Helvetica Neue"/>
                <a:cs typeface="Helvetica Neue"/>
                <a:sym typeface="Helvetica Neue"/>
              </a:rPr>
              <a:t>chunk B</a:t>
            </a:r>
            <a:endParaRPr/>
          </a:p>
        </p:txBody>
      </p:sp>
      <p:sp>
        <p:nvSpPr>
          <p:cNvPr id="999" name="Google Shape;999;p116"/>
          <p:cNvSpPr/>
          <p:nvPr/>
        </p:nvSpPr>
        <p:spPr>
          <a:xfrm>
            <a:off x="6781800" y="4876800"/>
            <a:ext cx="152400" cy="152400"/>
          </a:xfrm>
          <a:prstGeom prst="ellipse">
            <a:avLst/>
          </a:prstGeom>
          <a:solidFill>
            <a:srgbClr val="C9780E"/>
          </a:solidFill>
          <a:ln cap="flat" cmpd="sng" w="19050">
            <a:solidFill>
              <a:srgbClr val="FFFFFF"/>
            </a:solidFill>
            <a:prstDash val="solid"/>
            <a:round/>
            <a:headEnd len="sm" w="sm" type="none"/>
            <a:tailEnd len="sm" w="sm" type="none"/>
          </a:ln>
          <a:effectLst>
            <a:outerShdw blurRad="180975" dir="4443276" dist="69343">
              <a:srgbClr val="000000">
                <a:alpha val="1411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0" name="Google Shape;1000;p116"/>
          <p:cNvSpPr/>
          <p:nvPr/>
        </p:nvSpPr>
        <p:spPr>
          <a:xfrm>
            <a:off x="6972300" y="4876800"/>
            <a:ext cx="904875"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C9780E"/>
              </a:buClr>
              <a:buSzPts val="1200"/>
              <a:buFont typeface="Helvetica Neue"/>
              <a:buNone/>
            </a:pPr>
            <a:r>
              <a:rPr b="1" lang="en-US" sz="1200">
                <a:solidFill>
                  <a:srgbClr val="C9780E"/>
                </a:solidFill>
                <a:latin typeface="Helvetica Neue"/>
                <a:ea typeface="Helvetica Neue"/>
                <a:cs typeface="Helvetica Neue"/>
                <a:sym typeface="Helvetica Neue"/>
              </a:rPr>
              <a:t>chunk C</a:t>
            </a:r>
            <a:endParaRPr/>
          </a:p>
        </p:txBody>
      </p:sp>
      <p:sp>
        <p:nvSpPr>
          <p:cNvPr id="1001" name="Google Shape;1001;p116"/>
          <p:cNvSpPr/>
          <p:nvPr/>
        </p:nvSpPr>
        <p:spPr>
          <a:xfrm>
            <a:off x="3857625" y="5781675"/>
            <a:ext cx="3714750" cy="209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C62828"/>
              </a:buClr>
              <a:buSzPts val="1125"/>
              <a:buFont typeface="Helvetica Neue"/>
              <a:buNone/>
            </a:pPr>
            <a:r>
              <a:rPr b="1" lang="en-US" sz="1125">
                <a:solidFill>
                  <a:srgbClr val="C62828"/>
                </a:solidFill>
                <a:latin typeface="Helvetica Neue"/>
                <a:ea typeface="Helvetica Neue"/>
                <a:cs typeface="Helvetica Neue"/>
                <a:sym typeface="Helvetica Neue"/>
              </a:rPr>
              <a:t>Thin red shell: most probability mass</a:t>
            </a:r>
            <a:endParaRPr/>
          </a:p>
        </p:txBody>
      </p:sp>
      <p:sp>
        <p:nvSpPr>
          <p:cNvPr id="1002" name="Google Shape;1002;p116"/>
          <p:cNvSpPr/>
          <p:nvPr/>
        </p:nvSpPr>
        <p:spPr>
          <a:xfrm>
            <a:off x="3857625" y="6010275"/>
            <a:ext cx="3714750" cy="190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2716F"/>
              </a:buClr>
              <a:buSzPts val="1050"/>
              <a:buFont typeface="Helvetica Neue"/>
              <a:buNone/>
            </a:pPr>
            <a:r>
              <a:rPr b="0" lang="en-US" sz="1050">
                <a:solidFill>
                  <a:srgbClr val="62716F"/>
                </a:solidFill>
                <a:latin typeface="Helvetica Neue"/>
                <a:ea typeface="Helvetica Neue"/>
                <a:cs typeface="Helvetica Neue"/>
                <a:sym typeface="Helvetica Neue"/>
              </a:rPr>
              <a:t>Pale center: very little probability mass</a:t>
            </a:r>
            <a:endParaRPr/>
          </a:p>
        </p:txBody>
      </p:sp>
      <p:sp>
        <p:nvSpPr>
          <p:cNvPr id="1003" name="Google Shape;1003;p116"/>
          <p:cNvSpPr/>
          <p:nvPr/>
        </p:nvSpPr>
        <p:spPr>
          <a:xfrm>
            <a:off x="8143875" y="1381125"/>
            <a:ext cx="3476625" cy="30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66008"/>
              </a:buClr>
              <a:buSzPts val="1800"/>
              <a:buFont typeface="Helvetica Neue"/>
              <a:buNone/>
            </a:pPr>
            <a:r>
              <a:rPr b="1" lang="en-US" sz="1800">
                <a:solidFill>
                  <a:srgbClr val="A66008"/>
                </a:solidFill>
                <a:latin typeface="Helvetica Neue"/>
                <a:ea typeface="Helvetica Neue"/>
                <a:cs typeface="Helvetica Neue"/>
                <a:sym typeface="Helvetica Neue"/>
              </a:rPr>
              <a:t>3  Compare direction</a:t>
            </a:r>
            <a:endParaRPr/>
          </a:p>
        </p:txBody>
      </p:sp>
      <p:sp>
        <p:nvSpPr>
          <p:cNvPr id="1004" name="Google Shape;1004;p116"/>
          <p:cNvSpPr/>
          <p:nvPr/>
        </p:nvSpPr>
        <p:spPr>
          <a:xfrm>
            <a:off x="8143875" y="1905000"/>
            <a:ext cx="3476625" cy="4000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43130"/>
              </a:buClr>
              <a:buSzPts val="1650"/>
              <a:buFont typeface="Helvetica Neue"/>
              <a:buNone/>
            </a:pPr>
            <a:r>
              <a:rPr b="1" lang="en-US" sz="1650">
                <a:solidFill>
                  <a:srgbClr val="243130"/>
                </a:solidFill>
                <a:latin typeface="Helvetica Neue"/>
                <a:ea typeface="Helvetica Neue"/>
                <a:cs typeface="Helvetica Neue"/>
                <a:sym typeface="Helvetica Neue"/>
              </a:rPr>
              <a:t>cos(q, c) = (q · c) / (‖q‖ × ‖c‖)</a:t>
            </a:r>
            <a:endParaRPr/>
          </a:p>
        </p:txBody>
      </p:sp>
      <p:sp>
        <p:nvSpPr>
          <p:cNvPr id="1005" name="Google Shape;1005;p116"/>
          <p:cNvSpPr/>
          <p:nvPr/>
        </p:nvSpPr>
        <p:spPr>
          <a:xfrm>
            <a:off x="8143875" y="2390775"/>
            <a:ext cx="323850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465856"/>
              </a:buClr>
              <a:buSzPts val="1200"/>
              <a:buFont typeface="Helvetica Neue"/>
              <a:buNone/>
            </a:pPr>
            <a:r>
              <a:rPr b="0" lang="en-US" sz="1200">
                <a:solidFill>
                  <a:srgbClr val="465856"/>
                </a:solidFill>
                <a:latin typeface="Helvetica Neue"/>
                <a:ea typeface="Helvetica Neue"/>
                <a:cs typeface="Helvetica Neue"/>
                <a:sym typeface="Helvetica Neue"/>
              </a:rPr>
              <a:t>dot product ÷ vector lengths</a:t>
            </a:r>
            <a:endParaRPr/>
          </a:p>
        </p:txBody>
      </p:sp>
      <p:sp>
        <p:nvSpPr>
          <p:cNvPr id="1006" name="Google Shape;1006;p116"/>
          <p:cNvSpPr/>
          <p:nvPr/>
        </p:nvSpPr>
        <p:spPr>
          <a:xfrm>
            <a:off x="8143875" y="2876550"/>
            <a:ext cx="3238500"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2716F"/>
              </a:buClr>
              <a:buSzPts val="1125"/>
              <a:buFont typeface="Helvetica Neue"/>
              <a:buNone/>
            </a:pPr>
            <a:r>
              <a:rPr b="0" lang="en-US" sz="1125">
                <a:solidFill>
                  <a:srgbClr val="62716F"/>
                </a:solidFill>
                <a:latin typeface="Helvetica Neue"/>
                <a:ea typeface="Helvetica Neue"/>
                <a:cs typeface="Helvetica Neue"/>
                <a:sym typeface="Helvetica Neue"/>
              </a:rPr>
              <a:t>Illustrative normalized vectors</a:t>
            </a:r>
            <a:endParaRPr/>
          </a:p>
        </p:txBody>
      </p:sp>
      <p:sp>
        <p:nvSpPr>
          <p:cNvPr id="1007" name="Google Shape;1007;p116"/>
          <p:cNvSpPr/>
          <p:nvPr/>
        </p:nvSpPr>
        <p:spPr>
          <a:xfrm>
            <a:off x="8143875" y="3324225"/>
            <a:ext cx="142875" cy="142875"/>
          </a:xfrm>
          <a:prstGeom prst="ellipse">
            <a:avLst/>
          </a:prstGeom>
          <a:solidFill>
            <a:srgbClr val="1D9A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 name="Google Shape;1008;p116"/>
          <p:cNvSpPr/>
          <p:nvPr/>
        </p:nvSpPr>
        <p:spPr>
          <a:xfrm>
            <a:off x="8382000" y="3286125"/>
            <a:ext cx="238125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43130"/>
              </a:buClr>
              <a:buSzPts val="1275"/>
              <a:buFont typeface="Helvetica Neue"/>
              <a:buNone/>
            </a:pPr>
            <a:r>
              <a:rPr b="1" lang="en-US" sz="1275">
                <a:solidFill>
                  <a:srgbClr val="243130"/>
                </a:solidFill>
                <a:latin typeface="Helvetica Neue"/>
                <a:ea typeface="Helvetica Neue"/>
                <a:cs typeface="Helvetica Neue"/>
                <a:sym typeface="Helvetica Neue"/>
              </a:rPr>
              <a:t>Chunk A  Universal criteria</a:t>
            </a:r>
            <a:endParaRPr/>
          </a:p>
        </p:txBody>
      </p:sp>
      <p:sp>
        <p:nvSpPr>
          <p:cNvPr id="1009" name="Google Shape;1009;p116"/>
          <p:cNvSpPr/>
          <p:nvPr/>
        </p:nvSpPr>
        <p:spPr>
          <a:xfrm>
            <a:off x="10858500" y="3257550"/>
            <a:ext cx="66675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D9A6C"/>
              </a:buClr>
              <a:buSzPts val="1800"/>
              <a:buFont typeface="Helvetica Neue"/>
              <a:buNone/>
            </a:pPr>
            <a:r>
              <a:rPr b="1" lang="en-US" sz="1800">
                <a:solidFill>
                  <a:srgbClr val="1D9A6C"/>
                </a:solidFill>
                <a:latin typeface="Helvetica Neue"/>
                <a:ea typeface="Helvetica Neue"/>
                <a:cs typeface="Helvetica Neue"/>
                <a:sym typeface="Helvetica Neue"/>
              </a:rPr>
              <a:t>0.92</a:t>
            </a:r>
            <a:endParaRPr/>
          </a:p>
        </p:txBody>
      </p:sp>
      <p:sp>
        <p:nvSpPr>
          <p:cNvPr id="1010" name="Google Shape;1010;p116"/>
          <p:cNvSpPr/>
          <p:nvPr/>
        </p:nvSpPr>
        <p:spPr>
          <a:xfrm>
            <a:off x="8382000" y="3552825"/>
            <a:ext cx="2333625"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2716F"/>
              </a:buClr>
              <a:buSzPts val="1125"/>
              <a:buFont typeface="Helvetica Neue"/>
              <a:buNone/>
            </a:pPr>
            <a:r>
              <a:rPr b="0" lang="en-US" sz="1125">
                <a:solidFill>
                  <a:srgbClr val="62716F"/>
                </a:solidFill>
                <a:latin typeface="Helvetica Neue"/>
                <a:ea typeface="Helvetica Neue"/>
                <a:cs typeface="Helvetica Neue"/>
                <a:sym typeface="Helvetica Neue"/>
              </a:rPr>
              <a:t>closest direction</a:t>
            </a:r>
            <a:endParaRPr/>
          </a:p>
        </p:txBody>
      </p:sp>
      <p:sp>
        <p:nvSpPr>
          <p:cNvPr id="1011" name="Google Shape;1011;p116"/>
          <p:cNvSpPr/>
          <p:nvPr/>
        </p:nvSpPr>
        <p:spPr>
          <a:xfrm>
            <a:off x="8143875" y="4086225"/>
            <a:ext cx="142875" cy="142875"/>
          </a:xfrm>
          <a:prstGeom prst="ellipse">
            <a:avLst/>
          </a:prstGeom>
          <a:solidFill>
            <a:srgbClr val="257E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2" name="Google Shape;1012;p116"/>
          <p:cNvSpPr/>
          <p:nvPr/>
        </p:nvSpPr>
        <p:spPr>
          <a:xfrm>
            <a:off x="8382000" y="4048125"/>
            <a:ext cx="238125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43130"/>
              </a:buClr>
              <a:buSzPts val="1275"/>
              <a:buFont typeface="Helvetica Neue"/>
              <a:buNone/>
            </a:pPr>
            <a:r>
              <a:rPr b="1" lang="en-US" sz="1275">
                <a:solidFill>
                  <a:srgbClr val="243130"/>
                </a:solidFill>
                <a:latin typeface="Helvetica Neue"/>
                <a:ea typeface="Helvetica Neue"/>
                <a:cs typeface="Helvetica Neue"/>
                <a:sym typeface="Helvetica Neue"/>
              </a:rPr>
              <a:t>Chunk B  Billing codes</a:t>
            </a:r>
            <a:endParaRPr/>
          </a:p>
        </p:txBody>
      </p:sp>
      <p:sp>
        <p:nvSpPr>
          <p:cNvPr id="1013" name="Google Shape;1013;p116"/>
          <p:cNvSpPr/>
          <p:nvPr/>
        </p:nvSpPr>
        <p:spPr>
          <a:xfrm>
            <a:off x="10858500" y="4019550"/>
            <a:ext cx="66675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57EB4"/>
              </a:buClr>
              <a:buSzPts val="1800"/>
              <a:buFont typeface="Helvetica Neue"/>
              <a:buNone/>
            </a:pPr>
            <a:r>
              <a:rPr b="1" lang="en-US" sz="1800">
                <a:solidFill>
                  <a:srgbClr val="257EB4"/>
                </a:solidFill>
                <a:latin typeface="Helvetica Neue"/>
                <a:ea typeface="Helvetica Neue"/>
                <a:cs typeface="Helvetica Neue"/>
                <a:sym typeface="Helvetica Neue"/>
              </a:rPr>
              <a:t>0.41</a:t>
            </a:r>
            <a:endParaRPr/>
          </a:p>
        </p:txBody>
      </p:sp>
      <p:sp>
        <p:nvSpPr>
          <p:cNvPr id="1014" name="Google Shape;1014;p116"/>
          <p:cNvSpPr/>
          <p:nvPr/>
        </p:nvSpPr>
        <p:spPr>
          <a:xfrm>
            <a:off x="8382000" y="4314825"/>
            <a:ext cx="2333625"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2716F"/>
              </a:buClr>
              <a:buSzPts val="1125"/>
              <a:buFont typeface="Helvetica Neue"/>
              <a:buNone/>
            </a:pPr>
            <a:r>
              <a:rPr b="0" lang="en-US" sz="1125">
                <a:solidFill>
                  <a:srgbClr val="62716F"/>
                </a:solidFill>
                <a:latin typeface="Helvetica Neue"/>
                <a:ea typeface="Helvetica Neue"/>
                <a:cs typeface="Helvetica Neue"/>
                <a:sym typeface="Helvetica Neue"/>
              </a:rPr>
              <a:t>partial relation</a:t>
            </a:r>
            <a:endParaRPr/>
          </a:p>
        </p:txBody>
      </p:sp>
      <p:sp>
        <p:nvSpPr>
          <p:cNvPr id="1015" name="Google Shape;1015;p116"/>
          <p:cNvSpPr/>
          <p:nvPr/>
        </p:nvSpPr>
        <p:spPr>
          <a:xfrm>
            <a:off x="8143875" y="4848225"/>
            <a:ext cx="142875" cy="142875"/>
          </a:xfrm>
          <a:prstGeom prst="ellipse">
            <a:avLst/>
          </a:prstGeom>
          <a:solidFill>
            <a:srgbClr val="C9780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6" name="Google Shape;1016;p116"/>
          <p:cNvSpPr/>
          <p:nvPr/>
        </p:nvSpPr>
        <p:spPr>
          <a:xfrm>
            <a:off x="8382000" y="4810125"/>
            <a:ext cx="2381250" cy="2381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243130"/>
              </a:buClr>
              <a:buSzPts val="1275"/>
              <a:buFont typeface="Helvetica Neue"/>
              <a:buNone/>
            </a:pPr>
            <a:r>
              <a:rPr b="1" lang="en-US" sz="1275">
                <a:solidFill>
                  <a:srgbClr val="243130"/>
                </a:solidFill>
                <a:latin typeface="Helvetica Neue"/>
                <a:ea typeface="Helvetica Neue"/>
                <a:cs typeface="Helvetica Neue"/>
                <a:sym typeface="Helvetica Neue"/>
              </a:rPr>
              <a:t>Chunk C  Revision history</a:t>
            </a:r>
            <a:endParaRPr/>
          </a:p>
        </p:txBody>
      </p:sp>
      <p:sp>
        <p:nvSpPr>
          <p:cNvPr id="1017" name="Google Shape;1017;p116"/>
          <p:cNvSpPr/>
          <p:nvPr/>
        </p:nvSpPr>
        <p:spPr>
          <a:xfrm>
            <a:off x="10858500" y="4781550"/>
            <a:ext cx="66675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C9780E"/>
              </a:buClr>
              <a:buSzPts val="1800"/>
              <a:buFont typeface="Helvetica Neue"/>
              <a:buNone/>
            </a:pPr>
            <a:r>
              <a:rPr b="1" lang="en-US" sz="1800">
                <a:solidFill>
                  <a:srgbClr val="C9780E"/>
                </a:solidFill>
                <a:latin typeface="Helvetica Neue"/>
                <a:ea typeface="Helvetica Neue"/>
                <a:cs typeface="Helvetica Neue"/>
                <a:sym typeface="Helvetica Neue"/>
              </a:rPr>
              <a:t>0.08</a:t>
            </a:r>
            <a:endParaRPr/>
          </a:p>
        </p:txBody>
      </p:sp>
      <p:sp>
        <p:nvSpPr>
          <p:cNvPr id="1018" name="Google Shape;1018;p116"/>
          <p:cNvSpPr/>
          <p:nvPr/>
        </p:nvSpPr>
        <p:spPr>
          <a:xfrm>
            <a:off x="8382000" y="5076825"/>
            <a:ext cx="2333625" cy="2190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2716F"/>
              </a:buClr>
              <a:buSzPts val="1125"/>
              <a:buFont typeface="Helvetica Neue"/>
              <a:buNone/>
            </a:pPr>
            <a:r>
              <a:rPr b="0" lang="en-US" sz="1125">
                <a:solidFill>
                  <a:srgbClr val="62716F"/>
                </a:solidFill>
                <a:latin typeface="Helvetica Neue"/>
                <a:ea typeface="Helvetica Neue"/>
                <a:cs typeface="Helvetica Neue"/>
                <a:sym typeface="Helvetica Neue"/>
              </a:rPr>
              <a:t>weak relation</a:t>
            </a:r>
            <a:endParaRPr/>
          </a:p>
        </p:txBody>
      </p:sp>
      <p:cxnSp>
        <p:nvCxnSpPr>
          <p:cNvPr id="1019" name="Google Shape;1019;p116"/>
          <p:cNvCxnSpPr/>
          <p:nvPr/>
        </p:nvCxnSpPr>
        <p:spPr>
          <a:xfrm>
            <a:off x="8143875" y="5572125"/>
            <a:ext cx="3381375" cy="0"/>
          </a:xfrm>
          <a:prstGeom prst="straightConnector1">
            <a:avLst/>
          </a:prstGeom>
          <a:noFill/>
          <a:ln cap="flat" cmpd="sng" w="9525">
            <a:solidFill>
              <a:srgbClr val="D2DCDA"/>
            </a:solidFill>
            <a:prstDash val="solid"/>
            <a:round/>
            <a:headEnd len="sm" w="sm" type="none"/>
            <a:tailEnd len="sm" w="sm" type="none"/>
          </a:ln>
        </p:spPr>
      </p:cxnSp>
      <p:sp>
        <p:nvSpPr>
          <p:cNvPr id="1020" name="Google Shape;1020;p116"/>
          <p:cNvSpPr/>
          <p:nvPr/>
        </p:nvSpPr>
        <p:spPr>
          <a:xfrm>
            <a:off x="8143875" y="5715000"/>
            <a:ext cx="219075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82524"/>
              </a:buClr>
              <a:buSzPts val="1500"/>
              <a:buFont typeface="Helvetica Neue"/>
              <a:buNone/>
            </a:pPr>
            <a:r>
              <a:rPr b="1" lang="en-US" sz="1500">
                <a:solidFill>
                  <a:srgbClr val="182524"/>
                </a:solidFill>
                <a:latin typeface="Helvetica Neue"/>
                <a:ea typeface="Helvetica Neue"/>
                <a:cs typeface="Helvetica Neue"/>
                <a:sym typeface="Helvetica Neue"/>
              </a:rPr>
              <a:t>Highest cosine score</a:t>
            </a:r>
            <a:endParaRPr/>
          </a:p>
        </p:txBody>
      </p:sp>
      <p:sp>
        <p:nvSpPr>
          <p:cNvPr id="1021" name="Google Shape;1021;p116"/>
          <p:cNvSpPr/>
          <p:nvPr/>
        </p:nvSpPr>
        <p:spPr>
          <a:xfrm>
            <a:off x="8143875" y="6038850"/>
            <a:ext cx="3429000" cy="285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465856"/>
              </a:buClr>
              <a:buSzPts val="1350"/>
              <a:buFont typeface="Helvetica Neue"/>
              <a:buNone/>
            </a:pPr>
            <a:r>
              <a:rPr b="0" lang="en-US" sz="1350">
                <a:solidFill>
                  <a:srgbClr val="465856"/>
                </a:solidFill>
                <a:latin typeface="Helvetica Neue"/>
                <a:ea typeface="Helvetica Neue"/>
                <a:cs typeface="Helvetica Neue"/>
                <a:sym typeface="Helvetica Neue"/>
              </a:rPr>
              <a:t>Chunk A becomes the top retrieval match</a:t>
            </a:r>
            <a:endParaRPr/>
          </a:p>
        </p:txBody>
      </p:sp>
      <p:sp>
        <p:nvSpPr>
          <p:cNvPr id="1022" name="Google Shape;1022;p116"/>
          <p:cNvSpPr/>
          <p:nvPr/>
        </p:nvSpPr>
        <p:spPr>
          <a:xfrm>
            <a:off x="533400" y="6477000"/>
            <a:ext cx="11125200" cy="228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62716F"/>
              </a:buClr>
              <a:buSzPts val="1050"/>
              <a:buFont typeface="Helvetica Neue"/>
              <a:buNone/>
            </a:pPr>
            <a:r>
              <a:rPr b="0" lang="en-US" sz="1050">
                <a:solidFill>
                  <a:srgbClr val="62716F"/>
                </a:solidFill>
                <a:latin typeface="Helvetica Neue"/>
                <a:ea typeface="Helvetica Neue"/>
                <a:cs typeface="Helvetica Neue"/>
                <a:sym typeface="Helvetica Neue"/>
              </a:rPr>
              <a:t>Cosine similarity ranges from -1 to 1. Higher values indicate more aligned vector directions.</a:t>
            </a:r>
            <a:endParaRPr/>
          </a:p>
        </p:txBody>
      </p:sp>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7" name="Shape 1027"/>
        <p:cNvGrpSpPr/>
        <p:nvPr/>
      </p:nvGrpSpPr>
      <p:grpSpPr>
        <a:xfrm>
          <a:off x="0" y="0"/>
          <a:ext cx="0" cy="0"/>
          <a:chOff x="0" y="0"/>
          <a:chExt cx="0" cy="0"/>
        </a:xfrm>
      </p:grpSpPr>
      <p:pic>
        <p:nvPicPr>
          <p:cNvPr id="1028" name="Google Shape;1028;p117" title="tokenizer_to_embedding.png"/>
          <p:cNvPicPr preferRelativeResize="0"/>
          <p:nvPr/>
        </p:nvPicPr>
        <p:blipFill>
          <a:blip r:embed="rId3">
            <a:alphaModFix/>
          </a:blip>
          <a:stretch>
            <a:fillRect/>
          </a:stretch>
        </p:blipFill>
        <p:spPr>
          <a:xfrm>
            <a:off x="152400" y="152400"/>
            <a:ext cx="11650132" cy="6553199"/>
          </a:xfrm>
          <a:prstGeom prst="rect">
            <a:avLst/>
          </a:prstGeom>
          <a:noFill/>
          <a:ln>
            <a:noFill/>
          </a:ln>
        </p:spPr>
      </p:pic>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3" name="Shape 1033"/>
        <p:cNvGrpSpPr/>
        <p:nvPr/>
      </p:nvGrpSpPr>
      <p:grpSpPr>
        <a:xfrm>
          <a:off x="0" y="0"/>
          <a:ext cx="0" cy="0"/>
          <a:chOff x="0" y="0"/>
          <a:chExt cx="0" cy="0"/>
        </a:xfrm>
      </p:grpSpPr>
      <p:sp>
        <p:nvSpPr>
          <p:cNvPr id="1034" name="Google Shape;1034;p118"/>
          <p:cNvSpPr txBox="1"/>
          <p:nvPr/>
        </p:nvSpPr>
        <p:spPr>
          <a:xfrm>
            <a:off x="508000" y="279400"/>
            <a:ext cx="8763000" cy="431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b="1" lang="en-US" sz="2400">
                <a:solidFill>
                  <a:srgbClr val="14171F"/>
                </a:solidFill>
              </a:rPr>
              <a:t>Match the tokenizer to the embedding checkpoint</a:t>
            </a:r>
            <a:endParaRPr b="1" sz="2400">
              <a:solidFill>
                <a:srgbClr val="14171F"/>
              </a:solidFill>
            </a:endParaRPr>
          </a:p>
        </p:txBody>
      </p:sp>
      <p:sp>
        <p:nvSpPr>
          <p:cNvPr id="1035" name="Google Shape;1035;p118"/>
          <p:cNvSpPr txBox="1"/>
          <p:nvPr/>
        </p:nvSpPr>
        <p:spPr>
          <a:xfrm>
            <a:off x="508000" y="762000"/>
            <a:ext cx="9906000" cy="2541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lang="en-US" sz="1200">
                <a:solidFill>
                  <a:srgbClr val="575E6E"/>
                </a:solidFill>
              </a:rPr>
              <a:t>One model ID must govern subword segmentation, pooling, projection, and vector size.</a:t>
            </a:r>
            <a:endParaRPr sz="1200">
              <a:solidFill>
                <a:srgbClr val="575E6E"/>
              </a:solidFill>
            </a:endParaRPr>
          </a:p>
        </p:txBody>
      </p:sp>
      <p:sp>
        <p:nvSpPr>
          <p:cNvPr id="1036" name="Google Shape;1036;p118"/>
          <p:cNvSpPr/>
          <p:nvPr/>
        </p:nvSpPr>
        <p:spPr>
          <a:xfrm>
            <a:off x="9588500" y="266700"/>
            <a:ext cx="2095500" cy="381000"/>
          </a:xfrm>
          <a:prstGeom prst="roundRect">
            <a:avLst>
              <a:gd fmla="val 16667" name="adj"/>
            </a:avLst>
          </a:prstGeom>
          <a:solidFill>
            <a:srgbClr val="F0EBFC"/>
          </a:solidFill>
          <a:ln cap="flat" cmpd="sng" w="12700">
            <a:solidFill>
              <a:srgbClr val="7854B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7" name="Google Shape;1037;p118"/>
          <p:cNvSpPr txBox="1"/>
          <p:nvPr/>
        </p:nvSpPr>
        <p:spPr>
          <a:xfrm>
            <a:off x="9690100" y="355600"/>
            <a:ext cx="1892400" cy="2031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None/>
            </a:pPr>
            <a:r>
              <a:rPr b="1" lang="en-US" sz="1100">
                <a:solidFill>
                  <a:srgbClr val="4A2E80"/>
                </a:solidFill>
              </a:rPr>
              <a:t>EmbeddingGemma · 768D</a:t>
            </a:r>
            <a:endParaRPr b="1" sz="1100">
              <a:solidFill>
                <a:srgbClr val="4A2E80"/>
              </a:solidFill>
            </a:endParaRPr>
          </a:p>
        </p:txBody>
      </p:sp>
      <p:sp>
        <p:nvSpPr>
          <p:cNvPr id="1038" name="Google Shape;1038;p118"/>
          <p:cNvSpPr/>
          <p:nvPr/>
        </p:nvSpPr>
        <p:spPr>
          <a:xfrm>
            <a:off x="508000" y="1244600"/>
            <a:ext cx="5397600" cy="3098700"/>
          </a:xfrm>
          <a:prstGeom prst="roundRect">
            <a:avLst>
              <a:gd fmla="val 16667" name="adj"/>
            </a:avLst>
          </a:prstGeom>
          <a:solidFill>
            <a:srgbClr val="F9FAFC"/>
          </a:solidFill>
          <a:ln cap="flat" cmpd="sng" w="12700">
            <a:solidFill>
              <a:srgbClr val="BDC7DB"/>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9" name="Google Shape;1039;p118"/>
          <p:cNvSpPr/>
          <p:nvPr/>
        </p:nvSpPr>
        <p:spPr>
          <a:xfrm>
            <a:off x="508000" y="1244600"/>
            <a:ext cx="5397600" cy="431700"/>
          </a:xfrm>
          <a:prstGeom prst="rect">
            <a:avLst/>
          </a:prstGeom>
          <a:solidFill>
            <a:srgbClr val="E5F0FC"/>
          </a:solidFill>
          <a:ln cap="flat" cmpd="sng" w="12700">
            <a:solidFill>
              <a:srgbClr val="6E99D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40" name="Google Shape;1040;p118"/>
          <p:cNvSpPr txBox="1"/>
          <p:nvPr/>
        </p:nvSpPr>
        <p:spPr>
          <a:xfrm>
            <a:off x="685800" y="1358900"/>
            <a:ext cx="4953000" cy="228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b="1" lang="en-US">
                <a:solidFill>
                  <a:srgbClr val="1A4075"/>
                </a:solidFill>
              </a:rPr>
              <a:t>1  Pair AutoTokenizer with the exact checkpoint</a:t>
            </a:r>
            <a:endParaRPr b="1">
              <a:solidFill>
                <a:srgbClr val="1A4075"/>
              </a:solidFill>
            </a:endParaRPr>
          </a:p>
        </p:txBody>
      </p:sp>
      <p:sp>
        <p:nvSpPr>
          <p:cNvPr id="1041" name="Google Shape;1041;p118"/>
          <p:cNvSpPr txBox="1"/>
          <p:nvPr/>
        </p:nvSpPr>
        <p:spPr>
          <a:xfrm>
            <a:off x="723900" y="1841500"/>
            <a:ext cx="4978500" cy="1968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lang="en-US" sz="950">
                <a:solidFill>
                  <a:srgbClr val="1F242E"/>
                </a:solidFill>
                <a:latin typeface="Roboto Mono"/>
                <a:ea typeface="Roboto Mono"/>
                <a:cs typeface="Roboto Mono"/>
                <a:sym typeface="Roboto Mono"/>
              </a:rPr>
              <a:t>MODEL_ID = "google/embeddinggemma-300m"</a:t>
            </a:r>
            <a:endParaRPr sz="950">
              <a:solidFill>
                <a:srgbClr val="1F242E"/>
              </a:solidFill>
              <a:latin typeface="Roboto Mono"/>
              <a:ea typeface="Roboto Mono"/>
              <a:cs typeface="Roboto Mono"/>
              <a:sym typeface="Roboto Mono"/>
            </a:endParaRPr>
          </a:p>
          <a:p>
            <a:pPr indent="0" lvl="0" marL="0" rtl="0" algn="l">
              <a:lnSpc>
                <a:spcPct val="100000"/>
              </a:lnSpc>
              <a:spcBef>
                <a:spcPts val="0"/>
              </a:spcBef>
              <a:spcAft>
                <a:spcPts val="0"/>
              </a:spcAft>
              <a:buNone/>
            </a:pPr>
            <a:r>
              <a:t/>
            </a:r>
            <a:endParaRPr sz="950">
              <a:solidFill>
                <a:srgbClr val="1F242E"/>
              </a:solidFill>
              <a:latin typeface="Roboto Mono"/>
              <a:ea typeface="Roboto Mono"/>
              <a:cs typeface="Roboto Mono"/>
              <a:sym typeface="Roboto Mono"/>
            </a:endParaRPr>
          </a:p>
          <a:p>
            <a:pPr indent="0" lvl="0" marL="0" rtl="0" algn="l">
              <a:lnSpc>
                <a:spcPct val="100000"/>
              </a:lnSpc>
              <a:spcBef>
                <a:spcPts val="0"/>
              </a:spcBef>
              <a:spcAft>
                <a:spcPts val="0"/>
              </a:spcAft>
              <a:buNone/>
            </a:pPr>
            <a:r>
              <a:rPr lang="en-US" sz="950">
                <a:solidFill>
                  <a:srgbClr val="1F242E"/>
                </a:solidFill>
                <a:latin typeface="Roboto Mono"/>
                <a:ea typeface="Roboto Mono"/>
                <a:cs typeface="Roboto Mono"/>
                <a:sym typeface="Roboto Mono"/>
              </a:rPr>
              <a:t>from transformers import AutoTokenizer</a:t>
            </a:r>
            <a:endParaRPr sz="950">
              <a:solidFill>
                <a:srgbClr val="1F242E"/>
              </a:solidFill>
              <a:latin typeface="Roboto Mono"/>
              <a:ea typeface="Roboto Mono"/>
              <a:cs typeface="Roboto Mono"/>
              <a:sym typeface="Roboto Mono"/>
            </a:endParaRPr>
          </a:p>
          <a:p>
            <a:pPr indent="0" lvl="0" marL="0" rtl="0" algn="l">
              <a:lnSpc>
                <a:spcPct val="100000"/>
              </a:lnSpc>
              <a:spcBef>
                <a:spcPts val="0"/>
              </a:spcBef>
              <a:spcAft>
                <a:spcPts val="0"/>
              </a:spcAft>
              <a:buNone/>
            </a:pPr>
            <a:r>
              <a:t/>
            </a:r>
            <a:endParaRPr sz="950">
              <a:solidFill>
                <a:srgbClr val="1F242E"/>
              </a:solidFill>
              <a:latin typeface="Roboto Mono"/>
              <a:ea typeface="Roboto Mono"/>
              <a:cs typeface="Roboto Mono"/>
              <a:sym typeface="Roboto Mono"/>
            </a:endParaRPr>
          </a:p>
          <a:p>
            <a:pPr indent="0" lvl="0" marL="0" rtl="0" algn="l">
              <a:lnSpc>
                <a:spcPct val="100000"/>
              </a:lnSpc>
              <a:spcBef>
                <a:spcPts val="0"/>
              </a:spcBef>
              <a:spcAft>
                <a:spcPts val="0"/>
              </a:spcAft>
              <a:buNone/>
            </a:pPr>
            <a:r>
              <a:rPr lang="en-US" sz="950">
                <a:solidFill>
                  <a:srgbClr val="1F242E"/>
                </a:solidFill>
                <a:latin typeface="Roboto Mono"/>
                <a:ea typeface="Roboto Mono"/>
                <a:cs typeface="Roboto Mono"/>
                <a:sym typeface="Roboto Mono"/>
              </a:rPr>
              <a:t>tokenizer = AutoTokenizer.from_pretrained(</a:t>
            </a:r>
            <a:endParaRPr sz="950">
              <a:solidFill>
                <a:srgbClr val="1F242E"/>
              </a:solidFill>
              <a:latin typeface="Roboto Mono"/>
              <a:ea typeface="Roboto Mono"/>
              <a:cs typeface="Roboto Mono"/>
              <a:sym typeface="Roboto Mono"/>
            </a:endParaRPr>
          </a:p>
          <a:p>
            <a:pPr indent="0" lvl="0" marL="0" rtl="0" algn="l">
              <a:lnSpc>
                <a:spcPct val="100000"/>
              </a:lnSpc>
              <a:spcBef>
                <a:spcPts val="0"/>
              </a:spcBef>
              <a:spcAft>
                <a:spcPts val="0"/>
              </a:spcAft>
              <a:buNone/>
            </a:pPr>
            <a:r>
              <a:rPr lang="en-US" sz="950">
                <a:solidFill>
                  <a:srgbClr val="1F242E"/>
                </a:solidFill>
                <a:latin typeface="Roboto Mono"/>
                <a:ea typeface="Roboto Mono"/>
                <a:cs typeface="Roboto Mono"/>
                <a:sym typeface="Roboto Mono"/>
              </a:rPr>
              <a:t>    MODEL_ID,</a:t>
            </a:r>
            <a:endParaRPr sz="950">
              <a:solidFill>
                <a:srgbClr val="1F242E"/>
              </a:solidFill>
              <a:latin typeface="Roboto Mono"/>
              <a:ea typeface="Roboto Mono"/>
              <a:cs typeface="Roboto Mono"/>
              <a:sym typeface="Roboto Mono"/>
            </a:endParaRPr>
          </a:p>
          <a:p>
            <a:pPr indent="0" lvl="0" marL="0" rtl="0" algn="l">
              <a:lnSpc>
                <a:spcPct val="100000"/>
              </a:lnSpc>
              <a:spcBef>
                <a:spcPts val="0"/>
              </a:spcBef>
              <a:spcAft>
                <a:spcPts val="0"/>
              </a:spcAft>
              <a:buNone/>
            </a:pPr>
            <a:r>
              <a:rPr lang="en-US" sz="950">
                <a:solidFill>
                  <a:srgbClr val="1F242E"/>
                </a:solidFill>
                <a:latin typeface="Roboto Mono"/>
                <a:ea typeface="Roboto Mono"/>
                <a:cs typeface="Roboto Mono"/>
                <a:sym typeface="Roboto Mono"/>
              </a:rPr>
              <a:t>    use_fast=True,</a:t>
            </a:r>
            <a:endParaRPr sz="950">
              <a:solidFill>
                <a:srgbClr val="1F242E"/>
              </a:solidFill>
              <a:latin typeface="Roboto Mono"/>
              <a:ea typeface="Roboto Mono"/>
              <a:cs typeface="Roboto Mono"/>
              <a:sym typeface="Roboto Mono"/>
            </a:endParaRPr>
          </a:p>
          <a:p>
            <a:pPr indent="0" lvl="0" marL="0" rtl="0" algn="l">
              <a:lnSpc>
                <a:spcPct val="100000"/>
              </a:lnSpc>
              <a:spcBef>
                <a:spcPts val="0"/>
              </a:spcBef>
              <a:spcAft>
                <a:spcPts val="0"/>
              </a:spcAft>
              <a:buNone/>
            </a:pPr>
            <a:r>
              <a:rPr lang="en-US" sz="950">
                <a:solidFill>
                  <a:srgbClr val="1F242E"/>
                </a:solidFill>
                <a:latin typeface="Roboto Mono"/>
                <a:ea typeface="Roboto Mono"/>
                <a:cs typeface="Roboto Mono"/>
                <a:sym typeface="Roboto Mono"/>
              </a:rPr>
              <a:t>)</a:t>
            </a:r>
            <a:endParaRPr sz="950">
              <a:solidFill>
                <a:srgbClr val="1F242E"/>
              </a:solidFill>
              <a:latin typeface="Roboto Mono"/>
              <a:ea typeface="Roboto Mono"/>
              <a:cs typeface="Roboto Mono"/>
              <a:sym typeface="Roboto Mono"/>
            </a:endParaRPr>
          </a:p>
          <a:p>
            <a:pPr indent="0" lvl="0" marL="0" rtl="0" algn="l">
              <a:lnSpc>
                <a:spcPct val="100000"/>
              </a:lnSpc>
              <a:spcBef>
                <a:spcPts val="0"/>
              </a:spcBef>
              <a:spcAft>
                <a:spcPts val="0"/>
              </a:spcAft>
              <a:buNone/>
            </a:pPr>
            <a:r>
              <a:t/>
            </a:r>
            <a:endParaRPr sz="950">
              <a:solidFill>
                <a:srgbClr val="1F242E"/>
              </a:solidFill>
              <a:latin typeface="Roboto Mono"/>
              <a:ea typeface="Roboto Mono"/>
              <a:cs typeface="Roboto Mono"/>
              <a:sym typeface="Roboto Mono"/>
            </a:endParaRPr>
          </a:p>
          <a:p>
            <a:pPr indent="0" lvl="0" marL="0" rtl="0" algn="l">
              <a:lnSpc>
                <a:spcPct val="100000"/>
              </a:lnSpc>
              <a:spcBef>
                <a:spcPts val="0"/>
              </a:spcBef>
              <a:spcAft>
                <a:spcPts val="0"/>
              </a:spcAft>
              <a:buNone/>
            </a:pPr>
            <a:r>
              <a:rPr lang="en-US" sz="950">
                <a:solidFill>
                  <a:srgbClr val="1F242E"/>
                </a:solidFill>
                <a:latin typeface="Roboto Mono"/>
                <a:ea typeface="Roboto Mono"/>
                <a:cs typeface="Roboto Mono"/>
                <a:sym typeface="Roboto Mono"/>
              </a:rPr>
              <a:t>ids = tokenizer(</a:t>
            </a:r>
            <a:endParaRPr sz="950">
              <a:solidFill>
                <a:srgbClr val="1F242E"/>
              </a:solidFill>
              <a:latin typeface="Roboto Mono"/>
              <a:ea typeface="Roboto Mono"/>
              <a:cs typeface="Roboto Mono"/>
              <a:sym typeface="Roboto Mono"/>
            </a:endParaRPr>
          </a:p>
          <a:p>
            <a:pPr indent="0" lvl="0" marL="0" rtl="0" algn="l">
              <a:lnSpc>
                <a:spcPct val="100000"/>
              </a:lnSpc>
              <a:spcBef>
                <a:spcPts val="0"/>
              </a:spcBef>
              <a:spcAft>
                <a:spcPts val="0"/>
              </a:spcAft>
              <a:buNone/>
            </a:pPr>
            <a:r>
              <a:rPr lang="en-US" sz="950">
                <a:solidFill>
                  <a:srgbClr val="1F242E"/>
                </a:solidFill>
                <a:latin typeface="Roboto Mono"/>
                <a:ea typeface="Roboto Mono"/>
                <a:cs typeface="Roboto Mono"/>
                <a:sym typeface="Roboto Mono"/>
              </a:rPr>
              <a:t>    "Preferred: Treanda J9033",</a:t>
            </a:r>
            <a:endParaRPr sz="950">
              <a:solidFill>
                <a:srgbClr val="1F242E"/>
              </a:solidFill>
              <a:latin typeface="Roboto Mono"/>
              <a:ea typeface="Roboto Mono"/>
              <a:cs typeface="Roboto Mono"/>
              <a:sym typeface="Roboto Mono"/>
            </a:endParaRPr>
          </a:p>
          <a:p>
            <a:pPr indent="0" lvl="0" marL="0" rtl="0" algn="l">
              <a:lnSpc>
                <a:spcPct val="100000"/>
              </a:lnSpc>
              <a:spcBef>
                <a:spcPts val="0"/>
              </a:spcBef>
              <a:spcAft>
                <a:spcPts val="0"/>
              </a:spcAft>
              <a:buNone/>
            </a:pPr>
            <a:r>
              <a:rPr lang="en-US" sz="950">
                <a:solidFill>
                  <a:srgbClr val="1F242E"/>
                </a:solidFill>
                <a:latin typeface="Roboto Mono"/>
                <a:ea typeface="Roboto Mono"/>
                <a:cs typeface="Roboto Mono"/>
                <a:sym typeface="Roboto Mono"/>
              </a:rPr>
              <a:t>    truncation=True,</a:t>
            </a:r>
            <a:endParaRPr sz="950">
              <a:solidFill>
                <a:srgbClr val="1F242E"/>
              </a:solidFill>
              <a:latin typeface="Roboto Mono"/>
              <a:ea typeface="Roboto Mono"/>
              <a:cs typeface="Roboto Mono"/>
              <a:sym typeface="Roboto Mono"/>
            </a:endParaRPr>
          </a:p>
          <a:p>
            <a:pPr indent="0" lvl="0" marL="0" rtl="0" algn="l">
              <a:lnSpc>
                <a:spcPct val="100000"/>
              </a:lnSpc>
              <a:spcBef>
                <a:spcPts val="0"/>
              </a:spcBef>
              <a:spcAft>
                <a:spcPts val="0"/>
              </a:spcAft>
              <a:buNone/>
            </a:pPr>
            <a:r>
              <a:rPr lang="en-US" sz="950">
                <a:solidFill>
                  <a:srgbClr val="1F242E"/>
                </a:solidFill>
                <a:latin typeface="Roboto Mono"/>
                <a:ea typeface="Roboto Mono"/>
                <a:cs typeface="Roboto Mono"/>
                <a:sym typeface="Roboto Mono"/>
              </a:rPr>
              <a:t>    max_length=2048,</a:t>
            </a:r>
            <a:endParaRPr sz="950">
              <a:solidFill>
                <a:srgbClr val="1F242E"/>
              </a:solidFill>
              <a:latin typeface="Roboto Mono"/>
              <a:ea typeface="Roboto Mono"/>
              <a:cs typeface="Roboto Mono"/>
              <a:sym typeface="Roboto Mono"/>
            </a:endParaRPr>
          </a:p>
          <a:p>
            <a:pPr indent="0" lvl="0" marL="0" rtl="0" algn="l">
              <a:lnSpc>
                <a:spcPct val="100000"/>
              </a:lnSpc>
              <a:spcBef>
                <a:spcPts val="0"/>
              </a:spcBef>
              <a:spcAft>
                <a:spcPts val="0"/>
              </a:spcAft>
              <a:buNone/>
            </a:pPr>
            <a:r>
              <a:rPr lang="en-US" sz="950">
                <a:solidFill>
                  <a:srgbClr val="1F242E"/>
                </a:solidFill>
                <a:latin typeface="Roboto Mono"/>
                <a:ea typeface="Roboto Mono"/>
                <a:cs typeface="Roboto Mono"/>
                <a:sym typeface="Roboto Mono"/>
              </a:rPr>
              <a:t>)["input_ids"]</a:t>
            </a:r>
            <a:endParaRPr sz="950">
              <a:solidFill>
                <a:srgbClr val="1F242E"/>
              </a:solidFill>
              <a:latin typeface="Roboto Mono"/>
              <a:ea typeface="Roboto Mono"/>
              <a:cs typeface="Roboto Mono"/>
              <a:sym typeface="Roboto Mono"/>
            </a:endParaRPr>
          </a:p>
        </p:txBody>
      </p:sp>
      <p:sp>
        <p:nvSpPr>
          <p:cNvPr id="1042" name="Google Shape;1042;p118"/>
          <p:cNvSpPr txBox="1"/>
          <p:nvPr/>
        </p:nvSpPr>
        <p:spPr>
          <a:xfrm>
            <a:off x="723900" y="3924300"/>
            <a:ext cx="4978500" cy="266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b="1" lang="en-US" sz="1150">
                <a:solidFill>
                  <a:srgbClr val="2E5C94"/>
                </a:solidFill>
              </a:rPr>
              <a:t>Vocabulary + SentencePiece rules come from MODEL_ID.</a:t>
            </a:r>
            <a:endParaRPr b="1" sz="1150">
              <a:solidFill>
                <a:srgbClr val="2E5C94"/>
              </a:solidFill>
            </a:endParaRPr>
          </a:p>
        </p:txBody>
      </p:sp>
      <p:sp>
        <p:nvSpPr>
          <p:cNvPr id="1043" name="Google Shape;1043;p118"/>
          <p:cNvSpPr/>
          <p:nvPr/>
        </p:nvSpPr>
        <p:spPr>
          <a:xfrm>
            <a:off x="6286500" y="1244600"/>
            <a:ext cx="5397600" cy="3098700"/>
          </a:xfrm>
          <a:prstGeom prst="roundRect">
            <a:avLst>
              <a:gd fmla="val 16667" name="adj"/>
            </a:avLst>
          </a:prstGeom>
          <a:solidFill>
            <a:srgbClr val="FAFBF9"/>
          </a:solidFill>
          <a:ln cap="flat" cmpd="sng" w="12700">
            <a:solidFill>
              <a:srgbClr val="BAD4B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44" name="Google Shape;1044;p118"/>
          <p:cNvSpPr/>
          <p:nvPr/>
        </p:nvSpPr>
        <p:spPr>
          <a:xfrm>
            <a:off x="6286500" y="1244600"/>
            <a:ext cx="5397600" cy="431700"/>
          </a:xfrm>
          <a:prstGeom prst="rect">
            <a:avLst/>
          </a:prstGeom>
          <a:solidFill>
            <a:srgbClr val="E5F7E8"/>
          </a:solidFill>
          <a:ln cap="flat" cmpd="sng" w="12700">
            <a:solidFill>
              <a:srgbClr val="5EA86E"/>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45" name="Google Shape;1045;p118"/>
          <p:cNvSpPr txBox="1"/>
          <p:nvPr/>
        </p:nvSpPr>
        <p:spPr>
          <a:xfrm>
            <a:off x="6464300" y="1358900"/>
            <a:ext cx="4953000" cy="228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b="1" lang="en-US">
                <a:solidFill>
                  <a:srgbClr val="1A612E"/>
                </a:solidFill>
              </a:rPr>
              <a:t>2  Load the complete embedding pipeline</a:t>
            </a:r>
            <a:endParaRPr b="1">
              <a:solidFill>
                <a:srgbClr val="1A612E"/>
              </a:solidFill>
            </a:endParaRPr>
          </a:p>
        </p:txBody>
      </p:sp>
      <p:sp>
        <p:nvSpPr>
          <p:cNvPr id="1046" name="Google Shape;1046;p118"/>
          <p:cNvSpPr txBox="1"/>
          <p:nvPr/>
        </p:nvSpPr>
        <p:spPr>
          <a:xfrm>
            <a:off x="6502400" y="1841500"/>
            <a:ext cx="4978500" cy="1968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lang="en-US" sz="950">
                <a:solidFill>
                  <a:srgbClr val="1F242E"/>
                </a:solidFill>
                <a:latin typeface="Roboto Mono"/>
                <a:ea typeface="Roboto Mono"/>
                <a:cs typeface="Roboto Mono"/>
                <a:sym typeface="Roboto Mono"/>
              </a:rPr>
              <a:t>from sentence_transformers import SentenceTransformer</a:t>
            </a:r>
            <a:endParaRPr sz="950">
              <a:solidFill>
                <a:srgbClr val="1F242E"/>
              </a:solidFill>
              <a:latin typeface="Roboto Mono"/>
              <a:ea typeface="Roboto Mono"/>
              <a:cs typeface="Roboto Mono"/>
              <a:sym typeface="Roboto Mono"/>
            </a:endParaRPr>
          </a:p>
          <a:p>
            <a:pPr indent="0" lvl="0" marL="0" rtl="0" algn="l">
              <a:lnSpc>
                <a:spcPct val="100000"/>
              </a:lnSpc>
              <a:spcBef>
                <a:spcPts val="0"/>
              </a:spcBef>
              <a:spcAft>
                <a:spcPts val="0"/>
              </a:spcAft>
              <a:buNone/>
            </a:pPr>
            <a:r>
              <a:t/>
            </a:r>
            <a:endParaRPr sz="950">
              <a:solidFill>
                <a:srgbClr val="1F242E"/>
              </a:solidFill>
              <a:latin typeface="Roboto Mono"/>
              <a:ea typeface="Roboto Mono"/>
              <a:cs typeface="Roboto Mono"/>
              <a:sym typeface="Roboto Mono"/>
            </a:endParaRPr>
          </a:p>
          <a:p>
            <a:pPr indent="0" lvl="0" marL="0" rtl="0" algn="l">
              <a:lnSpc>
                <a:spcPct val="100000"/>
              </a:lnSpc>
              <a:spcBef>
                <a:spcPts val="0"/>
              </a:spcBef>
              <a:spcAft>
                <a:spcPts val="0"/>
              </a:spcAft>
              <a:buNone/>
            </a:pPr>
            <a:r>
              <a:rPr lang="en-US" sz="950">
                <a:solidFill>
                  <a:srgbClr val="1F242E"/>
                </a:solidFill>
                <a:latin typeface="Roboto Mono"/>
                <a:ea typeface="Roboto Mono"/>
                <a:cs typeface="Roboto Mono"/>
                <a:sym typeface="Roboto Mono"/>
              </a:rPr>
              <a:t>embedder = SentenceTransformer(</a:t>
            </a:r>
            <a:endParaRPr sz="950">
              <a:solidFill>
                <a:srgbClr val="1F242E"/>
              </a:solidFill>
              <a:latin typeface="Roboto Mono"/>
              <a:ea typeface="Roboto Mono"/>
              <a:cs typeface="Roboto Mono"/>
              <a:sym typeface="Roboto Mono"/>
            </a:endParaRPr>
          </a:p>
          <a:p>
            <a:pPr indent="0" lvl="0" marL="0" rtl="0" algn="l">
              <a:lnSpc>
                <a:spcPct val="100000"/>
              </a:lnSpc>
              <a:spcBef>
                <a:spcPts val="0"/>
              </a:spcBef>
              <a:spcAft>
                <a:spcPts val="0"/>
              </a:spcAft>
              <a:buNone/>
            </a:pPr>
            <a:r>
              <a:rPr lang="en-US" sz="950">
                <a:solidFill>
                  <a:srgbClr val="1F242E"/>
                </a:solidFill>
                <a:latin typeface="Roboto Mono"/>
                <a:ea typeface="Roboto Mono"/>
                <a:cs typeface="Roboto Mono"/>
                <a:sym typeface="Roboto Mono"/>
              </a:rPr>
              <a:t>    MODEL_ID,</a:t>
            </a:r>
            <a:endParaRPr sz="950">
              <a:solidFill>
                <a:srgbClr val="1F242E"/>
              </a:solidFill>
              <a:latin typeface="Roboto Mono"/>
              <a:ea typeface="Roboto Mono"/>
              <a:cs typeface="Roboto Mono"/>
              <a:sym typeface="Roboto Mono"/>
            </a:endParaRPr>
          </a:p>
          <a:p>
            <a:pPr indent="0" lvl="0" marL="0" rtl="0" algn="l">
              <a:lnSpc>
                <a:spcPct val="100000"/>
              </a:lnSpc>
              <a:spcBef>
                <a:spcPts val="0"/>
              </a:spcBef>
              <a:spcAft>
                <a:spcPts val="0"/>
              </a:spcAft>
              <a:buNone/>
            </a:pPr>
            <a:r>
              <a:rPr lang="en-US" sz="950">
                <a:solidFill>
                  <a:srgbClr val="1F242E"/>
                </a:solidFill>
                <a:latin typeface="Roboto Mono"/>
                <a:ea typeface="Roboto Mono"/>
                <a:cs typeface="Roboto Mono"/>
                <a:sym typeface="Roboto Mono"/>
              </a:rPr>
              <a:t>    truncate_dim=768,</a:t>
            </a:r>
            <a:endParaRPr sz="950">
              <a:solidFill>
                <a:srgbClr val="1F242E"/>
              </a:solidFill>
              <a:latin typeface="Roboto Mono"/>
              <a:ea typeface="Roboto Mono"/>
              <a:cs typeface="Roboto Mono"/>
              <a:sym typeface="Roboto Mono"/>
            </a:endParaRPr>
          </a:p>
          <a:p>
            <a:pPr indent="0" lvl="0" marL="0" rtl="0" algn="l">
              <a:lnSpc>
                <a:spcPct val="100000"/>
              </a:lnSpc>
              <a:spcBef>
                <a:spcPts val="0"/>
              </a:spcBef>
              <a:spcAft>
                <a:spcPts val="0"/>
              </a:spcAft>
              <a:buNone/>
            </a:pPr>
            <a:r>
              <a:rPr lang="en-US" sz="950">
                <a:solidFill>
                  <a:srgbClr val="1F242E"/>
                </a:solidFill>
                <a:latin typeface="Roboto Mono"/>
                <a:ea typeface="Roboto Mono"/>
                <a:cs typeface="Roboto Mono"/>
                <a:sym typeface="Roboto Mono"/>
              </a:rPr>
              <a:t>)</a:t>
            </a:r>
            <a:endParaRPr sz="950">
              <a:solidFill>
                <a:srgbClr val="1F242E"/>
              </a:solidFill>
              <a:latin typeface="Roboto Mono"/>
              <a:ea typeface="Roboto Mono"/>
              <a:cs typeface="Roboto Mono"/>
              <a:sym typeface="Roboto Mono"/>
            </a:endParaRPr>
          </a:p>
          <a:p>
            <a:pPr indent="0" lvl="0" marL="0" rtl="0" algn="l">
              <a:lnSpc>
                <a:spcPct val="100000"/>
              </a:lnSpc>
              <a:spcBef>
                <a:spcPts val="0"/>
              </a:spcBef>
              <a:spcAft>
                <a:spcPts val="0"/>
              </a:spcAft>
              <a:buNone/>
            </a:pPr>
            <a:r>
              <a:t/>
            </a:r>
            <a:endParaRPr sz="950">
              <a:solidFill>
                <a:srgbClr val="1F242E"/>
              </a:solidFill>
              <a:latin typeface="Roboto Mono"/>
              <a:ea typeface="Roboto Mono"/>
              <a:cs typeface="Roboto Mono"/>
              <a:sym typeface="Roboto Mono"/>
            </a:endParaRPr>
          </a:p>
          <a:p>
            <a:pPr indent="0" lvl="0" marL="0" rtl="0" algn="l">
              <a:lnSpc>
                <a:spcPct val="100000"/>
              </a:lnSpc>
              <a:spcBef>
                <a:spcPts val="0"/>
              </a:spcBef>
              <a:spcAft>
                <a:spcPts val="0"/>
              </a:spcAft>
              <a:buNone/>
            </a:pPr>
            <a:r>
              <a:rPr lang="en-US" sz="950">
                <a:solidFill>
                  <a:srgbClr val="1F242E"/>
                </a:solidFill>
                <a:latin typeface="Roboto Mono"/>
                <a:ea typeface="Roboto Mono"/>
                <a:cs typeface="Roboto Mono"/>
                <a:sym typeface="Roboto Mono"/>
              </a:rPr>
              <a:t>q = embedder.encode_query(question)</a:t>
            </a:r>
            <a:endParaRPr sz="950">
              <a:solidFill>
                <a:srgbClr val="1F242E"/>
              </a:solidFill>
              <a:latin typeface="Roboto Mono"/>
              <a:ea typeface="Roboto Mono"/>
              <a:cs typeface="Roboto Mono"/>
              <a:sym typeface="Roboto Mono"/>
            </a:endParaRPr>
          </a:p>
          <a:p>
            <a:pPr indent="0" lvl="0" marL="0" rtl="0" algn="l">
              <a:lnSpc>
                <a:spcPct val="100000"/>
              </a:lnSpc>
              <a:spcBef>
                <a:spcPts val="0"/>
              </a:spcBef>
              <a:spcAft>
                <a:spcPts val="0"/>
              </a:spcAft>
              <a:buNone/>
            </a:pPr>
            <a:r>
              <a:rPr lang="en-US" sz="950">
                <a:solidFill>
                  <a:srgbClr val="1F242E"/>
                </a:solidFill>
                <a:latin typeface="Roboto Mono"/>
                <a:ea typeface="Roboto Mono"/>
                <a:cs typeface="Roboto Mono"/>
                <a:sym typeface="Roboto Mono"/>
              </a:rPr>
              <a:t>docs = embedder.encode_document(chunks)</a:t>
            </a:r>
            <a:endParaRPr sz="950">
              <a:solidFill>
                <a:srgbClr val="1F242E"/>
              </a:solidFill>
              <a:latin typeface="Roboto Mono"/>
              <a:ea typeface="Roboto Mono"/>
              <a:cs typeface="Roboto Mono"/>
              <a:sym typeface="Roboto Mono"/>
            </a:endParaRPr>
          </a:p>
          <a:p>
            <a:pPr indent="0" lvl="0" marL="0" rtl="0" algn="l">
              <a:lnSpc>
                <a:spcPct val="100000"/>
              </a:lnSpc>
              <a:spcBef>
                <a:spcPts val="0"/>
              </a:spcBef>
              <a:spcAft>
                <a:spcPts val="0"/>
              </a:spcAft>
              <a:buNone/>
            </a:pPr>
            <a:r>
              <a:t/>
            </a:r>
            <a:endParaRPr sz="950">
              <a:solidFill>
                <a:srgbClr val="1F242E"/>
              </a:solidFill>
              <a:latin typeface="Roboto Mono"/>
              <a:ea typeface="Roboto Mono"/>
              <a:cs typeface="Roboto Mono"/>
              <a:sym typeface="Roboto Mono"/>
            </a:endParaRPr>
          </a:p>
          <a:p>
            <a:pPr indent="0" lvl="0" marL="0" rtl="0" algn="l">
              <a:lnSpc>
                <a:spcPct val="100000"/>
              </a:lnSpc>
              <a:spcBef>
                <a:spcPts val="0"/>
              </a:spcBef>
              <a:spcAft>
                <a:spcPts val="0"/>
              </a:spcAft>
              <a:buNone/>
            </a:pPr>
            <a:r>
              <a:rPr lang="en-US" sz="950">
                <a:solidFill>
                  <a:srgbClr val="1F242E"/>
                </a:solidFill>
                <a:latin typeface="Roboto Mono"/>
                <a:ea typeface="Roboto Mono"/>
                <a:cs typeface="Roboto Mono"/>
                <a:sym typeface="Roboto Mono"/>
              </a:rPr>
              <a:t>scores = embedder.similarity(q, docs)</a:t>
            </a:r>
            <a:endParaRPr sz="950">
              <a:solidFill>
                <a:srgbClr val="1F242E"/>
              </a:solidFill>
              <a:latin typeface="Roboto Mono"/>
              <a:ea typeface="Roboto Mono"/>
              <a:cs typeface="Roboto Mono"/>
              <a:sym typeface="Roboto Mono"/>
            </a:endParaRPr>
          </a:p>
          <a:p>
            <a:pPr indent="0" lvl="0" marL="0" rtl="0" algn="l">
              <a:lnSpc>
                <a:spcPct val="100000"/>
              </a:lnSpc>
              <a:spcBef>
                <a:spcPts val="0"/>
              </a:spcBef>
              <a:spcAft>
                <a:spcPts val="0"/>
              </a:spcAft>
              <a:buNone/>
            </a:pPr>
            <a:r>
              <a:rPr lang="en-US" sz="950">
                <a:solidFill>
                  <a:srgbClr val="1F242E"/>
                </a:solidFill>
                <a:latin typeface="Roboto Mono"/>
                <a:ea typeface="Roboto Mono"/>
                <a:cs typeface="Roboto Mono"/>
                <a:sym typeface="Roboto Mono"/>
              </a:rPr>
              <a:t>print(q.shape)               # (768,)</a:t>
            </a:r>
            <a:endParaRPr sz="950">
              <a:solidFill>
                <a:srgbClr val="1F242E"/>
              </a:solidFill>
              <a:latin typeface="Roboto Mono"/>
              <a:ea typeface="Roboto Mono"/>
              <a:cs typeface="Roboto Mono"/>
              <a:sym typeface="Roboto Mono"/>
            </a:endParaRPr>
          </a:p>
        </p:txBody>
      </p:sp>
      <p:sp>
        <p:nvSpPr>
          <p:cNvPr id="1047" name="Google Shape;1047;p118"/>
          <p:cNvSpPr txBox="1"/>
          <p:nvPr/>
        </p:nvSpPr>
        <p:spPr>
          <a:xfrm>
            <a:off x="6502400" y="3924300"/>
            <a:ext cx="4978500" cy="266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b="1" lang="en-US" sz="1150">
                <a:solidFill>
                  <a:srgbClr val="296E38"/>
                </a:solidFill>
              </a:rPr>
              <a:t>Includes mean pooling → dense layers → L2 normalization.</a:t>
            </a:r>
            <a:endParaRPr b="1" sz="1150">
              <a:solidFill>
                <a:srgbClr val="296E38"/>
              </a:solidFill>
            </a:endParaRPr>
          </a:p>
        </p:txBody>
      </p:sp>
      <p:sp>
        <p:nvSpPr>
          <p:cNvPr id="1048" name="Google Shape;1048;p118"/>
          <p:cNvSpPr txBox="1"/>
          <p:nvPr/>
        </p:nvSpPr>
        <p:spPr>
          <a:xfrm>
            <a:off x="508000" y="4533900"/>
            <a:ext cx="2793900" cy="1905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b="1" lang="en-US" sz="1000">
                <a:solidFill>
                  <a:srgbClr val="545E7A"/>
                </a:solidFill>
              </a:rPr>
              <a:t>ONE MATCHED PIPELINE</a:t>
            </a:r>
            <a:endParaRPr b="1" sz="1000">
              <a:solidFill>
                <a:srgbClr val="545E7A"/>
              </a:solidFill>
            </a:endParaRPr>
          </a:p>
        </p:txBody>
      </p:sp>
      <p:sp>
        <p:nvSpPr>
          <p:cNvPr id="1049" name="Google Shape;1049;p118"/>
          <p:cNvSpPr/>
          <p:nvPr/>
        </p:nvSpPr>
        <p:spPr>
          <a:xfrm>
            <a:off x="508000" y="4787900"/>
            <a:ext cx="1841400" cy="673200"/>
          </a:xfrm>
          <a:prstGeom prst="roundRect">
            <a:avLst>
              <a:gd fmla="val 16667" name="adj"/>
            </a:avLst>
          </a:prstGeom>
          <a:solidFill>
            <a:srgbClr val="F0EBFC"/>
          </a:solidFill>
          <a:ln cap="flat" cmpd="sng" w="12700">
            <a:solidFill>
              <a:srgbClr val="9EA8B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50" name="Google Shape;1050;p118"/>
          <p:cNvSpPr txBox="1"/>
          <p:nvPr/>
        </p:nvSpPr>
        <p:spPr>
          <a:xfrm>
            <a:off x="596900" y="4940300"/>
            <a:ext cx="1663800" cy="3810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None/>
            </a:pPr>
            <a:r>
              <a:rPr b="1" lang="en-US" sz="1150">
                <a:solidFill>
                  <a:srgbClr val="212936"/>
                </a:solidFill>
              </a:rPr>
              <a:t>same MODEL_ID</a:t>
            </a:r>
            <a:endParaRPr b="1" sz="1150">
              <a:solidFill>
                <a:srgbClr val="212936"/>
              </a:solidFill>
            </a:endParaRPr>
          </a:p>
        </p:txBody>
      </p:sp>
      <p:sp>
        <p:nvSpPr>
          <p:cNvPr id="1051" name="Google Shape;1051;p118"/>
          <p:cNvSpPr txBox="1"/>
          <p:nvPr/>
        </p:nvSpPr>
        <p:spPr>
          <a:xfrm>
            <a:off x="2400300" y="4940300"/>
            <a:ext cx="279300" cy="3555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None/>
            </a:pPr>
            <a:r>
              <a:rPr b="1" lang="en-US" sz="2200">
                <a:solidFill>
                  <a:srgbClr val="5E6B85"/>
                </a:solidFill>
              </a:rPr>
              <a:t>→</a:t>
            </a:r>
            <a:endParaRPr b="1" sz="2200">
              <a:solidFill>
                <a:srgbClr val="5E6B85"/>
              </a:solidFill>
            </a:endParaRPr>
          </a:p>
        </p:txBody>
      </p:sp>
      <p:sp>
        <p:nvSpPr>
          <p:cNvPr id="1052" name="Google Shape;1052;p118"/>
          <p:cNvSpPr/>
          <p:nvPr/>
        </p:nvSpPr>
        <p:spPr>
          <a:xfrm>
            <a:off x="2755900" y="4787900"/>
            <a:ext cx="1841400" cy="673200"/>
          </a:xfrm>
          <a:prstGeom prst="roundRect">
            <a:avLst>
              <a:gd fmla="val 16667" name="adj"/>
            </a:avLst>
          </a:prstGeom>
          <a:solidFill>
            <a:srgbClr val="E8F2FF"/>
          </a:solidFill>
          <a:ln cap="flat" cmpd="sng" w="12700">
            <a:solidFill>
              <a:srgbClr val="9EA8B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53" name="Google Shape;1053;p118"/>
          <p:cNvSpPr txBox="1"/>
          <p:nvPr/>
        </p:nvSpPr>
        <p:spPr>
          <a:xfrm>
            <a:off x="2844800" y="4940300"/>
            <a:ext cx="1663800" cy="3810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None/>
            </a:pPr>
            <a:r>
              <a:rPr b="1" lang="en-US" sz="1150">
                <a:solidFill>
                  <a:srgbClr val="212936"/>
                </a:solidFill>
              </a:rPr>
              <a:t>subword tokenizer</a:t>
            </a:r>
            <a:endParaRPr b="1" sz="1150">
              <a:solidFill>
                <a:srgbClr val="212936"/>
              </a:solidFill>
            </a:endParaRPr>
          </a:p>
          <a:p>
            <a:pPr indent="0" lvl="0" marL="0" rtl="0" algn="ctr">
              <a:lnSpc>
                <a:spcPct val="100000"/>
              </a:lnSpc>
              <a:spcBef>
                <a:spcPts val="0"/>
              </a:spcBef>
              <a:spcAft>
                <a:spcPts val="0"/>
              </a:spcAft>
              <a:buNone/>
            </a:pPr>
            <a:r>
              <a:rPr b="1" lang="en-US" sz="1150">
                <a:solidFill>
                  <a:srgbClr val="212936"/>
                </a:solidFill>
              </a:rPr>
              <a:t>integer token IDs</a:t>
            </a:r>
            <a:endParaRPr b="1" sz="1150">
              <a:solidFill>
                <a:srgbClr val="212936"/>
              </a:solidFill>
            </a:endParaRPr>
          </a:p>
        </p:txBody>
      </p:sp>
      <p:sp>
        <p:nvSpPr>
          <p:cNvPr id="1054" name="Google Shape;1054;p118"/>
          <p:cNvSpPr txBox="1"/>
          <p:nvPr/>
        </p:nvSpPr>
        <p:spPr>
          <a:xfrm>
            <a:off x="4648200" y="4940300"/>
            <a:ext cx="279300" cy="3555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None/>
            </a:pPr>
            <a:r>
              <a:rPr b="1" lang="en-US" sz="2200">
                <a:solidFill>
                  <a:srgbClr val="5E6B85"/>
                </a:solidFill>
              </a:rPr>
              <a:t>→</a:t>
            </a:r>
            <a:endParaRPr b="1" sz="2200">
              <a:solidFill>
                <a:srgbClr val="5E6B85"/>
              </a:solidFill>
            </a:endParaRPr>
          </a:p>
        </p:txBody>
      </p:sp>
      <p:sp>
        <p:nvSpPr>
          <p:cNvPr id="1055" name="Google Shape;1055;p118"/>
          <p:cNvSpPr/>
          <p:nvPr/>
        </p:nvSpPr>
        <p:spPr>
          <a:xfrm>
            <a:off x="5003800" y="4787900"/>
            <a:ext cx="1841400" cy="673200"/>
          </a:xfrm>
          <a:prstGeom prst="roundRect">
            <a:avLst>
              <a:gd fmla="val 16667" name="adj"/>
            </a:avLst>
          </a:prstGeom>
          <a:solidFill>
            <a:srgbClr val="EBF5FF"/>
          </a:solidFill>
          <a:ln cap="flat" cmpd="sng" w="12700">
            <a:solidFill>
              <a:srgbClr val="9EA8B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56" name="Google Shape;1056;p118"/>
          <p:cNvSpPr txBox="1"/>
          <p:nvPr/>
        </p:nvSpPr>
        <p:spPr>
          <a:xfrm>
            <a:off x="5092700" y="4940300"/>
            <a:ext cx="1663800" cy="3810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None/>
            </a:pPr>
            <a:r>
              <a:rPr b="1" lang="en-US" sz="1150">
                <a:solidFill>
                  <a:srgbClr val="212936"/>
                </a:solidFill>
              </a:rPr>
              <a:t>Gemma 3 encoder</a:t>
            </a:r>
            <a:endParaRPr b="1" sz="1150">
              <a:solidFill>
                <a:srgbClr val="212936"/>
              </a:solidFill>
            </a:endParaRPr>
          </a:p>
          <a:p>
            <a:pPr indent="0" lvl="0" marL="0" rtl="0" algn="ctr">
              <a:lnSpc>
                <a:spcPct val="100000"/>
              </a:lnSpc>
              <a:spcBef>
                <a:spcPts val="0"/>
              </a:spcBef>
              <a:spcAft>
                <a:spcPts val="0"/>
              </a:spcAft>
              <a:buNone/>
            </a:pPr>
            <a:r>
              <a:rPr b="1" lang="en-US" sz="1150">
                <a:solidFill>
                  <a:srgbClr val="212936"/>
                </a:solidFill>
              </a:rPr>
              <a:t>token vectors</a:t>
            </a:r>
            <a:endParaRPr b="1" sz="1150">
              <a:solidFill>
                <a:srgbClr val="212936"/>
              </a:solidFill>
            </a:endParaRPr>
          </a:p>
        </p:txBody>
      </p:sp>
      <p:sp>
        <p:nvSpPr>
          <p:cNvPr id="1057" name="Google Shape;1057;p118"/>
          <p:cNvSpPr txBox="1"/>
          <p:nvPr/>
        </p:nvSpPr>
        <p:spPr>
          <a:xfrm>
            <a:off x="6896100" y="4940300"/>
            <a:ext cx="279300" cy="3555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None/>
            </a:pPr>
            <a:r>
              <a:rPr b="1" lang="en-US" sz="2200">
                <a:solidFill>
                  <a:srgbClr val="5E6B85"/>
                </a:solidFill>
              </a:rPr>
              <a:t>→</a:t>
            </a:r>
            <a:endParaRPr b="1" sz="2200">
              <a:solidFill>
                <a:srgbClr val="5E6B85"/>
              </a:solidFill>
            </a:endParaRPr>
          </a:p>
        </p:txBody>
      </p:sp>
      <p:sp>
        <p:nvSpPr>
          <p:cNvPr id="1058" name="Google Shape;1058;p118"/>
          <p:cNvSpPr/>
          <p:nvPr/>
        </p:nvSpPr>
        <p:spPr>
          <a:xfrm>
            <a:off x="7251700" y="4787900"/>
            <a:ext cx="1841400" cy="673200"/>
          </a:xfrm>
          <a:prstGeom prst="roundRect">
            <a:avLst>
              <a:gd fmla="val 16667" name="adj"/>
            </a:avLst>
          </a:prstGeom>
          <a:solidFill>
            <a:srgbClr val="E8FAED"/>
          </a:solidFill>
          <a:ln cap="flat" cmpd="sng" w="12700">
            <a:solidFill>
              <a:srgbClr val="9EA8B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59" name="Google Shape;1059;p118"/>
          <p:cNvSpPr txBox="1"/>
          <p:nvPr/>
        </p:nvSpPr>
        <p:spPr>
          <a:xfrm>
            <a:off x="7340600" y="4940300"/>
            <a:ext cx="1663800" cy="3810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None/>
            </a:pPr>
            <a:r>
              <a:rPr b="1" lang="en-US" sz="1150">
                <a:solidFill>
                  <a:srgbClr val="212936"/>
                </a:solidFill>
              </a:rPr>
              <a:t>mean pool + dense</a:t>
            </a:r>
            <a:endParaRPr b="1" sz="1150">
              <a:solidFill>
                <a:srgbClr val="212936"/>
              </a:solidFill>
            </a:endParaRPr>
          </a:p>
          <a:p>
            <a:pPr indent="0" lvl="0" marL="0" rtl="0" algn="ctr">
              <a:lnSpc>
                <a:spcPct val="100000"/>
              </a:lnSpc>
              <a:spcBef>
                <a:spcPts val="0"/>
              </a:spcBef>
              <a:spcAft>
                <a:spcPts val="0"/>
              </a:spcAft>
              <a:buNone/>
            </a:pPr>
            <a:r>
              <a:rPr b="1" lang="en-US" sz="1150">
                <a:solidFill>
                  <a:srgbClr val="212936"/>
                </a:solidFill>
              </a:rPr>
              <a:t>projection</a:t>
            </a:r>
            <a:endParaRPr b="1" sz="1150">
              <a:solidFill>
                <a:srgbClr val="212936"/>
              </a:solidFill>
            </a:endParaRPr>
          </a:p>
        </p:txBody>
      </p:sp>
      <p:sp>
        <p:nvSpPr>
          <p:cNvPr id="1060" name="Google Shape;1060;p118"/>
          <p:cNvSpPr txBox="1"/>
          <p:nvPr/>
        </p:nvSpPr>
        <p:spPr>
          <a:xfrm>
            <a:off x="9144000" y="4940300"/>
            <a:ext cx="279300" cy="3555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None/>
            </a:pPr>
            <a:r>
              <a:rPr b="1" lang="en-US" sz="2200">
                <a:solidFill>
                  <a:srgbClr val="5E6B85"/>
                </a:solidFill>
              </a:rPr>
              <a:t>→</a:t>
            </a:r>
            <a:endParaRPr b="1" sz="2200">
              <a:solidFill>
                <a:srgbClr val="5E6B85"/>
              </a:solidFill>
            </a:endParaRPr>
          </a:p>
        </p:txBody>
      </p:sp>
      <p:sp>
        <p:nvSpPr>
          <p:cNvPr id="1061" name="Google Shape;1061;p118"/>
          <p:cNvSpPr/>
          <p:nvPr/>
        </p:nvSpPr>
        <p:spPr>
          <a:xfrm>
            <a:off x="9499600" y="4787900"/>
            <a:ext cx="1841400" cy="673200"/>
          </a:xfrm>
          <a:prstGeom prst="roundRect">
            <a:avLst>
              <a:gd fmla="val 16667" name="adj"/>
            </a:avLst>
          </a:prstGeom>
          <a:solidFill>
            <a:srgbClr val="E3F7E8"/>
          </a:solidFill>
          <a:ln cap="flat" cmpd="sng" w="12700">
            <a:solidFill>
              <a:srgbClr val="9EA8B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62" name="Google Shape;1062;p118"/>
          <p:cNvSpPr txBox="1"/>
          <p:nvPr/>
        </p:nvSpPr>
        <p:spPr>
          <a:xfrm>
            <a:off x="9588500" y="4940300"/>
            <a:ext cx="1663800" cy="3810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None/>
            </a:pPr>
            <a:r>
              <a:rPr b="1" lang="en-US" sz="1150">
                <a:solidFill>
                  <a:srgbClr val="212936"/>
                </a:solidFill>
              </a:rPr>
              <a:t>L2-normalized</a:t>
            </a:r>
            <a:endParaRPr b="1" sz="1150">
              <a:solidFill>
                <a:srgbClr val="212936"/>
              </a:solidFill>
            </a:endParaRPr>
          </a:p>
          <a:p>
            <a:pPr indent="0" lvl="0" marL="0" rtl="0" algn="ctr">
              <a:lnSpc>
                <a:spcPct val="100000"/>
              </a:lnSpc>
              <a:spcBef>
                <a:spcPts val="0"/>
              </a:spcBef>
              <a:spcAft>
                <a:spcPts val="0"/>
              </a:spcAft>
              <a:buNone/>
            </a:pPr>
            <a:r>
              <a:rPr b="1" lang="en-US" sz="1150">
                <a:solidFill>
                  <a:srgbClr val="212936"/>
                </a:solidFill>
              </a:rPr>
              <a:t>768-D vector</a:t>
            </a:r>
            <a:endParaRPr b="1" sz="1150">
              <a:solidFill>
                <a:srgbClr val="212936"/>
              </a:solidFill>
            </a:endParaRPr>
          </a:p>
        </p:txBody>
      </p:sp>
      <p:sp>
        <p:nvSpPr>
          <p:cNvPr id="1063" name="Google Shape;1063;p118"/>
          <p:cNvSpPr/>
          <p:nvPr/>
        </p:nvSpPr>
        <p:spPr>
          <a:xfrm>
            <a:off x="508000" y="5676900"/>
            <a:ext cx="11175900" cy="609600"/>
          </a:xfrm>
          <a:prstGeom prst="roundRect">
            <a:avLst>
              <a:gd fmla="val 16667" name="adj"/>
            </a:avLst>
          </a:prstGeom>
          <a:solidFill>
            <a:srgbClr val="FFF2F2"/>
          </a:solidFill>
          <a:ln cap="flat" cmpd="sng" w="12700">
            <a:solidFill>
              <a:srgbClr val="DB3333"/>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64" name="Google Shape;1064;p118"/>
          <p:cNvSpPr txBox="1"/>
          <p:nvPr/>
        </p:nvSpPr>
        <p:spPr>
          <a:xfrm>
            <a:off x="698500" y="5803900"/>
            <a:ext cx="10794900" cy="3555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b="1" lang="en-US" sz="1200">
                <a:solidFill>
                  <a:srgbClr val="8C1212"/>
                </a:solidFill>
              </a:rPr>
              <a:t>Do not mix checkpoint IDs. AutoModel alone omits EmbeddingGemma’s pooling/projection head; use SentenceTransformer for retrieval embeddings.</a:t>
            </a:r>
            <a:endParaRPr b="1" sz="1200">
              <a:solidFill>
                <a:srgbClr val="8C1212"/>
              </a:solidFill>
            </a:endParaRPr>
          </a:p>
        </p:txBody>
      </p:sp>
      <p:sp>
        <p:nvSpPr>
          <p:cNvPr id="1065" name="Google Shape;1065;p118"/>
          <p:cNvSpPr txBox="1"/>
          <p:nvPr/>
        </p:nvSpPr>
        <p:spPr>
          <a:xfrm>
            <a:off x="508000" y="6477000"/>
            <a:ext cx="11175900" cy="1779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lang="en-US" sz="850">
                <a:solidFill>
                  <a:srgbClr val="6B707A"/>
                </a:solidFill>
              </a:rPr>
              <a:t>Source: Google DeepMind — google/embeddinggemma-300m · 2,048-token context · 768 dimensions (MRL: 512 / 256 / 128)</a:t>
            </a:r>
            <a:endParaRPr sz="850">
              <a:solidFill>
                <a:srgbClr val="6B707A"/>
              </a:solidFill>
            </a:endParaRP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RAG architectures, from naive to agentic</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Where it breaks first: extraction, chunking and context</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Matching each technique to the failure it fixes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Measuring the right errors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pattern: the GEHA dental chatbot</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Agents: context windows and memory</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Agents that drive applications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Finetuning small models for one job</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slides</a:t>
            </a:r>
          </a:p>
        </p:txBody>
      </p:sp>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GEHA Generator LoRA Finetuning">
  <a:themeElements>
    <a:clrScheme name="GEHA Generator LoRA Finetuning">
      <a:dk1>
        <a:srgbClr val="16202E"/>
      </a:dk1>
      <a:lt1>
        <a:srgbClr val="F6F5F0"/>
      </a:lt1>
      <a:dk2>
        <a:srgbClr val="4E555F"/>
      </a:dk2>
      <a:lt2>
        <a:srgbClr val="E0E0DD"/>
      </a:lt2>
      <a:accent1>
        <a:srgbClr val="B4481A"/>
      </a:accent1>
      <a:accent2>
        <a:srgbClr val="2F6DB5"/>
      </a:accent2>
      <a:accent3>
        <a:srgbClr val="F08A5D"/>
      </a:accent3>
      <a:accent4>
        <a:srgbClr val="D9622B"/>
      </a:accent4>
      <a:accent5>
        <a:srgbClr val="4A5568"/>
      </a:accent5>
      <a:accent6>
        <a:srgbClr val="6A7280"/>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