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fe0eb11234432" /><Relationship Type="http://schemas.openxmlformats.org/officeDocument/2006/relationships/extended-properties" Target="/docProps/app.xml" Id="Ra5da375d93ec4ce6" /><Relationship Type="http://schemas.openxmlformats.org/officeDocument/2006/relationships/officeDocument" Target="/ppt/presentation.xml" Id="R9dc77f056b24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82e4a4bc94675"/>
  </p:sldMasterIdLst>
  <p:notesMasterIdLst>
    <p:notesMasterId xmlns:r="http://schemas.openxmlformats.org/officeDocument/2006/relationships" r:id="Rc393c3c49ca844b8"/>
  </p:notesMasterIdLst>
  <p:sldIdLst>
    <p:sldId xmlns:r="http://schemas.openxmlformats.org/officeDocument/2006/relationships" id="256" r:id="R7f11ff7dd0af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6d85d4264444b" /><Relationship Type="http://schemas.openxmlformats.org/officeDocument/2006/relationships/slideMaster" Target="/ppt/slideMasters/slideMaster1.xml" Id="R36f82e4a4bc94675" /><Relationship Type="http://schemas.openxmlformats.org/officeDocument/2006/relationships/notesMaster" Target="/ppt/notesMasters/notesMaster1.xml" Id="Rc393c3c49ca844b8" /><Relationship Type="http://schemas.openxmlformats.org/officeDocument/2006/relationships/presProps" Target="/ppt/presProps.xml" Id="R787e815dd6284464" /><Relationship Type="http://schemas.openxmlformats.org/officeDocument/2006/relationships/tableStyles" Target="/ppt/tableStyles.xml" Id="Rd88ad881c3c9477a" /><Relationship Type="http://schemas.openxmlformats.org/officeDocument/2006/relationships/slide" Target="/ppt/slides/slide1.xml" Id="R7f11ff7dd0af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499b0ad44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d396b0f124e41" /><Relationship Type="http://schemas.openxmlformats.org/officeDocument/2006/relationships/notesMaster" Target="/ppt/notesMasters/notesMaster1.xml" Id="Rdd3dbabd8668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sources:</a:t>
            </a:r>
          </a:p>
          <a:p xmlns:a="http://schemas.openxmlformats.org/drawingml/2006/main">
            <a:r>
              <a:t>/Users/dc/geha/dental_enrollment_chatbot/src/enrollment_graph.py</a:t>
            </a:r>
          </a:p>
          <a:p xmlns:a="http://schemas.openxmlformats.org/drawingml/2006/main">
            <a:r>
              <a:t>/Users/dc/geha/dental_enrollment_chatbot/src/guide_tables.py</a:t>
            </a:r>
          </a:p>
          <a:p xmlns:a="http://schemas.openxmlformats.org/drawingml/2006/main">
            <a:r>
              <a:t>/Users/dc/geha/dspy_dental_chatbot/src/app.py</a:t>
            </a:r>
          </a:p>
          <a:p xmlns:a="http://schemas.openxmlformats.org/drawingml/2006/main">
            <a:r>
              <a:t>/Users/dc/geha/dspy_dental_chatbot/src/policy_qa.py</a:t>
            </a:r>
          </a:p>
          <a:p xmlns:a="http://schemas.openxmlformats.org/drawingml/2006/main">
            <a:r>
              <a:t>/Users/dc/geha/dspy_dental_chatbot/src/corpus_retriever.py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572f2250e40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085bb6b5c4e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53c8eec5743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46a79b8b143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a5b7ab42142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be160663f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25773-7204-4C6D-AA1B-BD8FE8685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D06F6A-DA9A-4350-B44A-8EC7035BD0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2343B0-AFBF-41C7-9A73-647362A10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636B8E-57BE-4013-A523-EDA07259F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80F779-0158-4722-B71D-9567B1167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08FA99-1E17-4B44-8F6C-9490215C5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AB39A0-8A1D-4AD2-B05A-0BEADD68F9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258D96-D6A8-46F6-A7C4-224784C58A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16D1EF-F2B8-47E5-9202-85A72A6A8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5AE6B5-830A-46DB-92D1-EFD249C9AA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5e17d0a37b434e" /><Relationship Type="http://schemas.openxmlformats.org/officeDocument/2006/relationships/slideLayout" Target="/ppt/slideLayouts/slideLayout1.xml" Id="R8494face30654f72" /><Relationship Type="http://schemas.openxmlformats.org/officeDocument/2006/relationships/slideLayout" Target="/ppt/slideLayouts/slideLayout2.xml" Id="R79b97a64110542f2" /><Relationship Type="http://schemas.openxmlformats.org/officeDocument/2006/relationships/slideLayout" Target="/ppt/slideLayouts/slideLayout3.xml" Id="Rf453756dc7c8426d" /><Relationship Type="http://schemas.openxmlformats.org/officeDocument/2006/relationships/slideLayout" Target="/ppt/slideLayouts/slideLayout4.xml" Id="Rd0311f7be4774fab" /><Relationship Type="http://schemas.openxmlformats.org/officeDocument/2006/relationships/slideLayout" Target="/ppt/slideLayouts/slideLayout5.xml" Id="R67aba1e4ee2d472d" /><Relationship Type="http://schemas.openxmlformats.org/officeDocument/2006/relationships/slideLayout" Target="/ppt/slideLayouts/slideLayout6.xml" Id="Rc3b970ba6d7d4b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4face30654f72"/>
    <p:sldLayoutId xmlns:r="http://schemas.openxmlformats.org/officeDocument/2006/relationships" id="2147483650" r:id="R79b97a64110542f2"/>
    <p:sldLayoutId xmlns:r="http://schemas.openxmlformats.org/officeDocument/2006/relationships" id="2147483651" r:id="Rf453756dc7c8426d"/>
    <p:sldLayoutId xmlns:r="http://schemas.openxmlformats.org/officeDocument/2006/relationships" id="2147483652" r:id="Rd0311f7be4774fab"/>
    <p:sldLayoutId xmlns:r="http://schemas.openxmlformats.org/officeDocument/2006/relationships" id="2147483653" r:id="R67aba1e4ee2d472d"/>
    <p:sldLayoutId xmlns:r="http://schemas.openxmlformats.org/officeDocument/2006/relationships" id="2147483654" r:id="Rc3b970ba6d7d4b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b2add821a4d12" /><Relationship Type="http://schemas.openxmlformats.org/officeDocument/2006/relationships/notesSlide" Target="/ppt/notesSlides/notesSlide1.xml" Id="Rcb5d3144bb9a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44FD5-A26F-4C1D-A377-AD7E96D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Application-driven RAG for dental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E0C5-DF9D-45CD-A3E4-0AC6A45F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566176"/>
                </a:solidFill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566176"/>
                </a:solidFill>
              </a:defRPr>
            </a:pPr>
            <a:r>
              <a:rPr sz="1425">
                <a:solidFill>
                  <a:srgbClr val="566176"/>
                </a:solidFill>
              </a:rPr>
              <a:t>The chatbot selects the policy path, assembles verified context, and then asks DSPy to answer.</a:t>
            </a:r>
          </a:p>
        </p:txBody>
      </p:sp>
      <p:sp>
        <p:nvSpPr>
          <p:cNvPr id="3" name="dspy-chatbot-application">
            <a:extLst xmlns:a="http://schemas.openxmlformats.org/drawingml/2006/main">
              <a:ext uri="{FF2B5EF4-FFF2-40B4-BE49-F238E27FC236}">
                <a16:creationId xmlns:a16="http://schemas.microsoft.com/office/drawing/2014/main" id="{DEB9E006-40A8-4A6B-857D-6A0025E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600450" cy="40386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DEFB9-7473-4A49-941B-227BBB1A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DD3FC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DD3FC"/>
                </a:solidFill>
              </a:defRPr>
            </a:pPr>
            <a:r>
              <a:rPr sz="1050" b="1">
                <a:solidFill>
                  <a:srgbClr val="7DD3FC"/>
                </a:solidFill>
              </a:rPr>
              <a:t>APPLICATION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74F9-DB9D-4DB2-9FAC-738A8F1F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DSPy dental 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21C4-5F8B-48BE-B328-E99DCE9D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12"/>
          </a:bodyPr>
          <a:lstStyle xmlns:a="http://schemas.openxmlformats.org/drawingml/2006/main">
            <a:defPPr algn="l">
              <a:defRPr sz="1425">
                <a:solidFill>
                  <a:srgbClr val="DCE6F5"/>
                </a:solidFill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CE6F5"/>
                </a:solidFill>
              </a:defRPr>
            </a:pPr>
            <a:r>
              <a:rPr sz="1425">
                <a:solidFill>
                  <a:srgbClr val="DCE6F5"/>
                </a:solidFill>
              </a:rPr>
              <a:t>The application controls the trajectory. The model interprets language and generates from evidence selected by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623C0-7C69-4246-9A1C-FB45586A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5D"/>
          </a:solidFill>
          <a:ln xmlns:a="http://schemas.openxmlformats.org/drawingml/2006/main" w="9525">
            <a:solidFill>
              <a:srgbClr val="4B628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BAE6FD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AE6FD"/>
                </a:solidFill>
              </a:defRPr>
            </a:pPr>
            <a:r>
              <a:rPr sz="975" b="1">
                <a:solidFill>
                  <a:srgbClr val="BAE6F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E4907-D713-48E2-B606-DAC49892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2902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Understand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FE218-609B-49B8-915E-300F1D7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5D"/>
          </a:solidFill>
          <a:ln xmlns:a="http://schemas.openxmlformats.org/drawingml/2006/main" w="9525">
            <a:solidFill>
              <a:srgbClr val="4B628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BAE6FD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AE6FD"/>
                </a:solidFill>
              </a:defRPr>
            </a:pPr>
            <a:r>
              <a:rPr sz="975" b="1">
                <a:solidFill>
                  <a:srgbClr val="BAE6F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5D2C6-BB6E-4CF8-B710-78B20E4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671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Select policy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147E7-BC8B-4685-8531-EC43173C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5D"/>
          </a:solidFill>
          <a:ln xmlns:a="http://schemas.openxmlformats.org/drawingml/2006/main" w="9525">
            <a:solidFill>
              <a:srgbClr val="4B628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BAE6FD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AE6FD"/>
                </a:solidFill>
              </a:defRPr>
            </a:pPr>
            <a:r>
              <a:rPr sz="975" b="1">
                <a:solidFill>
                  <a:srgbClr val="BAE6F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A23F7-F20C-4CFF-A1FC-A9546CB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Compile verified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09F9A-EE46-4278-BCDF-0ACEED2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5D"/>
          </a:solidFill>
          <a:ln xmlns:a="http://schemas.openxmlformats.org/drawingml/2006/main" w="9525">
            <a:solidFill>
              <a:srgbClr val="4B628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BAE6FD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AE6FD"/>
                </a:solidFill>
              </a:defRPr>
            </a:pPr>
            <a:r>
              <a:rPr sz="975" b="1">
                <a:solidFill>
                  <a:srgbClr val="BAE6FD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CDA88-3CB1-4651-A037-9CBC3135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434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Release cited answer</a:t>
            </a:r>
          </a:p>
        </p:txBody>
      </p:sp>
      <p:sp>
        <p:nvSpPr>
          <p:cNvPr id="15" name="component-1">
            <a:extLst xmlns:a="http://schemas.openxmlformats.org/drawingml/2006/main">
              <a:ext uri="{FF2B5EF4-FFF2-40B4-BE49-F238E27FC236}">
                <a16:creationId xmlns:a16="http://schemas.microsoft.com/office/drawing/2014/main" id="{57CECB6F-4A34-4440-9004-8DC0D43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04950"/>
            <a:ext cx="55816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4288">
            <a:solidFill>
              <a:srgbClr val="087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5968F-B602-4FEA-81CD-B97B9D8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01FD2-3F4A-48B4-8B19-15DB1145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3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solidFill>
              <a:srgbClr val="087F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532E2-44EC-470B-8693-C0EB1D24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Enrollment state machine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CC78B-29B6-4EE4-92BE-4193CF1B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71675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465269"/>
                </a:solidFill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465269"/>
                </a:solidFill>
              </a:defRPr>
            </a:pPr>
            <a:r>
              <a:rPr sz="1275">
                <a:solidFill>
                  <a:srgbClr val="465269"/>
                </a:solidFill>
              </a:rPr>
              <a:t>LangGraph thread state and QLE decision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D4014-7D16-4DE8-97EB-03B1E0A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316"/>
          </a:bodyPr>
          <a:lstStyle xmlns:a="http://schemas.openxmlformats.org/drawingml/2006/main">
            <a:defPPr algn="l">
              <a:defRPr sz="1200" b="1">
                <a:solidFill>
                  <a:srgbClr val="087F6C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6C"/>
                </a:solidFill>
              </a:defRPr>
            </a:pPr>
            <a:r>
              <a:rPr sz="1200" b="1">
                <a:solidFill>
                  <a:srgbClr val="087F6C"/>
                </a:solidFill>
              </a:rPr>
              <a:t>Returns the next question, eligibility path, and plan recommendation</a:t>
            </a:r>
          </a:p>
        </p:txBody>
      </p:sp>
      <p:sp>
        <p:nvSpPr>
          <p:cNvPr id="21" name="component-2">
            <a:extLst xmlns:a="http://schemas.openxmlformats.org/drawingml/2006/main">
              <a:ext uri="{FF2B5EF4-FFF2-40B4-BE49-F238E27FC236}">
                <a16:creationId xmlns:a16="http://schemas.microsoft.com/office/drawing/2014/main" id="{85421A0C-37F5-4C09-9E1B-03F8C8AE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55816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14288">
            <a:solidFill>
              <a:srgbClr val="A65F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82E7B-DD32-4DB4-8FF2-C156934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67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00"/>
          </a:solidFill>
          <a:ln xmlns:a="http://schemas.openxmlformats.org/drawingml/2006/main" w="0">
            <a:solidFill>
              <a:srgbClr val="A65F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2EC33-5EAB-4897-8553-7D60FA35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00"/>
          </a:solidFill>
          <a:ln xmlns:a="http://schemas.openxmlformats.org/drawingml/2006/main" w="0">
            <a:solidFill>
              <a:srgbClr val="A65F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7C7E5-F61F-45E9-943A-5F0A615C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Structured policy retrieval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84C02-E8CD-4033-9CF5-E5CB7C1A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109"/>
          </a:bodyPr>
          <a:lstStyle xmlns:a="http://schemas.openxmlformats.org/drawingml/2006/main">
            <a:defPPr algn="l">
              <a:defRPr sz="1275">
                <a:solidFill>
                  <a:srgbClr val="465269"/>
                </a:solidFill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465269"/>
                </a:solidFill>
              </a:defRPr>
            </a:pPr>
            <a:r>
              <a:rPr sz="1275">
                <a:solidFill>
                  <a:srgbClr val="465269"/>
                </a:solidFill>
              </a:rPr>
              <a:t>Exact rate, premium, and benefit rows from guide tables and SQLite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A4E0B-8212-49FE-8B22-84F2DDB0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5F00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65F00"/>
                </a:solidFill>
              </a:defRPr>
            </a:pPr>
            <a:r>
              <a:rPr sz="1200" b="1">
                <a:solidFill>
                  <a:srgbClr val="A65F00"/>
                </a:solidFill>
              </a:rPr>
              <a:t>Returns authoritative values with source-page provenance</a:t>
            </a:r>
          </a:p>
        </p:txBody>
      </p:sp>
      <p:sp>
        <p:nvSpPr>
          <p:cNvPr id="27" name="component-3">
            <a:extLst xmlns:a="http://schemas.openxmlformats.org/drawingml/2006/main">
              <a:ext uri="{FF2B5EF4-FFF2-40B4-BE49-F238E27FC236}">
                <a16:creationId xmlns:a16="http://schemas.microsoft.com/office/drawing/2014/main" id="{2F3A27A6-0376-48C1-BD25-75084EB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86250"/>
            <a:ext cx="55816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14288">
            <a:solidFill>
              <a:srgbClr val="6E3B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504F4-EC1D-4FB5-B4BB-DADC823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57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BC1"/>
          </a:solidFill>
          <a:ln xmlns:a="http://schemas.openxmlformats.org/drawingml/2006/main" w="0">
            <a:solidFill>
              <a:srgbClr val="6E3B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ACF76-8A43-4BB4-9FBF-B05A560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14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BC1"/>
          </a:solidFill>
          <a:ln xmlns:a="http://schemas.openxmlformats.org/drawingml/2006/main" w="0">
            <a:solidFill>
              <a:srgbClr val="6E3B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E515A-8278-4A3D-A6BD-DE750D7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8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BM25, vector, and hybrid retriever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84B972-1E62-4CD1-BA0C-DECD9902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465269"/>
                </a:solidFill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465269"/>
                </a:solidFill>
              </a:defRPr>
            </a:pPr>
            <a:r>
              <a:rPr sz="1275">
                <a:solidFill>
                  <a:srgbClr val="465269"/>
                </a:solidFill>
              </a:rPr>
              <a:t>Docling chunks searched with BM25, BGE vectors, or 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0A419-A055-4169-BD8E-AC10E13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78"/>
          </a:bodyPr>
          <a:lstStyle xmlns:a="http://schemas.openxmlformats.org/drawingml/2006/main">
            <a:defPPr algn="l">
              <a:defRPr sz="1200" b="1">
                <a:solidFill>
                  <a:srgbClr val="6E3BC1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E3BC1"/>
                </a:solidFill>
              </a:defRPr>
            </a:pPr>
            <a:r>
              <a:rPr sz="1200" b="1">
                <a:solidFill>
                  <a:srgbClr val="6E3BC1"/>
                </a:solidFill>
              </a:rPr>
              <a:t>Returns page-aware passages and citations for grounded generation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E6756D-77DA-4F08-8C34-8EC80C73635A}"/>
              </a:ext>
            </a:extLst>
          </p:cNvPr>
          <p:cNvCxnSpPr/>
          <p:nvPr/>
        </p:nvCxnSpPr>
        <p:spPr>
          <a:xfrm xmlns:a="http://schemas.openxmlformats.org/drawingml/2006/main">
            <a:off x="4286250" y="21145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6C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828E91-AC4D-462C-BE34-AA2E45E4E7EF}"/>
              </a:ext>
            </a:extLst>
          </p:cNvPr>
          <p:cNvCxnSpPr/>
          <p:nvPr/>
        </p:nvCxnSpPr>
        <p:spPr>
          <a:xfrm xmlns:a="http://schemas.openxmlformats.org/drawingml/2006/main">
            <a:off x="4286250" y="350520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65F00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09097-284F-49CC-BB2A-EED5F180B9E2}"/>
              </a:ext>
            </a:extLst>
          </p:cNvPr>
          <p:cNvCxnSpPr/>
          <p:nvPr/>
        </p:nvCxnSpPr>
        <p:spPr>
          <a:xfrm xmlns:a="http://schemas.openxmlformats.org/drawingml/2006/main">
            <a:off x="4286250" y="48958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3BC1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92F664-D26F-41E5-A3CB-2F7CACF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0D8F3-2C42-43FC-B205-2A29B1C7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4324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4324B"/>
                </a:solidFill>
              </a:defRPr>
            </a:pPr>
            <a:r>
              <a:rPr sz="1500" b="1">
                <a:solidFill>
                  <a:srgbClr val="24324B"/>
                </a:solidFill>
              </a:rPr>
              <a:t>Application code owns routing and state. DSPy generates only from selected, verified evidence.</a:t>
            </a:r>
          </a:p>
        </p:txBody>
      </p:sp>
    </p:spTree>
    <p:extLst>
      <p:ext uri="{BB962C8B-B14F-4D97-AF65-F5344CB8AC3E}">
        <p14:creationId xmlns:p14="http://schemas.microsoft.com/office/powerpoint/2010/main" val="2111445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2026-10-16T11:54:50.0090000Z</dcterms:created>
  <dcterms:modified xsi:type="dcterms:W3CDTF">2026-10-16T11:54:50.0090000Z</dcterms:modified>
</coreProperties>
</file>